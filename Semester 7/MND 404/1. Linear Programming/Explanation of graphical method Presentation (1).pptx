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1"/>
  </p:notesMasterIdLst>
  <p:handoutMasterIdLst>
    <p:handoutMasterId r:id="rId52"/>
  </p:handoutMasterIdLst>
  <p:sldIdLst>
    <p:sldId id="292" r:id="rId2"/>
    <p:sldId id="312" r:id="rId3"/>
    <p:sldId id="315" r:id="rId4"/>
    <p:sldId id="293" r:id="rId5"/>
    <p:sldId id="316" r:id="rId6"/>
    <p:sldId id="294" r:id="rId7"/>
    <p:sldId id="318" r:id="rId8"/>
    <p:sldId id="295" r:id="rId9"/>
    <p:sldId id="296" r:id="rId10"/>
    <p:sldId id="297" r:id="rId11"/>
    <p:sldId id="298" r:id="rId12"/>
    <p:sldId id="299" r:id="rId13"/>
    <p:sldId id="300" r:id="rId14"/>
    <p:sldId id="301" r:id="rId15"/>
    <p:sldId id="302" r:id="rId16"/>
    <p:sldId id="303" r:id="rId17"/>
    <p:sldId id="304" r:id="rId18"/>
    <p:sldId id="305" r:id="rId19"/>
    <p:sldId id="306" r:id="rId20"/>
    <p:sldId id="307" r:id="rId21"/>
    <p:sldId id="308" r:id="rId22"/>
    <p:sldId id="309" r:id="rId23"/>
    <p:sldId id="310" r:id="rId24"/>
    <p:sldId id="311" r:id="rId25"/>
    <p:sldId id="289" r:id="rId26"/>
    <p:sldId id="290" r:id="rId27"/>
    <p:sldId id="291" r:id="rId28"/>
    <p:sldId id="260" r:id="rId29"/>
    <p:sldId id="261" r:id="rId30"/>
    <p:sldId id="262" r:id="rId31"/>
    <p:sldId id="264" r:id="rId32"/>
    <p:sldId id="265" r:id="rId33"/>
    <p:sldId id="266" r:id="rId34"/>
    <p:sldId id="267" r:id="rId35"/>
    <p:sldId id="268" r:id="rId36"/>
    <p:sldId id="269" r:id="rId37"/>
    <p:sldId id="270" r:id="rId38"/>
    <p:sldId id="271" r:id="rId39"/>
    <p:sldId id="272" r:id="rId40"/>
    <p:sldId id="276" r:id="rId41"/>
    <p:sldId id="277" r:id="rId42"/>
    <p:sldId id="278" r:id="rId43"/>
    <p:sldId id="279" r:id="rId44"/>
    <p:sldId id="280" r:id="rId45"/>
    <p:sldId id="287" r:id="rId46"/>
    <p:sldId id="281" r:id="rId47"/>
    <p:sldId id="282" r:id="rId48"/>
    <p:sldId id="283" r:id="rId49"/>
    <p:sldId id="284" r:id="rId50"/>
  </p:sldIdLst>
  <p:sldSz cx="9144000" cy="6858000" type="screen4x3"/>
  <p:notesSz cx="6858000" cy="9144000"/>
  <p:defaultTextStyle>
    <a:defPPr>
      <a:defRPr lang="en-US"/>
    </a:defPPr>
    <a:lvl1pPr algn="l" rtl="0" eaLnBrk="0" fontAlgn="base" hangingPunct="0">
      <a:spcBef>
        <a:spcPct val="0"/>
      </a:spcBef>
      <a:spcAft>
        <a:spcPct val="0"/>
      </a:spcAft>
      <a:defRPr sz="2000" u="sng" kern="1200">
        <a:solidFill>
          <a:schemeClr val="tx1"/>
        </a:solidFill>
        <a:latin typeface="Arial Narrow" panose="020B0606020202030204" pitchFamily="34" charset="0"/>
        <a:ea typeface="+mn-ea"/>
        <a:cs typeface="+mn-cs"/>
      </a:defRPr>
    </a:lvl1pPr>
    <a:lvl2pPr marL="457200" algn="l" rtl="0" eaLnBrk="0" fontAlgn="base" hangingPunct="0">
      <a:spcBef>
        <a:spcPct val="0"/>
      </a:spcBef>
      <a:spcAft>
        <a:spcPct val="0"/>
      </a:spcAft>
      <a:defRPr sz="2000" u="sng" kern="1200">
        <a:solidFill>
          <a:schemeClr val="tx1"/>
        </a:solidFill>
        <a:latin typeface="Arial Narrow" panose="020B0606020202030204" pitchFamily="34" charset="0"/>
        <a:ea typeface="+mn-ea"/>
        <a:cs typeface="+mn-cs"/>
      </a:defRPr>
    </a:lvl2pPr>
    <a:lvl3pPr marL="914400" algn="l" rtl="0" eaLnBrk="0" fontAlgn="base" hangingPunct="0">
      <a:spcBef>
        <a:spcPct val="0"/>
      </a:spcBef>
      <a:spcAft>
        <a:spcPct val="0"/>
      </a:spcAft>
      <a:defRPr sz="2000" u="sng" kern="1200">
        <a:solidFill>
          <a:schemeClr val="tx1"/>
        </a:solidFill>
        <a:latin typeface="Arial Narrow" panose="020B0606020202030204" pitchFamily="34" charset="0"/>
        <a:ea typeface="+mn-ea"/>
        <a:cs typeface="+mn-cs"/>
      </a:defRPr>
    </a:lvl3pPr>
    <a:lvl4pPr marL="1371600" algn="l" rtl="0" eaLnBrk="0" fontAlgn="base" hangingPunct="0">
      <a:spcBef>
        <a:spcPct val="0"/>
      </a:spcBef>
      <a:spcAft>
        <a:spcPct val="0"/>
      </a:spcAft>
      <a:defRPr sz="2000" u="sng" kern="1200">
        <a:solidFill>
          <a:schemeClr val="tx1"/>
        </a:solidFill>
        <a:latin typeface="Arial Narrow" panose="020B0606020202030204" pitchFamily="34" charset="0"/>
        <a:ea typeface="+mn-ea"/>
        <a:cs typeface="+mn-cs"/>
      </a:defRPr>
    </a:lvl4pPr>
    <a:lvl5pPr marL="1828800" algn="l" rtl="0" eaLnBrk="0" fontAlgn="base" hangingPunct="0">
      <a:spcBef>
        <a:spcPct val="0"/>
      </a:spcBef>
      <a:spcAft>
        <a:spcPct val="0"/>
      </a:spcAft>
      <a:defRPr sz="2000" u="sng" kern="1200">
        <a:solidFill>
          <a:schemeClr val="tx1"/>
        </a:solidFill>
        <a:latin typeface="Arial Narrow" panose="020B0606020202030204" pitchFamily="34" charset="0"/>
        <a:ea typeface="+mn-ea"/>
        <a:cs typeface="+mn-cs"/>
      </a:defRPr>
    </a:lvl5pPr>
    <a:lvl6pPr marL="2286000" algn="l" defTabSz="914400" rtl="0" eaLnBrk="1" latinLnBrk="0" hangingPunct="1">
      <a:defRPr sz="2000" u="sng" kern="1200">
        <a:solidFill>
          <a:schemeClr val="tx1"/>
        </a:solidFill>
        <a:latin typeface="Arial Narrow" panose="020B0606020202030204" pitchFamily="34" charset="0"/>
        <a:ea typeface="+mn-ea"/>
        <a:cs typeface="+mn-cs"/>
      </a:defRPr>
    </a:lvl6pPr>
    <a:lvl7pPr marL="2743200" algn="l" defTabSz="914400" rtl="0" eaLnBrk="1" latinLnBrk="0" hangingPunct="1">
      <a:defRPr sz="2000" u="sng" kern="1200">
        <a:solidFill>
          <a:schemeClr val="tx1"/>
        </a:solidFill>
        <a:latin typeface="Arial Narrow" panose="020B0606020202030204" pitchFamily="34" charset="0"/>
        <a:ea typeface="+mn-ea"/>
        <a:cs typeface="+mn-cs"/>
      </a:defRPr>
    </a:lvl7pPr>
    <a:lvl8pPr marL="3200400" algn="l" defTabSz="914400" rtl="0" eaLnBrk="1" latinLnBrk="0" hangingPunct="1">
      <a:defRPr sz="2000" u="sng" kern="1200">
        <a:solidFill>
          <a:schemeClr val="tx1"/>
        </a:solidFill>
        <a:latin typeface="Arial Narrow" panose="020B0606020202030204" pitchFamily="34" charset="0"/>
        <a:ea typeface="+mn-ea"/>
        <a:cs typeface="+mn-cs"/>
      </a:defRPr>
    </a:lvl8pPr>
    <a:lvl9pPr marL="3657600" algn="l" defTabSz="914400" rtl="0" eaLnBrk="1" latinLnBrk="0" hangingPunct="1">
      <a:defRPr sz="2000" u="sng" kern="1200">
        <a:solidFill>
          <a:schemeClr val="tx1"/>
        </a:solidFill>
        <a:latin typeface="Arial Narrow" panose="020B0606020202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CF4EA"/>
    <a:srgbClr val="FFFFFF"/>
    <a:srgbClr val="000000"/>
    <a:srgbClr val="414141"/>
    <a:srgbClr val="FF5008"/>
    <a:srgbClr val="A3F25F"/>
    <a:srgbClr val="CF0E30"/>
    <a:srgbClr val="0D02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03" autoAdjust="0"/>
    <p:restoredTop sz="90929"/>
  </p:normalViewPr>
  <p:slideViewPr>
    <p:cSldViewPr snapToGrid="0">
      <p:cViewPr varScale="1">
        <p:scale>
          <a:sx n="75" d="100"/>
          <a:sy n="75" d="100"/>
        </p:scale>
        <p:origin x="1579"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u="none"/>
            </a:lvl1pPr>
          </a:lstStyle>
          <a:p>
            <a:endParaRPr lang="en-US"/>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u="none"/>
            </a:lvl1pPr>
          </a:lstStyle>
          <a:p>
            <a:endParaRPr lang="en-US"/>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u="none"/>
            </a:lvl1pPr>
          </a:lstStyle>
          <a:p>
            <a:endParaRPr lang="en-US"/>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u="none"/>
            </a:lvl1pPr>
          </a:lstStyle>
          <a:p>
            <a:fld id="{D6564F3D-C0C4-4B60-9685-E8471911BB53}" type="slidenum">
              <a:rPr lang="en-US"/>
              <a:pPr/>
              <a:t>‹#›</a:t>
            </a:fld>
            <a:endParaRPr lang="en-US"/>
          </a:p>
        </p:txBody>
      </p:sp>
      <p:sp>
        <p:nvSpPr>
          <p:cNvPr id="3078" name="Rectangle 6"/>
          <p:cNvSpPr>
            <a:spLocks noChangeArrowheads="1"/>
          </p:cNvSpPr>
          <p:nvPr/>
        </p:nvSpPr>
        <p:spPr bwMode="auto">
          <a:xfrm>
            <a:off x="6380163" y="8748713"/>
            <a:ext cx="409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p>
            <a:pPr algn="r"/>
            <a:fld id="{64018AD0-7A59-4BFB-BBF9-51F1A48C1064}" type="slidenum">
              <a:rPr lang="en-US" sz="1400" u="none">
                <a:latin typeface="Book Antiqua" panose="02040602050305030304" pitchFamily="18" charset="0"/>
              </a:rPr>
              <a:pPr algn="r"/>
              <a:t>‹#›</a:t>
            </a:fld>
            <a:endParaRPr lang="en-US" sz="1400" u="none">
              <a:latin typeface="Book Antiqua" panose="02040602050305030304" pitchFamily="18" charset="0"/>
            </a:endParaRPr>
          </a:p>
        </p:txBody>
      </p:sp>
    </p:spTree>
    <p:extLst>
      <p:ext uri="{BB962C8B-B14F-4D97-AF65-F5344CB8AC3E}">
        <p14:creationId xmlns:p14="http://schemas.microsoft.com/office/powerpoint/2010/main" val="204479495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408" units="cm"/>
          <inkml:channel name="Y" type="integer" max="1920" units="cm"/>
        </inkml:traceFormat>
        <inkml:channelProperties>
          <inkml:channelProperty channel="X" name="resolution" value="115.91837" units="1/cm"/>
          <inkml:channelProperty channel="Y" name="resolution" value="116.36364" units="1/cm"/>
        </inkml:channelProperties>
      </inkml:inkSource>
      <inkml:timestamp xml:id="ts0" timeString="2022-01-05T11:41:52.572"/>
    </inkml:context>
    <inkml:brush xml:id="br0">
      <inkml:brushProperty name="width" value="0.05292" units="cm"/>
      <inkml:brushProperty name="height" value="0.05292" units="cm"/>
      <inkml:brushProperty name="color" value="#C00000"/>
    </inkml:brush>
  </inkml:definitions>
  <inkml:trace contextRef="#ctx0" brushRef="#br0">13664 11837,'0'0,"0"0,0 0,0 0,0 0,0 0,0 0,0 0,0 0,0 0,0 0,0 0,10 0</inkml:trace>
</inkml:ink>
</file>

<file path=ppt/ink/ink2.xml><?xml version="1.0" encoding="utf-8"?>
<inkml:ink xmlns:inkml="http://www.w3.org/2003/InkML">
  <inkml:definitions>
    <inkml:context xml:id="ctx0">
      <inkml:inkSource xml:id="inkSrc0">
        <inkml:traceFormat>
          <inkml:channel name="X" type="integer" max="3408" units="cm"/>
          <inkml:channel name="Y" type="integer" max="1920" units="cm"/>
        </inkml:traceFormat>
        <inkml:channelProperties>
          <inkml:channelProperty channel="X" name="resolution" value="115.91837" units="1/cm"/>
          <inkml:channelProperty channel="Y" name="resolution" value="116.36364" units="1/cm"/>
        </inkml:channelProperties>
      </inkml:inkSource>
      <inkml:timestamp xml:id="ts0" timeString="2022-01-05T11:43:22.650"/>
    </inkml:context>
    <inkml:brush xml:id="br0">
      <inkml:brushProperty name="width" value="0.05292" units="cm"/>
      <inkml:brushProperty name="height" value="0.05292" units="cm"/>
      <inkml:brushProperty name="color" value="#C00000"/>
    </inkml:brush>
  </inkml:definitions>
  <inkml:trace contextRef="#ctx0" brushRef="#br0">328 3443,'0'0,"0"0,0 0,0 0,0 0,0 10,0 0,10 19,10 11,0 10,10 19,0 1,-1-11,11-19,0-10,10-20,29-40,100-69,79-100,100-118,99-80,80-20,-110 90</inkml:trace>
  <inkml:trace contextRef="#ctx0" brushRef="#br0" timeOffset="5600.13">219 4465,'0'0,"0"0,0 0,0 0,0 0,0 10,10 0,0 0,10 19,0 21,-1 0,11-1,-10 1,10-11,10 1,-1-10,1-10,0 0,10-20,9 0,31-20,29-10,10-10,0-9,1-11,9 11,-20 9,-20 0,-49 20</inkml:trace>
  <inkml:trace contextRef="#ctx0" brushRef="#br0" timeOffset="6299.74">835 6380,'0'0,"0"10,10 0,40 19,29 11,21-20,88-30,81-59,79-90,89-69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u="none">
                <a:latin typeface="Times New Roman" panose="02020603050405020304" pitchFamily="18" charset="0"/>
              </a:defRPr>
            </a:lvl1pPr>
          </a:lstStyle>
          <a:p>
            <a:endParaRPr lang="en-US"/>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u="none">
                <a:latin typeface="Times New Roman" panose="02020603050405020304" pitchFamily="18" charset="0"/>
              </a:defRPr>
            </a:lvl1pPr>
          </a:lstStyle>
          <a:p>
            <a:endParaRPr lang="en-US"/>
          </a:p>
        </p:txBody>
      </p:sp>
      <p:sp>
        <p:nvSpPr>
          <p:cNvPr id="2052" name="Rectangle 4"/>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u="none">
                <a:latin typeface="Times New Roman" panose="02020603050405020304" pitchFamily="18" charset="0"/>
              </a:defRPr>
            </a:lvl1pPr>
          </a:lstStyle>
          <a:p>
            <a:endParaRPr lang="en-US"/>
          </a:p>
        </p:txBody>
      </p:sp>
      <p:sp>
        <p:nvSpPr>
          <p:cNvPr id="2053" name="Rectangle 5"/>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u="none">
                <a:latin typeface="Times New Roman" panose="02020603050405020304" pitchFamily="18" charset="0"/>
              </a:defRPr>
            </a:lvl1pPr>
          </a:lstStyle>
          <a:p>
            <a:fld id="{D8AF6F7B-9208-4476-A56E-02217BBD9085}" type="slidenum">
              <a:rPr lang="en-US"/>
              <a:pPr/>
              <a:t>‹#›</a:t>
            </a:fld>
            <a:endParaRPr lang="en-US"/>
          </a:p>
        </p:txBody>
      </p:sp>
      <p:sp>
        <p:nvSpPr>
          <p:cNvPr id="2054" name="Rectangle 6"/>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t>Click to edit Master notes styles</a:t>
            </a:r>
          </a:p>
          <a:p>
            <a:pPr lvl="1"/>
            <a:r>
              <a:rPr lang="en-US"/>
              <a:t>Second Level</a:t>
            </a:r>
          </a:p>
          <a:p>
            <a:pPr lvl="2"/>
            <a:r>
              <a:rPr lang="en-US"/>
              <a:t>Third Level</a:t>
            </a:r>
          </a:p>
          <a:p>
            <a:pPr lvl="3"/>
            <a:r>
              <a:rPr lang="en-US"/>
              <a:t>Fourth Level</a:t>
            </a:r>
          </a:p>
          <a:p>
            <a:pPr lvl="4"/>
            <a:r>
              <a:rPr lang="en-US"/>
              <a:t>Fifth Level</a:t>
            </a:r>
          </a:p>
        </p:txBody>
      </p:sp>
      <p:sp>
        <p:nvSpPr>
          <p:cNvPr id="2055" name="Rectangle 7"/>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6" name="Rectangle 8"/>
          <p:cNvSpPr>
            <a:spLocks noChangeArrowheads="1"/>
          </p:cNvSpPr>
          <p:nvPr/>
        </p:nvSpPr>
        <p:spPr bwMode="auto">
          <a:xfrm>
            <a:off x="6380163" y="8748713"/>
            <a:ext cx="409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p>
            <a:pPr algn="r"/>
            <a:fld id="{B07F529E-BB10-43C1-AA3A-E6534FBC072A}" type="slidenum">
              <a:rPr lang="en-US" sz="1400" u="none">
                <a:latin typeface="Book Antiqua" panose="02040602050305030304" pitchFamily="18" charset="0"/>
              </a:rPr>
              <a:pPr algn="r"/>
              <a:t>‹#›</a:t>
            </a:fld>
            <a:endParaRPr lang="en-US" sz="1400" u="none">
              <a:latin typeface="Book Antiqua" panose="02040602050305030304" pitchFamily="18" charset="0"/>
            </a:endParaRPr>
          </a:p>
        </p:txBody>
      </p:sp>
    </p:spTree>
    <p:extLst>
      <p:ext uri="{BB962C8B-B14F-4D97-AF65-F5344CB8AC3E}">
        <p14:creationId xmlns:p14="http://schemas.microsoft.com/office/powerpoint/2010/main" val="29811686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1150938" y="692150"/>
            <a:ext cx="4556125" cy="3416300"/>
          </a:xfrm>
          <a:ln/>
        </p:spPr>
      </p:sp>
      <p:sp>
        <p:nvSpPr>
          <p:cNvPr id="768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003997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a:xfrm>
            <a:off x="1150938" y="692150"/>
            <a:ext cx="4556125" cy="3416300"/>
          </a:xfrm>
          <a:ln cap="flat"/>
        </p:spPr>
      </p:sp>
      <p:sp>
        <p:nvSpPr>
          <p:cNvPr id="119811"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1073682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143000" y="685800"/>
            <a:ext cx="4572000" cy="3429000"/>
          </a:xfrm>
          <a:ln/>
        </p:spPr>
      </p:sp>
      <p:sp>
        <p:nvSpPr>
          <p:cNvPr id="78851"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11476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43000" y="685800"/>
            <a:ext cx="4572000" cy="3429000"/>
          </a:xfrm>
          <a:ln/>
        </p:spPr>
      </p:sp>
      <p:sp>
        <p:nvSpPr>
          <p:cNvPr id="80899"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507969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1143000" y="685800"/>
            <a:ext cx="4572000" cy="3429000"/>
          </a:xfrm>
          <a:ln/>
        </p:spPr>
      </p:sp>
      <p:sp>
        <p:nvSpPr>
          <p:cNvPr id="82947"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7323597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143000" y="685800"/>
            <a:ext cx="4572000" cy="3429000"/>
          </a:xfrm>
          <a:ln/>
        </p:spPr>
      </p:sp>
      <p:sp>
        <p:nvSpPr>
          <p:cNvPr id="84995"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36302619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1143000" y="685800"/>
            <a:ext cx="4572000" cy="3429000"/>
          </a:xfrm>
          <a:ln/>
        </p:spPr>
      </p:sp>
      <p:sp>
        <p:nvSpPr>
          <p:cNvPr id="87043"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3219888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2000" cy="3429000"/>
          </a:xfrm>
          <a:ln/>
        </p:spPr>
      </p:sp>
      <p:sp>
        <p:nvSpPr>
          <p:cNvPr id="89091"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383033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8293191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xfrm>
            <a:off x="1143000" y="685800"/>
            <a:ext cx="4572000" cy="3429000"/>
          </a:xfrm>
          <a:ln/>
        </p:spPr>
      </p:sp>
      <p:sp>
        <p:nvSpPr>
          <p:cNvPr id="93187"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23448904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1143000" y="685800"/>
            <a:ext cx="4572000" cy="3429000"/>
          </a:xfrm>
          <a:ln/>
        </p:spPr>
      </p:sp>
      <p:sp>
        <p:nvSpPr>
          <p:cNvPr id="95235"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950762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1143000" y="685800"/>
            <a:ext cx="4572000" cy="3429000"/>
          </a:xfrm>
          <a:ln/>
        </p:spPr>
      </p:sp>
      <p:sp>
        <p:nvSpPr>
          <p:cNvPr id="97283"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25333789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1143000" y="685800"/>
            <a:ext cx="4572000" cy="3429000"/>
          </a:xfrm>
          <a:ln/>
        </p:spPr>
      </p:sp>
      <p:sp>
        <p:nvSpPr>
          <p:cNvPr id="99331"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340996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xfrm>
            <a:off x="1143000" y="685800"/>
            <a:ext cx="4572000" cy="3429000"/>
          </a:xfrm>
          <a:ln/>
        </p:spPr>
      </p:sp>
      <p:sp>
        <p:nvSpPr>
          <p:cNvPr id="101379"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308198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xfrm>
            <a:off x="1143000" y="685800"/>
            <a:ext cx="4572000" cy="3429000"/>
          </a:xfrm>
          <a:ln/>
        </p:spPr>
      </p:sp>
      <p:sp>
        <p:nvSpPr>
          <p:cNvPr id="103427"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5794956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xfrm>
            <a:off x="1143000" y="685800"/>
            <a:ext cx="4572000" cy="3429000"/>
          </a:xfrm>
          <a:ln/>
        </p:spPr>
      </p:sp>
      <p:sp>
        <p:nvSpPr>
          <p:cNvPr id="105475"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30913125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1143000" y="685800"/>
            <a:ext cx="4572000" cy="3429000"/>
          </a:xfrm>
          <a:ln/>
        </p:spPr>
      </p:sp>
      <p:sp>
        <p:nvSpPr>
          <p:cNvPr id="107523"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5278556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xfrm>
            <a:off x="1143000" y="685800"/>
            <a:ext cx="4572000" cy="3429000"/>
          </a:xfrm>
          <a:ln/>
        </p:spPr>
      </p:sp>
      <p:sp>
        <p:nvSpPr>
          <p:cNvPr id="109571"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5738467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xfrm>
            <a:off x="1143000" y="685800"/>
            <a:ext cx="4572000" cy="3429000"/>
          </a:xfrm>
          <a:ln/>
        </p:spPr>
      </p:sp>
      <p:sp>
        <p:nvSpPr>
          <p:cNvPr id="111619"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0340537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a:xfrm>
            <a:off x="1143000" y="685800"/>
            <a:ext cx="4572000" cy="3429000"/>
          </a:xfrm>
          <a:ln/>
        </p:spPr>
      </p:sp>
      <p:sp>
        <p:nvSpPr>
          <p:cNvPr id="113667"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7557822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a:xfrm>
            <a:off x="1143000" y="685800"/>
            <a:ext cx="4572000" cy="3429000"/>
          </a:xfrm>
          <a:ln/>
        </p:spPr>
      </p:sp>
      <p:sp>
        <p:nvSpPr>
          <p:cNvPr id="115715"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21769010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1150938" y="692150"/>
            <a:ext cx="4556125" cy="3416300"/>
          </a:xfrm>
          <a:ln/>
        </p:spPr>
      </p:sp>
      <p:sp>
        <p:nvSpPr>
          <p:cNvPr id="706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978636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xfrm>
            <a:off x="1150938" y="692150"/>
            <a:ext cx="4556125" cy="3416300"/>
          </a:xfrm>
          <a:ln/>
        </p:spPr>
      </p:sp>
      <p:sp>
        <p:nvSpPr>
          <p:cNvPr id="716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21734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1150938" y="692150"/>
            <a:ext cx="4556125" cy="3416300"/>
          </a:xfrm>
          <a:ln/>
        </p:spPr>
      </p:sp>
      <p:sp>
        <p:nvSpPr>
          <p:cNvPr id="727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526082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p:nvPr>
        </p:nvSpPr>
        <p:spPr>
          <a:xfrm>
            <a:off x="1150938" y="692150"/>
            <a:ext cx="4556125" cy="3416300"/>
          </a:xfrm>
          <a:ln cap="flat"/>
        </p:spPr>
      </p:sp>
      <p:sp>
        <p:nvSpPr>
          <p:cNvPr id="12291"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30465821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xfrm>
            <a:off x="1150938" y="692150"/>
            <a:ext cx="4556125" cy="3416300"/>
          </a:xfrm>
          <a:ln cap="flat"/>
        </p:spPr>
      </p:sp>
      <p:sp>
        <p:nvSpPr>
          <p:cNvPr id="14339"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11651875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xfrm>
            <a:off x="1150938" y="692150"/>
            <a:ext cx="4556125" cy="3416300"/>
          </a:xfrm>
          <a:ln cap="flat"/>
        </p:spPr>
      </p:sp>
      <p:sp>
        <p:nvSpPr>
          <p:cNvPr id="16387"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5794538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xfrm>
            <a:off x="1150938" y="692150"/>
            <a:ext cx="4556125" cy="3416300"/>
          </a:xfrm>
          <a:ln cap="flat"/>
        </p:spPr>
      </p:sp>
      <p:sp>
        <p:nvSpPr>
          <p:cNvPr id="20483"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12930986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1150938" y="692150"/>
            <a:ext cx="4556125" cy="3416300"/>
          </a:xfrm>
          <a:ln cap="flat"/>
        </p:spPr>
      </p:sp>
      <p:sp>
        <p:nvSpPr>
          <p:cNvPr id="22531"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7773357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1150938" y="692150"/>
            <a:ext cx="4556125" cy="3416300"/>
          </a:xfrm>
          <a:ln cap="flat"/>
        </p:spPr>
      </p:sp>
      <p:sp>
        <p:nvSpPr>
          <p:cNvPr id="24579"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7225030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1150938" y="692150"/>
            <a:ext cx="4556125" cy="3416300"/>
          </a:xfrm>
          <a:ln cap="flat"/>
        </p:spPr>
      </p:sp>
      <p:sp>
        <p:nvSpPr>
          <p:cNvPr id="26627"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16387839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xfrm>
            <a:off x="1150938" y="692150"/>
            <a:ext cx="4556125" cy="3416300"/>
          </a:xfrm>
          <a:ln cap="flat"/>
        </p:spPr>
      </p:sp>
      <p:sp>
        <p:nvSpPr>
          <p:cNvPr id="28675"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1864194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xfrm>
            <a:off x="1150938" y="692150"/>
            <a:ext cx="4556125" cy="3416300"/>
          </a:xfrm>
          <a:ln cap="flat"/>
        </p:spPr>
      </p:sp>
      <p:sp>
        <p:nvSpPr>
          <p:cNvPr id="30723"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8336006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xfrm>
            <a:off x="1150938" y="692150"/>
            <a:ext cx="4556125" cy="3416300"/>
          </a:xfrm>
          <a:ln cap="flat"/>
        </p:spPr>
      </p:sp>
      <p:sp>
        <p:nvSpPr>
          <p:cNvPr id="32771"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19479465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xfrm>
            <a:off x="1150938" y="692150"/>
            <a:ext cx="4556125" cy="3416300"/>
          </a:xfrm>
          <a:ln cap="flat"/>
        </p:spPr>
      </p:sp>
      <p:sp>
        <p:nvSpPr>
          <p:cNvPr id="34819"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35257840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50938" y="692150"/>
            <a:ext cx="4556125" cy="3416300"/>
          </a:xfrm>
          <a:ln cap="flat"/>
        </p:spPr>
      </p:sp>
      <p:sp>
        <p:nvSpPr>
          <p:cNvPr id="36867"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7830262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1150938" y="692150"/>
            <a:ext cx="4556125" cy="3416300"/>
          </a:xfrm>
          <a:ln cap="flat"/>
        </p:spPr>
      </p:sp>
      <p:sp>
        <p:nvSpPr>
          <p:cNvPr id="45059"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2198380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1150938" y="692150"/>
            <a:ext cx="4556125" cy="3416300"/>
          </a:xfrm>
          <a:ln cap="flat"/>
        </p:spPr>
      </p:sp>
      <p:sp>
        <p:nvSpPr>
          <p:cNvPr id="47107"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797632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1150938" y="692150"/>
            <a:ext cx="4556125" cy="3416300"/>
          </a:xfrm>
          <a:ln cap="flat"/>
        </p:spPr>
      </p:sp>
      <p:sp>
        <p:nvSpPr>
          <p:cNvPr id="49155"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878777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1150938" y="692150"/>
            <a:ext cx="4556125" cy="3416300"/>
          </a:xfrm>
          <a:ln cap="flat"/>
        </p:spPr>
      </p:sp>
      <p:sp>
        <p:nvSpPr>
          <p:cNvPr id="51203"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7102030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1150938" y="692150"/>
            <a:ext cx="4556125" cy="3416300"/>
          </a:xfrm>
          <a:ln cap="flat"/>
        </p:spPr>
      </p:sp>
      <p:sp>
        <p:nvSpPr>
          <p:cNvPr id="53251"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5343628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1150938" y="692150"/>
            <a:ext cx="4556125" cy="3416300"/>
          </a:xfrm>
          <a:ln/>
        </p:spPr>
      </p:sp>
      <p:sp>
        <p:nvSpPr>
          <p:cNvPr id="747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231307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1150938" y="692150"/>
            <a:ext cx="4556125" cy="3416300"/>
          </a:xfrm>
          <a:ln cap="flat"/>
        </p:spPr>
      </p:sp>
      <p:sp>
        <p:nvSpPr>
          <p:cNvPr id="56323"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32305574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xfrm>
            <a:off x="1150938" y="692150"/>
            <a:ext cx="4556125" cy="3416300"/>
          </a:xfrm>
          <a:ln cap="flat"/>
        </p:spPr>
      </p:sp>
      <p:sp>
        <p:nvSpPr>
          <p:cNvPr id="58371"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735793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xfrm>
            <a:off x="1150938" y="692150"/>
            <a:ext cx="4556125" cy="3416300"/>
          </a:xfrm>
          <a:ln cap="flat"/>
        </p:spPr>
      </p:sp>
      <p:sp>
        <p:nvSpPr>
          <p:cNvPr id="60419"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5369541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xfrm>
            <a:off x="1150938" y="692150"/>
            <a:ext cx="4556125" cy="3416300"/>
          </a:xfrm>
          <a:ln cap="flat"/>
        </p:spPr>
      </p:sp>
      <p:sp>
        <p:nvSpPr>
          <p:cNvPr id="62467"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3281400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77AA1E0-866E-478B-A8A0-550A5E613265}" type="slidenum">
              <a:rPr lang="en-US"/>
              <a:pPr/>
              <a:t>‹#›</a:t>
            </a:fld>
            <a:endParaRPr lang="en-US"/>
          </a:p>
        </p:txBody>
      </p:sp>
    </p:spTree>
    <p:extLst>
      <p:ext uri="{BB962C8B-B14F-4D97-AF65-F5344CB8AC3E}">
        <p14:creationId xmlns:p14="http://schemas.microsoft.com/office/powerpoint/2010/main" val="2067136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303107D8-D40E-45A1-BA71-7BEB414B3901}" type="slidenum">
              <a:rPr lang="en-US"/>
              <a:pPr/>
              <a:t>‹#›</a:t>
            </a:fld>
            <a:endParaRPr lang="en-US"/>
          </a:p>
        </p:txBody>
      </p:sp>
    </p:spTree>
    <p:extLst>
      <p:ext uri="{BB962C8B-B14F-4D97-AF65-F5344CB8AC3E}">
        <p14:creationId xmlns:p14="http://schemas.microsoft.com/office/powerpoint/2010/main" val="3876939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98BA6A0-43D9-43C4-9128-C38F9333AFC4}" type="slidenum">
              <a:rPr lang="en-US"/>
              <a:pPr/>
              <a:t>‹#›</a:t>
            </a:fld>
            <a:endParaRPr lang="en-US"/>
          </a:p>
        </p:txBody>
      </p:sp>
    </p:spTree>
    <p:extLst>
      <p:ext uri="{BB962C8B-B14F-4D97-AF65-F5344CB8AC3E}">
        <p14:creationId xmlns:p14="http://schemas.microsoft.com/office/powerpoint/2010/main" val="128080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090613"/>
            <a:ext cx="3973513" cy="5005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9313" y="1090613"/>
            <a:ext cx="3975100" cy="5005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F0F94AD9-0E13-4F62-8E82-723462856C5F}" type="slidenum">
              <a:rPr lang="en-US"/>
              <a:pPr/>
              <a:t>‹#›</a:t>
            </a:fld>
            <a:endParaRPr lang="en-US"/>
          </a:p>
        </p:txBody>
      </p:sp>
    </p:spTree>
    <p:extLst>
      <p:ext uri="{BB962C8B-B14F-4D97-AF65-F5344CB8AC3E}">
        <p14:creationId xmlns:p14="http://schemas.microsoft.com/office/powerpoint/2010/main" val="2136048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C7128EA7-DA15-422E-8D3A-74B972308CDD}" type="slidenum">
              <a:rPr lang="en-US"/>
              <a:pPr/>
              <a:t>‹#›</a:t>
            </a:fld>
            <a:endParaRPr lang="en-US"/>
          </a:p>
        </p:txBody>
      </p:sp>
    </p:spTree>
    <p:extLst>
      <p:ext uri="{BB962C8B-B14F-4D97-AF65-F5344CB8AC3E}">
        <p14:creationId xmlns:p14="http://schemas.microsoft.com/office/powerpoint/2010/main" val="2704579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A595F655-E9BF-411B-B489-8270DC71B430}" type="slidenum">
              <a:rPr lang="en-US"/>
              <a:pPr/>
              <a:t>‹#›</a:t>
            </a:fld>
            <a:endParaRPr lang="en-US"/>
          </a:p>
        </p:txBody>
      </p:sp>
    </p:spTree>
    <p:extLst>
      <p:ext uri="{BB962C8B-B14F-4D97-AF65-F5344CB8AC3E}">
        <p14:creationId xmlns:p14="http://schemas.microsoft.com/office/powerpoint/2010/main" val="3429265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9A87973F-1788-42C9-B45B-4235B7D7B556}" type="slidenum">
              <a:rPr lang="en-US"/>
              <a:pPr/>
              <a:t>‹#›</a:t>
            </a:fld>
            <a:endParaRPr lang="en-US"/>
          </a:p>
        </p:txBody>
      </p:sp>
    </p:spTree>
    <p:extLst>
      <p:ext uri="{BB962C8B-B14F-4D97-AF65-F5344CB8AC3E}">
        <p14:creationId xmlns:p14="http://schemas.microsoft.com/office/powerpoint/2010/main" val="3470089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A8AD66B-3286-4008-8467-22182A94483E}" type="slidenum">
              <a:rPr lang="en-US"/>
              <a:pPr/>
              <a:t>‹#›</a:t>
            </a:fld>
            <a:endParaRPr lang="en-US"/>
          </a:p>
        </p:txBody>
      </p:sp>
    </p:spTree>
    <p:extLst>
      <p:ext uri="{BB962C8B-B14F-4D97-AF65-F5344CB8AC3E}">
        <p14:creationId xmlns:p14="http://schemas.microsoft.com/office/powerpoint/2010/main" val="330442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B5348BA-98BE-41A1-A2FA-B0C8FEFEBA30}" type="slidenum">
              <a:rPr lang="en-US"/>
              <a:pPr/>
              <a:t>‹#›</a:t>
            </a:fld>
            <a:endParaRPr lang="en-US"/>
          </a:p>
        </p:txBody>
      </p:sp>
    </p:spTree>
    <p:extLst>
      <p:ext uri="{BB962C8B-B14F-4D97-AF65-F5344CB8AC3E}">
        <p14:creationId xmlns:p14="http://schemas.microsoft.com/office/powerpoint/2010/main" val="2240321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E25CBB9-02DB-4D58-94FE-060FBA59D16C}" type="slidenum">
              <a:rPr lang="en-US"/>
              <a:pPr/>
              <a:t>‹#›</a:t>
            </a:fld>
            <a:endParaRPr lang="en-US"/>
          </a:p>
        </p:txBody>
      </p:sp>
    </p:spTree>
    <p:extLst>
      <p:ext uri="{BB962C8B-B14F-4D97-AF65-F5344CB8AC3E}">
        <p14:creationId xmlns:p14="http://schemas.microsoft.com/office/powerpoint/2010/main" val="2335499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100013"/>
            <a:ext cx="2024063" cy="59959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100013"/>
            <a:ext cx="5924550" cy="59959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1E48BE7-26B7-41EC-9F8F-594797D72FA7}" type="slidenum">
              <a:rPr lang="en-US"/>
              <a:pPr/>
              <a:t>‹#›</a:t>
            </a:fld>
            <a:endParaRPr lang="en-US"/>
          </a:p>
        </p:txBody>
      </p:sp>
    </p:spTree>
    <p:extLst>
      <p:ext uri="{BB962C8B-B14F-4D97-AF65-F5344CB8AC3E}">
        <p14:creationId xmlns:p14="http://schemas.microsoft.com/office/powerpoint/2010/main" val="1993167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D0260"/>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u="none">
                <a:latin typeface="Times New Roman" panose="02020603050405020304" pitchFamily="18" charset="0"/>
              </a:defRPr>
            </a:lvl1pPr>
          </a:lstStyle>
          <a:p>
            <a:endParaRPr lang="en-US"/>
          </a:p>
        </p:txBody>
      </p:sp>
      <p:sp>
        <p:nvSpPr>
          <p:cNvPr id="1027" name="Rectangle 3"/>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1400" u="none">
                <a:latin typeface="Times New Roman" panose="02020603050405020304" pitchFamily="18" charset="0"/>
              </a:defRPr>
            </a:lvl1pPr>
          </a:lstStyle>
          <a:p>
            <a:endParaRPr lang="en-US"/>
          </a:p>
        </p:txBody>
      </p:sp>
      <p:sp>
        <p:nvSpPr>
          <p:cNvPr id="1028" name="Rectangle 4"/>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u="none">
                <a:latin typeface="Times New Roman" panose="02020603050405020304" pitchFamily="18" charset="0"/>
              </a:defRPr>
            </a:lvl1pPr>
          </a:lstStyle>
          <a:p>
            <a:fld id="{A23BE6A0-2457-479C-9D8E-F9A4040C03DA}" type="slidenum">
              <a:rPr lang="en-US"/>
              <a:pPr/>
              <a:t>‹#›</a:t>
            </a:fld>
            <a:endParaRPr lang="en-US"/>
          </a:p>
        </p:txBody>
      </p:sp>
      <p:grpSp>
        <p:nvGrpSpPr>
          <p:cNvPr id="1038" name="Group 14"/>
          <p:cNvGrpSpPr>
            <a:grpSpLocks/>
          </p:cNvGrpSpPr>
          <p:nvPr/>
        </p:nvGrpSpPr>
        <p:grpSpPr bwMode="auto">
          <a:xfrm>
            <a:off x="590550" y="295275"/>
            <a:ext cx="8231188" cy="6183313"/>
            <a:chOff x="372" y="186"/>
            <a:chExt cx="5185" cy="3895"/>
          </a:xfrm>
        </p:grpSpPr>
        <p:grpSp>
          <p:nvGrpSpPr>
            <p:cNvPr id="1032" name="Group 8"/>
            <p:cNvGrpSpPr>
              <a:grpSpLocks/>
            </p:cNvGrpSpPr>
            <p:nvPr/>
          </p:nvGrpSpPr>
          <p:grpSpPr bwMode="auto">
            <a:xfrm>
              <a:off x="372" y="186"/>
              <a:ext cx="5185" cy="919"/>
              <a:chOff x="372" y="186"/>
              <a:chExt cx="5185" cy="919"/>
            </a:xfrm>
          </p:grpSpPr>
          <p:sp>
            <p:nvSpPr>
              <p:cNvPr id="1029" name="Freeform 5"/>
              <p:cNvSpPr>
                <a:spLocks/>
              </p:cNvSpPr>
              <p:nvPr/>
            </p:nvSpPr>
            <p:spPr bwMode="auto">
              <a:xfrm>
                <a:off x="372" y="192"/>
                <a:ext cx="86" cy="913"/>
              </a:xfrm>
              <a:custGeom>
                <a:avLst/>
                <a:gdLst>
                  <a:gd name="T0" fmla="*/ 0 w 86"/>
                  <a:gd name="T1" fmla="*/ 0 h 913"/>
                  <a:gd name="T2" fmla="*/ 85 w 86"/>
                  <a:gd name="T3" fmla="*/ 96 h 913"/>
                  <a:gd name="T4" fmla="*/ 85 w 86"/>
                  <a:gd name="T5" fmla="*/ 816 h 913"/>
                  <a:gd name="T6" fmla="*/ 0 w 86"/>
                  <a:gd name="T7" fmla="*/ 912 h 913"/>
                  <a:gd name="T8" fmla="*/ 0 w 86"/>
                  <a:gd name="T9" fmla="*/ 0 h 913"/>
                </a:gdLst>
                <a:ahLst/>
                <a:cxnLst>
                  <a:cxn ang="0">
                    <a:pos x="T0" y="T1"/>
                  </a:cxn>
                  <a:cxn ang="0">
                    <a:pos x="T2" y="T3"/>
                  </a:cxn>
                  <a:cxn ang="0">
                    <a:pos x="T4" y="T5"/>
                  </a:cxn>
                  <a:cxn ang="0">
                    <a:pos x="T6" y="T7"/>
                  </a:cxn>
                  <a:cxn ang="0">
                    <a:pos x="T8" y="T9"/>
                  </a:cxn>
                </a:cxnLst>
                <a:rect l="0" t="0" r="r" b="b"/>
                <a:pathLst>
                  <a:path w="86" h="913">
                    <a:moveTo>
                      <a:pt x="0" y="0"/>
                    </a:moveTo>
                    <a:lnTo>
                      <a:pt x="85" y="96"/>
                    </a:lnTo>
                    <a:lnTo>
                      <a:pt x="85" y="816"/>
                    </a:lnTo>
                    <a:lnTo>
                      <a:pt x="0" y="912"/>
                    </a:lnTo>
                    <a:lnTo>
                      <a:pt x="0" y="0"/>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0" name="Freeform 6"/>
              <p:cNvSpPr>
                <a:spLocks/>
              </p:cNvSpPr>
              <p:nvPr/>
            </p:nvSpPr>
            <p:spPr bwMode="auto">
              <a:xfrm>
                <a:off x="5470" y="186"/>
                <a:ext cx="87" cy="910"/>
              </a:xfrm>
              <a:custGeom>
                <a:avLst/>
                <a:gdLst>
                  <a:gd name="T0" fmla="*/ 86 w 87"/>
                  <a:gd name="T1" fmla="*/ 0 h 910"/>
                  <a:gd name="T2" fmla="*/ 0 w 87"/>
                  <a:gd name="T3" fmla="*/ 93 h 910"/>
                  <a:gd name="T4" fmla="*/ 0 w 87"/>
                  <a:gd name="T5" fmla="*/ 813 h 910"/>
                  <a:gd name="T6" fmla="*/ 86 w 87"/>
                  <a:gd name="T7" fmla="*/ 909 h 910"/>
                  <a:gd name="T8" fmla="*/ 86 w 87"/>
                  <a:gd name="T9" fmla="*/ 0 h 910"/>
                </a:gdLst>
                <a:ahLst/>
                <a:cxnLst>
                  <a:cxn ang="0">
                    <a:pos x="T0" y="T1"/>
                  </a:cxn>
                  <a:cxn ang="0">
                    <a:pos x="T2" y="T3"/>
                  </a:cxn>
                  <a:cxn ang="0">
                    <a:pos x="T4" y="T5"/>
                  </a:cxn>
                  <a:cxn ang="0">
                    <a:pos x="T6" y="T7"/>
                  </a:cxn>
                  <a:cxn ang="0">
                    <a:pos x="T8" y="T9"/>
                  </a:cxn>
                </a:cxnLst>
                <a:rect l="0" t="0" r="r" b="b"/>
                <a:pathLst>
                  <a:path w="87" h="910">
                    <a:moveTo>
                      <a:pt x="86" y="0"/>
                    </a:moveTo>
                    <a:lnTo>
                      <a:pt x="0" y="93"/>
                    </a:lnTo>
                    <a:lnTo>
                      <a:pt x="0" y="813"/>
                    </a:lnTo>
                    <a:lnTo>
                      <a:pt x="86" y="909"/>
                    </a:lnTo>
                    <a:lnTo>
                      <a:pt x="86" y="0"/>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1" name="Freeform 7"/>
              <p:cNvSpPr>
                <a:spLocks/>
              </p:cNvSpPr>
              <p:nvPr/>
            </p:nvSpPr>
            <p:spPr bwMode="auto">
              <a:xfrm>
                <a:off x="372" y="189"/>
                <a:ext cx="5185" cy="103"/>
              </a:xfrm>
              <a:custGeom>
                <a:avLst/>
                <a:gdLst>
                  <a:gd name="T0" fmla="*/ 0 w 5185"/>
                  <a:gd name="T1" fmla="*/ 0 h 103"/>
                  <a:gd name="T2" fmla="*/ 5184 w 5185"/>
                  <a:gd name="T3" fmla="*/ 3 h 103"/>
                  <a:gd name="T4" fmla="*/ 5093 w 5185"/>
                  <a:gd name="T5" fmla="*/ 102 h 103"/>
                  <a:gd name="T6" fmla="*/ 88 w 5185"/>
                  <a:gd name="T7" fmla="*/ 102 h 103"/>
                  <a:gd name="T8" fmla="*/ 0 w 5185"/>
                  <a:gd name="T9" fmla="*/ 0 h 103"/>
                </a:gdLst>
                <a:ahLst/>
                <a:cxnLst>
                  <a:cxn ang="0">
                    <a:pos x="T0" y="T1"/>
                  </a:cxn>
                  <a:cxn ang="0">
                    <a:pos x="T2" y="T3"/>
                  </a:cxn>
                  <a:cxn ang="0">
                    <a:pos x="T4" y="T5"/>
                  </a:cxn>
                  <a:cxn ang="0">
                    <a:pos x="T6" y="T7"/>
                  </a:cxn>
                  <a:cxn ang="0">
                    <a:pos x="T8" y="T9"/>
                  </a:cxn>
                </a:cxnLst>
                <a:rect l="0" t="0" r="r" b="b"/>
                <a:pathLst>
                  <a:path w="5185" h="103">
                    <a:moveTo>
                      <a:pt x="0" y="0"/>
                    </a:moveTo>
                    <a:lnTo>
                      <a:pt x="5184" y="3"/>
                    </a:lnTo>
                    <a:lnTo>
                      <a:pt x="5093" y="102"/>
                    </a:lnTo>
                    <a:lnTo>
                      <a:pt x="88" y="102"/>
                    </a:lnTo>
                    <a:lnTo>
                      <a:pt x="0" y="0"/>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037" name="Group 13"/>
            <p:cNvGrpSpPr>
              <a:grpSpLocks/>
            </p:cNvGrpSpPr>
            <p:nvPr/>
          </p:nvGrpSpPr>
          <p:grpSpPr bwMode="auto">
            <a:xfrm>
              <a:off x="372" y="291"/>
              <a:ext cx="5185" cy="3790"/>
              <a:chOff x="372" y="291"/>
              <a:chExt cx="5185" cy="3790"/>
            </a:xfrm>
          </p:grpSpPr>
          <p:sp>
            <p:nvSpPr>
              <p:cNvPr id="1033" name="Freeform 9"/>
              <p:cNvSpPr>
                <a:spLocks/>
              </p:cNvSpPr>
              <p:nvPr/>
            </p:nvSpPr>
            <p:spPr bwMode="auto">
              <a:xfrm>
                <a:off x="372" y="807"/>
                <a:ext cx="79" cy="3274"/>
              </a:xfrm>
              <a:custGeom>
                <a:avLst/>
                <a:gdLst>
                  <a:gd name="T0" fmla="*/ 0 w 79"/>
                  <a:gd name="T1" fmla="*/ 0 h 3274"/>
                  <a:gd name="T2" fmla="*/ 78 w 79"/>
                  <a:gd name="T3" fmla="*/ 107 h 3274"/>
                  <a:gd name="T4" fmla="*/ 78 w 79"/>
                  <a:gd name="T5" fmla="*/ 3166 h 3274"/>
                  <a:gd name="T6" fmla="*/ 0 w 79"/>
                  <a:gd name="T7" fmla="*/ 3273 h 3274"/>
                  <a:gd name="T8" fmla="*/ 0 w 79"/>
                  <a:gd name="T9" fmla="*/ 0 h 3274"/>
                </a:gdLst>
                <a:ahLst/>
                <a:cxnLst>
                  <a:cxn ang="0">
                    <a:pos x="T0" y="T1"/>
                  </a:cxn>
                  <a:cxn ang="0">
                    <a:pos x="T2" y="T3"/>
                  </a:cxn>
                  <a:cxn ang="0">
                    <a:pos x="T4" y="T5"/>
                  </a:cxn>
                  <a:cxn ang="0">
                    <a:pos x="T6" y="T7"/>
                  </a:cxn>
                  <a:cxn ang="0">
                    <a:pos x="T8" y="T9"/>
                  </a:cxn>
                </a:cxnLst>
                <a:rect l="0" t="0" r="r" b="b"/>
                <a:pathLst>
                  <a:path w="79" h="3274">
                    <a:moveTo>
                      <a:pt x="0" y="0"/>
                    </a:moveTo>
                    <a:lnTo>
                      <a:pt x="78" y="107"/>
                    </a:lnTo>
                    <a:lnTo>
                      <a:pt x="78" y="3166"/>
                    </a:lnTo>
                    <a:lnTo>
                      <a:pt x="0" y="3273"/>
                    </a:lnTo>
                    <a:lnTo>
                      <a:pt x="0" y="0"/>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4" name="Freeform 10"/>
              <p:cNvSpPr>
                <a:spLocks/>
              </p:cNvSpPr>
              <p:nvPr/>
            </p:nvSpPr>
            <p:spPr bwMode="auto">
              <a:xfrm>
                <a:off x="5470" y="747"/>
                <a:ext cx="84" cy="3325"/>
              </a:xfrm>
              <a:custGeom>
                <a:avLst/>
                <a:gdLst>
                  <a:gd name="T0" fmla="*/ 83 w 84"/>
                  <a:gd name="T1" fmla="*/ 0 h 3325"/>
                  <a:gd name="T2" fmla="*/ 3 w 84"/>
                  <a:gd name="T3" fmla="*/ 109 h 3325"/>
                  <a:gd name="T4" fmla="*/ 0 w 84"/>
                  <a:gd name="T5" fmla="*/ 3233 h 3325"/>
                  <a:gd name="T6" fmla="*/ 83 w 84"/>
                  <a:gd name="T7" fmla="*/ 3324 h 3325"/>
                  <a:gd name="T8" fmla="*/ 83 w 84"/>
                  <a:gd name="T9" fmla="*/ 0 h 3325"/>
                </a:gdLst>
                <a:ahLst/>
                <a:cxnLst>
                  <a:cxn ang="0">
                    <a:pos x="T0" y="T1"/>
                  </a:cxn>
                  <a:cxn ang="0">
                    <a:pos x="T2" y="T3"/>
                  </a:cxn>
                  <a:cxn ang="0">
                    <a:pos x="T4" y="T5"/>
                  </a:cxn>
                  <a:cxn ang="0">
                    <a:pos x="T6" y="T7"/>
                  </a:cxn>
                  <a:cxn ang="0">
                    <a:pos x="T8" y="T9"/>
                  </a:cxn>
                </a:cxnLst>
                <a:rect l="0" t="0" r="r" b="b"/>
                <a:pathLst>
                  <a:path w="84" h="3325">
                    <a:moveTo>
                      <a:pt x="83" y="0"/>
                    </a:moveTo>
                    <a:lnTo>
                      <a:pt x="3" y="109"/>
                    </a:lnTo>
                    <a:lnTo>
                      <a:pt x="0" y="3233"/>
                    </a:lnTo>
                    <a:lnTo>
                      <a:pt x="83" y="3324"/>
                    </a:lnTo>
                    <a:lnTo>
                      <a:pt x="83" y="0"/>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5" name="Freeform 11"/>
              <p:cNvSpPr>
                <a:spLocks/>
              </p:cNvSpPr>
              <p:nvPr/>
            </p:nvSpPr>
            <p:spPr bwMode="auto">
              <a:xfrm>
                <a:off x="372" y="3984"/>
                <a:ext cx="5185" cy="88"/>
              </a:xfrm>
              <a:custGeom>
                <a:avLst/>
                <a:gdLst>
                  <a:gd name="T0" fmla="*/ 0 w 5185"/>
                  <a:gd name="T1" fmla="*/ 87 h 88"/>
                  <a:gd name="T2" fmla="*/ 5184 w 5185"/>
                  <a:gd name="T3" fmla="*/ 87 h 88"/>
                  <a:gd name="T4" fmla="*/ 5095 w 5185"/>
                  <a:gd name="T5" fmla="*/ 0 h 88"/>
                  <a:gd name="T6" fmla="*/ 89 w 5185"/>
                  <a:gd name="T7" fmla="*/ 0 h 88"/>
                  <a:gd name="T8" fmla="*/ 0 w 5185"/>
                  <a:gd name="T9" fmla="*/ 87 h 88"/>
                </a:gdLst>
                <a:ahLst/>
                <a:cxnLst>
                  <a:cxn ang="0">
                    <a:pos x="T0" y="T1"/>
                  </a:cxn>
                  <a:cxn ang="0">
                    <a:pos x="T2" y="T3"/>
                  </a:cxn>
                  <a:cxn ang="0">
                    <a:pos x="T4" y="T5"/>
                  </a:cxn>
                  <a:cxn ang="0">
                    <a:pos x="T6" y="T7"/>
                  </a:cxn>
                  <a:cxn ang="0">
                    <a:pos x="T8" y="T9"/>
                  </a:cxn>
                </a:cxnLst>
                <a:rect l="0" t="0" r="r" b="b"/>
                <a:pathLst>
                  <a:path w="5185" h="88">
                    <a:moveTo>
                      <a:pt x="0" y="87"/>
                    </a:moveTo>
                    <a:lnTo>
                      <a:pt x="5184" y="87"/>
                    </a:lnTo>
                    <a:lnTo>
                      <a:pt x="5095" y="0"/>
                    </a:lnTo>
                    <a:lnTo>
                      <a:pt x="89" y="0"/>
                    </a:lnTo>
                    <a:lnTo>
                      <a:pt x="0" y="87"/>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6" name="Rectangle 12"/>
              <p:cNvSpPr>
                <a:spLocks noChangeArrowheads="1"/>
              </p:cNvSpPr>
              <p:nvPr/>
            </p:nvSpPr>
            <p:spPr bwMode="auto">
              <a:xfrm>
                <a:off x="457" y="291"/>
                <a:ext cx="5013" cy="3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1039" name="Rectangle 15"/>
          <p:cNvSpPr>
            <a:spLocks noGrp="1" noChangeArrowheads="1"/>
          </p:cNvSpPr>
          <p:nvPr>
            <p:ph type="title"/>
          </p:nvPr>
        </p:nvSpPr>
        <p:spPr bwMode="auto">
          <a:xfrm>
            <a:off x="533400" y="100013"/>
            <a:ext cx="8081963" cy="814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1040" name="Rectangle 16"/>
          <p:cNvSpPr>
            <a:spLocks noGrp="1" noChangeArrowheads="1"/>
          </p:cNvSpPr>
          <p:nvPr>
            <p:ph type="body" idx="1"/>
          </p:nvPr>
        </p:nvSpPr>
        <p:spPr bwMode="auto">
          <a:xfrm>
            <a:off x="533400" y="1090613"/>
            <a:ext cx="8101013" cy="500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1041" name="Rectangle 17"/>
          <p:cNvSpPr>
            <a:spLocks noChangeArrowheads="1"/>
          </p:cNvSpPr>
          <p:nvPr/>
        </p:nvSpPr>
        <p:spPr bwMode="auto">
          <a:xfrm>
            <a:off x="8528050" y="6478588"/>
            <a:ext cx="588963" cy="366712"/>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2075" tIns="46038" rIns="92075" bIns="46038">
            <a:spAutoFit/>
          </a:bodyPr>
          <a:lstStyle/>
          <a:p>
            <a:r>
              <a:rPr lang="en-US" sz="1800" u="none">
                <a:solidFill>
                  <a:srgbClr val="FFFCFD"/>
                </a:solidFill>
                <a:latin typeface="Book Antiqua" panose="02040602050305030304" pitchFamily="18" charset="0"/>
              </a:rPr>
              <a:t>  </a:t>
            </a:r>
            <a:fld id="{FB1D6521-EAFC-46F8-B3E6-C58C968EE2DF}" type="slidenum">
              <a:rPr lang="en-US" sz="1800" u="none">
                <a:solidFill>
                  <a:srgbClr val="FFFCFD"/>
                </a:solidFill>
                <a:latin typeface="Book Antiqua" panose="02040602050305030304" pitchFamily="18" charset="0"/>
              </a:rPr>
              <a:pPr/>
              <a:t>‹#›</a:t>
            </a:fld>
            <a:endParaRPr lang="en-US" sz="1800" u="none">
              <a:solidFill>
                <a:srgbClr val="FFFCFD"/>
              </a:solidFill>
              <a:latin typeface="Book Antiqua" panose="02040602050305030304" pitchFamily="18" charset="0"/>
            </a:endParaRPr>
          </a:p>
        </p:txBody>
      </p:sp>
      <p:sp>
        <p:nvSpPr>
          <p:cNvPr id="1042" name="Rectangle 18"/>
          <p:cNvSpPr>
            <a:spLocks noChangeArrowheads="1"/>
          </p:cNvSpPr>
          <p:nvPr/>
        </p:nvSpPr>
        <p:spPr bwMode="auto">
          <a:xfrm>
            <a:off x="8056563" y="6203950"/>
            <a:ext cx="835025" cy="641350"/>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spAutoFit/>
          </a:bodyPr>
          <a:lstStyle/>
          <a:p>
            <a:r>
              <a:rPr lang="en-US" sz="1800" u="none">
                <a:solidFill>
                  <a:srgbClr val="FFFCFD"/>
                </a:solidFill>
                <a:latin typeface="Book Antiqua" panose="02040602050305030304" pitchFamily="18" charset="0"/>
              </a:rPr>
              <a:t>            Slide</a:t>
            </a: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2800" kern="1200">
          <a:solidFill>
            <a:srgbClr val="FAFD00"/>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2800">
          <a:solidFill>
            <a:srgbClr val="FAFD00"/>
          </a:solidFill>
          <a:effectLst>
            <a:outerShdw blurRad="38100" dist="38100" dir="2700000" algn="tl">
              <a:srgbClr val="000000"/>
            </a:outerShdw>
          </a:effectLst>
          <a:latin typeface="Book Antiqua" panose="02040602050305030304" pitchFamily="18" charset="0"/>
        </a:defRPr>
      </a:lvl2pPr>
      <a:lvl3pPr algn="ctr" rtl="0" eaLnBrk="0" fontAlgn="base" hangingPunct="0">
        <a:spcBef>
          <a:spcPct val="0"/>
        </a:spcBef>
        <a:spcAft>
          <a:spcPct val="0"/>
        </a:spcAft>
        <a:defRPr sz="2800">
          <a:solidFill>
            <a:srgbClr val="FAFD00"/>
          </a:solidFill>
          <a:effectLst>
            <a:outerShdw blurRad="38100" dist="38100" dir="2700000" algn="tl">
              <a:srgbClr val="000000"/>
            </a:outerShdw>
          </a:effectLst>
          <a:latin typeface="Book Antiqua" panose="02040602050305030304" pitchFamily="18" charset="0"/>
        </a:defRPr>
      </a:lvl3pPr>
      <a:lvl4pPr algn="ctr" rtl="0" eaLnBrk="0" fontAlgn="base" hangingPunct="0">
        <a:spcBef>
          <a:spcPct val="0"/>
        </a:spcBef>
        <a:spcAft>
          <a:spcPct val="0"/>
        </a:spcAft>
        <a:defRPr sz="2800">
          <a:solidFill>
            <a:srgbClr val="FAFD00"/>
          </a:solidFill>
          <a:effectLst>
            <a:outerShdw blurRad="38100" dist="38100" dir="2700000" algn="tl">
              <a:srgbClr val="000000"/>
            </a:outerShdw>
          </a:effectLst>
          <a:latin typeface="Book Antiqua" panose="02040602050305030304" pitchFamily="18" charset="0"/>
        </a:defRPr>
      </a:lvl4pPr>
      <a:lvl5pPr algn="ctr" rtl="0" eaLnBrk="0" fontAlgn="base" hangingPunct="0">
        <a:spcBef>
          <a:spcPct val="0"/>
        </a:spcBef>
        <a:spcAft>
          <a:spcPct val="0"/>
        </a:spcAft>
        <a:defRPr sz="2800">
          <a:solidFill>
            <a:srgbClr val="FAFD00"/>
          </a:solidFill>
          <a:effectLst>
            <a:outerShdw blurRad="38100" dist="38100" dir="2700000" algn="tl">
              <a:srgbClr val="000000"/>
            </a:outerShdw>
          </a:effectLst>
          <a:latin typeface="Book Antiqua" panose="02040602050305030304" pitchFamily="18" charset="0"/>
        </a:defRPr>
      </a:lvl5pPr>
      <a:lvl6pPr marL="457200" algn="ctr" rtl="0" eaLnBrk="0" fontAlgn="base" hangingPunct="0">
        <a:spcBef>
          <a:spcPct val="0"/>
        </a:spcBef>
        <a:spcAft>
          <a:spcPct val="0"/>
        </a:spcAft>
        <a:defRPr sz="2800">
          <a:solidFill>
            <a:srgbClr val="FAFD00"/>
          </a:solidFill>
          <a:effectLst>
            <a:outerShdw blurRad="38100" dist="38100" dir="2700000" algn="tl">
              <a:srgbClr val="000000"/>
            </a:outerShdw>
          </a:effectLst>
          <a:latin typeface="Book Antiqua" panose="02040602050305030304" pitchFamily="18" charset="0"/>
        </a:defRPr>
      </a:lvl6pPr>
      <a:lvl7pPr marL="914400" algn="ctr" rtl="0" eaLnBrk="0" fontAlgn="base" hangingPunct="0">
        <a:spcBef>
          <a:spcPct val="0"/>
        </a:spcBef>
        <a:spcAft>
          <a:spcPct val="0"/>
        </a:spcAft>
        <a:defRPr sz="2800">
          <a:solidFill>
            <a:srgbClr val="FAFD00"/>
          </a:solidFill>
          <a:effectLst>
            <a:outerShdw blurRad="38100" dist="38100" dir="2700000" algn="tl">
              <a:srgbClr val="000000"/>
            </a:outerShdw>
          </a:effectLst>
          <a:latin typeface="Book Antiqua" panose="02040602050305030304" pitchFamily="18" charset="0"/>
        </a:defRPr>
      </a:lvl7pPr>
      <a:lvl8pPr marL="1371600" algn="ctr" rtl="0" eaLnBrk="0" fontAlgn="base" hangingPunct="0">
        <a:spcBef>
          <a:spcPct val="0"/>
        </a:spcBef>
        <a:spcAft>
          <a:spcPct val="0"/>
        </a:spcAft>
        <a:defRPr sz="2800">
          <a:solidFill>
            <a:srgbClr val="FAFD00"/>
          </a:solidFill>
          <a:effectLst>
            <a:outerShdw blurRad="38100" dist="38100" dir="2700000" algn="tl">
              <a:srgbClr val="000000"/>
            </a:outerShdw>
          </a:effectLst>
          <a:latin typeface="Book Antiqua" panose="02040602050305030304" pitchFamily="18" charset="0"/>
        </a:defRPr>
      </a:lvl8pPr>
      <a:lvl9pPr marL="1828800" algn="ctr" rtl="0" eaLnBrk="0" fontAlgn="base" hangingPunct="0">
        <a:spcBef>
          <a:spcPct val="0"/>
        </a:spcBef>
        <a:spcAft>
          <a:spcPct val="0"/>
        </a:spcAft>
        <a:defRPr sz="2800">
          <a:solidFill>
            <a:srgbClr val="FAFD00"/>
          </a:solidFill>
          <a:effectLst>
            <a:outerShdw blurRad="38100" dist="38100" dir="2700000" algn="tl">
              <a:srgbClr val="000000"/>
            </a:outerShdw>
          </a:effectLst>
          <a:latin typeface="Book Antiqua" panose="02040602050305030304" pitchFamily="18" charset="0"/>
        </a:defRPr>
      </a:lvl9pPr>
    </p:titleStyle>
    <p:bodyStyle>
      <a:lvl1pPr marL="342900" indent="-342900" algn="l" rtl="0" eaLnBrk="0" fontAlgn="base" hangingPunct="0">
        <a:spcBef>
          <a:spcPct val="20000"/>
        </a:spcBef>
        <a:spcAft>
          <a:spcPct val="0"/>
        </a:spcAft>
        <a:buClr>
          <a:srgbClr val="FAFD00"/>
        </a:buClr>
        <a:buSzPct val="75000"/>
        <a:buFont typeface="Monotype Sorts" pitchFamily="2" charset="2"/>
        <a:buChar char="n"/>
        <a:defRPr sz="2400" kern="1200">
          <a:solidFill>
            <a:srgbClr val="FFFFFF"/>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rgbClr val="FEFF62"/>
        </a:buClr>
        <a:buSzPct val="100000"/>
        <a:buChar char="•"/>
        <a:defRPr sz="2400" kern="1200">
          <a:solidFill>
            <a:srgbClr val="FFFFFF"/>
          </a:solidFill>
          <a:effectLst>
            <a:outerShdw blurRad="38100" dist="38100" dir="2700000" algn="tl">
              <a:srgbClr val="000000"/>
            </a:outerShdw>
          </a:effectLst>
          <a:latin typeface="+mn-lt"/>
          <a:ea typeface="+mn-ea"/>
          <a:cs typeface="+mn-cs"/>
        </a:defRPr>
      </a:lvl2pPr>
      <a:lvl3pPr marL="1143000" indent="-228600" algn="l" rtl="0" eaLnBrk="0" fontAlgn="base" hangingPunct="0">
        <a:spcBef>
          <a:spcPct val="20000"/>
        </a:spcBef>
        <a:spcAft>
          <a:spcPct val="0"/>
        </a:spcAft>
        <a:buClr>
          <a:srgbClr val="FAFD00"/>
        </a:buClr>
        <a:buSzPct val="40000"/>
        <a:buFont typeface="Wingdings" panose="05000000000000000000" pitchFamily="2" charset="2"/>
        <a:buChar char="u"/>
        <a:defRPr sz="2400" kern="1200">
          <a:solidFill>
            <a:srgbClr val="FFFFFF"/>
          </a:solidFill>
          <a:effectLst>
            <a:outerShdw blurRad="38100" dist="38100" dir="2700000" algn="tl">
              <a:srgbClr val="000000"/>
            </a:outerShdw>
          </a:effectLst>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ChangeArrowheads="1"/>
          </p:cNvSpPr>
          <p:nvPr/>
        </p:nvSpPr>
        <p:spPr bwMode="auto">
          <a:xfrm>
            <a:off x="7299325" y="5089525"/>
            <a:ext cx="392113"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endParaRPr lang="en-US" sz="2400" u="none">
              <a:solidFill>
                <a:srgbClr val="000000"/>
              </a:solidFill>
            </a:endParaRPr>
          </a:p>
          <a:p>
            <a:r>
              <a:rPr lang="en-US" sz="2400" u="none">
                <a:solidFill>
                  <a:srgbClr val="000000"/>
                </a:solidFill>
              </a:rPr>
              <a:t>  </a:t>
            </a:r>
          </a:p>
          <a:p>
            <a:r>
              <a:rPr lang="en-US" sz="2400" u="none">
                <a:solidFill>
                  <a:srgbClr val="000000"/>
                </a:solidFill>
              </a:rPr>
              <a:t>   </a:t>
            </a:r>
          </a:p>
        </p:txBody>
      </p:sp>
      <p:sp>
        <p:nvSpPr>
          <p:cNvPr id="75779" name="Rectangle 3"/>
          <p:cNvSpPr>
            <a:spLocks noGrp="1" noChangeArrowheads="1"/>
          </p:cNvSpPr>
          <p:nvPr>
            <p:ph type="title"/>
          </p:nvPr>
        </p:nvSpPr>
        <p:spPr>
          <a:xfrm>
            <a:off x="533400" y="100013"/>
            <a:ext cx="8081963" cy="1428750"/>
          </a:xfrm>
        </p:spPr>
        <p:txBody>
          <a:bodyPr/>
          <a:lstStyle/>
          <a:p>
            <a:r>
              <a:rPr lang="en-US" sz="2400">
                <a:solidFill>
                  <a:schemeClr val="tx2"/>
                </a:solidFill>
              </a:rPr>
              <a:t>LINEAR PROGRAMMING:  </a:t>
            </a:r>
            <a:br>
              <a:rPr lang="en-US" sz="2400">
                <a:solidFill>
                  <a:schemeClr val="tx2"/>
                </a:solidFill>
              </a:rPr>
            </a:br>
            <a:r>
              <a:rPr lang="en-US" sz="2400">
                <a:solidFill>
                  <a:schemeClr val="tx2"/>
                </a:solidFill>
              </a:rPr>
              <a:t>THE GRAPHICAL METHOD</a:t>
            </a:r>
          </a:p>
        </p:txBody>
      </p:sp>
      <p:sp>
        <p:nvSpPr>
          <p:cNvPr id="75780" name="Rectangle 4"/>
          <p:cNvSpPr>
            <a:spLocks noGrp="1" noChangeArrowheads="1"/>
          </p:cNvSpPr>
          <p:nvPr>
            <p:ph type="body" idx="1"/>
          </p:nvPr>
        </p:nvSpPr>
        <p:spPr>
          <a:xfrm>
            <a:off x="533400" y="2084388"/>
            <a:ext cx="8101013" cy="4011612"/>
          </a:xfrm>
        </p:spPr>
        <p:txBody>
          <a:bodyPr/>
          <a:lstStyle/>
          <a:p>
            <a:r>
              <a:rPr lang="en-US"/>
              <a:t>Linear Programming Problem</a:t>
            </a:r>
          </a:p>
          <a:p>
            <a:r>
              <a:rPr lang="en-US"/>
              <a:t>Properties of LPs</a:t>
            </a:r>
          </a:p>
          <a:p>
            <a:r>
              <a:rPr lang="en-US"/>
              <a:t>LP Solutions</a:t>
            </a:r>
          </a:p>
          <a:p>
            <a:r>
              <a:rPr lang="en-US"/>
              <a:t>Graphical Solution</a:t>
            </a:r>
          </a:p>
          <a:p>
            <a:r>
              <a:rPr lang="en-US"/>
              <a:t>Introduction to Sensitivity Analysis</a:t>
            </a:r>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823913" y="214313"/>
            <a:ext cx="7772400" cy="681037"/>
          </a:xfrm>
          <a:noFill/>
          <a:ln/>
        </p:spPr>
        <p:txBody>
          <a:bodyPr/>
          <a:lstStyle/>
          <a:p>
            <a:r>
              <a:rPr lang="en-US"/>
              <a:t>Linear Programming (LP) Problem</a:t>
            </a:r>
          </a:p>
        </p:txBody>
      </p:sp>
      <p:sp>
        <p:nvSpPr>
          <p:cNvPr id="118787" name="Rectangle 3"/>
          <p:cNvSpPr>
            <a:spLocks noGrp="1" noChangeArrowheads="1"/>
          </p:cNvSpPr>
          <p:nvPr>
            <p:ph type="body" idx="1"/>
          </p:nvPr>
        </p:nvSpPr>
        <p:spPr>
          <a:xfrm>
            <a:off x="823913" y="1090613"/>
            <a:ext cx="7772400" cy="4852987"/>
          </a:xfrm>
          <a:noFill/>
          <a:ln/>
        </p:spPr>
        <p:txBody>
          <a:bodyPr/>
          <a:lstStyle/>
          <a:p>
            <a:r>
              <a:rPr lang="en-US"/>
              <a:t>A </a:t>
            </a:r>
            <a:r>
              <a:rPr lang="en-US" u="sng">
                <a:solidFill>
                  <a:schemeClr val="tx2"/>
                </a:solidFill>
              </a:rPr>
              <a:t>mathematical programming problem</a:t>
            </a:r>
            <a:r>
              <a:rPr lang="en-US"/>
              <a:t> is one that seeks to maximize or minimize an objective function subject to constraints.  </a:t>
            </a:r>
          </a:p>
          <a:p>
            <a:r>
              <a:rPr lang="en-US"/>
              <a:t>If both the objective function and the constraints are linear, the problem is referred to as a </a:t>
            </a:r>
            <a:r>
              <a:rPr lang="en-US" u="sng">
                <a:solidFill>
                  <a:schemeClr val="tx2"/>
                </a:solidFill>
              </a:rPr>
              <a:t>linear programming problem</a:t>
            </a:r>
            <a:r>
              <a:rPr lang="en-US">
                <a:solidFill>
                  <a:schemeClr val="tx2"/>
                </a:solidFill>
              </a:rPr>
              <a:t>.</a:t>
            </a:r>
          </a:p>
          <a:p>
            <a:r>
              <a:rPr lang="en-US" u="sng">
                <a:solidFill>
                  <a:schemeClr val="tx2"/>
                </a:solidFill>
              </a:rPr>
              <a:t>Linear functions</a:t>
            </a:r>
            <a:r>
              <a:rPr lang="en-US"/>
              <a:t> are functions in which each variable appears in a separate term raised to the first power and is multiplied by a constant (which could be 0).</a:t>
            </a:r>
          </a:p>
          <a:p>
            <a:r>
              <a:rPr lang="en-US" u="sng">
                <a:solidFill>
                  <a:schemeClr val="tx2"/>
                </a:solidFill>
              </a:rPr>
              <a:t>Linear constraints</a:t>
            </a:r>
            <a:r>
              <a:rPr lang="en-US"/>
              <a:t> are linear functions that are restricted to be "less than or equal to", "equal to", or "greater than or equal to" a constant.</a:t>
            </a: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4919040" y="4261320"/>
              <a:ext cx="3960" cy="360"/>
            </p14:xfrm>
          </p:contentPart>
        </mc:Choice>
        <mc:Fallback xmlns="">
          <p:pic>
            <p:nvPicPr>
              <p:cNvPr id="2" name="Ink 1"/>
              <p:cNvPicPr/>
              <p:nvPr/>
            </p:nvPicPr>
            <p:blipFill>
              <a:blip r:embed="rId4"/>
              <a:stretch>
                <a:fillRect/>
              </a:stretch>
            </p:blipFill>
            <p:spPr>
              <a:xfrm>
                <a:off x="280440" y="1080000"/>
                <a:ext cx="8569440" cy="3616200"/>
              </a:xfrm>
              <a:prstGeom prst="rect">
                <a:avLst/>
              </a:prstGeom>
            </p:spPr>
          </p:pic>
        </mc:Fallback>
      </mc:AlternateContent>
    </p:spTree>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en-US"/>
              <a:t>Linear Programming (LP) M</a:t>
            </a:r>
          </a:p>
        </p:txBody>
      </p:sp>
      <p:sp>
        <p:nvSpPr>
          <p:cNvPr id="124931" name="Rectangle 3"/>
          <p:cNvSpPr>
            <a:spLocks noGrp="1" noChangeArrowheads="1"/>
          </p:cNvSpPr>
          <p:nvPr>
            <p:ph type="body" idx="1"/>
          </p:nvPr>
        </p:nvSpPr>
        <p:spPr/>
        <p:txBody>
          <a:bodyPr/>
          <a:lstStyle/>
          <a:p>
            <a:r>
              <a:rPr lang="en-US"/>
              <a:t>There are five common types of decisions in which LP may play a role</a:t>
            </a:r>
          </a:p>
          <a:p>
            <a:pPr lvl="1"/>
            <a:r>
              <a:rPr lang="en-US"/>
              <a:t>Product mix</a:t>
            </a:r>
          </a:p>
          <a:p>
            <a:pPr lvl="1"/>
            <a:r>
              <a:rPr lang="en-US"/>
              <a:t>Production plan</a:t>
            </a:r>
          </a:p>
          <a:p>
            <a:pPr lvl="1"/>
            <a:r>
              <a:rPr lang="en-US"/>
              <a:t>Ingredient mix</a:t>
            </a:r>
          </a:p>
          <a:p>
            <a:pPr lvl="1"/>
            <a:r>
              <a:rPr lang="en-US"/>
              <a:t>Transportation</a:t>
            </a:r>
          </a:p>
          <a:p>
            <a:pPr lvl="1"/>
            <a:r>
              <a:rPr lang="en-US"/>
              <a:t>Assignment</a:t>
            </a:r>
          </a:p>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idx="4294967295"/>
          </p:nvPr>
        </p:nvSpPr>
        <p:spPr>
          <a:xfrm>
            <a:off x="477838" y="0"/>
            <a:ext cx="8229600" cy="1706563"/>
          </a:xfrm>
        </p:spPr>
        <p:txBody>
          <a:bodyPr lIns="91440" tIns="45720" rIns="91440" bIns="45720"/>
          <a:lstStyle/>
          <a:p>
            <a:pPr eaLnBrk="1" hangingPunct="1"/>
            <a:r>
              <a:rPr lang="en-US"/>
              <a:t>Steps in Developing a </a:t>
            </a:r>
            <a:br>
              <a:rPr lang="en-US"/>
            </a:br>
            <a:r>
              <a:rPr lang="en-US"/>
              <a:t>Linear </a:t>
            </a:r>
            <a:r>
              <a:rPr lang="en-US" u="sng"/>
              <a:t>Programming (LP) Model</a:t>
            </a:r>
          </a:p>
        </p:txBody>
      </p:sp>
      <p:sp>
        <p:nvSpPr>
          <p:cNvPr id="77827" name="Rectangle 3"/>
          <p:cNvSpPr>
            <a:spLocks noGrp="1" noChangeArrowheads="1"/>
          </p:cNvSpPr>
          <p:nvPr>
            <p:ph type="body" idx="4294967295"/>
          </p:nvPr>
        </p:nvSpPr>
        <p:spPr>
          <a:xfrm>
            <a:off x="533400" y="1681163"/>
            <a:ext cx="8101013" cy="4414837"/>
          </a:xfrm>
        </p:spPr>
        <p:txBody>
          <a:bodyPr lIns="91440" tIns="45720" rIns="91440" bIns="45720"/>
          <a:lstStyle/>
          <a:p>
            <a:pPr marL="609600" indent="-609600" eaLnBrk="1" hangingPunct="1">
              <a:buFontTx/>
              <a:buAutoNum type="arabicParenR"/>
            </a:pPr>
            <a:r>
              <a:rPr lang="en-US" dirty="0"/>
              <a:t>Formulation</a:t>
            </a:r>
          </a:p>
          <a:p>
            <a:pPr marL="609600" indent="-609600" eaLnBrk="1" hangingPunct="1">
              <a:buFontTx/>
              <a:buAutoNum type="arabicParenR"/>
            </a:pPr>
            <a:endParaRPr lang="en-US" dirty="0"/>
          </a:p>
          <a:p>
            <a:pPr marL="609600" indent="-609600" eaLnBrk="1" hangingPunct="1">
              <a:buFontTx/>
              <a:buAutoNum type="arabicParenR"/>
            </a:pPr>
            <a:r>
              <a:rPr lang="en-US" dirty="0"/>
              <a:t>Solution</a:t>
            </a:r>
          </a:p>
          <a:p>
            <a:pPr marL="609600" indent="-609600" eaLnBrk="1" hangingPunct="1">
              <a:buFontTx/>
              <a:buAutoNum type="arabicParenR"/>
            </a:pPr>
            <a:endParaRPr lang="en-US" dirty="0"/>
          </a:p>
          <a:p>
            <a:pPr marL="609600" indent="-609600" eaLnBrk="1" hangingPunct="1">
              <a:buFontTx/>
              <a:buAutoNum type="arabicParenR"/>
            </a:pPr>
            <a:r>
              <a:rPr lang="en-US" dirty="0"/>
              <a:t>Interpretation and Sensitivity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r>
              <a:rPr lang="en-US"/>
              <a:t>Steps in Formulating LP Problems</a:t>
            </a:r>
          </a:p>
        </p:txBody>
      </p:sp>
      <p:sp>
        <p:nvSpPr>
          <p:cNvPr id="125955" name="Rectangle 3"/>
          <p:cNvSpPr>
            <a:spLocks noGrp="1" noChangeArrowheads="1"/>
          </p:cNvSpPr>
          <p:nvPr>
            <p:ph type="body" idx="1"/>
          </p:nvPr>
        </p:nvSpPr>
        <p:spPr/>
        <p:txBody>
          <a:bodyPr/>
          <a:lstStyle/>
          <a:p>
            <a:pPr>
              <a:buFont typeface="Monotype Sorts" pitchFamily="2" charset="2"/>
              <a:buNone/>
            </a:pPr>
            <a:r>
              <a:rPr lang="en-US" b="1">
                <a:solidFill>
                  <a:srgbClr val="66FFFF"/>
                </a:solidFill>
              </a:rPr>
              <a:t>1.</a:t>
            </a:r>
            <a:r>
              <a:rPr lang="en-US" b="1">
                <a:solidFill>
                  <a:schemeClr val="accent2"/>
                </a:solidFill>
              </a:rPr>
              <a:t> </a:t>
            </a:r>
            <a:r>
              <a:rPr lang="en-US"/>
              <a:t> Define the objective. (min or max)</a:t>
            </a:r>
          </a:p>
          <a:p>
            <a:pPr>
              <a:buFont typeface="Monotype Sorts" pitchFamily="2" charset="2"/>
              <a:buNone/>
            </a:pPr>
            <a:r>
              <a:rPr lang="en-US" b="1">
                <a:solidFill>
                  <a:srgbClr val="66FFFF"/>
                </a:solidFill>
              </a:rPr>
              <a:t>2.</a:t>
            </a:r>
            <a:r>
              <a:rPr lang="en-US"/>
              <a:t>  Define the decision variables. (positive, binary)</a:t>
            </a:r>
          </a:p>
          <a:p>
            <a:pPr>
              <a:buFont typeface="Monotype Sorts" pitchFamily="2" charset="2"/>
              <a:buNone/>
            </a:pPr>
            <a:r>
              <a:rPr lang="en-US" b="1">
                <a:solidFill>
                  <a:srgbClr val="66FFFF"/>
                </a:solidFill>
              </a:rPr>
              <a:t>3.</a:t>
            </a:r>
            <a:r>
              <a:rPr lang="en-US"/>
              <a:t>  Write the mathematical function for the objective.</a:t>
            </a:r>
          </a:p>
          <a:p>
            <a:pPr>
              <a:buFont typeface="Monotype Sorts" pitchFamily="2" charset="2"/>
              <a:buNone/>
            </a:pPr>
            <a:r>
              <a:rPr lang="en-US" b="1">
                <a:solidFill>
                  <a:srgbClr val="66FFFF"/>
                </a:solidFill>
              </a:rPr>
              <a:t>4.</a:t>
            </a:r>
            <a:r>
              <a:rPr lang="en-US"/>
              <a:t>  Write a 1- or 2-word description of each constraint.</a:t>
            </a:r>
          </a:p>
          <a:p>
            <a:pPr>
              <a:buFont typeface="Monotype Sorts" pitchFamily="2" charset="2"/>
              <a:buNone/>
            </a:pPr>
            <a:r>
              <a:rPr lang="en-US" b="1">
                <a:solidFill>
                  <a:srgbClr val="66FFFF"/>
                </a:solidFill>
              </a:rPr>
              <a:t>5.</a:t>
            </a:r>
            <a:r>
              <a:rPr lang="en-US"/>
              <a:t>  Write the right-hand side (RHS) of each constraint.</a:t>
            </a:r>
          </a:p>
          <a:p>
            <a:pPr>
              <a:buFont typeface="Monotype Sorts" pitchFamily="2" charset="2"/>
              <a:buNone/>
            </a:pPr>
            <a:r>
              <a:rPr lang="en-US" b="1">
                <a:solidFill>
                  <a:srgbClr val="66FFFF"/>
                </a:solidFill>
              </a:rPr>
              <a:t>6.</a:t>
            </a:r>
            <a:r>
              <a:rPr lang="en-US"/>
              <a:t>  Write </a:t>
            </a:r>
            <a:r>
              <a:rPr lang="en-US" u="sng"/>
              <a:t>&lt;</a:t>
            </a:r>
            <a:r>
              <a:rPr lang="en-US"/>
              <a:t>, =, or </a:t>
            </a:r>
            <a:r>
              <a:rPr lang="en-US" u="sng"/>
              <a:t>&gt;</a:t>
            </a:r>
            <a:r>
              <a:rPr lang="en-US"/>
              <a:t> for each constraint.</a:t>
            </a:r>
          </a:p>
          <a:p>
            <a:pPr>
              <a:buFont typeface="Monotype Sorts" pitchFamily="2" charset="2"/>
              <a:buNone/>
            </a:pPr>
            <a:r>
              <a:rPr lang="en-US" b="1">
                <a:solidFill>
                  <a:srgbClr val="66FFFF"/>
                </a:solidFill>
              </a:rPr>
              <a:t>7.</a:t>
            </a:r>
            <a:r>
              <a:rPr lang="en-US"/>
              <a:t>  Write the decision variables on LHS of each constraint.</a:t>
            </a:r>
          </a:p>
          <a:p>
            <a:pPr>
              <a:buFont typeface="Monotype Sorts" pitchFamily="2" charset="2"/>
              <a:buNone/>
            </a:pPr>
            <a:r>
              <a:rPr lang="en-US" b="1">
                <a:solidFill>
                  <a:srgbClr val="66FFFF"/>
                </a:solidFill>
              </a:rPr>
              <a:t>8.</a:t>
            </a:r>
            <a:r>
              <a:rPr lang="en-US"/>
              <a:t>  Write the coefficient for each decision variable in each  constraint.</a:t>
            </a:r>
          </a:p>
          <a:p>
            <a:endParaRPr lang="en-US"/>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78840" y="746640"/>
              <a:ext cx="962640" cy="1589760"/>
            </p14:xfrm>
          </p:contentPart>
        </mc:Choice>
        <mc:Fallback xmlns="">
          <p:pic>
            <p:nvPicPr>
              <p:cNvPr id="2" name="Ink 1"/>
              <p:cNvPicPr/>
              <p:nvPr/>
            </p:nvPicPr>
            <p:blipFill>
              <a:blip r:embed="rId3"/>
              <a:stretch>
                <a:fillRect/>
              </a:stretch>
            </p:blipFill>
            <p:spPr>
              <a:xfrm>
                <a:off x="69480" y="737280"/>
                <a:ext cx="981360" cy="160848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p:txBody>
          <a:bodyPr lIns="91440" tIns="45720" rIns="91440" bIns="45720"/>
          <a:lstStyle/>
          <a:p>
            <a:pPr eaLnBrk="1" hangingPunct="1"/>
            <a:r>
              <a:rPr lang="en-US" u="sng"/>
              <a:t>Properties of LP Models</a:t>
            </a:r>
          </a:p>
        </p:txBody>
      </p:sp>
      <p:sp>
        <p:nvSpPr>
          <p:cNvPr id="79875" name="Rectangle 3"/>
          <p:cNvSpPr>
            <a:spLocks noGrp="1" noChangeArrowheads="1"/>
          </p:cNvSpPr>
          <p:nvPr>
            <p:ph type="body" idx="4294967295"/>
          </p:nvPr>
        </p:nvSpPr>
        <p:spPr/>
        <p:txBody>
          <a:bodyPr lIns="91440" tIns="45720" rIns="91440" bIns="45720"/>
          <a:lstStyle/>
          <a:p>
            <a:pPr marL="609600" indent="-609600" eaLnBrk="1" hangingPunct="1">
              <a:spcBef>
                <a:spcPct val="65000"/>
              </a:spcBef>
              <a:buFontTx/>
              <a:buAutoNum type="arabicParenR"/>
            </a:pPr>
            <a:r>
              <a:rPr lang="en-US"/>
              <a:t>Seek to minimize or maximize</a:t>
            </a:r>
          </a:p>
          <a:p>
            <a:pPr marL="609600" indent="-609600" eaLnBrk="1" hangingPunct="1">
              <a:spcBef>
                <a:spcPct val="65000"/>
              </a:spcBef>
              <a:buFontTx/>
              <a:buAutoNum type="arabicParenR"/>
            </a:pPr>
            <a:r>
              <a:rPr lang="en-US"/>
              <a:t>Include “constraints” or limitations</a:t>
            </a:r>
          </a:p>
          <a:p>
            <a:pPr marL="609600" indent="-609600" eaLnBrk="1" hangingPunct="1">
              <a:spcBef>
                <a:spcPct val="65000"/>
              </a:spcBef>
              <a:buFontTx/>
              <a:buAutoNum type="arabicParenR"/>
            </a:pPr>
            <a:r>
              <a:rPr lang="en-US"/>
              <a:t>There must be alternatives available</a:t>
            </a:r>
          </a:p>
          <a:p>
            <a:pPr marL="609600" indent="-609600" eaLnBrk="1" hangingPunct="1">
              <a:spcBef>
                <a:spcPct val="65000"/>
              </a:spcBef>
              <a:buFontTx/>
              <a:buAutoNum type="arabicParenR"/>
            </a:pPr>
            <a:r>
              <a:rPr lang="en-US"/>
              <a:t>All equations are linear</a:t>
            </a:r>
            <a:endParaRPr lang="en-US" i="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r>
              <a:rPr lang="en-US"/>
              <a:t>LP Problems in:  Product Mix</a:t>
            </a:r>
          </a:p>
        </p:txBody>
      </p:sp>
      <p:sp>
        <p:nvSpPr>
          <p:cNvPr id="129027" name="Rectangle 3"/>
          <p:cNvSpPr>
            <a:spLocks noGrp="1" noChangeArrowheads="1"/>
          </p:cNvSpPr>
          <p:nvPr>
            <p:ph type="body" idx="1"/>
          </p:nvPr>
        </p:nvSpPr>
        <p:spPr/>
        <p:txBody>
          <a:bodyPr/>
          <a:lstStyle/>
          <a:p>
            <a:r>
              <a:rPr lang="en-US" u="sng"/>
              <a:t>Objective</a:t>
            </a:r>
          </a:p>
          <a:p>
            <a:pPr>
              <a:buFont typeface="Monotype Sorts" pitchFamily="2" charset="2"/>
              <a:buNone/>
            </a:pPr>
            <a:r>
              <a:rPr lang="en-US"/>
              <a:t>	To select the mix of products or services that results in maximum profits for the planning period</a:t>
            </a:r>
          </a:p>
          <a:p>
            <a:r>
              <a:rPr lang="en-US" u="sng"/>
              <a:t>Decision Variables</a:t>
            </a:r>
            <a:endParaRPr lang="en-US"/>
          </a:p>
          <a:p>
            <a:pPr>
              <a:buFont typeface="Monotype Sorts" pitchFamily="2" charset="2"/>
              <a:buNone/>
            </a:pPr>
            <a:r>
              <a:rPr lang="en-US"/>
              <a:t>	How much to produce and market of each product or service for the planning period</a:t>
            </a:r>
          </a:p>
          <a:p>
            <a:r>
              <a:rPr lang="en-US" u="sng"/>
              <a:t>Constraints</a:t>
            </a:r>
          </a:p>
          <a:p>
            <a:pPr>
              <a:buFont typeface="Monotype Sorts" pitchFamily="2" charset="2"/>
              <a:buNone/>
            </a:pPr>
            <a:r>
              <a:rPr lang="en-US"/>
              <a:t>	Maximum amount of each product or service demanded;  Minimum amount of product or service policy will allow;  Maximum amount of resources available</a:t>
            </a:r>
          </a:p>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p:txBody>
          <a:bodyPr lIns="91440" tIns="45720" rIns="91440" bIns="45720"/>
          <a:lstStyle/>
          <a:p>
            <a:pPr eaLnBrk="1" hangingPunct="1"/>
            <a:r>
              <a:rPr lang="en-US" sz="2400"/>
              <a:t>Example LP Model Formulation:</a:t>
            </a:r>
            <a:br>
              <a:rPr lang="en-US" sz="2400" u="sng"/>
            </a:br>
            <a:r>
              <a:rPr lang="en-US" sz="2400" u="sng"/>
              <a:t>The Product Mix Problem</a:t>
            </a:r>
          </a:p>
        </p:txBody>
      </p:sp>
      <p:sp>
        <p:nvSpPr>
          <p:cNvPr id="81923" name="Rectangle 3"/>
          <p:cNvSpPr>
            <a:spLocks noGrp="1" noChangeArrowheads="1"/>
          </p:cNvSpPr>
          <p:nvPr>
            <p:ph type="body" idx="4294967295"/>
          </p:nvPr>
        </p:nvSpPr>
        <p:spPr/>
        <p:txBody>
          <a:bodyPr lIns="91440" tIns="45720" rIns="91440" bIns="45720"/>
          <a:lstStyle/>
          <a:p>
            <a:pPr eaLnBrk="1" hangingPunct="1">
              <a:buFont typeface="Monotype Sorts" pitchFamily="2" charset="2"/>
              <a:buNone/>
            </a:pPr>
            <a:r>
              <a:rPr lang="en-US" sz="2100" dirty="0"/>
              <a:t>Decision:  How much to make of </a:t>
            </a:r>
            <a:r>
              <a:rPr lang="en-US" sz="2100" u="sng" dirty="0"/>
              <a:t>&gt;</a:t>
            </a:r>
            <a:r>
              <a:rPr lang="en-US" sz="2100" dirty="0"/>
              <a:t> 2 products?</a:t>
            </a:r>
          </a:p>
          <a:p>
            <a:pPr eaLnBrk="1" hangingPunct="1">
              <a:buFont typeface="Monotype Sorts" pitchFamily="2" charset="2"/>
              <a:buNone/>
            </a:pPr>
            <a:endParaRPr lang="en-US" sz="2100" dirty="0"/>
          </a:p>
          <a:p>
            <a:pPr eaLnBrk="1" hangingPunct="1">
              <a:buFont typeface="Monotype Sorts" pitchFamily="2" charset="2"/>
              <a:buNone/>
            </a:pPr>
            <a:r>
              <a:rPr lang="en-US" sz="2100" dirty="0"/>
              <a:t>Objective:  Maximize profit</a:t>
            </a:r>
          </a:p>
          <a:p>
            <a:pPr eaLnBrk="1" hangingPunct="1">
              <a:buFont typeface="Monotype Sorts" pitchFamily="2" charset="2"/>
              <a:buNone/>
            </a:pPr>
            <a:endParaRPr lang="en-US" sz="2100" dirty="0"/>
          </a:p>
          <a:p>
            <a:pPr eaLnBrk="1" hangingPunct="1">
              <a:buFont typeface="Monotype Sorts" pitchFamily="2" charset="2"/>
              <a:buNone/>
            </a:pPr>
            <a:r>
              <a:rPr lang="en-US" sz="2100" dirty="0"/>
              <a:t>Constraints:  Limited resources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idx="4294967295"/>
          </p:nvPr>
        </p:nvSpPr>
        <p:spPr/>
        <p:txBody>
          <a:bodyPr lIns="91440" tIns="45720" rIns="91440" bIns="45720"/>
          <a:lstStyle/>
          <a:p>
            <a:pPr eaLnBrk="1" hangingPunct="1"/>
            <a:r>
              <a:rPr lang="en-US" u="sng"/>
              <a:t>Example:  Pine Furniture Co.</a:t>
            </a:r>
          </a:p>
        </p:txBody>
      </p:sp>
      <p:sp>
        <p:nvSpPr>
          <p:cNvPr id="83971" name="Rectangle 3"/>
          <p:cNvSpPr>
            <a:spLocks noGrp="1" noChangeArrowheads="1"/>
          </p:cNvSpPr>
          <p:nvPr>
            <p:ph type="body" idx="4294967295"/>
          </p:nvPr>
        </p:nvSpPr>
        <p:spPr/>
        <p:txBody>
          <a:bodyPr lIns="91440" tIns="45720" rIns="91440" bIns="45720"/>
          <a:lstStyle/>
          <a:p>
            <a:pPr algn="ctr" eaLnBrk="1" hangingPunct="1">
              <a:buFont typeface="Monotype Sorts" pitchFamily="2" charset="2"/>
              <a:buNone/>
            </a:pPr>
            <a:r>
              <a:rPr lang="en-US" dirty="0"/>
              <a:t>Two products:  Chairs and Tables</a:t>
            </a:r>
          </a:p>
          <a:p>
            <a:pPr algn="ctr" eaLnBrk="1" hangingPunct="1">
              <a:buFont typeface="Monotype Sorts" pitchFamily="2" charset="2"/>
              <a:buNone/>
            </a:pPr>
            <a:endParaRPr lang="en-US" dirty="0"/>
          </a:p>
          <a:p>
            <a:pPr eaLnBrk="1" hangingPunct="1">
              <a:buFont typeface="Monotype Sorts" pitchFamily="2" charset="2"/>
              <a:buNone/>
            </a:pPr>
            <a:r>
              <a:rPr lang="en-US" dirty="0"/>
              <a:t>Decision:	 How many of each to make this 		     </a:t>
            </a:r>
          </a:p>
          <a:p>
            <a:pPr eaLnBrk="1" hangingPunct="1">
              <a:buFont typeface="Monotype Sorts" pitchFamily="2" charset="2"/>
              <a:buNone/>
            </a:pPr>
            <a:r>
              <a:rPr lang="en-US" dirty="0"/>
              <a:t>                         month?</a:t>
            </a:r>
          </a:p>
          <a:p>
            <a:pPr eaLnBrk="1" hangingPunct="1">
              <a:buFont typeface="Monotype Sorts" pitchFamily="2" charset="2"/>
              <a:buNone/>
            </a:pPr>
            <a:endParaRPr lang="en-US" dirty="0"/>
          </a:p>
          <a:p>
            <a:pPr eaLnBrk="1" hangingPunct="1">
              <a:buFont typeface="Monotype Sorts" pitchFamily="2" charset="2"/>
              <a:buNone/>
            </a:pPr>
            <a:r>
              <a:rPr lang="en-US" dirty="0"/>
              <a:t>Objective:  Maximize profit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idx="4294967295"/>
          </p:nvPr>
        </p:nvSpPr>
        <p:spPr>
          <a:xfrm>
            <a:off x="533400" y="100013"/>
            <a:ext cx="8081963" cy="619125"/>
          </a:xfrm>
        </p:spPr>
        <p:txBody>
          <a:bodyPr lIns="91440" tIns="45720" rIns="91440" bIns="45720"/>
          <a:lstStyle/>
          <a:p>
            <a:pPr eaLnBrk="1" hangingPunct="1"/>
            <a:r>
              <a:rPr lang="en-US" sz="2000"/>
              <a:t>Pine Furniture  Data</a:t>
            </a:r>
          </a:p>
        </p:txBody>
      </p:sp>
      <p:graphicFrame>
        <p:nvGraphicFramePr>
          <p:cNvPr id="86049" name="Group 33"/>
          <p:cNvGraphicFramePr>
            <a:graphicFrameLocks noGrp="1"/>
          </p:cNvGraphicFramePr>
          <p:nvPr/>
        </p:nvGraphicFramePr>
        <p:xfrm>
          <a:off x="914400" y="1066800"/>
          <a:ext cx="7467600" cy="2935288"/>
        </p:xfrm>
        <a:graphic>
          <a:graphicData uri="http://schemas.openxmlformats.org/drawingml/2006/table">
            <a:tbl>
              <a:tblPr/>
              <a:tblGrid>
                <a:gridCol w="2376488">
                  <a:extLst>
                    <a:ext uri="{9D8B030D-6E8A-4147-A177-3AD203B41FA5}">
                      <a16:colId xmlns:a16="http://schemas.microsoft.com/office/drawing/2014/main" val="20000"/>
                    </a:ext>
                  </a:extLst>
                </a:gridCol>
                <a:gridCol w="1697037">
                  <a:extLst>
                    <a:ext uri="{9D8B030D-6E8A-4147-A177-3AD203B41FA5}">
                      <a16:colId xmlns:a16="http://schemas.microsoft.com/office/drawing/2014/main" val="20001"/>
                    </a:ext>
                  </a:extLst>
                </a:gridCol>
                <a:gridCol w="1697038">
                  <a:extLst>
                    <a:ext uri="{9D8B030D-6E8A-4147-A177-3AD203B41FA5}">
                      <a16:colId xmlns:a16="http://schemas.microsoft.com/office/drawing/2014/main" val="20002"/>
                    </a:ext>
                  </a:extLst>
                </a:gridCol>
                <a:gridCol w="1697037">
                  <a:extLst>
                    <a:ext uri="{9D8B030D-6E8A-4147-A177-3AD203B41FA5}">
                      <a16:colId xmlns:a16="http://schemas.microsoft.com/office/drawing/2014/main" val="20003"/>
                    </a:ext>
                  </a:extLst>
                </a:gridCol>
              </a:tblGrid>
              <a:tr h="838200">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endParaRPr kumimoji="0" lang="en-US" sz="20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a:ln>
                            <a:noFill/>
                          </a:ln>
                          <a:solidFill>
                            <a:schemeClr val="tx2"/>
                          </a:solidFill>
                          <a:effectLst>
                            <a:outerShdw blurRad="38100" dist="38100" dir="2700000" algn="tl">
                              <a:srgbClr val="000000"/>
                            </a:outerShdw>
                          </a:effectLst>
                          <a:latin typeface="Book Antiqua" panose="02040602050305030304" pitchFamily="18" charset="0"/>
                        </a:rPr>
                        <a:t>Tables</a:t>
                      </a:r>
                    </a:p>
                    <a:p>
                      <a:pPr marL="0" marR="0" lvl="0" indent="0" algn="ctr"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1800" b="0" i="0" u="none" strike="noStrike" cap="none" normalizeH="0" baseline="0">
                          <a:ln>
                            <a:noFill/>
                          </a:ln>
                          <a:solidFill>
                            <a:schemeClr val="tx2"/>
                          </a:solidFill>
                          <a:effectLst>
                            <a:outerShdw blurRad="38100" dist="38100" dir="2700000" algn="tl">
                              <a:srgbClr val="000000"/>
                            </a:outerShdw>
                          </a:effectLst>
                          <a:latin typeface="Book Antiqua" panose="02040602050305030304" pitchFamily="18" charset="0"/>
                        </a:rPr>
                        <a:t>(per table</a:t>
                      </a: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a:ln>
                            <a:noFill/>
                          </a:ln>
                          <a:solidFill>
                            <a:schemeClr val="tx2"/>
                          </a:solidFill>
                          <a:effectLst>
                            <a:outerShdw blurRad="38100" dist="38100" dir="2700000" algn="tl">
                              <a:srgbClr val="000000"/>
                            </a:outerShdw>
                          </a:effectLst>
                          <a:latin typeface="Book Antiqua" panose="02040602050305030304" pitchFamily="18" charset="0"/>
                        </a:rPr>
                        <a:t>Chairs</a:t>
                      </a:r>
                    </a:p>
                    <a:p>
                      <a:pPr marL="0" marR="0" lvl="0" indent="0" algn="ctr"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1800" b="0" i="0" u="none" strike="noStrike" cap="none" normalizeH="0" baseline="0">
                          <a:ln>
                            <a:noFill/>
                          </a:ln>
                          <a:solidFill>
                            <a:schemeClr val="tx2"/>
                          </a:solidFill>
                          <a:effectLst>
                            <a:outerShdw blurRad="38100" dist="38100" dir="2700000" algn="tl">
                              <a:srgbClr val="000000"/>
                            </a:outerShdw>
                          </a:effectLst>
                          <a:latin typeface="Book Antiqua" panose="02040602050305030304" pitchFamily="18" charset="0"/>
                        </a:rPr>
                        <a:t>(per chair</a:t>
                      </a: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rowSpan="2">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a:ln>
                            <a:noFill/>
                          </a:ln>
                          <a:solidFill>
                            <a:schemeClr val="tx2"/>
                          </a:solidFill>
                          <a:effectLst>
                            <a:outerShdw blurRad="38100" dist="38100" dir="2700000" algn="tl">
                              <a:srgbClr val="000000"/>
                            </a:outerShdw>
                          </a:effectLst>
                          <a:latin typeface="Book Antiqua" panose="02040602050305030304" pitchFamily="18" charset="0"/>
                        </a:rPr>
                        <a:t>Hours Available</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873125">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Profit Contribution</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val="10001"/>
                  </a:ext>
                </a:extLst>
              </a:tr>
              <a:tr h="614363">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Carpentry</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rPr>
                        <a:t>3 </a:t>
                      </a:r>
                      <a:r>
                        <a:rPr kumimoji="0" lang="en-US" sz="2000" b="0" i="0" u="none" strike="noStrike" cap="none" normalizeH="0" baseline="0" dirty="0" err="1">
                          <a:ln>
                            <a:noFill/>
                          </a:ln>
                          <a:solidFill>
                            <a:srgbClr val="FFFFFF"/>
                          </a:solidFill>
                          <a:effectLst>
                            <a:outerShdw blurRad="38100" dist="38100" dir="2700000" algn="tl">
                              <a:srgbClr val="000000"/>
                            </a:outerShdw>
                          </a:effectLst>
                          <a:latin typeface="Book Antiqua" panose="02040602050305030304" pitchFamily="18" charset="0"/>
                        </a:rPr>
                        <a:t>hrs</a:t>
                      </a:r>
                      <a:endParaRPr kumimoji="0" lang="en-US" sz="20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4 hrs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rPr>
                        <a:t>2400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9600">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Painting</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2 hrs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1 hr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rPr>
                        <a:t>1000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6045" name="Text Box 76"/>
          <p:cNvSpPr txBox="1">
            <a:spLocks noChangeArrowheads="1"/>
          </p:cNvSpPr>
          <p:nvPr/>
        </p:nvSpPr>
        <p:spPr bwMode="auto">
          <a:xfrm>
            <a:off x="990600" y="5334000"/>
            <a:ext cx="739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sz="1800" u="none">
              <a:latin typeface="Arial" panose="020B0604020202020204" pitchFamily="34" charset="0"/>
            </a:endParaRPr>
          </a:p>
        </p:txBody>
      </p:sp>
      <p:sp>
        <p:nvSpPr>
          <p:cNvPr id="86046" name="Text Box 77"/>
          <p:cNvSpPr txBox="1">
            <a:spLocks noChangeArrowheads="1"/>
          </p:cNvSpPr>
          <p:nvPr/>
        </p:nvSpPr>
        <p:spPr bwMode="auto">
          <a:xfrm>
            <a:off x="914400" y="5105400"/>
            <a:ext cx="762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sz="1800" u="none">
              <a:latin typeface="Arial" panose="020B0604020202020204" pitchFamily="34" charset="0"/>
            </a:endParaRPr>
          </a:p>
        </p:txBody>
      </p:sp>
      <p:sp>
        <p:nvSpPr>
          <p:cNvPr id="86047" name="Text Box 81"/>
          <p:cNvSpPr txBox="1">
            <a:spLocks noChangeArrowheads="1"/>
          </p:cNvSpPr>
          <p:nvPr/>
        </p:nvSpPr>
        <p:spPr bwMode="auto">
          <a:xfrm>
            <a:off x="914400" y="4572000"/>
            <a:ext cx="7315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sz="1800" u="none">
              <a:latin typeface="Arial" panose="020B0604020202020204" pitchFamily="34" charset="0"/>
            </a:endParaRPr>
          </a:p>
        </p:txBody>
      </p:sp>
      <p:sp>
        <p:nvSpPr>
          <p:cNvPr id="86048" name="Text Box 82"/>
          <p:cNvSpPr txBox="1">
            <a:spLocks noChangeArrowheads="1"/>
          </p:cNvSpPr>
          <p:nvPr/>
        </p:nvSpPr>
        <p:spPr bwMode="auto">
          <a:xfrm>
            <a:off x="914400" y="4343400"/>
            <a:ext cx="7696200" cy="154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pPr>
            <a:r>
              <a:rPr lang="en-US" sz="2800" u="none">
                <a:latin typeface="Arial" panose="020B0604020202020204" pitchFamily="34" charset="0"/>
              </a:rPr>
              <a:t>Other Limitations:</a:t>
            </a:r>
          </a:p>
          <a:p>
            <a:pPr lvl="1" eaLnBrk="1" hangingPunct="1">
              <a:spcBef>
                <a:spcPct val="20000"/>
              </a:spcBef>
              <a:buFontTx/>
              <a:buChar char="•"/>
            </a:pPr>
            <a:r>
              <a:rPr lang="en-US" sz="2800" u="none">
                <a:latin typeface="Arial" panose="020B0604020202020204" pitchFamily="34" charset="0"/>
              </a:rPr>
              <a:t> Make no more than </a:t>
            </a:r>
            <a:r>
              <a:rPr lang="en-US" sz="2800" u="none">
                <a:solidFill>
                  <a:schemeClr val="tx2"/>
                </a:solidFill>
                <a:latin typeface="Arial" panose="020B0604020202020204" pitchFamily="34" charset="0"/>
              </a:rPr>
              <a:t>450</a:t>
            </a:r>
            <a:r>
              <a:rPr lang="en-US" sz="2800" u="none">
                <a:latin typeface="Arial" panose="020B0604020202020204" pitchFamily="34" charset="0"/>
              </a:rPr>
              <a:t> chairs</a:t>
            </a:r>
          </a:p>
          <a:p>
            <a:pPr lvl="1" eaLnBrk="1" hangingPunct="1">
              <a:spcBef>
                <a:spcPct val="20000"/>
              </a:spcBef>
              <a:buFontTx/>
              <a:buChar char="•"/>
            </a:pPr>
            <a:r>
              <a:rPr lang="en-US" sz="2800" u="none">
                <a:latin typeface="Arial" panose="020B0604020202020204" pitchFamily="34" charset="0"/>
              </a:rPr>
              <a:t> Make at least </a:t>
            </a:r>
            <a:r>
              <a:rPr lang="en-US" sz="2800" u="none">
                <a:solidFill>
                  <a:schemeClr val="tx2"/>
                </a:solidFill>
                <a:latin typeface="Arial" panose="020B0604020202020204" pitchFamily="34" charset="0"/>
              </a:rPr>
              <a:t>100</a:t>
            </a:r>
            <a:r>
              <a:rPr lang="en-US" sz="2800" u="none">
                <a:latin typeface="Arial" panose="020B0604020202020204" pitchFamily="34" charset="0"/>
              </a:rPr>
              <a:t> tables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idx="4294967295"/>
          </p:nvPr>
        </p:nvSpPr>
        <p:spPr>
          <a:xfrm>
            <a:off x="533400" y="100013"/>
            <a:ext cx="8081963" cy="565150"/>
          </a:xfrm>
        </p:spPr>
        <p:txBody>
          <a:bodyPr lIns="91440" tIns="45720" rIns="91440" bIns="45720"/>
          <a:lstStyle/>
          <a:p>
            <a:pPr algn="l" eaLnBrk="1" hangingPunct="1"/>
            <a:r>
              <a:rPr lang="en-US" sz="1800" u="sng"/>
              <a:t>Constraints:</a:t>
            </a:r>
          </a:p>
        </p:txBody>
      </p:sp>
      <p:sp>
        <p:nvSpPr>
          <p:cNvPr id="88067" name="Rectangle 3"/>
          <p:cNvSpPr>
            <a:spLocks noGrp="1" noChangeArrowheads="1"/>
          </p:cNvSpPr>
          <p:nvPr>
            <p:ph type="body" idx="4294967295"/>
          </p:nvPr>
        </p:nvSpPr>
        <p:spPr>
          <a:xfrm>
            <a:off x="457200" y="1219200"/>
            <a:ext cx="8229600" cy="4906963"/>
          </a:xfrm>
        </p:spPr>
        <p:txBody>
          <a:bodyPr lIns="91440" tIns="45720" rIns="91440" bIns="45720"/>
          <a:lstStyle/>
          <a:p>
            <a:pPr eaLnBrk="1" hangingPunct="1">
              <a:spcBef>
                <a:spcPct val="50000"/>
              </a:spcBef>
            </a:pPr>
            <a:r>
              <a:rPr lang="en-US"/>
              <a:t>Have </a:t>
            </a:r>
            <a:r>
              <a:rPr lang="en-US">
                <a:solidFill>
                  <a:schemeClr val="tx2"/>
                </a:solidFill>
              </a:rPr>
              <a:t>2400</a:t>
            </a:r>
            <a:r>
              <a:rPr lang="en-US"/>
              <a:t> hours of carpentry time available</a:t>
            </a:r>
          </a:p>
          <a:p>
            <a:pPr eaLnBrk="1" hangingPunct="1">
              <a:spcBef>
                <a:spcPct val="50000"/>
              </a:spcBef>
              <a:buFont typeface="Monotype Sorts" pitchFamily="2" charset="2"/>
              <a:buNone/>
            </a:pPr>
            <a:r>
              <a:rPr lang="en-US"/>
              <a:t>		</a:t>
            </a:r>
            <a:r>
              <a:rPr lang="en-US">
                <a:solidFill>
                  <a:schemeClr val="tx2"/>
                </a:solidFill>
              </a:rPr>
              <a:t>3 T  +  4 C  </a:t>
            </a:r>
            <a:r>
              <a:rPr lang="en-US" u="sng">
                <a:solidFill>
                  <a:schemeClr val="tx2"/>
                </a:solidFill>
              </a:rPr>
              <a:t>&lt;</a:t>
            </a:r>
            <a:r>
              <a:rPr lang="en-US">
                <a:solidFill>
                  <a:schemeClr val="tx2"/>
                </a:solidFill>
              </a:rPr>
              <a:t>  2400	</a:t>
            </a:r>
            <a:r>
              <a:rPr lang="en-US" sz="2000">
                <a:solidFill>
                  <a:schemeClr val="tx1"/>
                </a:solidFill>
              </a:rPr>
              <a:t>(hours)</a:t>
            </a:r>
            <a:r>
              <a:rPr lang="en-US">
                <a:solidFill>
                  <a:schemeClr val="tx2"/>
                </a:solidFill>
              </a:rPr>
              <a:t>	</a:t>
            </a:r>
          </a:p>
          <a:p>
            <a:pPr eaLnBrk="1" hangingPunct="1">
              <a:spcBef>
                <a:spcPct val="50000"/>
              </a:spcBef>
            </a:pPr>
            <a:r>
              <a:rPr lang="en-US"/>
              <a:t>Have 1000 hours of painting time available</a:t>
            </a:r>
          </a:p>
          <a:p>
            <a:pPr eaLnBrk="1" hangingPunct="1">
              <a:spcBef>
                <a:spcPct val="50000"/>
              </a:spcBef>
              <a:buFont typeface="Monotype Sorts" pitchFamily="2" charset="2"/>
              <a:buNone/>
            </a:pPr>
            <a:r>
              <a:rPr lang="en-US"/>
              <a:t>		</a:t>
            </a:r>
            <a:r>
              <a:rPr lang="en-US">
                <a:solidFill>
                  <a:schemeClr val="tx2"/>
                </a:solidFill>
              </a:rPr>
              <a:t>2 T  +  1 C  </a:t>
            </a:r>
            <a:r>
              <a:rPr lang="en-US" u="sng">
                <a:solidFill>
                  <a:schemeClr val="tx2"/>
                </a:solidFill>
              </a:rPr>
              <a:t>&lt;</a:t>
            </a:r>
            <a:r>
              <a:rPr lang="en-US">
                <a:solidFill>
                  <a:schemeClr val="tx2"/>
                </a:solidFill>
              </a:rPr>
              <a:t>  1000 	</a:t>
            </a:r>
            <a:r>
              <a:rPr lang="en-US" sz="2000">
                <a:solidFill>
                  <a:schemeClr val="tx1"/>
                </a:solidFill>
              </a:rPr>
              <a:t>(hours)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3"/>
          <p:cNvSpPr>
            <a:spLocks noGrp="1" noChangeArrowheads="1"/>
          </p:cNvSpPr>
          <p:nvPr>
            <p:ph type="body" idx="4294967295"/>
          </p:nvPr>
        </p:nvSpPr>
        <p:spPr>
          <a:xfrm>
            <a:off x="381000" y="533400"/>
            <a:ext cx="8458200" cy="5592763"/>
          </a:xfrm>
        </p:spPr>
        <p:txBody>
          <a:bodyPr lIns="91440" tIns="45720" rIns="91440" bIns="45720"/>
          <a:lstStyle/>
          <a:p>
            <a:pPr eaLnBrk="1" hangingPunct="1">
              <a:lnSpc>
                <a:spcPct val="90000"/>
              </a:lnSpc>
              <a:buFont typeface="Monotype Sorts" pitchFamily="2" charset="2"/>
              <a:buNone/>
            </a:pPr>
            <a:r>
              <a:rPr lang="en-US" u="sng"/>
              <a:t>More Constraints:</a:t>
            </a:r>
          </a:p>
          <a:p>
            <a:pPr eaLnBrk="1" hangingPunct="1">
              <a:lnSpc>
                <a:spcPct val="90000"/>
              </a:lnSpc>
            </a:pPr>
            <a:r>
              <a:rPr lang="en-US"/>
              <a:t>Make no more than 450 chairs</a:t>
            </a:r>
          </a:p>
          <a:p>
            <a:pPr eaLnBrk="1" hangingPunct="1">
              <a:lnSpc>
                <a:spcPct val="90000"/>
              </a:lnSpc>
              <a:buFont typeface="Monotype Sorts" pitchFamily="2" charset="2"/>
              <a:buNone/>
            </a:pPr>
            <a:r>
              <a:rPr lang="en-US"/>
              <a:t>		   </a:t>
            </a:r>
            <a:r>
              <a:rPr lang="en-US">
                <a:solidFill>
                  <a:schemeClr val="tx2"/>
                </a:solidFill>
              </a:rPr>
              <a:t>C  </a:t>
            </a:r>
            <a:r>
              <a:rPr lang="en-US" u="sng">
                <a:solidFill>
                  <a:schemeClr val="tx2"/>
                </a:solidFill>
              </a:rPr>
              <a:t>&lt;</a:t>
            </a:r>
            <a:r>
              <a:rPr lang="en-US">
                <a:solidFill>
                  <a:schemeClr val="tx2"/>
                </a:solidFill>
              </a:rPr>
              <a:t>  450	</a:t>
            </a:r>
            <a:r>
              <a:rPr lang="en-US" sz="2000">
                <a:solidFill>
                  <a:schemeClr val="tx1"/>
                </a:solidFill>
              </a:rPr>
              <a:t>(num. chairs)</a:t>
            </a:r>
          </a:p>
          <a:p>
            <a:pPr eaLnBrk="1" hangingPunct="1">
              <a:lnSpc>
                <a:spcPct val="90000"/>
              </a:lnSpc>
            </a:pPr>
            <a:r>
              <a:rPr lang="en-US"/>
              <a:t>Make at least 100 tables</a:t>
            </a:r>
          </a:p>
          <a:p>
            <a:pPr eaLnBrk="1" hangingPunct="1">
              <a:lnSpc>
                <a:spcPct val="90000"/>
              </a:lnSpc>
              <a:buFont typeface="Monotype Sorts" pitchFamily="2" charset="2"/>
              <a:buNone/>
            </a:pPr>
            <a:r>
              <a:rPr lang="en-US"/>
              <a:t>		   </a:t>
            </a:r>
            <a:r>
              <a:rPr lang="en-US">
                <a:solidFill>
                  <a:schemeClr val="tx2"/>
                </a:solidFill>
              </a:rPr>
              <a:t>T   </a:t>
            </a:r>
            <a:r>
              <a:rPr lang="en-US" u="sng">
                <a:solidFill>
                  <a:schemeClr val="tx2"/>
                </a:solidFill>
              </a:rPr>
              <a:t>&gt;</a:t>
            </a:r>
            <a:r>
              <a:rPr lang="en-US">
                <a:solidFill>
                  <a:schemeClr val="tx2"/>
                </a:solidFill>
              </a:rPr>
              <a:t>  100	</a:t>
            </a:r>
            <a:r>
              <a:rPr lang="en-US" sz="2000">
                <a:solidFill>
                  <a:schemeClr val="tx1"/>
                </a:solidFill>
              </a:rPr>
              <a:t>(num. tables)</a:t>
            </a:r>
          </a:p>
          <a:p>
            <a:pPr eaLnBrk="1" hangingPunct="1">
              <a:lnSpc>
                <a:spcPct val="90000"/>
              </a:lnSpc>
              <a:buFont typeface="Monotype Sorts" pitchFamily="2" charset="2"/>
              <a:buNone/>
            </a:pPr>
            <a:endParaRPr lang="en-US" sz="1800" u="sng">
              <a:solidFill>
                <a:schemeClr val="tx1"/>
              </a:solidFill>
            </a:endParaRPr>
          </a:p>
          <a:p>
            <a:pPr eaLnBrk="1" hangingPunct="1">
              <a:lnSpc>
                <a:spcPct val="90000"/>
              </a:lnSpc>
              <a:buFont typeface="Monotype Sorts" pitchFamily="2" charset="2"/>
              <a:buNone/>
            </a:pPr>
            <a:r>
              <a:rPr lang="en-US" u="sng"/>
              <a:t>Nonnegativity:</a:t>
            </a:r>
          </a:p>
          <a:p>
            <a:pPr eaLnBrk="1" hangingPunct="1">
              <a:lnSpc>
                <a:spcPct val="90000"/>
              </a:lnSpc>
              <a:buFont typeface="Monotype Sorts" pitchFamily="2" charset="2"/>
              <a:buNone/>
            </a:pPr>
            <a:r>
              <a:rPr lang="en-US" sz="2000"/>
              <a:t>Cannot make a negative number of chairs or tables</a:t>
            </a:r>
          </a:p>
          <a:p>
            <a:pPr eaLnBrk="1" hangingPunct="1">
              <a:lnSpc>
                <a:spcPct val="90000"/>
              </a:lnSpc>
              <a:buFont typeface="Monotype Sorts" pitchFamily="2" charset="2"/>
              <a:buNone/>
            </a:pPr>
            <a:r>
              <a:rPr lang="en-US" sz="2000"/>
              <a:t>			</a:t>
            </a:r>
            <a:r>
              <a:rPr lang="en-US">
                <a:solidFill>
                  <a:schemeClr val="tx2"/>
                </a:solidFill>
              </a:rPr>
              <a:t>T </a:t>
            </a:r>
            <a:r>
              <a:rPr lang="en-US" u="sng">
                <a:solidFill>
                  <a:schemeClr val="tx2"/>
                </a:solidFill>
              </a:rPr>
              <a:t>&gt;</a:t>
            </a:r>
            <a:r>
              <a:rPr lang="en-US">
                <a:solidFill>
                  <a:schemeClr val="tx2"/>
                </a:solidFill>
              </a:rPr>
              <a:t> 0</a:t>
            </a:r>
          </a:p>
          <a:p>
            <a:pPr eaLnBrk="1" hangingPunct="1">
              <a:lnSpc>
                <a:spcPct val="90000"/>
              </a:lnSpc>
              <a:buFont typeface="Monotype Sorts" pitchFamily="2" charset="2"/>
              <a:buNone/>
            </a:pPr>
            <a:r>
              <a:rPr lang="en-US">
                <a:solidFill>
                  <a:schemeClr val="tx2"/>
                </a:solidFill>
              </a:rPr>
              <a:t>			C </a:t>
            </a:r>
            <a:r>
              <a:rPr lang="en-US" u="sng">
                <a:solidFill>
                  <a:schemeClr val="tx2"/>
                </a:solidFill>
              </a:rPr>
              <a:t>&gt;</a:t>
            </a:r>
            <a:r>
              <a:rPr lang="en-US">
                <a:solidFill>
                  <a:schemeClr val="tx2"/>
                </a:solidFill>
              </a:rPr>
              <a:t> 0</a:t>
            </a:r>
            <a:endParaRPr lang="en-US" sz="2000">
              <a:solidFill>
                <a:schemeClr val="tx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idx="4294967295"/>
          </p:nvPr>
        </p:nvSpPr>
        <p:spPr>
          <a:xfrm>
            <a:off x="533400" y="100013"/>
            <a:ext cx="8081963" cy="565150"/>
          </a:xfrm>
        </p:spPr>
        <p:txBody>
          <a:bodyPr lIns="91440" tIns="45720" rIns="91440" bIns="45720"/>
          <a:lstStyle/>
          <a:p>
            <a:pPr eaLnBrk="1" hangingPunct="1"/>
            <a:r>
              <a:rPr lang="en-US" sz="2000" u="sng"/>
              <a:t>Model Summary</a:t>
            </a:r>
          </a:p>
        </p:txBody>
      </p:sp>
      <p:sp>
        <p:nvSpPr>
          <p:cNvPr id="92163" name="Rectangle 3"/>
          <p:cNvSpPr>
            <a:spLocks noGrp="1" noChangeArrowheads="1"/>
          </p:cNvSpPr>
          <p:nvPr>
            <p:ph type="body" idx="4294967295"/>
          </p:nvPr>
        </p:nvSpPr>
        <p:spPr>
          <a:xfrm>
            <a:off x="457200" y="1066800"/>
            <a:ext cx="8229600" cy="5059363"/>
          </a:xfrm>
        </p:spPr>
        <p:txBody>
          <a:bodyPr lIns="91440" tIns="45720" rIns="91440" bIns="45720"/>
          <a:lstStyle/>
          <a:p>
            <a:pPr eaLnBrk="1" hangingPunct="1">
              <a:spcBef>
                <a:spcPct val="50000"/>
              </a:spcBef>
              <a:buFont typeface="Monotype Sorts" pitchFamily="2" charset="2"/>
              <a:buNone/>
            </a:pPr>
            <a:r>
              <a:rPr lang="en-US"/>
              <a:t>		Max  </a:t>
            </a:r>
            <a:r>
              <a:rPr lang="en-US">
                <a:solidFill>
                  <a:schemeClr val="tx2"/>
                </a:solidFill>
              </a:rPr>
              <a:t>7T + 5C</a:t>
            </a:r>
            <a:r>
              <a:rPr lang="en-US"/>
              <a:t>			(profit)</a:t>
            </a:r>
          </a:p>
          <a:p>
            <a:pPr eaLnBrk="1" hangingPunct="1">
              <a:spcBef>
                <a:spcPct val="50000"/>
              </a:spcBef>
              <a:buFont typeface="Monotype Sorts" pitchFamily="2" charset="2"/>
              <a:buNone/>
            </a:pPr>
            <a:r>
              <a:rPr lang="en-US" sz="2000"/>
              <a:t>Subject to the constraints:</a:t>
            </a:r>
          </a:p>
          <a:p>
            <a:pPr eaLnBrk="1" hangingPunct="1">
              <a:spcBef>
                <a:spcPct val="50000"/>
              </a:spcBef>
              <a:buFont typeface="Monotype Sorts" pitchFamily="2" charset="2"/>
              <a:buNone/>
            </a:pPr>
            <a:r>
              <a:rPr lang="en-US"/>
              <a:t>			</a:t>
            </a:r>
            <a:r>
              <a:rPr lang="en-US">
                <a:solidFill>
                  <a:schemeClr val="tx2"/>
                </a:solidFill>
              </a:rPr>
              <a:t>3T + 4C </a:t>
            </a:r>
            <a:r>
              <a:rPr lang="en-US" u="sng">
                <a:solidFill>
                  <a:schemeClr val="tx2"/>
                </a:solidFill>
              </a:rPr>
              <a:t>&lt;</a:t>
            </a:r>
            <a:r>
              <a:rPr lang="en-US">
                <a:solidFill>
                  <a:schemeClr val="tx2"/>
                </a:solidFill>
              </a:rPr>
              <a:t> 2400</a:t>
            </a:r>
            <a:r>
              <a:rPr lang="en-US"/>
              <a:t>	</a:t>
            </a:r>
            <a:r>
              <a:rPr lang="en-US" sz="2000"/>
              <a:t>(carpentry hrs)</a:t>
            </a:r>
          </a:p>
          <a:p>
            <a:pPr eaLnBrk="1" hangingPunct="1">
              <a:spcBef>
                <a:spcPct val="50000"/>
              </a:spcBef>
              <a:buFont typeface="Monotype Sorts" pitchFamily="2" charset="2"/>
              <a:buNone/>
            </a:pPr>
            <a:r>
              <a:rPr lang="en-US"/>
              <a:t>			</a:t>
            </a:r>
            <a:r>
              <a:rPr lang="en-US">
                <a:solidFill>
                  <a:schemeClr val="tx2"/>
                </a:solidFill>
              </a:rPr>
              <a:t>2T + 1C </a:t>
            </a:r>
            <a:r>
              <a:rPr lang="en-US" u="sng">
                <a:solidFill>
                  <a:schemeClr val="tx2"/>
                </a:solidFill>
              </a:rPr>
              <a:t>&lt;</a:t>
            </a:r>
            <a:r>
              <a:rPr lang="en-US">
                <a:solidFill>
                  <a:schemeClr val="tx2"/>
                </a:solidFill>
              </a:rPr>
              <a:t> 1000</a:t>
            </a:r>
            <a:r>
              <a:rPr lang="en-US"/>
              <a:t>	</a:t>
            </a:r>
            <a:r>
              <a:rPr lang="en-US" sz="2000"/>
              <a:t>(painting hrs)</a:t>
            </a:r>
          </a:p>
          <a:p>
            <a:pPr eaLnBrk="1" hangingPunct="1">
              <a:spcBef>
                <a:spcPct val="50000"/>
              </a:spcBef>
              <a:buFont typeface="Monotype Sorts" pitchFamily="2" charset="2"/>
              <a:buNone/>
            </a:pPr>
            <a:r>
              <a:rPr lang="en-US"/>
              <a:t>				  </a:t>
            </a:r>
            <a:r>
              <a:rPr lang="en-US">
                <a:solidFill>
                  <a:schemeClr val="tx2"/>
                </a:solidFill>
              </a:rPr>
              <a:t>C </a:t>
            </a:r>
            <a:r>
              <a:rPr lang="en-US" u="sng">
                <a:solidFill>
                  <a:schemeClr val="tx2"/>
                </a:solidFill>
              </a:rPr>
              <a:t>&lt;</a:t>
            </a:r>
            <a:r>
              <a:rPr lang="en-US">
                <a:solidFill>
                  <a:schemeClr val="tx2"/>
                </a:solidFill>
              </a:rPr>
              <a:t>   450</a:t>
            </a:r>
            <a:r>
              <a:rPr lang="en-US"/>
              <a:t>	</a:t>
            </a:r>
            <a:r>
              <a:rPr lang="en-US" sz="2000"/>
              <a:t>(max # chairs)</a:t>
            </a:r>
          </a:p>
          <a:p>
            <a:pPr eaLnBrk="1" hangingPunct="1">
              <a:spcBef>
                <a:spcPct val="50000"/>
              </a:spcBef>
              <a:buFont typeface="Monotype Sorts" pitchFamily="2" charset="2"/>
              <a:buNone/>
            </a:pPr>
            <a:r>
              <a:rPr lang="en-US" sz="2000"/>
              <a:t>			   </a:t>
            </a:r>
            <a:r>
              <a:rPr lang="en-US">
                <a:solidFill>
                  <a:schemeClr val="tx2"/>
                </a:solidFill>
              </a:rPr>
              <a:t>T	      </a:t>
            </a:r>
            <a:r>
              <a:rPr lang="en-US" u="sng">
                <a:solidFill>
                  <a:schemeClr val="tx2"/>
                </a:solidFill>
              </a:rPr>
              <a:t>&gt;</a:t>
            </a:r>
            <a:r>
              <a:rPr lang="en-US">
                <a:solidFill>
                  <a:schemeClr val="tx2"/>
                </a:solidFill>
              </a:rPr>
              <a:t>   100</a:t>
            </a:r>
            <a:r>
              <a:rPr lang="en-US"/>
              <a:t>	</a:t>
            </a:r>
            <a:r>
              <a:rPr lang="en-US" sz="2000"/>
              <a:t>(min # tables)</a:t>
            </a:r>
          </a:p>
          <a:p>
            <a:pPr eaLnBrk="1" hangingPunct="1">
              <a:spcBef>
                <a:spcPct val="50000"/>
              </a:spcBef>
              <a:buFont typeface="Monotype Sorts" pitchFamily="2" charset="2"/>
              <a:buNone/>
            </a:pPr>
            <a:r>
              <a:rPr lang="en-US" sz="2000"/>
              <a:t>				</a:t>
            </a:r>
            <a:r>
              <a:rPr lang="en-US">
                <a:solidFill>
                  <a:schemeClr val="tx2"/>
                </a:solidFill>
              </a:rPr>
              <a:t>T, C  </a:t>
            </a:r>
            <a:r>
              <a:rPr lang="en-US" u="sng">
                <a:solidFill>
                  <a:schemeClr val="tx2"/>
                </a:solidFill>
              </a:rPr>
              <a:t>&gt;</a:t>
            </a:r>
            <a:r>
              <a:rPr lang="en-US">
                <a:solidFill>
                  <a:schemeClr val="tx2"/>
                </a:solidFill>
              </a:rPr>
              <a:t>  0</a:t>
            </a:r>
            <a:r>
              <a:rPr lang="en-US" sz="2000"/>
              <a:t>		(nonnegativity) </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idx="4294967295"/>
          </p:nvPr>
        </p:nvSpPr>
        <p:spPr/>
        <p:txBody>
          <a:bodyPr lIns="91440" tIns="45720" rIns="91440" bIns="45720"/>
          <a:lstStyle/>
          <a:p>
            <a:pPr eaLnBrk="1" hangingPunct="1"/>
            <a:r>
              <a:rPr lang="en-US" u="sng"/>
              <a:t>Graphical Solution</a:t>
            </a:r>
          </a:p>
        </p:txBody>
      </p:sp>
      <p:sp>
        <p:nvSpPr>
          <p:cNvPr id="94211" name="Rectangle 3"/>
          <p:cNvSpPr>
            <a:spLocks noGrp="1" noChangeArrowheads="1"/>
          </p:cNvSpPr>
          <p:nvPr>
            <p:ph type="body" idx="4294967295"/>
          </p:nvPr>
        </p:nvSpPr>
        <p:spPr/>
        <p:txBody>
          <a:bodyPr lIns="91440" tIns="45720" rIns="91440" bIns="45720"/>
          <a:lstStyle/>
          <a:p>
            <a:pPr eaLnBrk="1" hangingPunct="1"/>
            <a:r>
              <a:rPr lang="en-US"/>
              <a:t>Graphing an LP model helps provide insight into LP models and their solutions.</a:t>
            </a:r>
          </a:p>
          <a:p>
            <a:pPr eaLnBrk="1" hangingPunct="1"/>
            <a:endParaRPr lang="en-US"/>
          </a:p>
          <a:p>
            <a:pPr eaLnBrk="1" hangingPunct="1"/>
            <a:r>
              <a:rPr lang="en-US"/>
              <a:t>While this can only be done in two dimensions, the same properties apply to all LP models and solutions.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4"/>
          <p:cNvSpPr txBox="1">
            <a:spLocks noChangeArrowheads="1"/>
          </p:cNvSpPr>
          <p:nvPr/>
        </p:nvSpPr>
        <p:spPr bwMode="auto">
          <a:xfrm>
            <a:off x="609600" y="762000"/>
            <a:ext cx="3429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sz="1800" u="none">
              <a:latin typeface="Arial" panose="020B0604020202020204" pitchFamily="34" charset="0"/>
            </a:endParaRPr>
          </a:p>
        </p:txBody>
      </p:sp>
      <p:sp>
        <p:nvSpPr>
          <p:cNvPr id="96259" name="Text Box 5"/>
          <p:cNvSpPr txBox="1">
            <a:spLocks noChangeArrowheads="1"/>
          </p:cNvSpPr>
          <p:nvPr/>
        </p:nvSpPr>
        <p:spPr bwMode="auto">
          <a:xfrm>
            <a:off x="533400" y="838200"/>
            <a:ext cx="4114800"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pPr>
            <a:r>
              <a:rPr lang="en-US" sz="2800" u="none">
                <a:latin typeface="Arial" panose="020B0604020202020204" pitchFamily="34" charset="0"/>
              </a:rPr>
              <a:t>Carpentry</a:t>
            </a:r>
          </a:p>
          <a:p>
            <a:pPr eaLnBrk="1" hangingPunct="1">
              <a:spcBef>
                <a:spcPct val="20000"/>
              </a:spcBef>
            </a:pPr>
            <a:r>
              <a:rPr lang="en-US" sz="2800">
                <a:latin typeface="Arial" panose="020B0604020202020204" pitchFamily="34" charset="0"/>
              </a:rPr>
              <a:t>Constraint Line </a:t>
            </a:r>
          </a:p>
          <a:p>
            <a:pPr eaLnBrk="1" hangingPunct="1">
              <a:spcBef>
                <a:spcPct val="50000"/>
              </a:spcBef>
            </a:pPr>
            <a:r>
              <a:rPr lang="en-US" sz="2800" u="none">
                <a:solidFill>
                  <a:schemeClr val="tx2"/>
                </a:solidFill>
                <a:latin typeface="Arial" panose="020B0604020202020204" pitchFamily="34" charset="0"/>
              </a:rPr>
              <a:t>3T + 4C = 2400</a:t>
            </a:r>
          </a:p>
          <a:p>
            <a:pPr eaLnBrk="1" hangingPunct="1">
              <a:spcBef>
                <a:spcPct val="50000"/>
              </a:spcBef>
            </a:pPr>
            <a:endParaRPr lang="en-US" sz="2800">
              <a:latin typeface="Arial" panose="020B0604020202020204" pitchFamily="34" charset="0"/>
            </a:endParaRPr>
          </a:p>
          <a:p>
            <a:pPr eaLnBrk="1" hangingPunct="1">
              <a:spcBef>
                <a:spcPct val="50000"/>
              </a:spcBef>
            </a:pPr>
            <a:r>
              <a:rPr lang="en-US" sz="2800">
                <a:latin typeface="Arial" panose="020B0604020202020204" pitchFamily="34" charset="0"/>
              </a:rPr>
              <a:t>Intercepts</a:t>
            </a:r>
          </a:p>
          <a:p>
            <a:pPr eaLnBrk="1" hangingPunct="1">
              <a:spcBef>
                <a:spcPct val="50000"/>
              </a:spcBef>
            </a:pPr>
            <a:r>
              <a:rPr lang="en-US" sz="2800" u="none">
                <a:solidFill>
                  <a:schemeClr val="tx2"/>
                </a:solidFill>
                <a:latin typeface="Arial" panose="020B0604020202020204" pitchFamily="34" charset="0"/>
              </a:rPr>
              <a:t>(T = 0, C = 600)</a:t>
            </a:r>
          </a:p>
          <a:p>
            <a:pPr eaLnBrk="1" hangingPunct="1">
              <a:spcBef>
                <a:spcPct val="50000"/>
              </a:spcBef>
            </a:pPr>
            <a:r>
              <a:rPr lang="en-US" sz="2800" u="none">
                <a:solidFill>
                  <a:schemeClr val="tx2"/>
                </a:solidFill>
                <a:latin typeface="Arial" panose="020B0604020202020204" pitchFamily="34" charset="0"/>
              </a:rPr>
              <a:t>(T = 800, C = 0)</a:t>
            </a:r>
            <a:endParaRPr lang="en-US" sz="1800">
              <a:solidFill>
                <a:schemeClr val="tx2"/>
              </a:solidFill>
              <a:latin typeface="Arial" panose="020B0604020202020204" pitchFamily="34" charset="0"/>
            </a:endParaRPr>
          </a:p>
        </p:txBody>
      </p:sp>
      <p:sp>
        <p:nvSpPr>
          <p:cNvPr id="96260" name="Freeform 10"/>
          <p:cNvSpPr>
            <a:spLocks/>
          </p:cNvSpPr>
          <p:nvPr/>
        </p:nvSpPr>
        <p:spPr bwMode="auto">
          <a:xfrm>
            <a:off x="4572000" y="2514600"/>
            <a:ext cx="3657600" cy="2743200"/>
          </a:xfrm>
          <a:custGeom>
            <a:avLst/>
            <a:gdLst>
              <a:gd name="T0" fmla="*/ 0 w 2304"/>
              <a:gd name="T1" fmla="*/ 1728 h 1728"/>
              <a:gd name="T2" fmla="*/ 0 w 2304"/>
              <a:gd name="T3" fmla="*/ 0 h 1728"/>
              <a:gd name="T4" fmla="*/ 2304 w 2304"/>
              <a:gd name="T5" fmla="*/ 1728 h 1728"/>
              <a:gd name="T6" fmla="*/ 0 w 2304"/>
              <a:gd name="T7" fmla="*/ 1728 h 1728"/>
              <a:gd name="T8" fmla="*/ 0 60000 65536"/>
              <a:gd name="T9" fmla="*/ 0 60000 65536"/>
              <a:gd name="T10" fmla="*/ 0 60000 65536"/>
              <a:gd name="T11" fmla="*/ 0 60000 65536"/>
              <a:gd name="T12" fmla="*/ 0 w 2304"/>
              <a:gd name="T13" fmla="*/ 0 h 1728"/>
              <a:gd name="T14" fmla="*/ 2304 w 2304"/>
              <a:gd name="T15" fmla="*/ 1728 h 1728"/>
            </a:gdLst>
            <a:ahLst/>
            <a:cxnLst>
              <a:cxn ang="T8">
                <a:pos x="T0" y="T1"/>
              </a:cxn>
              <a:cxn ang="T9">
                <a:pos x="T2" y="T3"/>
              </a:cxn>
              <a:cxn ang="T10">
                <a:pos x="T4" y="T5"/>
              </a:cxn>
              <a:cxn ang="T11">
                <a:pos x="T6" y="T7"/>
              </a:cxn>
            </a:cxnLst>
            <a:rect l="T12" t="T13" r="T14" b="T15"/>
            <a:pathLst>
              <a:path w="2304" h="1728">
                <a:moveTo>
                  <a:pt x="0" y="1728"/>
                </a:moveTo>
                <a:lnTo>
                  <a:pt x="0" y="0"/>
                </a:lnTo>
                <a:lnTo>
                  <a:pt x="2304" y="1728"/>
                </a:lnTo>
                <a:lnTo>
                  <a:pt x="0" y="1728"/>
                </a:lnTo>
                <a:close/>
              </a:path>
            </a:pathLst>
          </a:custGeom>
          <a:solidFill>
            <a:schemeClr val="folHlink"/>
          </a:solidFill>
          <a:ln w="9525">
            <a:solidFill>
              <a:schemeClr val="tx1"/>
            </a:solidFill>
            <a:round/>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sz="1800" u="none">
              <a:latin typeface="Arial" panose="020B0604020202020204" pitchFamily="34" charset="0"/>
            </a:endParaRPr>
          </a:p>
        </p:txBody>
      </p:sp>
      <p:sp>
        <p:nvSpPr>
          <p:cNvPr id="96261" name="Line 11"/>
          <p:cNvSpPr>
            <a:spLocks noChangeShapeType="1"/>
          </p:cNvSpPr>
          <p:nvPr/>
        </p:nvSpPr>
        <p:spPr bwMode="auto">
          <a:xfrm>
            <a:off x="4572000" y="5257800"/>
            <a:ext cx="41910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262" name="Line 12"/>
          <p:cNvSpPr>
            <a:spLocks noChangeShapeType="1"/>
          </p:cNvSpPr>
          <p:nvPr/>
        </p:nvSpPr>
        <p:spPr bwMode="auto">
          <a:xfrm flipV="1">
            <a:off x="4572000" y="457200"/>
            <a:ext cx="0" cy="4800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263" name="Text Box 13"/>
          <p:cNvSpPr txBox="1">
            <a:spLocks noChangeArrowheads="1"/>
          </p:cNvSpPr>
          <p:nvPr/>
        </p:nvSpPr>
        <p:spPr bwMode="auto">
          <a:xfrm>
            <a:off x="4572000" y="5257800"/>
            <a:ext cx="441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b="1" u="none">
                <a:latin typeface="Arial" panose="020B0604020202020204" pitchFamily="34" charset="0"/>
              </a:rPr>
              <a:t>0			        800   T</a:t>
            </a:r>
          </a:p>
        </p:txBody>
      </p:sp>
      <p:sp>
        <p:nvSpPr>
          <p:cNvPr id="96264" name="Text Box 17"/>
          <p:cNvSpPr txBox="1">
            <a:spLocks noChangeArrowheads="1"/>
          </p:cNvSpPr>
          <p:nvPr/>
        </p:nvSpPr>
        <p:spPr bwMode="auto">
          <a:xfrm>
            <a:off x="3886200" y="762000"/>
            <a:ext cx="685800" cy="449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u="none">
                <a:latin typeface="Arial" panose="020B0604020202020204" pitchFamily="34" charset="0"/>
              </a:rPr>
              <a:t>   </a:t>
            </a:r>
            <a:r>
              <a:rPr lang="en-US" sz="1800" b="1" u="none">
                <a:latin typeface="Arial" panose="020B0604020202020204" pitchFamily="34" charset="0"/>
              </a:rPr>
              <a:t>C</a:t>
            </a: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r>
              <a:rPr lang="en-US" sz="1800" b="1" u="none">
                <a:latin typeface="Arial" panose="020B0604020202020204" pitchFamily="34" charset="0"/>
              </a:rPr>
              <a:t>600</a:t>
            </a: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algn="r" eaLnBrk="1" hangingPunct="1">
              <a:spcBef>
                <a:spcPct val="50000"/>
              </a:spcBef>
            </a:pPr>
            <a:r>
              <a:rPr lang="en-US" sz="1800" b="1" u="none">
                <a:latin typeface="Arial" panose="020B0604020202020204" pitchFamily="34" charset="0"/>
              </a:rPr>
              <a:t>0</a:t>
            </a:r>
          </a:p>
        </p:txBody>
      </p:sp>
      <p:sp>
        <p:nvSpPr>
          <p:cNvPr id="96265" name="Text Box 18"/>
          <p:cNvSpPr txBox="1">
            <a:spLocks noChangeArrowheads="1"/>
          </p:cNvSpPr>
          <p:nvPr/>
        </p:nvSpPr>
        <p:spPr bwMode="auto">
          <a:xfrm>
            <a:off x="4648200" y="4038600"/>
            <a:ext cx="20574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20000"/>
              </a:spcBef>
            </a:pPr>
            <a:r>
              <a:rPr lang="en-US" b="1" u="none">
                <a:latin typeface="Arial" panose="020B0604020202020204" pitchFamily="34" charset="0"/>
              </a:rPr>
              <a:t>Feasible</a:t>
            </a:r>
          </a:p>
          <a:p>
            <a:pPr algn="ctr" eaLnBrk="1" hangingPunct="1">
              <a:spcBef>
                <a:spcPct val="20000"/>
              </a:spcBef>
            </a:pPr>
            <a:r>
              <a:rPr lang="en-US" b="1" u="none">
                <a:latin typeface="Arial" panose="020B0604020202020204" pitchFamily="34" charset="0"/>
              </a:rPr>
              <a:t>&lt; 2400 hrs</a:t>
            </a:r>
          </a:p>
        </p:txBody>
      </p:sp>
      <p:sp>
        <p:nvSpPr>
          <p:cNvPr id="96266" name="Text Box 19"/>
          <p:cNvSpPr txBox="1">
            <a:spLocks noChangeArrowheads="1"/>
          </p:cNvSpPr>
          <p:nvPr/>
        </p:nvSpPr>
        <p:spPr bwMode="auto">
          <a:xfrm>
            <a:off x="6553200" y="2057400"/>
            <a:ext cx="18288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20000"/>
              </a:spcBef>
            </a:pPr>
            <a:r>
              <a:rPr lang="en-US" b="1" u="none">
                <a:latin typeface="Arial" panose="020B0604020202020204" pitchFamily="34" charset="0"/>
              </a:rPr>
              <a:t>Infeasible</a:t>
            </a:r>
          </a:p>
          <a:p>
            <a:pPr algn="ctr" eaLnBrk="1" hangingPunct="1">
              <a:spcBef>
                <a:spcPct val="20000"/>
              </a:spcBef>
            </a:pPr>
            <a:r>
              <a:rPr lang="en-US" b="1" u="none">
                <a:solidFill>
                  <a:schemeClr val="tx2"/>
                </a:solidFill>
                <a:latin typeface="Arial" panose="020B0604020202020204" pitchFamily="34" charset="0"/>
              </a:rPr>
              <a:t>&gt; 2400 hrs</a:t>
            </a:r>
          </a:p>
        </p:txBody>
      </p:sp>
      <p:sp>
        <p:nvSpPr>
          <p:cNvPr id="96267" name="Text Box 20"/>
          <p:cNvSpPr txBox="1">
            <a:spLocks noChangeArrowheads="1"/>
          </p:cNvSpPr>
          <p:nvPr/>
        </p:nvSpPr>
        <p:spPr bwMode="auto">
          <a:xfrm rot="2177529">
            <a:off x="5486400" y="3581400"/>
            <a:ext cx="1905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b="1" u="none">
                <a:solidFill>
                  <a:schemeClr val="tx2"/>
                </a:solidFill>
                <a:latin typeface="Arial" panose="020B0604020202020204" pitchFamily="34" charset="0"/>
              </a:rPr>
              <a:t>3T + 4C = 2400</a:t>
            </a:r>
          </a:p>
        </p:txBody>
      </p:sp>
      <p:sp>
        <p:nvSpPr>
          <p:cNvPr id="96268" name="Line 21"/>
          <p:cNvSpPr>
            <a:spLocks noChangeShapeType="1"/>
          </p:cNvSpPr>
          <p:nvPr/>
        </p:nvSpPr>
        <p:spPr bwMode="auto">
          <a:xfrm>
            <a:off x="4572000" y="2514600"/>
            <a:ext cx="3657600" cy="2743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10"/>
          <p:cNvSpPr txBox="1">
            <a:spLocks noChangeArrowheads="1"/>
          </p:cNvSpPr>
          <p:nvPr/>
        </p:nvSpPr>
        <p:spPr bwMode="auto">
          <a:xfrm>
            <a:off x="609600" y="762000"/>
            <a:ext cx="3429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sz="1800" u="none">
              <a:latin typeface="Arial" panose="020B0604020202020204" pitchFamily="34" charset="0"/>
            </a:endParaRPr>
          </a:p>
        </p:txBody>
      </p:sp>
      <p:sp>
        <p:nvSpPr>
          <p:cNvPr id="98307" name="Text Box 11"/>
          <p:cNvSpPr txBox="1">
            <a:spLocks noChangeArrowheads="1"/>
          </p:cNvSpPr>
          <p:nvPr/>
        </p:nvSpPr>
        <p:spPr bwMode="auto">
          <a:xfrm>
            <a:off x="533400" y="838200"/>
            <a:ext cx="4114800"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pPr>
            <a:r>
              <a:rPr lang="en-US" sz="2800" u="none">
                <a:latin typeface="Arial" panose="020B0604020202020204" pitchFamily="34" charset="0"/>
              </a:rPr>
              <a:t>Painting</a:t>
            </a:r>
          </a:p>
          <a:p>
            <a:pPr eaLnBrk="1" hangingPunct="1">
              <a:spcBef>
                <a:spcPct val="20000"/>
              </a:spcBef>
            </a:pPr>
            <a:r>
              <a:rPr lang="en-US" sz="2800">
                <a:latin typeface="Arial" panose="020B0604020202020204" pitchFamily="34" charset="0"/>
              </a:rPr>
              <a:t>Constraint Line </a:t>
            </a:r>
          </a:p>
          <a:p>
            <a:pPr eaLnBrk="1" hangingPunct="1">
              <a:spcBef>
                <a:spcPct val="50000"/>
              </a:spcBef>
            </a:pPr>
            <a:r>
              <a:rPr lang="en-US" sz="2800" u="none">
                <a:solidFill>
                  <a:schemeClr val="tx2"/>
                </a:solidFill>
                <a:latin typeface="Arial" panose="020B0604020202020204" pitchFamily="34" charset="0"/>
              </a:rPr>
              <a:t>2T + 1C = 1000</a:t>
            </a:r>
          </a:p>
          <a:p>
            <a:pPr eaLnBrk="1" hangingPunct="1">
              <a:spcBef>
                <a:spcPct val="50000"/>
              </a:spcBef>
            </a:pPr>
            <a:endParaRPr lang="en-US" sz="2800">
              <a:solidFill>
                <a:schemeClr val="tx2"/>
              </a:solidFill>
              <a:latin typeface="Arial" panose="020B0604020202020204" pitchFamily="34" charset="0"/>
            </a:endParaRPr>
          </a:p>
          <a:p>
            <a:pPr eaLnBrk="1" hangingPunct="1">
              <a:spcBef>
                <a:spcPct val="50000"/>
              </a:spcBef>
            </a:pPr>
            <a:r>
              <a:rPr lang="en-US" sz="2800">
                <a:latin typeface="Arial" panose="020B0604020202020204" pitchFamily="34" charset="0"/>
              </a:rPr>
              <a:t>Intercepts</a:t>
            </a:r>
          </a:p>
          <a:p>
            <a:pPr eaLnBrk="1" hangingPunct="1">
              <a:spcBef>
                <a:spcPct val="50000"/>
              </a:spcBef>
            </a:pPr>
            <a:r>
              <a:rPr lang="en-US" sz="2800" u="none">
                <a:solidFill>
                  <a:schemeClr val="tx2"/>
                </a:solidFill>
                <a:latin typeface="Arial" panose="020B0604020202020204" pitchFamily="34" charset="0"/>
              </a:rPr>
              <a:t>(T = 0, C = 1000)</a:t>
            </a:r>
          </a:p>
          <a:p>
            <a:pPr eaLnBrk="1" hangingPunct="1">
              <a:spcBef>
                <a:spcPct val="50000"/>
              </a:spcBef>
            </a:pPr>
            <a:r>
              <a:rPr lang="en-US" sz="2800" u="none">
                <a:solidFill>
                  <a:schemeClr val="tx2"/>
                </a:solidFill>
                <a:latin typeface="Arial" panose="020B0604020202020204" pitchFamily="34" charset="0"/>
              </a:rPr>
              <a:t>(T = 500, C = 0)</a:t>
            </a:r>
            <a:endParaRPr lang="en-US" sz="1800">
              <a:solidFill>
                <a:schemeClr val="tx2"/>
              </a:solidFill>
              <a:latin typeface="Arial" panose="020B0604020202020204" pitchFamily="34" charset="0"/>
            </a:endParaRPr>
          </a:p>
        </p:txBody>
      </p:sp>
      <p:sp>
        <p:nvSpPr>
          <p:cNvPr id="98308" name="Line 18"/>
          <p:cNvSpPr>
            <a:spLocks noChangeShapeType="1"/>
          </p:cNvSpPr>
          <p:nvPr/>
        </p:nvSpPr>
        <p:spPr bwMode="auto">
          <a:xfrm>
            <a:off x="4572000" y="5257800"/>
            <a:ext cx="41910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8309" name="Line 19"/>
          <p:cNvSpPr>
            <a:spLocks noChangeShapeType="1"/>
          </p:cNvSpPr>
          <p:nvPr/>
        </p:nvSpPr>
        <p:spPr bwMode="auto">
          <a:xfrm flipV="1">
            <a:off x="4572000" y="457200"/>
            <a:ext cx="0" cy="4800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8310" name="Text Box 20"/>
          <p:cNvSpPr txBox="1">
            <a:spLocks noChangeArrowheads="1"/>
          </p:cNvSpPr>
          <p:nvPr/>
        </p:nvSpPr>
        <p:spPr bwMode="auto">
          <a:xfrm>
            <a:off x="4572000" y="5257800"/>
            <a:ext cx="441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b="1" u="none">
                <a:latin typeface="Arial" panose="020B0604020202020204" pitchFamily="34" charset="0"/>
              </a:rPr>
              <a:t>0		    500	        800   T</a:t>
            </a:r>
          </a:p>
        </p:txBody>
      </p:sp>
      <p:sp>
        <p:nvSpPr>
          <p:cNvPr id="98311" name="Text Box 21"/>
          <p:cNvSpPr txBox="1">
            <a:spLocks noChangeArrowheads="1"/>
          </p:cNvSpPr>
          <p:nvPr/>
        </p:nvSpPr>
        <p:spPr bwMode="auto">
          <a:xfrm>
            <a:off x="3886200" y="304800"/>
            <a:ext cx="838200" cy="491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
              </a:spcBef>
            </a:pPr>
            <a:r>
              <a:rPr lang="en-US" sz="1800" u="none">
                <a:latin typeface="Arial" panose="020B0604020202020204" pitchFamily="34" charset="0"/>
              </a:rPr>
              <a:t>   </a:t>
            </a:r>
            <a:r>
              <a:rPr lang="en-US" sz="1800" b="1" u="none">
                <a:latin typeface="Arial" panose="020B0604020202020204" pitchFamily="34" charset="0"/>
              </a:rPr>
              <a:t>C</a:t>
            </a:r>
          </a:p>
          <a:p>
            <a:pPr eaLnBrk="1" hangingPunct="1">
              <a:spcBef>
                <a:spcPct val="5000"/>
              </a:spcBef>
            </a:pPr>
            <a:r>
              <a:rPr lang="en-US" sz="1800" b="1" u="none">
                <a:latin typeface="Arial" panose="020B0604020202020204" pitchFamily="34" charset="0"/>
              </a:rPr>
              <a:t>1000</a:t>
            </a: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endParaRPr lang="en-US" sz="1800" b="1" u="none">
              <a:latin typeface="Arial" panose="020B0604020202020204" pitchFamily="34" charset="0"/>
            </a:endParaRPr>
          </a:p>
          <a:p>
            <a:pPr eaLnBrk="1" hangingPunct="1"/>
            <a:r>
              <a:rPr lang="en-US" sz="1800" b="1" u="none">
                <a:latin typeface="Arial" panose="020B0604020202020204" pitchFamily="34" charset="0"/>
              </a:rPr>
              <a:t>600</a:t>
            </a: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r>
              <a:rPr lang="en-US" sz="1800" b="1" u="none">
                <a:latin typeface="Arial" panose="020B0604020202020204" pitchFamily="34" charset="0"/>
              </a:rPr>
              <a:t>     0</a:t>
            </a:r>
          </a:p>
        </p:txBody>
      </p:sp>
      <p:sp>
        <p:nvSpPr>
          <p:cNvPr id="98312" name="Text Box 24"/>
          <p:cNvSpPr txBox="1">
            <a:spLocks noChangeArrowheads="1"/>
          </p:cNvSpPr>
          <p:nvPr/>
        </p:nvSpPr>
        <p:spPr bwMode="auto">
          <a:xfrm rot="3837534">
            <a:off x="4717257" y="2293143"/>
            <a:ext cx="1905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b="1" u="none">
                <a:solidFill>
                  <a:schemeClr val="tx2"/>
                </a:solidFill>
                <a:latin typeface="Arial" panose="020B0604020202020204" pitchFamily="34" charset="0"/>
              </a:rPr>
              <a:t>2T + 1C = 1000</a:t>
            </a:r>
          </a:p>
        </p:txBody>
      </p:sp>
      <p:sp>
        <p:nvSpPr>
          <p:cNvPr id="98313" name="Line 26"/>
          <p:cNvSpPr>
            <a:spLocks noChangeShapeType="1"/>
          </p:cNvSpPr>
          <p:nvPr/>
        </p:nvSpPr>
        <p:spPr bwMode="auto">
          <a:xfrm>
            <a:off x="4572000" y="2514600"/>
            <a:ext cx="3657600" cy="274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14" name="Freeform 30"/>
          <p:cNvSpPr>
            <a:spLocks/>
          </p:cNvSpPr>
          <p:nvPr/>
        </p:nvSpPr>
        <p:spPr bwMode="auto">
          <a:xfrm>
            <a:off x="4572000" y="2514600"/>
            <a:ext cx="2362200" cy="2743200"/>
          </a:xfrm>
          <a:custGeom>
            <a:avLst/>
            <a:gdLst>
              <a:gd name="T0" fmla="*/ 0 w 1488"/>
              <a:gd name="T1" fmla="*/ 1728 h 1728"/>
              <a:gd name="T2" fmla="*/ 0 w 1488"/>
              <a:gd name="T3" fmla="*/ 0 h 1728"/>
              <a:gd name="T4" fmla="*/ 1008 w 1488"/>
              <a:gd name="T5" fmla="*/ 768 h 1728"/>
              <a:gd name="T6" fmla="*/ 1488 w 1488"/>
              <a:gd name="T7" fmla="*/ 1728 h 1728"/>
              <a:gd name="T8" fmla="*/ 0 w 1488"/>
              <a:gd name="T9" fmla="*/ 1728 h 1728"/>
              <a:gd name="T10" fmla="*/ 0 60000 65536"/>
              <a:gd name="T11" fmla="*/ 0 60000 65536"/>
              <a:gd name="T12" fmla="*/ 0 60000 65536"/>
              <a:gd name="T13" fmla="*/ 0 60000 65536"/>
              <a:gd name="T14" fmla="*/ 0 60000 65536"/>
              <a:gd name="T15" fmla="*/ 0 w 1488"/>
              <a:gd name="T16" fmla="*/ 0 h 1728"/>
              <a:gd name="T17" fmla="*/ 1488 w 1488"/>
              <a:gd name="T18" fmla="*/ 1728 h 1728"/>
            </a:gdLst>
            <a:ahLst/>
            <a:cxnLst>
              <a:cxn ang="T10">
                <a:pos x="T0" y="T1"/>
              </a:cxn>
              <a:cxn ang="T11">
                <a:pos x="T2" y="T3"/>
              </a:cxn>
              <a:cxn ang="T12">
                <a:pos x="T4" y="T5"/>
              </a:cxn>
              <a:cxn ang="T13">
                <a:pos x="T6" y="T7"/>
              </a:cxn>
              <a:cxn ang="T14">
                <a:pos x="T8" y="T9"/>
              </a:cxn>
            </a:cxnLst>
            <a:rect l="T15" t="T16" r="T17" b="T18"/>
            <a:pathLst>
              <a:path w="1488" h="1728">
                <a:moveTo>
                  <a:pt x="0" y="1728"/>
                </a:moveTo>
                <a:lnTo>
                  <a:pt x="0" y="0"/>
                </a:lnTo>
                <a:lnTo>
                  <a:pt x="1008" y="768"/>
                </a:lnTo>
                <a:lnTo>
                  <a:pt x="1488" y="1728"/>
                </a:lnTo>
                <a:lnTo>
                  <a:pt x="0" y="1728"/>
                </a:lnTo>
                <a:close/>
              </a:path>
            </a:pathLst>
          </a:custGeom>
          <a:solidFill>
            <a:schemeClr val="folHlink"/>
          </a:solidFill>
          <a:ln w="9525">
            <a:solidFill>
              <a:schemeClr val="tx1"/>
            </a:solidFill>
            <a:round/>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sz="1800" u="none">
              <a:latin typeface="Arial" panose="020B0604020202020204" pitchFamily="34" charset="0"/>
            </a:endParaRPr>
          </a:p>
        </p:txBody>
      </p:sp>
      <p:sp>
        <p:nvSpPr>
          <p:cNvPr id="98315" name="Line 27"/>
          <p:cNvSpPr>
            <a:spLocks noChangeShapeType="1"/>
          </p:cNvSpPr>
          <p:nvPr/>
        </p:nvSpPr>
        <p:spPr bwMode="auto">
          <a:xfrm flipH="1" flipV="1">
            <a:off x="4572000" y="685800"/>
            <a:ext cx="2362200" cy="4572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Line 4"/>
          <p:cNvSpPr>
            <a:spLocks noChangeShapeType="1"/>
          </p:cNvSpPr>
          <p:nvPr/>
        </p:nvSpPr>
        <p:spPr bwMode="auto">
          <a:xfrm>
            <a:off x="4572000" y="5257800"/>
            <a:ext cx="41910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0355" name="Line 5"/>
          <p:cNvSpPr>
            <a:spLocks noChangeShapeType="1"/>
          </p:cNvSpPr>
          <p:nvPr/>
        </p:nvSpPr>
        <p:spPr bwMode="auto">
          <a:xfrm flipV="1">
            <a:off x="4572000" y="457200"/>
            <a:ext cx="0" cy="4800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0356" name="Text Box 6"/>
          <p:cNvSpPr txBox="1">
            <a:spLocks noChangeArrowheads="1"/>
          </p:cNvSpPr>
          <p:nvPr/>
        </p:nvSpPr>
        <p:spPr bwMode="auto">
          <a:xfrm>
            <a:off x="4572000" y="5257800"/>
            <a:ext cx="441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b="1" u="none">
                <a:latin typeface="Arial" panose="020B0604020202020204" pitchFamily="34" charset="0"/>
              </a:rPr>
              <a:t>0  100		    500	        800   T</a:t>
            </a:r>
          </a:p>
        </p:txBody>
      </p:sp>
      <p:sp>
        <p:nvSpPr>
          <p:cNvPr id="100357" name="Text Box 7"/>
          <p:cNvSpPr txBox="1">
            <a:spLocks noChangeArrowheads="1"/>
          </p:cNvSpPr>
          <p:nvPr/>
        </p:nvSpPr>
        <p:spPr bwMode="auto">
          <a:xfrm>
            <a:off x="3886200" y="304800"/>
            <a:ext cx="838200" cy="505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
              </a:spcBef>
            </a:pPr>
            <a:r>
              <a:rPr lang="en-US" sz="1800" u="none">
                <a:latin typeface="Arial" panose="020B0604020202020204" pitchFamily="34" charset="0"/>
              </a:rPr>
              <a:t>   </a:t>
            </a:r>
            <a:r>
              <a:rPr lang="en-US" sz="1800" b="1" u="none">
                <a:latin typeface="Arial" panose="020B0604020202020204" pitchFamily="34" charset="0"/>
              </a:rPr>
              <a:t>C</a:t>
            </a:r>
          </a:p>
          <a:p>
            <a:pPr eaLnBrk="1" hangingPunct="1">
              <a:spcBef>
                <a:spcPct val="5000"/>
              </a:spcBef>
            </a:pPr>
            <a:r>
              <a:rPr lang="en-US" sz="1800" b="1" u="none">
                <a:latin typeface="Arial" panose="020B0604020202020204" pitchFamily="34" charset="0"/>
              </a:rPr>
              <a:t>1000</a:t>
            </a: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endParaRPr lang="en-US" sz="1800" b="1" u="none">
              <a:latin typeface="Arial" panose="020B0604020202020204" pitchFamily="34" charset="0"/>
            </a:endParaRPr>
          </a:p>
          <a:p>
            <a:pPr eaLnBrk="1" hangingPunct="1">
              <a:spcBef>
                <a:spcPct val="50000"/>
              </a:spcBef>
            </a:pPr>
            <a:r>
              <a:rPr lang="en-US" sz="1800" b="1" u="none">
                <a:latin typeface="Arial" panose="020B0604020202020204" pitchFamily="34" charset="0"/>
              </a:rPr>
              <a:t>600</a:t>
            </a:r>
          </a:p>
          <a:p>
            <a:pPr eaLnBrk="1" hangingPunct="1">
              <a:spcBef>
                <a:spcPct val="50000"/>
              </a:spcBef>
            </a:pPr>
            <a:r>
              <a:rPr lang="en-US" sz="1800" b="1" u="none">
                <a:latin typeface="Arial" panose="020B0604020202020204" pitchFamily="34" charset="0"/>
              </a:rPr>
              <a:t>450</a:t>
            </a: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r>
              <a:rPr lang="en-US" sz="1800" b="1" u="none">
                <a:latin typeface="Arial" panose="020B0604020202020204" pitchFamily="34" charset="0"/>
              </a:rPr>
              <a:t>     0</a:t>
            </a:r>
          </a:p>
        </p:txBody>
      </p:sp>
      <p:sp>
        <p:nvSpPr>
          <p:cNvPr id="100358" name="Line 9"/>
          <p:cNvSpPr>
            <a:spLocks noChangeShapeType="1"/>
          </p:cNvSpPr>
          <p:nvPr/>
        </p:nvSpPr>
        <p:spPr bwMode="auto">
          <a:xfrm>
            <a:off x="4572000" y="2514600"/>
            <a:ext cx="3657600" cy="274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59" name="Line 10"/>
          <p:cNvSpPr>
            <a:spLocks noChangeShapeType="1"/>
          </p:cNvSpPr>
          <p:nvPr/>
        </p:nvSpPr>
        <p:spPr bwMode="auto">
          <a:xfrm flipH="1" flipV="1">
            <a:off x="6096000" y="3657600"/>
            <a:ext cx="838200" cy="16002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0360" name="Text Box 12"/>
          <p:cNvSpPr txBox="1">
            <a:spLocks noChangeArrowheads="1"/>
          </p:cNvSpPr>
          <p:nvPr/>
        </p:nvSpPr>
        <p:spPr bwMode="auto">
          <a:xfrm>
            <a:off x="533400" y="685800"/>
            <a:ext cx="2971800" cy="308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2800">
                <a:latin typeface="Arial" panose="020B0604020202020204" pitchFamily="34" charset="0"/>
              </a:rPr>
              <a:t>Max Chair Line</a:t>
            </a:r>
          </a:p>
          <a:p>
            <a:pPr algn="ctr" eaLnBrk="1" hangingPunct="1">
              <a:spcBef>
                <a:spcPct val="50000"/>
              </a:spcBef>
            </a:pPr>
            <a:r>
              <a:rPr lang="en-US" sz="2800" u="none">
                <a:solidFill>
                  <a:schemeClr val="tx2"/>
                </a:solidFill>
                <a:latin typeface="Arial" panose="020B0604020202020204" pitchFamily="34" charset="0"/>
              </a:rPr>
              <a:t>C = 450</a:t>
            </a:r>
          </a:p>
          <a:p>
            <a:pPr algn="ctr" eaLnBrk="1" hangingPunct="1">
              <a:spcBef>
                <a:spcPct val="50000"/>
              </a:spcBef>
            </a:pPr>
            <a:endParaRPr lang="en-US" sz="2800" u="none">
              <a:solidFill>
                <a:srgbClr val="FF0000"/>
              </a:solidFill>
              <a:latin typeface="Arial" panose="020B0604020202020204" pitchFamily="34" charset="0"/>
            </a:endParaRPr>
          </a:p>
          <a:p>
            <a:pPr algn="ctr" eaLnBrk="1" hangingPunct="1">
              <a:spcBef>
                <a:spcPct val="50000"/>
              </a:spcBef>
            </a:pPr>
            <a:r>
              <a:rPr lang="en-US" sz="2800">
                <a:latin typeface="Arial" panose="020B0604020202020204" pitchFamily="34" charset="0"/>
              </a:rPr>
              <a:t>Min Table Line</a:t>
            </a:r>
          </a:p>
          <a:p>
            <a:pPr algn="ctr" eaLnBrk="1" hangingPunct="1">
              <a:spcBef>
                <a:spcPct val="50000"/>
              </a:spcBef>
            </a:pPr>
            <a:r>
              <a:rPr lang="en-US" sz="2800" u="none">
                <a:solidFill>
                  <a:schemeClr val="tx2"/>
                </a:solidFill>
                <a:latin typeface="Arial" panose="020B0604020202020204" pitchFamily="34" charset="0"/>
              </a:rPr>
              <a:t>T = 100</a:t>
            </a:r>
          </a:p>
        </p:txBody>
      </p:sp>
      <p:sp>
        <p:nvSpPr>
          <p:cNvPr id="100361" name="Freeform 16"/>
          <p:cNvSpPr>
            <a:spLocks/>
          </p:cNvSpPr>
          <p:nvPr/>
        </p:nvSpPr>
        <p:spPr bwMode="auto">
          <a:xfrm>
            <a:off x="5029200" y="3124200"/>
            <a:ext cx="1981200" cy="2133600"/>
          </a:xfrm>
          <a:custGeom>
            <a:avLst/>
            <a:gdLst>
              <a:gd name="T0" fmla="*/ 0 w 1248"/>
              <a:gd name="T1" fmla="*/ 1344 h 1344"/>
              <a:gd name="T2" fmla="*/ 0 w 1248"/>
              <a:gd name="T3" fmla="*/ 0 h 1344"/>
              <a:gd name="T4" fmla="*/ 240 w 1248"/>
              <a:gd name="T5" fmla="*/ 0 h 1344"/>
              <a:gd name="T6" fmla="*/ 672 w 1248"/>
              <a:gd name="T7" fmla="*/ 336 h 1344"/>
              <a:gd name="T8" fmla="*/ 1248 w 1248"/>
              <a:gd name="T9" fmla="*/ 1344 h 1344"/>
              <a:gd name="T10" fmla="*/ 0 w 1248"/>
              <a:gd name="T11" fmla="*/ 1344 h 1344"/>
              <a:gd name="T12" fmla="*/ 0 60000 65536"/>
              <a:gd name="T13" fmla="*/ 0 60000 65536"/>
              <a:gd name="T14" fmla="*/ 0 60000 65536"/>
              <a:gd name="T15" fmla="*/ 0 60000 65536"/>
              <a:gd name="T16" fmla="*/ 0 60000 65536"/>
              <a:gd name="T17" fmla="*/ 0 60000 65536"/>
              <a:gd name="T18" fmla="*/ 0 w 1248"/>
              <a:gd name="T19" fmla="*/ 0 h 1344"/>
              <a:gd name="T20" fmla="*/ 1248 w 1248"/>
              <a:gd name="T21" fmla="*/ 1344 h 1344"/>
            </a:gdLst>
            <a:ahLst/>
            <a:cxnLst>
              <a:cxn ang="T12">
                <a:pos x="T0" y="T1"/>
              </a:cxn>
              <a:cxn ang="T13">
                <a:pos x="T2" y="T3"/>
              </a:cxn>
              <a:cxn ang="T14">
                <a:pos x="T4" y="T5"/>
              </a:cxn>
              <a:cxn ang="T15">
                <a:pos x="T6" y="T7"/>
              </a:cxn>
              <a:cxn ang="T16">
                <a:pos x="T8" y="T9"/>
              </a:cxn>
              <a:cxn ang="T17">
                <a:pos x="T10" y="T11"/>
              </a:cxn>
            </a:cxnLst>
            <a:rect l="T18" t="T19" r="T20" b="T21"/>
            <a:pathLst>
              <a:path w="1248" h="1344">
                <a:moveTo>
                  <a:pt x="0" y="1344"/>
                </a:moveTo>
                <a:lnTo>
                  <a:pt x="0" y="0"/>
                </a:lnTo>
                <a:lnTo>
                  <a:pt x="240" y="0"/>
                </a:lnTo>
                <a:lnTo>
                  <a:pt x="672" y="336"/>
                </a:lnTo>
                <a:lnTo>
                  <a:pt x="1248" y="1344"/>
                </a:lnTo>
                <a:lnTo>
                  <a:pt x="0" y="1344"/>
                </a:lnTo>
                <a:close/>
              </a:path>
            </a:pathLst>
          </a:custGeom>
          <a:solidFill>
            <a:schemeClr val="folHlink"/>
          </a:solidFill>
          <a:ln w="9525">
            <a:solidFill>
              <a:schemeClr val="tx1"/>
            </a:solidFill>
            <a:round/>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sz="1800" u="none">
              <a:latin typeface="Arial" panose="020B0604020202020204" pitchFamily="34" charset="0"/>
            </a:endParaRPr>
          </a:p>
        </p:txBody>
      </p:sp>
      <p:sp>
        <p:nvSpPr>
          <p:cNvPr id="100362" name="Line 18"/>
          <p:cNvSpPr>
            <a:spLocks noChangeShapeType="1"/>
          </p:cNvSpPr>
          <p:nvPr/>
        </p:nvSpPr>
        <p:spPr bwMode="auto">
          <a:xfrm>
            <a:off x="4572000" y="685800"/>
            <a:ext cx="1524000" cy="297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3" name="Line 15"/>
          <p:cNvSpPr>
            <a:spLocks noChangeShapeType="1"/>
          </p:cNvSpPr>
          <p:nvPr/>
        </p:nvSpPr>
        <p:spPr bwMode="auto">
          <a:xfrm>
            <a:off x="4572000" y="3124200"/>
            <a:ext cx="39624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4" name="Line 14"/>
          <p:cNvSpPr>
            <a:spLocks noChangeShapeType="1"/>
          </p:cNvSpPr>
          <p:nvPr/>
        </p:nvSpPr>
        <p:spPr bwMode="auto">
          <a:xfrm flipV="1">
            <a:off x="5029200" y="685800"/>
            <a:ext cx="0" cy="457200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5" name="Text Box 19"/>
          <p:cNvSpPr txBox="1">
            <a:spLocks noChangeArrowheads="1"/>
          </p:cNvSpPr>
          <p:nvPr/>
        </p:nvSpPr>
        <p:spPr bwMode="auto">
          <a:xfrm>
            <a:off x="4876800" y="4191000"/>
            <a:ext cx="16764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b="1" u="none">
                <a:latin typeface="Arial" panose="020B0604020202020204" pitchFamily="34" charset="0"/>
              </a:rPr>
              <a:t>Feasible</a:t>
            </a:r>
          </a:p>
          <a:p>
            <a:pPr algn="ctr" eaLnBrk="1" hangingPunct="1">
              <a:spcBef>
                <a:spcPct val="50000"/>
              </a:spcBef>
            </a:pPr>
            <a:r>
              <a:rPr lang="en-US" b="1" u="none">
                <a:latin typeface="Arial" panose="020B0604020202020204" pitchFamily="34" charset="0"/>
              </a:rPr>
              <a:t>Region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Line 4"/>
          <p:cNvSpPr>
            <a:spLocks noChangeShapeType="1"/>
          </p:cNvSpPr>
          <p:nvPr/>
        </p:nvSpPr>
        <p:spPr bwMode="auto">
          <a:xfrm>
            <a:off x="3657600" y="6172200"/>
            <a:ext cx="49530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2403" name="Line 5"/>
          <p:cNvSpPr>
            <a:spLocks noChangeShapeType="1"/>
          </p:cNvSpPr>
          <p:nvPr/>
        </p:nvSpPr>
        <p:spPr bwMode="auto">
          <a:xfrm flipV="1">
            <a:off x="3657600" y="304800"/>
            <a:ext cx="0" cy="5867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2404" name="Text Box 7"/>
          <p:cNvSpPr txBox="1">
            <a:spLocks noChangeArrowheads="1"/>
          </p:cNvSpPr>
          <p:nvPr/>
        </p:nvSpPr>
        <p:spPr bwMode="auto">
          <a:xfrm>
            <a:off x="3581400" y="6400800"/>
            <a:ext cx="533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b="1" u="none">
                <a:latin typeface="Arial" panose="020B0604020202020204" pitchFamily="34" charset="0"/>
              </a:rPr>
              <a:t>0         100        200          300        400        500  T</a:t>
            </a:r>
          </a:p>
        </p:txBody>
      </p:sp>
      <p:sp>
        <p:nvSpPr>
          <p:cNvPr id="102405" name="Freeform 9"/>
          <p:cNvSpPr>
            <a:spLocks/>
          </p:cNvSpPr>
          <p:nvPr/>
        </p:nvSpPr>
        <p:spPr bwMode="auto">
          <a:xfrm>
            <a:off x="4572000" y="1981200"/>
            <a:ext cx="3657600" cy="4191000"/>
          </a:xfrm>
          <a:custGeom>
            <a:avLst/>
            <a:gdLst>
              <a:gd name="T0" fmla="*/ 0 w 2304"/>
              <a:gd name="T1" fmla="*/ 2640 h 2640"/>
              <a:gd name="T2" fmla="*/ 0 w 2304"/>
              <a:gd name="T3" fmla="*/ 0 h 2640"/>
              <a:gd name="T4" fmla="*/ 576 w 2304"/>
              <a:gd name="T5" fmla="*/ 0 h 2640"/>
              <a:gd name="T6" fmla="*/ 1248 w 2304"/>
              <a:gd name="T7" fmla="*/ 528 h 2640"/>
              <a:gd name="T8" fmla="*/ 2304 w 2304"/>
              <a:gd name="T9" fmla="*/ 2640 h 2640"/>
              <a:gd name="T10" fmla="*/ 0 w 2304"/>
              <a:gd name="T11" fmla="*/ 2640 h 2640"/>
              <a:gd name="T12" fmla="*/ 0 60000 65536"/>
              <a:gd name="T13" fmla="*/ 0 60000 65536"/>
              <a:gd name="T14" fmla="*/ 0 60000 65536"/>
              <a:gd name="T15" fmla="*/ 0 60000 65536"/>
              <a:gd name="T16" fmla="*/ 0 60000 65536"/>
              <a:gd name="T17" fmla="*/ 0 60000 65536"/>
              <a:gd name="T18" fmla="*/ 0 w 2304"/>
              <a:gd name="T19" fmla="*/ 0 h 2640"/>
              <a:gd name="T20" fmla="*/ 2304 w 2304"/>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304" h="2640">
                <a:moveTo>
                  <a:pt x="0" y="2640"/>
                </a:moveTo>
                <a:lnTo>
                  <a:pt x="0" y="0"/>
                </a:lnTo>
                <a:lnTo>
                  <a:pt x="576" y="0"/>
                </a:lnTo>
                <a:lnTo>
                  <a:pt x="1248" y="528"/>
                </a:lnTo>
                <a:lnTo>
                  <a:pt x="2304" y="2640"/>
                </a:lnTo>
                <a:lnTo>
                  <a:pt x="0" y="2640"/>
                </a:lnTo>
                <a:close/>
              </a:path>
            </a:pathLst>
          </a:custGeom>
          <a:solidFill>
            <a:schemeClr val="folHlink"/>
          </a:solidFill>
          <a:ln w="9525">
            <a:solidFill>
              <a:schemeClr val="tx1"/>
            </a:solidFill>
            <a:round/>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sz="1800" u="none">
              <a:latin typeface="Arial" panose="020B0604020202020204" pitchFamily="34" charset="0"/>
            </a:endParaRPr>
          </a:p>
        </p:txBody>
      </p:sp>
      <p:sp>
        <p:nvSpPr>
          <p:cNvPr id="102406" name="Text Box 10"/>
          <p:cNvSpPr txBox="1">
            <a:spLocks noChangeArrowheads="1"/>
          </p:cNvSpPr>
          <p:nvPr/>
        </p:nvSpPr>
        <p:spPr bwMode="auto">
          <a:xfrm>
            <a:off x="2971800" y="533400"/>
            <a:ext cx="685800" cy="573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1800" b="1" u="none">
                <a:latin typeface="Arial" panose="020B0604020202020204" pitchFamily="34" charset="0"/>
              </a:rPr>
              <a:t>C</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500</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400</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300</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200</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100</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0</a:t>
            </a:r>
          </a:p>
        </p:txBody>
      </p:sp>
      <p:sp>
        <p:nvSpPr>
          <p:cNvPr id="102407" name="Text Box 11"/>
          <p:cNvSpPr txBox="1">
            <a:spLocks noChangeArrowheads="1"/>
          </p:cNvSpPr>
          <p:nvPr/>
        </p:nvSpPr>
        <p:spPr bwMode="auto">
          <a:xfrm>
            <a:off x="381000" y="914400"/>
            <a:ext cx="259080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u="none">
                <a:latin typeface="Arial" panose="020B0604020202020204" pitchFamily="34" charset="0"/>
              </a:rPr>
              <a:t>Objective </a:t>
            </a:r>
            <a:r>
              <a:rPr lang="en-US">
                <a:latin typeface="Arial" panose="020B0604020202020204" pitchFamily="34" charset="0"/>
              </a:rPr>
              <a:t>Function Line</a:t>
            </a:r>
            <a:endParaRPr lang="en-US" u="none">
              <a:latin typeface="Arial" panose="020B0604020202020204" pitchFamily="34" charset="0"/>
            </a:endParaRPr>
          </a:p>
          <a:p>
            <a:pPr algn="ctr" eaLnBrk="1" hangingPunct="1">
              <a:spcBef>
                <a:spcPct val="50000"/>
              </a:spcBef>
            </a:pPr>
            <a:r>
              <a:rPr lang="en-US" u="none">
                <a:solidFill>
                  <a:schemeClr val="tx2"/>
                </a:solidFill>
                <a:latin typeface="Arial" panose="020B0604020202020204" pitchFamily="34" charset="0"/>
              </a:rPr>
              <a:t>7T + 5C = Profit</a:t>
            </a:r>
            <a:endParaRPr lang="en-US">
              <a:solidFill>
                <a:schemeClr val="tx2"/>
              </a:solidFill>
              <a:latin typeface="Arial" panose="020B0604020202020204" pitchFamily="34" charset="0"/>
            </a:endParaRPr>
          </a:p>
        </p:txBody>
      </p:sp>
      <p:sp>
        <p:nvSpPr>
          <p:cNvPr id="102408" name="Line 12"/>
          <p:cNvSpPr>
            <a:spLocks noChangeShapeType="1"/>
          </p:cNvSpPr>
          <p:nvPr/>
        </p:nvSpPr>
        <p:spPr bwMode="auto">
          <a:xfrm>
            <a:off x="3657600" y="2209800"/>
            <a:ext cx="2743200" cy="396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09" name="Text Box 13"/>
          <p:cNvSpPr txBox="1">
            <a:spLocks noChangeArrowheads="1"/>
          </p:cNvSpPr>
          <p:nvPr/>
        </p:nvSpPr>
        <p:spPr bwMode="auto">
          <a:xfrm rot="3312652">
            <a:off x="3688557" y="4007643"/>
            <a:ext cx="3048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1800" b="1" u="none">
                <a:latin typeface="Arial" panose="020B0604020202020204" pitchFamily="34" charset="0"/>
              </a:rPr>
              <a:t>7T + 5C = $2,100</a:t>
            </a:r>
          </a:p>
        </p:txBody>
      </p:sp>
      <p:sp>
        <p:nvSpPr>
          <p:cNvPr id="102410" name="Line 14"/>
          <p:cNvSpPr>
            <a:spLocks noChangeShapeType="1"/>
          </p:cNvSpPr>
          <p:nvPr/>
        </p:nvSpPr>
        <p:spPr bwMode="auto">
          <a:xfrm>
            <a:off x="3657600" y="990600"/>
            <a:ext cx="3657600" cy="518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11" name="Text Box 15"/>
          <p:cNvSpPr txBox="1">
            <a:spLocks noChangeArrowheads="1"/>
          </p:cNvSpPr>
          <p:nvPr/>
        </p:nvSpPr>
        <p:spPr bwMode="auto">
          <a:xfrm rot="3397799">
            <a:off x="4602957" y="1264443"/>
            <a:ext cx="2286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1800" b="1" u="none">
                <a:latin typeface="Arial" panose="020B0604020202020204" pitchFamily="34" charset="0"/>
              </a:rPr>
              <a:t>7T + 5C = $4,040</a:t>
            </a:r>
          </a:p>
        </p:txBody>
      </p:sp>
      <p:sp>
        <p:nvSpPr>
          <p:cNvPr id="102412" name="Line 17"/>
          <p:cNvSpPr>
            <a:spLocks noChangeShapeType="1"/>
          </p:cNvSpPr>
          <p:nvPr/>
        </p:nvSpPr>
        <p:spPr bwMode="auto">
          <a:xfrm>
            <a:off x="4800600" y="304800"/>
            <a:ext cx="3657600" cy="518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13" name="Text Box 18"/>
          <p:cNvSpPr txBox="1">
            <a:spLocks noChangeArrowheads="1"/>
          </p:cNvSpPr>
          <p:nvPr/>
        </p:nvSpPr>
        <p:spPr bwMode="auto">
          <a:xfrm>
            <a:off x="7086600" y="2209800"/>
            <a:ext cx="20574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10000"/>
              </a:spcBef>
            </a:pPr>
            <a:r>
              <a:rPr lang="en-US" sz="1800" b="1" u="none">
                <a:latin typeface="Arial" panose="020B0604020202020204" pitchFamily="34" charset="0"/>
              </a:rPr>
              <a:t>Optimal Point</a:t>
            </a:r>
          </a:p>
          <a:p>
            <a:pPr algn="ctr" eaLnBrk="1" hangingPunct="1">
              <a:spcBef>
                <a:spcPct val="10000"/>
              </a:spcBef>
            </a:pPr>
            <a:r>
              <a:rPr lang="en-US" sz="1800" b="1" u="none">
                <a:latin typeface="Arial" panose="020B0604020202020204" pitchFamily="34" charset="0"/>
              </a:rPr>
              <a:t>(</a:t>
            </a:r>
            <a:r>
              <a:rPr lang="en-US" sz="1800" b="1" u="none">
                <a:solidFill>
                  <a:schemeClr val="tx2"/>
                </a:solidFill>
                <a:latin typeface="Arial" panose="020B0604020202020204" pitchFamily="34" charset="0"/>
              </a:rPr>
              <a:t>T = 320, C = 360</a:t>
            </a:r>
            <a:r>
              <a:rPr lang="en-US" sz="1800" b="1" u="none">
                <a:latin typeface="Arial" panose="020B0604020202020204" pitchFamily="34" charset="0"/>
              </a:rPr>
              <a:t>)</a:t>
            </a:r>
          </a:p>
        </p:txBody>
      </p:sp>
      <p:sp>
        <p:nvSpPr>
          <p:cNvPr id="102414" name="Line 20"/>
          <p:cNvSpPr>
            <a:spLocks noChangeShapeType="1"/>
          </p:cNvSpPr>
          <p:nvPr/>
        </p:nvSpPr>
        <p:spPr bwMode="auto">
          <a:xfrm flipH="1">
            <a:off x="6629400" y="2514600"/>
            <a:ext cx="609600" cy="304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2415" name="Oval 21"/>
          <p:cNvSpPr>
            <a:spLocks noChangeArrowheads="1"/>
          </p:cNvSpPr>
          <p:nvPr/>
        </p:nvSpPr>
        <p:spPr bwMode="auto">
          <a:xfrm>
            <a:off x="6553200" y="2819400"/>
            <a:ext cx="76200" cy="76200"/>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sz="1800" u="none">
              <a:latin typeface="Arial" panose="020B0604020202020204" pitchFamily="34" charset="0"/>
            </a:endParaRPr>
          </a:p>
        </p:txBody>
      </p:sp>
      <p:sp>
        <p:nvSpPr>
          <p:cNvPr id="102416" name="Text Box 22"/>
          <p:cNvSpPr txBox="1">
            <a:spLocks noChangeArrowheads="1"/>
          </p:cNvSpPr>
          <p:nvPr/>
        </p:nvSpPr>
        <p:spPr bwMode="auto">
          <a:xfrm rot="3312652">
            <a:off x="3993357" y="3169443"/>
            <a:ext cx="3048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1800" b="1" u="none">
                <a:latin typeface="Arial" panose="020B0604020202020204" pitchFamily="34" charset="0"/>
              </a:rPr>
              <a:t>7T + 5C = $2,800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Freeform 23"/>
          <p:cNvSpPr>
            <a:spLocks/>
          </p:cNvSpPr>
          <p:nvPr/>
        </p:nvSpPr>
        <p:spPr bwMode="auto">
          <a:xfrm>
            <a:off x="4572000" y="1981200"/>
            <a:ext cx="1851025" cy="2590800"/>
          </a:xfrm>
          <a:custGeom>
            <a:avLst/>
            <a:gdLst>
              <a:gd name="T0" fmla="*/ 1166 w 1166"/>
              <a:gd name="T1" fmla="*/ 463 h 1632"/>
              <a:gd name="T2" fmla="*/ 0 w 1166"/>
              <a:gd name="T3" fmla="*/ 1632 h 1632"/>
              <a:gd name="T4" fmla="*/ 0 w 1166"/>
              <a:gd name="T5" fmla="*/ 0 h 1632"/>
              <a:gd name="T6" fmla="*/ 576 w 1166"/>
              <a:gd name="T7" fmla="*/ 0 h 1632"/>
              <a:gd name="T8" fmla="*/ 1166 w 1166"/>
              <a:gd name="T9" fmla="*/ 463 h 1632"/>
              <a:gd name="T10" fmla="*/ 0 60000 65536"/>
              <a:gd name="T11" fmla="*/ 0 60000 65536"/>
              <a:gd name="T12" fmla="*/ 0 60000 65536"/>
              <a:gd name="T13" fmla="*/ 0 60000 65536"/>
              <a:gd name="T14" fmla="*/ 0 60000 65536"/>
              <a:gd name="T15" fmla="*/ 0 w 1166"/>
              <a:gd name="T16" fmla="*/ 0 h 1632"/>
              <a:gd name="T17" fmla="*/ 1166 w 1166"/>
              <a:gd name="T18" fmla="*/ 1632 h 1632"/>
            </a:gdLst>
            <a:ahLst/>
            <a:cxnLst>
              <a:cxn ang="T10">
                <a:pos x="T0" y="T1"/>
              </a:cxn>
              <a:cxn ang="T11">
                <a:pos x="T2" y="T3"/>
              </a:cxn>
              <a:cxn ang="T12">
                <a:pos x="T4" y="T5"/>
              </a:cxn>
              <a:cxn ang="T13">
                <a:pos x="T6" y="T7"/>
              </a:cxn>
              <a:cxn ang="T14">
                <a:pos x="T8" y="T9"/>
              </a:cxn>
            </a:cxnLst>
            <a:rect l="T15" t="T16" r="T17" b="T18"/>
            <a:pathLst>
              <a:path w="1166" h="1632">
                <a:moveTo>
                  <a:pt x="1166" y="463"/>
                </a:moveTo>
                <a:lnTo>
                  <a:pt x="0" y="1632"/>
                </a:lnTo>
                <a:lnTo>
                  <a:pt x="0" y="0"/>
                </a:lnTo>
                <a:lnTo>
                  <a:pt x="576" y="0"/>
                </a:lnTo>
                <a:lnTo>
                  <a:pt x="1166" y="463"/>
                </a:lnTo>
                <a:close/>
              </a:path>
            </a:pathLst>
          </a:custGeom>
          <a:solidFill>
            <a:schemeClr val="folHlink"/>
          </a:solidFill>
          <a:ln w="9525">
            <a:solidFill>
              <a:schemeClr val="tx1"/>
            </a:solidFill>
            <a:round/>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sz="1800" u="none">
              <a:latin typeface="Arial" panose="020B0604020202020204" pitchFamily="34" charset="0"/>
            </a:endParaRPr>
          </a:p>
        </p:txBody>
      </p:sp>
      <p:sp>
        <p:nvSpPr>
          <p:cNvPr id="104451" name="Line 4"/>
          <p:cNvSpPr>
            <a:spLocks noChangeShapeType="1"/>
          </p:cNvSpPr>
          <p:nvPr/>
        </p:nvSpPr>
        <p:spPr bwMode="auto">
          <a:xfrm>
            <a:off x="3657600" y="6172200"/>
            <a:ext cx="49530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4452" name="Line 5"/>
          <p:cNvSpPr>
            <a:spLocks noChangeShapeType="1"/>
          </p:cNvSpPr>
          <p:nvPr/>
        </p:nvSpPr>
        <p:spPr bwMode="auto">
          <a:xfrm flipV="1">
            <a:off x="3657600" y="304800"/>
            <a:ext cx="0" cy="5867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4453" name="Text Box 6"/>
          <p:cNvSpPr txBox="1">
            <a:spLocks noChangeArrowheads="1"/>
          </p:cNvSpPr>
          <p:nvPr/>
        </p:nvSpPr>
        <p:spPr bwMode="auto">
          <a:xfrm>
            <a:off x="3581400" y="6400800"/>
            <a:ext cx="533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b="1" u="none">
                <a:latin typeface="Arial" panose="020B0604020202020204" pitchFamily="34" charset="0"/>
              </a:rPr>
              <a:t>0         100        200          300        400        500  T</a:t>
            </a:r>
          </a:p>
        </p:txBody>
      </p:sp>
      <p:sp>
        <p:nvSpPr>
          <p:cNvPr id="104454" name="Freeform 7"/>
          <p:cNvSpPr>
            <a:spLocks/>
          </p:cNvSpPr>
          <p:nvPr/>
        </p:nvSpPr>
        <p:spPr bwMode="auto">
          <a:xfrm>
            <a:off x="4572000" y="1981200"/>
            <a:ext cx="3657600" cy="4191000"/>
          </a:xfrm>
          <a:custGeom>
            <a:avLst/>
            <a:gdLst>
              <a:gd name="T0" fmla="*/ 0 w 2304"/>
              <a:gd name="T1" fmla="*/ 2640 h 2640"/>
              <a:gd name="T2" fmla="*/ 0 w 2304"/>
              <a:gd name="T3" fmla="*/ 0 h 2640"/>
              <a:gd name="T4" fmla="*/ 576 w 2304"/>
              <a:gd name="T5" fmla="*/ 0 h 2640"/>
              <a:gd name="T6" fmla="*/ 1248 w 2304"/>
              <a:gd name="T7" fmla="*/ 528 h 2640"/>
              <a:gd name="T8" fmla="*/ 2304 w 2304"/>
              <a:gd name="T9" fmla="*/ 2640 h 2640"/>
              <a:gd name="T10" fmla="*/ 0 w 2304"/>
              <a:gd name="T11" fmla="*/ 2640 h 2640"/>
              <a:gd name="T12" fmla="*/ 0 60000 65536"/>
              <a:gd name="T13" fmla="*/ 0 60000 65536"/>
              <a:gd name="T14" fmla="*/ 0 60000 65536"/>
              <a:gd name="T15" fmla="*/ 0 60000 65536"/>
              <a:gd name="T16" fmla="*/ 0 60000 65536"/>
              <a:gd name="T17" fmla="*/ 0 60000 65536"/>
              <a:gd name="T18" fmla="*/ 0 w 2304"/>
              <a:gd name="T19" fmla="*/ 0 h 2640"/>
              <a:gd name="T20" fmla="*/ 2304 w 2304"/>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304" h="2640">
                <a:moveTo>
                  <a:pt x="0" y="2640"/>
                </a:moveTo>
                <a:lnTo>
                  <a:pt x="0" y="0"/>
                </a:lnTo>
                <a:lnTo>
                  <a:pt x="576" y="0"/>
                </a:lnTo>
                <a:lnTo>
                  <a:pt x="1248" y="528"/>
                </a:lnTo>
                <a:lnTo>
                  <a:pt x="2304" y="2640"/>
                </a:lnTo>
                <a:lnTo>
                  <a:pt x="0" y="264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sz="1800" u="none">
              <a:latin typeface="Arial" panose="020B0604020202020204" pitchFamily="34" charset="0"/>
            </a:endParaRPr>
          </a:p>
        </p:txBody>
      </p:sp>
      <p:sp>
        <p:nvSpPr>
          <p:cNvPr id="104455" name="Text Box 8"/>
          <p:cNvSpPr txBox="1">
            <a:spLocks noChangeArrowheads="1"/>
          </p:cNvSpPr>
          <p:nvPr/>
        </p:nvSpPr>
        <p:spPr bwMode="auto">
          <a:xfrm>
            <a:off x="2971800" y="533400"/>
            <a:ext cx="6858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1800" b="1" u="none">
                <a:latin typeface="Arial" panose="020B0604020202020204" pitchFamily="34" charset="0"/>
              </a:rPr>
              <a:t>C</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500</a:t>
            </a:r>
          </a:p>
          <a:p>
            <a:pPr algn="ctr" eaLnBrk="1" hangingPunct="1">
              <a:spcBef>
                <a:spcPct val="50000"/>
              </a:spcBef>
            </a:pPr>
            <a:endParaRPr lang="en-US" sz="800" b="1" u="none">
              <a:latin typeface="Arial" panose="020B0604020202020204" pitchFamily="34" charset="0"/>
            </a:endParaRP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400</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300</a:t>
            </a:r>
          </a:p>
          <a:p>
            <a:pPr algn="ctr" eaLnBrk="1" hangingPunct="1">
              <a:spcBef>
                <a:spcPct val="50000"/>
              </a:spcBef>
            </a:pPr>
            <a:endParaRPr lang="en-US"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200</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100</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0</a:t>
            </a:r>
          </a:p>
        </p:txBody>
      </p:sp>
      <p:sp>
        <p:nvSpPr>
          <p:cNvPr id="104456" name="Text Box 9"/>
          <p:cNvSpPr txBox="1">
            <a:spLocks noChangeArrowheads="1"/>
          </p:cNvSpPr>
          <p:nvPr/>
        </p:nvSpPr>
        <p:spPr bwMode="auto">
          <a:xfrm>
            <a:off x="228600" y="914400"/>
            <a:ext cx="3048000" cy="392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a:latin typeface="Arial" panose="020B0604020202020204" pitchFamily="34" charset="0"/>
              </a:rPr>
              <a:t>Additional Constraint</a:t>
            </a:r>
          </a:p>
          <a:p>
            <a:pPr eaLnBrk="1" hangingPunct="1">
              <a:spcBef>
                <a:spcPct val="50000"/>
              </a:spcBef>
            </a:pPr>
            <a:r>
              <a:rPr lang="en-US" u="none">
                <a:latin typeface="Arial" panose="020B0604020202020204" pitchFamily="34" charset="0"/>
              </a:rPr>
              <a:t>Need at least 75 more chairs than tables</a:t>
            </a:r>
          </a:p>
          <a:p>
            <a:pPr algn="ctr" eaLnBrk="1" hangingPunct="1">
              <a:spcBef>
                <a:spcPct val="50000"/>
              </a:spcBef>
            </a:pPr>
            <a:r>
              <a:rPr lang="en-US" u="none">
                <a:solidFill>
                  <a:schemeClr val="tx2"/>
                </a:solidFill>
                <a:latin typeface="Arial" panose="020B0604020202020204" pitchFamily="34" charset="0"/>
              </a:rPr>
              <a:t>C </a:t>
            </a:r>
            <a:r>
              <a:rPr lang="en-US">
                <a:solidFill>
                  <a:schemeClr val="tx2"/>
                </a:solidFill>
                <a:latin typeface="Arial" panose="020B0604020202020204" pitchFamily="34" charset="0"/>
              </a:rPr>
              <a:t>&gt;</a:t>
            </a:r>
            <a:r>
              <a:rPr lang="en-US" u="none">
                <a:solidFill>
                  <a:schemeClr val="tx2"/>
                </a:solidFill>
                <a:latin typeface="Arial" panose="020B0604020202020204" pitchFamily="34" charset="0"/>
              </a:rPr>
              <a:t> T + 75</a:t>
            </a:r>
          </a:p>
          <a:p>
            <a:pPr algn="ctr" eaLnBrk="1" hangingPunct="1">
              <a:spcBef>
                <a:spcPct val="50000"/>
              </a:spcBef>
            </a:pPr>
            <a:r>
              <a:rPr lang="en-US" u="none">
                <a:latin typeface="Arial" panose="020B0604020202020204" pitchFamily="34" charset="0"/>
              </a:rPr>
              <a:t>Or</a:t>
            </a:r>
          </a:p>
          <a:p>
            <a:pPr algn="ctr" eaLnBrk="1" hangingPunct="1">
              <a:spcBef>
                <a:spcPct val="50000"/>
              </a:spcBef>
            </a:pPr>
            <a:r>
              <a:rPr lang="en-US" u="none">
                <a:solidFill>
                  <a:schemeClr val="tx2"/>
                </a:solidFill>
                <a:latin typeface="Arial" panose="020B0604020202020204" pitchFamily="34" charset="0"/>
              </a:rPr>
              <a:t>C – T </a:t>
            </a:r>
            <a:r>
              <a:rPr lang="en-US">
                <a:solidFill>
                  <a:schemeClr val="tx2"/>
                </a:solidFill>
                <a:latin typeface="Arial" panose="020B0604020202020204" pitchFamily="34" charset="0"/>
              </a:rPr>
              <a:t>&gt;</a:t>
            </a:r>
            <a:r>
              <a:rPr lang="en-US" u="none">
                <a:solidFill>
                  <a:schemeClr val="tx2"/>
                </a:solidFill>
                <a:latin typeface="Arial" panose="020B0604020202020204" pitchFamily="34" charset="0"/>
              </a:rPr>
              <a:t> 75</a:t>
            </a:r>
          </a:p>
          <a:p>
            <a:pPr algn="ctr" eaLnBrk="1" hangingPunct="1">
              <a:spcBef>
                <a:spcPct val="50000"/>
              </a:spcBef>
            </a:pPr>
            <a:endParaRPr lang="en-US">
              <a:latin typeface="Arial" panose="020B0604020202020204" pitchFamily="34" charset="0"/>
            </a:endParaRPr>
          </a:p>
        </p:txBody>
      </p:sp>
      <p:sp>
        <p:nvSpPr>
          <p:cNvPr id="104457" name="Text Box 15"/>
          <p:cNvSpPr txBox="1">
            <a:spLocks noChangeArrowheads="1"/>
          </p:cNvSpPr>
          <p:nvPr/>
        </p:nvSpPr>
        <p:spPr bwMode="auto">
          <a:xfrm>
            <a:off x="7162800" y="2438400"/>
            <a:ext cx="18288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10000"/>
              </a:spcBef>
            </a:pPr>
            <a:r>
              <a:rPr lang="en-US" sz="1800" b="1" u="none">
                <a:solidFill>
                  <a:schemeClr val="tx2"/>
                </a:solidFill>
                <a:latin typeface="Arial" panose="020B0604020202020204" pitchFamily="34" charset="0"/>
              </a:rPr>
              <a:t>T = 320</a:t>
            </a:r>
          </a:p>
          <a:p>
            <a:pPr algn="ctr" eaLnBrk="1" hangingPunct="1">
              <a:spcBef>
                <a:spcPct val="10000"/>
              </a:spcBef>
            </a:pPr>
            <a:r>
              <a:rPr lang="en-US" sz="1800" b="1" u="none">
                <a:solidFill>
                  <a:schemeClr val="tx2"/>
                </a:solidFill>
                <a:latin typeface="Arial" panose="020B0604020202020204" pitchFamily="34" charset="0"/>
              </a:rPr>
              <a:t>C = 360</a:t>
            </a:r>
          </a:p>
          <a:p>
            <a:pPr algn="ctr" eaLnBrk="1" hangingPunct="1">
              <a:spcBef>
                <a:spcPct val="10000"/>
              </a:spcBef>
            </a:pPr>
            <a:r>
              <a:rPr lang="en-US" sz="1800" b="1" u="none">
                <a:latin typeface="Arial" panose="020B0604020202020204" pitchFamily="34" charset="0"/>
              </a:rPr>
              <a:t>No longer feasible</a:t>
            </a:r>
          </a:p>
        </p:txBody>
      </p:sp>
      <p:sp>
        <p:nvSpPr>
          <p:cNvPr id="104458" name="Line 16"/>
          <p:cNvSpPr>
            <a:spLocks noChangeShapeType="1"/>
          </p:cNvSpPr>
          <p:nvPr/>
        </p:nvSpPr>
        <p:spPr bwMode="auto">
          <a:xfrm flipH="1">
            <a:off x="6629400" y="2743200"/>
            <a:ext cx="990600" cy="76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4459" name="Line 17"/>
          <p:cNvSpPr>
            <a:spLocks noChangeShapeType="1"/>
          </p:cNvSpPr>
          <p:nvPr/>
        </p:nvSpPr>
        <p:spPr bwMode="auto">
          <a:xfrm flipV="1">
            <a:off x="3657600" y="1828800"/>
            <a:ext cx="3657600" cy="3657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60" name="Text Box 21"/>
          <p:cNvSpPr txBox="1">
            <a:spLocks noChangeArrowheads="1"/>
          </p:cNvSpPr>
          <p:nvPr/>
        </p:nvSpPr>
        <p:spPr bwMode="auto">
          <a:xfrm>
            <a:off x="4343400" y="990600"/>
            <a:ext cx="34290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10000"/>
              </a:spcBef>
            </a:pPr>
            <a:r>
              <a:rPr lang="en-US" sz="1800" b="1" u="none">
                <a:latin typeface="Arial" panose="020B0604020202020204" pitchFamily="34" charset="0"/>
              </a:rPr>
              <a:t>New optimal point</a:t>
            </a:r>
          </a:p>
          <a:p>
            <a:pPr algn="ctr" eaLnBrk="1" hangingPunct="1">
              <a:spcBef>
                <a:spcPct val="10000"/>
              </a:spcBef>
            </a:pPr>
            <a:r>
              <a:rPr lang="en-US" sz="1800" b="1" u="none">
                <a:solidFill>
                  <a:schemeClr val="tx2"/>
                </a:solidFill>
                <a:latin typeface="Arial" panose="020B0604020202020204" pitchFamily="34" charset="0"/>
              </a:rPr>
              <a:t>T = 300, C = 375</a:t>
            </a:r>
          </a:p>
        </p:txBody>
      </p:sp>
      <p:sp>
        <p:nvSpPr>
          <p:cNvPr id="104461" name="Line 22"/>
          <p:cNvSpPr>
            <a:spLocks noChangeShapeType="1"/>
          </p:cNvSpPr>
          <p:nvPr/>
        </p:nvSpPr>
        <p:spPr bwMode="auto">
          <a:xfrm>
            <a:off x="6172200" y="1676400"/>
            <a:ext cx="228600" cy="990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idx="4294967295"/>
          </p:nvPr>
        </p:nvSpPr>
        <p:spPr/>
        <p:txBody>
          <a:bodyPr lIns="91440" tIns="45720" rIns="91440" bIns="45720"/>
          <a:lstStyle/>
          <a:p>
            <a:pPr eaLnBrk="1" hangingPunct="1"/>
            <a:r>
              <a:rPr lang="en-US" u="sng"/>
              <a:t>LP Characteristics</a:t>
            </a:r>
          </a:p>
        </p:txBody>
      </p:sp>
      <p:sp>
        <p:nvSpPr>
          <p:cNvPr id="106499" name="Rectangle 3"/>
          <p:cNvSpPr>
            <a:spLocks noGrp="1" noChangeArrowheads="1"/>
          </p:cNvSpPr>
          <p:nvPr>
            <p:ph type="body" idx="4294967295"/>
          </p:nvPr>
        </p:nvSpPr>
        <p:spPr/>
        <p:txBody>
          <a:bodyPr lIns="91440" tIns="45720" rIns="91440" bIns="45720"/>
          <a:lstStyle/>
          <a:p>
            <a:pPr eaLnBrk="1" hangingPunct="1"/>
            <a:r>
              <a:rPr lang="en-US" b="1"/>
              <a:t>Feasible Region</a:t>
            </a:r>
            <a:r>
              <a:rPr lang="en-US"/>
              <a:t>:  The set of points that satisfies all constraints</a:t>
            </a:r>
          </a:p>
          <a:p>
            <a:pPr eaLnBrk="1" hangingPunct="1"/>
            <a:r>
              <a:rPr lang="en-US" b="1"/>
              <a:t>Corner Point Property</a:t>
            </a:r>
            <a:r>
              <a:rPr lang="en-US"/>
              <a:t>:  An optimal solution must lie at one or more corner points</a:t>
            </a:r>
          </a:p>
          <a:p>
            <a:pPr eaLnBrk="1" hangingPunct="1"/>
            <a:r>
              <a:rPr lang="en-US" b="1"/>
              <a:t>Optimal Solution</a:t>
            </a:r>
            <a:r>
              <a:rPr lang="en-US"/>
              <a:t>:  The corner point with the best objective function value is optimal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idx="4294967295"/>
          </p:nvPr>
        </p:nvSpPr>
        <p:spPr/>
        <p:txBody>
          <a:bodyPr lIns="91440" tIns="45720" rIns="91440" bIns="45720"/>
          <a:lstStyle/>
          <a:p>
            <a:pPr eaLnBrk="1" hangingPunct="1"/>
            <a:r>
              <a:rPr lang="en-US" u="sng"/>
              <a:t>Special Situation in LP</a:t>
            </a:r>
          </a:p>
        </p:txBody>
      </p:sp>
      <p:sp>
        <p:nvSpPr>
          <p:cNvPr id="108547" name="Rectangle 3"/>
          <p:cNvSpPr>
            <a:spLocks noGrp="1" noChangeArrowheads="1"/>
          </p:cNvSpPr>
          <p:nvPr>
            <p:ph type="body" idx="4294967295"/>
          </p:nvPr>
        </p:nvSpPr>
        <p:spPr/>
        <p:txBody>
          <a:bodyPr lIns="91440" tIns="45720" rIns="91440" bIns="45720"/>
          <a:lstStyle/>
          <a:p>
            <a:pPr marL="609600" indent="-609600" eaLnBrk="1" hangingPunct="1">
              <a:buFontTx/>
              <a:buAutoNum type="arabicPeriod"/>
            </a:pPr>
            <a:r>
              <a:rPr lang="en-US" b="1"/>
              <a:t>Redundant Constraints </a:t>
            </a:r>
            <a:r>
              <a:rPr lang="en-US"/>
              <a:t> - do not affect the feasible region</a:t>
            </a:r>
          </a:p>
          <a:p>
            <a:pPr marL="609600" indent="-609600" eaLnBrk="1" hangingPunct="1">
              <a:buFont typeface="Monotype Sorts" pitchFamily="2" charset="2"/>
              <a:buNone/>
            </a:pPr>
            <a:endParaRPr lang="en-US" b="1"/>
          </a:p>
          <a:p>
            <a:pPr marL="609600" indent="-609600" eaLnBrk="1" hangingPunct="1">
              <a:buFont typeface="Monotype Sorts" pitchFamily="2" charset="2"/>
              <a:buNone/>
            </a:pPr>
            <a:r>
              <a:rPr lang="en-US" b="1"/>
              <a:t>	</a:t>
            </a:r>
            <a:r>
              <a:rPr lang="en-US"/>
              <a:t>Example:	</a:t>
            </a:r>
            <a:r>
              <a:rPr lang="en-US">
                <a:solidFill>
                  <a:schemeClr val="tx2"/>
                </a:solidFill>
              </a:rPr>
              <a:t>x </a:t>
            </a:r>
            <a:r>
              <a:rPr lang="en-US" u="sng">
                <a:solidFill>
                  <a:schemeClr val="tx2"/>
                </a:solidFill>
              </a:rPr>
              <a:t>&lt;</a:t>
            </a:r>
            <a:r>
              <a:rPr lang="en-US">
                <a:solidFill>
                  <a:schemeClr val="tx2"/>
                </a:solidFill>
              </a:rPr>
              <a:t> 10</a:t>
            </a:r>
          </a:p>
          <a:p>
            <a:pPr marL="609600" indent="-609600" eaLnBrk="1" hangingPunct="1">
              <a:buFont typeface="Monotype Sorts" pitchFamily="2" charset="2"/>
              <a:buNone/>
            </a:pPr>
            <a:r>
              <a:rPr lang="en-US">
                <a:solidFill>
                  <a:schemeClr val="tx2"/>
                </a:solidFill>
              </a:rPr>
              <a:t>				x </a:t>
            </a:r>
            <a:r>
              <a:rPr lang="en-US" u="sng">
                <a:solidFill>
                  <a:schemeClr val="tx2"/>
                </a:solidFill>
              </a:rPr>
              <a:t>&lt;</a:t>
            </a:r>
            <a:r>
              <a:rPr lang="en-US">
                <a:solidFill>
                  <a:schemeClr val="tx2"/>
                </a:solidFill>
              </a:rPr>
              <a:t> 12</a:t>
            </a:r>
          </a:p>
          <a:p>
            <a:pPr marL="609600" indent="-609600" eaLnBrk="1" hangingPunct="1">
              <a:buFont typeface="Monotype Sorts" pitchFamily="2" charset="2"/>
              <a:buNone/>
            </a:pPr>
            <a:r>
              <a:rPr lang="en-US"/>
              <a:t>	The second constraint is redundant because it is </a:t>
            </a:r>
            <a:r>
              <a:rPr lang="en-US" i="1"/>
              <a:t>less</a:t>
            </a:r>
            <a:r>
              <a:rPr lang="en-US"/>
              <a:t> restrictive.  </a:t>
            </a:r>
            <a:endParaRPr lang="en-US" b="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idx="4294967295"/>
          </p:nvPr>
        </p:nvSpPr>
        <p:spPr/>
        <p:txBody>
          <a:bodyPr lIns="91440" tIns="45720" rIns="91440" bIns="45720"/>
          <a:lstStyle/>
          <a:p>
            <a:pPr eaLnBrk="1" hangingPunct="1"/>
            <a:r>
              <a:rPr lang="en-US" u="sng"/>
              <a:t>Special Situation in LP</a:t>
            </a:r>
          </a:p>
        </p:txBody>
      </p:sp>
      <p:sp>
        <p:nvSpPr>
          <p:cNvPr id="110595" name="Rectangle 3"/>
          <p:cNvSpPr>
            <a:spLocks noGrp="1" noChangeArrowheads="1"/>
          </p:cNvSpPr>
          <p:nvPr>
            <p:ph type="body" idx="4294967295"/>
          </p:nvPr>
        </p:nvSpPr>
        <p:spPr/>
        <p:txBody>
          <a:bodyPr lIns="91440" tIns="45720" rIns="91440" bIns="45720"/>
          <a:lstStyle/>
          <a:p>
            <a:pPr marL="609600" indent="-609600" eaLnBrk="1" hangingPunct="1">
              <a:buFontTx/>
              <a:buAutoNum type="arabicPeriod" startAt="2"/>
            </a:pPr>
            <a:r>
              <a:rPr lang="en-US" b="1"/>
              <a:t>Infeasibility </a:t>
            </a:r>
            <a:r>
              <a:rPr lang="en-US"/>
              <a:t>– when no feasible solution exists (there is no feasible region)</a:t>
            </a:r>
          </a:p>
          <a:p>
            <a:pPr marL="609600" indent="-609600" eaLnBrk="1" hangingPunct="1">
              <a:buFontTx/>
              <a:buAutoNum type="arabicPeriod" startAt="2"/>
            </a:pPr>
            <a:endParaRPr lang="en-US"/>
          </a:p>
          <a:p>
            <a:pPr marL="609600" indent="-609600" eaLnBrk="1" hangingPunct="1">
              <a:buFont typeface="Monotype Sorts" pitchFamily="2" charset="2"/>
              <a:buNone/>
            </a:pPr>
            <a:r>
              <a:rPr lang="en-US"/>
              <a:t>	Example:	</a:t>
            </a:r>
            <a:r>
              <a:rPr lang="en-US">
                <a:solidFill>
                  <a:schemeClr val="tx2"/>
                </a:solidFill>
              </a:rPr>
              <a:t>x </a:t>
            </a:r>
            <a:r>
              <a:rPr lang="en-US" u="sng">
                <a:solidFill>
                  <a:schemeClr val="tx2"/>
                </a:solidFill>
              </a:rPr>
              <a:t>&lt;</a:t>
            </a:r>
            <a:r>
              <a:rPr lang="en-US">
                <a:solidFill>
                  <a:schemeClr val="tx2"/>
                </a:solidFill>
              </a:rPr>
              <a:t> 10</a:t>
            </a:r>
          </a:p>
          <a:p>
            <a:pPr marL="609600" indent="-609600" eaLnBrk="1" hangingPunct="1">
              <a:buFont typeface="Monotype Sorts" pitchFamily="2" charset="2"/>
              <a:buNone/>
            </a:pPr>
            <a:r>
              <a:rPr lang="en-US">
                <a:solidFill>
                  <a:schemeClr val="tx2"/>
                </a:solidFill>
              </a:rPr>
              <a:t>				x </a:t>
            </a:r>
            <a:r>
              <a:rPr lang="en-US" u="sng">
                <a:solidFill>
                  <a:schemeClr val="tx2"/>
                </a:solidFill>
              </a:rPr>
              <a:t>&gt;</a:t>
            </a:r>
            <a:r>
              <a:rPr lang="en-US">
                <a:solidFill>
                  <a:schemeClr val="tx2"/>
                </a:solidFill>
              </a:rPr>
              <a:t> 15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idx="4294967295"/>
          </p:nvPr>
        </p:nvSpPr>
        <p:spPr/>
        <p:txBody>
          <a:bodyPr lIns="91440" tIns="45720" rIns="91440" bIns="45720"/>
          <a:lstStyle/>
          <a:p>
            <a:pPr eaLnBrk="1" hangingPunct="1"/>
            <a:r>
              <a:rPr lang="en-US" u="sng"/>
              <a:t>Special Situation in LP</a:t>
            </a:r>
          </a:p>
        </p:txBody>
      </p:sp>
      <p:sp>
        <p:nvSpPr>
          <p:cNvPr id="112643" name="Rectangle 3"/>
          <p:cNvSpPr>
            <a:spLocks noGrp="1" noChangeArrowheads="1"/>
          </p:cNvSpPr>
          <p:nvPr>
            <p:ph type="body" idx="4294967295"/>
          </p:nvPr>
        </p:nvSpPr>
        <p:spPr>
          <a:xfrm>
            <a:off x="533400" y="1090613"/>
            <a:ext cx="8101013" cy="1601787"/>
          </a:xfrm>
        </p:spPr>
        <p:txBody>
          <a:bodyPr lIns="91440" tIns="45720" rIns="91440" bIns="45720"/>
          <a:lstStyle/>
          <a:p>
            <a:pPr marL="609600" indent="-609600" eaLnBrk="1" hangingPunct="1">
              <a:lnSpc>
                <a:spcPct val="90000"/>
              </a:lnSpc>
              <a:buFontTx/>
              <a:buAutoNum type="arabicPeriod" startAt="3"/>
            </a:pPr>
            <a:r>
              <a:rPr lang="en-US" b="1"/>
              <a:t>Alternate Optimal Solutions</a:t>
            </a:r>
            <a:r>
              <a:rPr lang="en-US"/>
              <a:t> – when there is more than one optimal solution</a:t>
            </a:r>
            <a:r>
              <a:rPr lang="en-US" sz="2000"/>
              <a:t>	</a:t>
            </a:r>
          </a:p>
        </p:txBody>
      </p:sp>
      <p:sp>
        <p:nvSpPr>
          <p:cNvPr id="112644" name="Line 4"/>
          <p:cNvSpPr>
            <a:spLocks noChangeShapeType="1"/>
          </p:cNvSpPr>
          <p:nvPr/>
        </p:nvSpPr>
        <p:spPr bwMode="auto">
          <a:xfrm>
            <a:off x="4419600" y="6172200"/>
            <a:ext cx="3962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2645" name="Text Box 5"/>
          <p:cNvSpPr txBox="1">
            <a:spLocks noChangeArrowheads="1"/>
          </p:cNvSpPr>
          <p:nvPr/>
        </p:nvSpPr>
        <p:spPr bwMode="auto">
          <a:xfrm>
            <a:off x="685800" y="3124200"/>
            <a:ext cx="3276600"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sz="2800" u="none">
                <a:latin typeface="Arial" panose="020B0604020202020204" pitchFamily="34" charset="0"/>
              </a:rPr>
              <a:t>  Max </a:t>
            </a:r>
            <a:r>
              <a:rPr lang="en-US" sz="2800" u="none">
                <a:solidFill>
                  <a:schemeClr val="tx2"/>
                </a:solidFill>
                <a:latin typeface="Arial" panose="020B0604020202020204" pitchFamily="34" charset="0"/>
              </a:rPr>
              <a:t>2T + 2C</a:t>
            </a:r>
          </a:p>
          <a:p>
            <a:pPr eaLnBrk="1" hangingPunct="1"/>
            <a:r>
              <a:rPr lang="en-US" u="none">
                <a:latin typeface="Arial" panose="020B0604020202020204" pitchFamily="34" charset="0"/>
              </a:rPr>
              <a:t>Subject to:</a:t>
            </a:r>
          </a:p>
          <a:p>
            <a:pPr eaLnBrk="1" hangingPunct="1"/>
            <a:r>
              <a:rPr lang="en-US" sz="2800" u="none">
                <a:latin typeface="Arial" panose="020B0604020202020204" pitchFamily="34" charset="0"/>
              </a:rPr>
              <a:t>	</a:t>
            </a:r>
            <a:r>
              <a:rPr lang="en-US" sz="2800" u="none">
                <a:solidFill>
                  <a:schemeClr val="tx2"/>
                </a:solidFill>
                <a:latin typeface="Arial" panose="020B0604020202020204" pitchFamily="34" charset="0"/>
              </a:rPr>
              <a:t>T + C </a:t>
            </a:r>
            <a:r>
              <a:rPr lang="en-US" sz="2800">
                <a:solidFill>
                  <a:schemeClr val="tx2"/>
                </a:solidFill>
                <a:latin typeface="Arial" panose="020B0604020202020204" pitchFamily="34" charset="0"/>
              </a:rPr>
              <a:t>&lt;</a:t>
            </a:r>
            <a:r>
              <a:rPr lang="en-US" sz="2800" u="none">
                <a:solidFill>
                  <a:schemeClr val="tx2"/>
                </a:solidFill>
                <a:latin typeface="Arial" panose="020B0604020202020204" pitchFamily="34" charset="0"/>
              </a:rPr>
              <a:t> 10</a:t>
            </a:r>
          </a:p>
          <a:p>
            <a:pPr eaLnBrk="1" hangingPunct="1"/>
            <a:r>
              <a:rPr lang="en-US" sz="2800" u="none">
                <a:solidFill>
                  <a:schemeClr val="tx2"/>
                </a:solidFill>
                <a:latin typeface="Arial" panose="020B0604020202020204" pitchFamily="34" charset="0"/>
              </a:rPr>
              <a:t>	T        </a:t>
            </a:r>
            <a:r>
              <a:rPr lang="en-US" sz="2800">
                <a:solidFill>
                  <a:schemeClr val="tx2"/>
                </a:solidFill>
                <a:latin typeface="Arial" panose="020B0604020202020204" pitchFamily="34" charset="0"/>
              </a:rPr>
              <a:t>&lt;</a:t>
            </a:r>
            <a:r>
              <a:rPr lang="en-US" sz="2800" u="none">
                <a:solidFill>
                  <a:schemeClr val="tx2"/>
                </a:solidFill>
                <a:latin typeface="Arial" panose="020B0604020202020204" pitchFamily="34" charset="0"/>
              </a:rPr>
              <a:t>  5</a:t>
            </a:r>
          </a:p>
          <a:p>
            <a:pPr eaLnBrk="1" hangingPunct="1"/>
            <a:r>
              <a:rPr lang="en-US" sz="2800" u="none">
                <a:solidFill>
                  <a:schemeClr val="tx2"/>
                </a:solidFill>
                <a:latin typeface="Arial" panose="020B0604020202020204" pitchFamily="34" charset="0"/>
              </a:rPr>
              <a:t>	       C </a:t>
            </a:r>
            <a:r>
              <a:rPr lang="en-US" sz="2800">
                <a:solidFill>
                  <a:schemeClr val="tx2"/>
                </a:solidFill>
                <a:latin typeface="Arial" panose="020B0604020202020204" pitchFamily="34" charset="0"/>
              </a:rPr>
              <a:t>&lt;</a:t>
            </a:r>
            <a:r>
              <a:rPr lang="en-US" sz="2800" u="none">
                <a:solidFill>
                  <a:schemeClr val="tx2"/>
                </a:solidFill>
                <a:latin typeface="Arial" panose="020B0604020202020204" pitchFamily="34" charset="0"/>
              </a:rPr>
              <a:t>  6</a:t>
            </a:r>
          </a:p>
          <a:p>
            <a:pPr eaLnBrk="1" hangingPunct="1"/>
            <a:r>
              <a:rPr lang="en-US" sz="2800" u="none">
                <a:solidFill>
                  <a:schemeClr val="tx2"/>
                </a:solidFill>
                <a:latin typeface="Arial" panose="020B0604020202020204" pitchFamily="34" charset="0"/>
              </a:rPr>
              <a:t>            T, C </a:t>
            </a:r>
            <a:r>
              <a:rPr lang="en-US" sz="2800">
                <a:solidFill>
                  <a:schemeClr val="tx2"/>
                </a:solidFill>
                <a:latin typeface="Arial" panose="020B0604020202020204" pitchFamily="34" charset="0"/>
              </a:rPr>
              <a:t>&gt;</a:t>
            </a:r>
            <a:r>
              <a:rPr lang="en-US" sz="2800" u="none">
                <a:solidFill>
                  <a:schemeClr val="tx2"/>
                </a:solidFill>
                <a:latin typeface="Arial" panose="020B0604020202020204" pitchFamily="34" charset="0"/>
              </a:rPr>
              <a:t> 0</a:t>
            </a:r>
            <a:r>
              <a:rPr lang="en-US" sz="1800" u="none">
                <a:solidFill>
                  <a:schemeClr val="tx2"/>
                </a:solidFill>
                <a:latin typeface="Arial" panose="020B0604020202020204" pitchFamily="34" charset="0"/>
              </a:rPr>
              <a:t>	</a:t>
            </a:r>
          </a:p>
        </p:txBody>
      </p:sp>
      <p:sp>
        <p:nvSpPr>
          <p:cNvPr id="112646" name="Line 6"/>
          <p:cNvSpPr>
            <a:spLocks noChangeShapeType="1"/>
          </p:cNvSpPr>
          <p:nvPr/>
        </p:nvSpPr>
        <p:spPr bwMode="auto">
          <a:xfrm flipV="1">
            <a:off x="4419600" y="2819400"/>
            <a:ext cx="0" cy="3352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2647" name="Line 8"/>
          <p:cNvSpPr>
            <a:spLocks noChangeShapeType="1"/>
          </p:cNvSpPr>
          <p:nvPr/>
        </p:nvSpPr>
        <p:spPr bwMode="auto">
          <a:xfrm flipH="1" flipV="1">
            <a:off x="4419600" y="3352800"/>
            <a:ext cx="2819400" cy="2819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48" name="Freeform 9"/>
          <p:cNvSpPr>
            <a:spLocks/>
          </p:cNvSpPr>
          <p:nvPr/>
        </p:nvSpPr>
        <p:spPr bwMode="auto">
          <a:xfrm>
            <a:off x="4419600" y="4495800"/>
            <a:ext cx="1524000" cy="1676400"/>
          </a:xfrm>
          <a:custGeom>
            <a:avLst/>
            <a:gdLst>
              <a:gd name="T0" fmla="*/ 0 w 960"/>
              <a:gd name="T1" fmla="*/ 1056 h 1056"/>
              <a:gd name="T2" fmla="*/ 0 w 960"/>
              <a:gd name="T3" fmla="*/ 0 h 1056"/>
              <a:gd name="T4" fmla="*/ 720 w 960"/>
              <a:gd name="T5" fmla="*/ 0 h 1056"/>
              <a:gd name="T6" fmla="*/ 960 w 960"/>
              <a:gd name="T7" fmla="*/ 240 h 1056"/>
              <a:gd name="T8" fmla="*/ 960 w 960"/>
              <a:gd name="T9" fmla="*/ 1056 h 1056"/>
              <a:gd name="T10" fmla="*/ 0 w 960"/>
              <a:gd name="T11" fmla="*/ 1056 h 1056"/>
              <a:gd name="T12" fmla="*/ 0 60000 65536"/>
              <a:gd name="T13" fmla="*/ 0 60000 65536"/>
              <a:gd name="T14" fmla="*/ 0 60000 65536"/>
              <a:gd name="T15" fmla="*/ 0 60000 65536"/>
              <a:gd name="T16" fmla="*/ 0 60000 65536"/>
              <a:gd name="T17" fmla="*/ 0 60000 65536"/>
              <a:gd name="T18" fmla="*/ 0 w 960"/>
              <a:gd name="T19" fmla="*/ 0 h 1056"/>
              <a:gd name="T20" fmla="*/ 960 w 960"/>
              <a:gd name="T21" fmla="*/ 1056 h 1056"/>
            </a:gdLst>
            <a:ahLst/>
            <a:cxnLst>
              <a:cxn ang="T12">
                <a:pos x="T0" y="T1"/>
              </a:cxn>
              <a:cxn ang="T13">
                <a:pos x="T2" y="T3"/>
              </a:cxn>
              <a:cxn ang="T14">
                <a:pos x="T4" y="T5"/>
              </a:cxn>
              <a:cxn ang="T15">
                <a:pos x="T6" y="T7"/>
              </a:cxn>
              <a:cxn ang="T16">
                <a:pos x="T8" y="T9"/>
              </a:cxn>
              <a:cxn ang="T17">
                <a:pos x="T10" y="T11"/>
              </a:cxn>
            </a:cxnLst>
            <a:rect l="T18" t="T19" r="T20" b="T21"/>
            <a:pathLst>
              <a:path w="960" h="1056">
                <a:moveTo>
                  <a:pt x="0" y="1056"/>
                </a:moveTo>
                <a:lnTo>
                  <a:pt x="0" y="0"/>
                </a:lnTo>
                <a:lnTo>
                  <a:pt x="720" y="0"/>
                </a:lnTo>
                <a:lnTo>
                  <a:pt x="960" y="240"/>
                </a:lnTo>
                <a:lnTo>
                  <a:pt x="960" y="1056"/>
                </a:lnTo>
                <a:lnTo>
                  <a:pt x="0" y="1056"/>
                </a:lnTo>
                <a:close/>
              </a:path>
            </a:pathLst>
          </a:custGeom>
          <a:solidFill>
            <a:schemeClr val="folHlink"/>
          </a:solidFill>
          <a:ln w="9525">
            <a:solidFill>
              <a:schemeClr val="tx1"/>
            </a:solidFill>
            <a:round/>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sz="1800" u="none">
              <a:latin typeface="Arial" panose="020B0604020202020204" pitchFamily="34" charset="0"/>
            </a:endParaRPr>
          </a:p>
        </p:txBody>
      </p:sp>
      <p:sp>
        <p:nvSpPr>
          <p:cNvPr id="112649" name="Text Box 10"/>
          <p:cNvSpPr txBox="1">
            <a:spLocks noChangeArrowheads="1"/>
          </p:cNvSpPr>
          <p:nvPr/>
        </p:nvSpPr>
        <p:spPr bwMode="auto">
          <a:xfrm>
            <a:off x="4343400" y="6248400"/>
            <a:ext cx="411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b="1" u="none">
                <a:latin typeface="Arial" panose="020B0604020202020204" pitchFamily="34" charset="0"/>
              </a:rPr>
              <a:t>0	        5		10	T</a:t>
            </a:r>
          </a:p>
        </p:txBody>
      </p:sp>
      <p:sp>
        <p:nvSpPr>
          <p:cNvPr id="112650" name="Text Box 11"/>
          <p:cNvSpPr txBox="1">
            <a:spLocks noChangeArrowheads="1"/>
          </p:cNvSpPr>
          <p:nvPr/>
        </p:nvSpPr>
        <p:spPr bwMode="auto">
          <a:xfrm>
            <a:off x="3886200" y="2819400"/>
            <a:ext cx="457200" cy="389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1800" b="1" u="none">
                <a:latin typeface="Arial" panose="020B0604020202020204" pitchFamily="34" charset="0"/>
              </a:rPr>
              <a:t>C</a:t>
            </a:r>
          </a:p>
          <a:p>
            <a:pPr algn="ctr" eaLnBrk="1" hangingPunct="1">
              <a:spcBef>
                <a:spcPct val="50000"/>
              </a:spcBef>
            </a:pPr>
            <a:r>
              <a:rPr lang="en-US" sz="1800" b="1" u="none">
                <a:latin typeface="Arial" panose="020B0604020202020204" pitchFamily="34" charset="0"/>
              </a:rPr>
              <a:t>10</a:t>
            </a:r>
          </a:p>
          <a:p>
            <a:pPr algn="ctr" eaLnBrk="1" hangingPunct="1">
              <a:spcBef>
                <a:spcPct val="50000"/>
              </a:spcBef>
            </a:pPr>
            <a:endParaRPr lang="en-US" sz="2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6</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0</a:t>
            </a:r>
          </a:p>
          <a:p>
            <a:pPr algn="ctr" eaLnBrk="1" hangingPunct="1">
              <a:spcBef>
                <a:spcPct val="50000"/>
              </a:spcBef>
            </a:pPr>
            <a:endParaRPr lang="en-US" sz="1800" b="1" u="none">
              <a:latin typeface="Arial" panose="020B0604020202020204" pitchFamily="34" charset="0"/>
            </a:endParaRPr>
          </a:p>
        </p:txBody>
      </p:sp>
      <p:sp>
        <p:nvSpPr>
          <p:cNvPr id="112651" name="Line 13"/>
          <p:cNvSpPr>
            <a:spLocks noChangeShapeType="1"/>
          </p:cNvSpPr>
          <p:nvPr/>
        </p:nvSpPr>
        <p:spPr bwMode="auto">
          <a:xfrm>
            <a:off x="5562600" y="4495800"/>
            <a:ext cx="381000" cy="38100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52" name="Text Box 14"/>
          <p:cNvSpPr txBox="1">
            <a:spLocks noChangeArrowheads="1"/>
          </p:cNvSpPr>
          <p:nvPr/>
        </p:nvSpPr>
        <p:spPr bwMode="auto">
          <a:xfrm rot="2825715">
            <a:off x="3840957" y="3626643"/>
            <a:ext cx="2438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1800" b="1" u="none">
                <a:latin typeface="Arial" panose="020B0604020202020204" pitchFamily="34" charset="0"/>
              </a:rPr>
              <a:t>2T  + 2C = 20</a:t>
            </a:r>
          </a:p>
        </p:txBody>
      </p:sp>
      <p:sp>
        <p:nvSpPr>
          <p:cNvPr id="112653" name="Text Box 16"/>
          <p:cNvSpPr txBox="1">
            <a:spLocks noChangeArrowheads="1"/>
          </p:cNvSpPr>
          <p:nvPr/>
        </p:nvSpPr>
        <p:spPr bwMode="auto">
          <a:xfrm>
            <a:off x="6096000" y="3581400"/>
            <a:ext cx="23622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2800" u="none">
                <a:latin typeface="Arial" panose="020B0604020202020204" pitchFamily="34" charset="0"/>
              </a:rPr>
              <a:t>All points on</a:t>
            </a:r>
            <a:r>
              <a:rPr lang="en-US" sz="2800" u="none">
                <a:solidFill>
                  <a:srgbClr val="FF0000"/>
                </a:solidFill>
                <a:latin typeface="Arial" panose="020B0604020202020204" pitchFamily="34" charset="0"/>
              </a:rPr>
              <a:t> Red </a:t>
            </a:r>
            <a:r>
              <a:rPr lang="en-US" sz="2800" u="none">
                <a:latin typeface="Arial" panose="020B0604020202020204" pitchFamily="34" charset="0"/>
              </a:rPr>
              <a:t>segment are optimal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Freeform 14"/>
          <p:cNvSpPr>
            <a:spLocks/>
          </p:cNvSpPr>
          <p:nvPr/>
        </p:nvSpPr>
        <p:spPr bwMode="auto">
          <a:xfrm>
            <a:off x="4419600" y="2971800"/>
            <a:ext cx="3810000" cy="3200400"/>
          </a:xfrm>
          <a:custGeom>
            <a:avLst/>
            <a:gdLst>
              <a:gd name="T0" fmla="*/ 1776 w 2400"/>
              <a:gd name="T1" fmla="*/ 2016 h 2016"/>
              <a:gd name="T2" fmla="*/ 0 w 2400"/>
              <a:gd name="T3" fmla="*/ 864 h 2016"/>
              <a:gd name="T4" fmla="*/ 0 w 2400"/>
              <a:gd name="T5" fmla="*/ 0 h 2016"/>
              <a:gd name="T6" fmla="*/ 2400 w 2400"/>
              <a:gd name="T7" fmla="*/ 0 h 2016"/>
              <a:gd name="T8" fmla="*/ 2400 w 2400"/>
              <a:gd name="T9" fmla="*/ 2016 h 2016"/>
              <a:gd name="T10" fmla="*/ 1776 w 2400"/>
              <a:gd name="T11" fmla="*/ 2016 h 2016"/>
              <a:gd name="T12" fmla="*/ 0 60000 65536"/>
              <a:gd name="T13" fmla="*/ 0 60000 65536"/>
              <a:gd name="T14" fmla="*/ 0 60000 65536"/>
              <a:gd name="T15" fmla="*/ 0 60000 65536"/>
              <a:gd name="T16" fmla="*/ 0 60000 65536"/>
              <a:gd name="T17" fmla="*/ 0 60000 65536"/>
              <a:gd name="T18" fmla="*/ 0 w 2400"/>
              <a:gd name="T19" fmla="*/ 0 h 2016"/>
              <a:gd name="T20" fmla="*/ 2400 w 2400"/>
              <a:gd name="T21" fmla="*/ 2016 h 2016"/>
            </a:gdLst>
            <a:ahLst/>
            <a:cxnLst>
              <a:cxn ang="T12">
                <a:pos x="T0" y="T1"/>
              </a:cxn>
              <a:cxn ang="T13">
                <a:pos x="T2" y="T3"/>
              </a:cxn>
              <a:cxn ang="T14">
                <a:pos x="T4" y="T5"/>
              </a:cxn>
              <a:cxn ang="T15">
                <a:pos x="T6" y="T7"/>
              </a:cxn>
              <a:cxn ang="T16">
                <a:pos x="T8" y="T9"/>
              </a:cxn>
              <a:cxn ang="T17">
                <a:pos x="T10" y="T11"/>
              </a:cxn>
            </a:cxnLst>
            <a:rect l="T18" t="T19" r="T20" b="T21"/>
            <a:pathLst>
              <a:path w="2400" h="2016">
                <a:moveTo>
                  <a:pt x="1776" y="2016"/>
                </a:moveTo>
                <a:lnTo>
                  <a:pt x="0" y="864"/>
                </a:lnTo>
                <a:lnTo>
                  <a:pt x="0" y="0"/>
                </a:lnTo>
                <a:lnTo>
                  <a:pt x="2400" y="0"/>
                </a:lnTo>
                <a:lnTo>
                  <a:pt x="2400" y="2016"/>
                </a:lnTo>
                <a:lnTo>
                  <a:pt x="1776" y="201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sz="1800" u="none">
              <a:latin typeface="Arial" panose="020B0604020202020204" pitchFamily="34" charset="0"/>
            </a:endParaRPr>
          </a:p>
        </p:txBody>
      </p:sp>
      <p:sp>
        <p:nvSpPr>
          <p:cNvPr id="114691" name="Rectangle 2"/>
          <p:cNvSpPr>
            <a:spLocks noGrp="1" noChangeArrowheads="1"/>
          </p:cNvSpPr>
          <p:nvPr>
            <p:ph type="title" idx="4294967295"/>
          </p:nvPr>
        </p:nvSpPr>
        <p:spPr/>
        <p:txBody>
          <a:bodyPr lIns="91440" tIns="45720" rIns="91440" bIns="45720"/>
          <a:lstStyle/>
          <a:p>
            <a:pPr eaLnBrk="1" hangingPunct="1"/>
            <a:r>
              <a:rPr lang="en-US" u="sng"/>
              <a:t>Special Situation in LP</a:t>
            </a:r>
          </a:p>
        </p:txBody>
      </p:sp>
      <p:sp>
        <p:nvSpPr>
          <p:cNvPr id="114692" name="Rectangle 3"/>
          <p:cNvSpPr>
            <a:spLocks noGrp="1" noChangeArrowheads="1"/>
          </p:cNvSpPr>
          <p:nvPr>
            <p:ph type="body" idx="4294967295"/>
          </p:nvPr>
        </p:nvSpPr>
        <p:spPr>
          <a:xfrm>
            <a:off x="533400" y="1090613"/>
            <a:ext cx="8101013" cy="1938337"/>
          </a:xfrm>
        </p:spPr>
        <p:txBody>
          <a:bodyPr lIns="91440" tIns="45720" rIns="91440" bIns="45720"/>
          <a:lstStyle/>
          <a:p>
            <a:pPr marL="609600" indent="-609600" eaLnBrk="1" hangingPunct="1">
              <a:buFontTx/>
              <a:buAutoNum type="arabicPeriod" startAt="4"/>
            </a:pPr>
            <a:r>
              <a:rPr lang="en-US" b="1"/>
              <a:t>Unbounded Solutions </a:t>
            </a:r>
            <a:r>
              <a:rPr lang="en-US"/>
              <a:t>– when nothing prevents the solution from becoming infinitely large </a:t>
            </a:r>
            <a:endParaRPr lang="en-US" sz="3200"/>
          </a:p>
        </p:txBody>
      </p:sp>
      <p:sp>
        <p:nvSpPr>
          <p:cNvPr id="114693" name="Text Box 4"/>
          <p:cNvSpPr txBox="1">
            <a:spLocks noChangeArrowheads="1"/>
          </p:cNvSpPr>
          <p:nvPr/>
        </p:nvSpPr>
        <p:spPr bwMode="auto">
          <a:xfrm>
            <a:off x="685800" y="3581400"/>
            <a:ext cx="3276600" cy="173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sz="2800" u="none">
                <a:latin typeface="Arial" panose="020B0604020202020204" pitchFamily="34" charset="0"/>
              </a:rPr>
              <a:t>  Max </a:t>
            </a:r>
            <a:r>
              <a:rPr lang="en-US" sz="2800" u="none">
                <a:solidFill>
                  <a:schemeClr val="tx2"/>
                </a:solidFill>
                <a:latin typeface="Arial" panose="020B0604020202020204" pitchFamily="34" charset="0"/>
              </a:rPr>
              <a:t>2T + 2C</a:t>
            </a:r>
          </a:p>
          <a:p>
            <a:pPr eaLnBrk="1" hangingPunct="1"/>
            <a:r>
              <a:rPr lang="en-US" u="none">
                <a:latin typeface="Arial" panose="020B0604020202020204" pitchFamily="34" charset="0"/>
              </a:rPr>
              <a:t>Subject to:</a:t>
            </a:r>
          </a:p>
          <a:p>
            <a:pPr eaLnBrk="1" hangingPunct="1"/>
            <a:r>
              <a:rPr lang="en-US" sz="2800" u="none">
                <a:latin typeface="Arial" panose="020B0604020202020204" pitchFamily="34" charset="0"/>
              </a:rPr>
              <a:t>     </a:t>
            </a:r>
            <a:r>
              <a:rPr lang="en-US" sz="2800" u="none">
                <a:solidFill>
                  <a:schemeClr val="tx2"/>
                </a:solidFill>
                <a:latin typeface="Arial" panose="020B0604020202020204" pitchFamily="34" charset="0"/>
              </a:rPr>
              <a:t>2T + 3C </a:t>
            </a:r>
            <a:r>
              <a:rPr lang="en-US" sz="2800">
                <a:solidFill>
                  <a:schemeClr val="tx2"/>
                </a:solidFill>
                <a:latin typeface="Arial" panose="020B0604020202020204" pitchFamily="34" charset="0"/>
              </a:rPr>
              <a:t>&gt;</a:t>
            </a:r>
            <a:r>
              <a:rPr lang="en-US" sz="2800" u="none">
                <a:solidFill>
                  <a:schemeClr val="tx2"/>
                </a:solidFill>
                <a:latin typeface="Arial" panose="020B0604020202020204" pitchFamily="34" charset="0"/>
              </a:rPr>
              <a:t> 6</a:t>
            </a:r>
          </a:p>
          <a:p>
            <a:pPr eaLnBrk="1" hangingPunct="1"/>
            <a:r>
              <a:rPr lang="en-US" sz="2800" u="none">
                <a:solidFill>
                  <a:schemeClr val="tx2"/>
                </a:solidFill>
                <a:latin typeface="Arial" panose="020B0604020202020204" pitchFamily="34" charset="0"/>
              </a:rPr>
              <a:t>	  T, C </a:t>
            </a:r>
            <a:r>
              <a:rPr lang="en-US" sz="2800">
                <a:solidFill>
                  <a:schemeClr val="tx2"/>
                </a:solidFill>
                <a:latin typeface="Arial" panose="020B0604020202020204" pitchFamily="34" charset="0"/>
              </a:rPr>
              <a:t>&gt;</a:t>
            </a:r>
            <a:r>
              <a:rPr lang="en-US" sz="2800" u="none">
                <a:solidFill>
                  <a:schemeClr val="tx2"/>
                </a:solidFill>
                <a:latin typeface="Arial" panose="020B0604020202020204" pitchFamily="34" charset="0"/>
              </a:rPr>
              <a:t> 0</a:t>
            </a:r>
            <a:r>
              <a:rPr lang="en-US" sz="1800" u="none">
                <a:latin typeface="Arial" panose="020B0604020202020204" pitchFamily="34" charset="0"/>
              </a:rPr>
              <a:t>	</a:t>
            </a:r>
          </a:p>
        </p:txBody>
      </p:sp>
      <p:sp>
        <p:nvSpPr>
          <p:cNvPr id="114694" name="Line 5"/>
          <p:cNvSpPr>
            <a:spLocks noChangeShapeType="1"/>
          </p:cNvSpPr>
          <p:nvPr/>
        </p:nvSpPr>
        <p:spPr bwMode="auto">
          <a:xfrm>
            <a:off x="4419600" y="6172200"/>
            <a:ext cx="3962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4695" name="Text Box 9"/>
          <p:cNvSpPr txBox="1">
            <a:spLocks noChangeArrowheads="1"/>
          </p:cNvSpPr>
          <p:nvPr/>
        </p:nvSpPr>
        <p:spPr bwMode="auto">
          <a:xfrm>
            <a:off x="4343400" y="6248400"/>
            <a:ext cx="411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b="1" u="none">
                <a:latin typeface="Arial" panose="020B0604020202020204" pitchFamily="34" charset="0"/>
              </a:rPr>
              <a:t>0	 1            2	3	T</a:t>
            </a:r>
          </a:p>
        </p:txBody>
      </p:sp>
      <p:sp>
        <p:nvSpPr>
          <p:cNvPr id="114696" name="Text Box 13"/>
          <p:cNvSpPr txBox="1">
            <a:spLocks noChangeArrowheads="1"/>
          </p:cNvSpPr>
          <p:nvPr/>
        </p:nvSpPr>
        <p:spPr bwMode="auto">
          <a:xfrm>
            <a:off x="3962400" y="3352800"/>
            <a:ext cx="457200" cy="284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1800" b="1" u="none">
                <a:latin typeface="Arial" panose="020B0604020202020204" pitchFamily="34" charset="0"/>
              </a:rPr>
              <a:t>C</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2</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1</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0</a:t>
            </a:r>
          </a:p>
        </p:txBody>
      </p:sp>
      <p:sp>
        <p:nvSpPr>
          <p:cNvPr id="114697" name="Line 7"/>
          <p:cNvSpPr>
            <a:spLocks noChangeShapeType="1"/>
          </p:cNvSpPr>
          <p:nvPr/>
        </p:nvSpPr>
        <p:spPr bwMode="auto">
          <a:xfrm flipH="1" flipV="1">
            <a:off x="4419600" y="4343400"/>
            <a:ext cx="281940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698" name="Line 6"/>
          <p:cNvSpPr>
            <a:spLocks noChangeShapeType="1"/>
          </p:cNvSpPr>
          <p:nvPr/>
        </p:nvSpPr>
        <p:spPr bwMode="auto">
          <a:xfrm flipV="1">
            <a:off x="4419600" y="2819400"/>
            <a:ext cx="0" cy="3352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4699" name="Line 16"/>
          <p:cNvSpPr>
            <a:spLocks noChangeShapeType="1"/>
          </p:cNvSpPr>
          <p:nvPr/>
        </p:nvSpPr>
        <p:spPr bwMode="auto">
          <a:xfrm flipV="1">
            <a:off x="5715000" y="3581400"/>
            <a:ext cx="1295400" cy="990600"/>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14700" name="Text Box 17"/>
          <p:cNvSpPr txBox="1">
            <a:spLocks noChangeArrowheads="1"/>
          </p:cNvSpPr>
          <p:nvPr/>
        </p:nvSpPr>
        <p:spPr bwMode="auto">
          <a:xfrm rot="-2259754">
            <a:off x="5257800" y="3352800"/>
            <a:ext cx="1676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u="none">
                <a:latin typeface="Arial" panose="020B0604020202020204" pitchFamily="34" charset="0"/>
              </a:rPr>
              <a:t>Direction of solution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026"/>
          <p:cNvSpPr>
            <a:spLocks noGrp="1" noChangeArrowheads="1"/>
          </p:cNvSpPr>
          <p:nvPr>
            <p:ph type="title"/>
          </p:nvPr>
        </p:nvSpPr>
        <p:spPr/>
        <p:txBody>
          <a:bodyPr/>
          <a:lstStyle/>
          <a:p>
            <a:r>
              <a:rPr lang="en-US"/>
              <a:t>Building Linear Programming Models</a:t>
            </a:r>
          </a:p>
        </p:txBody>
      </p:sp>
      <p:sp>
        <p:nvSpPr>
          <p:cNvPr id="66563" name="Rectangle 1027"/>
          <p:cNvSpPr>
            <a:spLocks noGrp="1" noChangeArrowheads="1"/>
          </p:cNvSpPr>
          <p:nvPr>
            <p:ph type="body" idx="1"/>
          </p:nvPr>
        </p:nvSpPr>
        <p:spPr>
          <a:xfrm>
            <a:off x="533400" y="1090613"/>
            <a:ext cx="8248650" cy="5281612"/>
          </a:xfrm>
        </p:spPr>
        <p:txBody>
          <a:bodyPr/>
          <a:lstStyle/>
          <a:p>
            <a:r>
              <a:rPr lang="en-US"/>
              <a:t>1.	What are you trying to decide - Identify the decision variable to solve the problem and define appropriate variables that represent them.  For instance, in a simple maximization problem, RMC, Inc. interested in producing two products:  fuel additive and a solvent base.  The decision variables will be X1 = tons of fuel additive to produce, and X2 = tons of solvent base to produce.  </a:t>
            </a:r>
          </a:p>
          <a:p>
            <a:r>
              <a:rPr lang="en-US"/>
              <a:t>2.	What is the objective to be maximized or minimized?  Determine the objective and express it as a linear function.  When building a linear programming model, only relevant costs should be included, sunk costs are not included. In our example, the objective function is:  				z = 40X1 + 30X2;  where 40 and 30 are the objective function coefficients.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a:t>Building Linear Programming Models</a:t>
            </a:r>
          </a:p>
        </p:txBody>
      </p:sp>
      <p:sp>
        <p:nvSpPr>
          <p:cNvPr id="67587" name="Rectangle 3"/>
          <p:cNvSpPr>
            <a:spLocks noGrp="1" noChangeArrowheads="1"/>
          </p:cNvSpPr>
          <p:nvPr>
            <p:ph type="body" idx="1"/>
          </p:nvPr>
        </p:nvSpPr>
        <p:spPr/>
        <p:txBody>
          <a:bodyPr/>
          <a:lstStyle/>
          <a:p>
            <a:r>
              <a:rPr lang="en-US"/>
              <a:t>3.  What limitations or requirements restrict the values of the decision variables?  Identify and write the constraints as linear functions of the decision variables.  Constraints generally fall into one of the following categories:</a:t>
            </a:r>
          </a:p>
          <a:p>
            <a:pPr lvl="1"/>
            <a:r>
              <a:rPr lang="en-US" b="1"/>
              <a:t>a.	Limitations </a:t>
            </a:r>
            <a:r>
              <a:rPr lang="en-US"/>
              <a:t>- The amount of material used in the production process cannot exceed the amount available in inventory.  In our example, the limitations are:</a:t>
            </a:r>
          </a:p>
          <a:p>
            <a:pPr lvl="1"/>
            <a:r>
              <a:rPr lang="en-US"/>
              <a:t>Material 1 = 20 tons</a:t>
            </a:r>
          </a:p>
          <a:p>
            <a:pPr lvl="1"/>
            <a:r>
              <a:rPr lang="en-US"/>
              <a:t>Material 2 = 5 tons</a:t>
            </a:r>
          </a:p>
          <a:p>
            <a:pPr lvl="1"/>
            <a:r>
              <a:rPr lang="en-US"/>
              <a:t>Material 3 = 21 tons available.</a:t>
            </a:r>
          </a:p>
          <a:p>
            <a:pPr lvl="1"/>
            <a:r>
              <a:rPr lang="en-US"/>
              <a:t>The material used in the production of X1 and X2 are also known.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t>Building Linear Programming Models</a:t>
            </a:r>
          </a:p>
        </p:txBody>
      </p:sp>
      <p:sp>
        <p:nvSpPr>
          <p:cNvPr id="68611" name="Rectangle 3"/>
          <p:cNvSpPr>
            <a:spLocks noGrp="1" noChangeArrowheads="1"/>
          </p:cNvSpPr>
          <p:nvPr>
            <p:ph type="body" idx="1"/>
          </p:nvPr>
        </p:nvSpPr>
        <p:spPr>
          <a:xfrm>
            <a:off x="533400" y="1090613"/>
            <a:ext cx="8101013" cy="5195887"/>
          </a:xfrm>
        </p:spPr>
        <p:txBody>
          <a:bodyPr/>
          <a:lstStyle/>
          <a:p>
            <a:r>
              <a:rPr lang="en-US"/>
              <a:t>To produce one ton of fuel additive uses .4 ton of material 1, and .60 ton of material 3.  To produce one ton of solvent base it takes .50 ton of material 1, .20 ton of material 2, and .30 ton of material 3.  Therefore, we can set the constraints as follows:								.4X1 + .50 X2 &lt;= 20						.20X2 &lt;= 5							.6X1 + .3X2 &lt;=21, where .4, .50, .20, .6, and .3 are called constraint coefficients.  The limitations (20, 5, and 21) are called Right Hand Side (RHS).</a:t>
            </a:r>
          </a:p>
          <a:p>
            <a:r>
              <a:rPr lang="en-US" b="1"/>
              <a:t>b.	Requirements - specifying a minimum levels of performance.  For instance, production must be sufficient to satisfy customers’ demand.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842963" y="252413"/>
            <a:ext cx="7772400" cy="509587"/>
          </a:xfrm>
          <a:noFill/>
          <a:ln/>
        </p:spPr>
        <p:txBody>
          <a:bodyPr/>
          <a:lstStyle/>
          <a:p>
            <a:r>
              <a:rPr lang="en-US"/>
              <a:t>LP Solutions</a:t>
            </a:r>
          </a:p>
        </p:txBody>
      </p:sp>
      <p:sp>
        <p:nvSpPr>
          <p:cNvPr id="11267" name="Rectangle 3"/>
          <p:cNvSpPr>
            <a:spLocks noGrp="1" noChangeArrowheads="1"/>
          </p:cNvSpPr>
          <p:nvPr>
            <p:ph type="body" idx="1"/>
          </p:nvPr>
        </p:nvSpPr>
        <p:spPr>
          <a:xfrm>
            <a:off x="785813" y="957263"/>
            <a:ext cx="7772400" cy="4833937"/>
          </a:xfrm>
          <a:noFill/>
          <a:ln/>
        </p:spPr>
        <p:txBody>
          <a:bodyPr/>
          <a:lstStyle/>
          <a:p>
            <a:r>
              <a:rPr lang="en-US"/>
              <a:t>The </a:t>
            </a:r>
            <a:r>
              <a:rPr lang="en-US" u="sng"/>
              <a:t>maximization</a:t>
            </a:r>
            <a:r>
              <a:rPr lang="en-US"/>
              <a:t> or </a:t>
            </a:r>
            <a:r>
              <a:rPr lang="en-US" u="sng"/>
              <a:t>minimization</a:t>
            </a:r>
            <a:r>
              <a:rPr lang="en-US"/>
              <a:t> of some quantity is the </a:t>
            </a:r>
            <a:r>
              <a:rPr lang="en-US" u="sng"/>
              <a:t>objective</a:t>
            </a:r>
            <a:r>
              <a:rPr lang="en-US"/>
              <a:t> in all linear programming problems.</a:t>
            </a:r>
          </a:p>
          <a:p>
            <a:r>
              <a:rPr lang="en-US"/>
              <a:t>A </a:t>
            </a:r>
            <a:r>
              <a:rPr lang="en-US" u="sng"/>
              <a:t>feasible solution</a:t>
            </a:r>
            <a:r>
              <a:rPr lang="en-US"/>
              <a:t> satisfies all the problem's constraints.</a:t>
            </a:r>
          </a:p>
          <a:p>
            <a:r>
              <a:rPr lang="en-US"/>
              <a:t>Changes to the objective function coefficients do not affect the feasibility of the problem.</a:t>
            </a:r>
          </a:p>
          <a:p>
            <a:r>
              <a:rPr lang="en-US"/>
              <a:t>An </a:t>
            </a:r>
            <a:r>
              <a:rPr lang="en-US" u="sng"/>
              <a:t>optimal solution</a:t>
            </a:r>
            <a:r>
              <a:rPr lang="en-US"/>
              <a:t> is a feasible solution that results in the largest possible objective function value, </a:t>
            </a:r>
            <a:r>
              <a:rPr lang="en-US" i="1"/>
              <a:t>z</a:t>
            </a:r>
            <a:r>
              <a:rPr lang="en-US"/>
              <a:t>, when maximizing or smallest </a:t>
            </a:r>
            <a:r>
              <a:rPr lang="en-US" i="1"/>
              <a:t>z</a:t>
            </a:r>
            <a:r>
              <a:rPr lang="en-US"/>
              <a:t> when minimizing.</a:t>
            </a:r>
          </a:p>
          <a:p>
            <a:r>
              <a:rPr lang="en-US"/>
              <a:t>In the graphical method, if the objective function line is parallel to a boundary constraint in the direction of optimization, there are </a:t>
            </a:r>
            <a:r>
              <a:rPr lang="en-US" u="sng"/>
              <a:t>alternate optimal solutions</a:t>
            </a:r>
            <a:r>
              <a:rPr lang="en-US"/>
              <a:t>, with all points on this line segment being optimal.</a:t>
            </a:r>
          </a:p>
        </p:txBody>
      </p:sp>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842963" y="328613"/>
            <a:ext cx="7772400" cy="433387"/>
          </a:xfrm>
          <a:noFill/>
          <a:ln/>
        </p:spPr>
        <p:txBody>
          <a:bodyPr/>
          <a:lstStyle/>
          <a:p>
            <a:r>
              <a:rPr lang="en-US"/>
              <a:t>LP Solutions</a:t>
            </a:r>
          </a:p>
        </p:txBody>
      </p:sp>
      <p:sp>
        <p:nvSpPr>
          <p:cNvPr id="13315" name="Rectangle 3"/>
          <p:cNvSpPr>
            <a:spLocks noGrp="1" noChangeArrowheads="1"/>
          </p:cNvSpPr>
          <p:nvPr>
            <p:ph type="body" idx="1"/>
          </p:nvPr>
        </p:nvSpPr>
        <p:spPr>
          <a:xfrm>
            <a:off x="862013" y="957263"/>
            <a:ext cx="7772400" cy="5138737"/>
          </a:xfrm>
          <a:noFill/>
          <a:ln/>
        </p:spPr>
        <p:txBody>
          <a:bodyPr/>
          <a:lstStyle/>
          <a:p>
            <a:r>
              <a:rPr lang="en-US"/>
              <a:t>A graphical solution method can be used to solve a linear program with two variables.</a:t>
            </a:r>
          </a:p>
          <a:p>
            <a:r>
              <a:rPr lang="en-US"/>
              <a:t>If a linear program possesses an optimal solution, then an </a:t>
            </a:r>
            <a:r>
              <a:rPr lang="en-US" u="sng"/>
              <a:t>extreme point</a:t>
            </a:r>
            <a:r>
              <a:rPr lang="en-US"/>
              <a:t> will be optimal.</a:t>
            </a:r>
          </a:p>
          <a:p>
            <a:r>
              <a:rPr lang="en-US"/>
              <a:t>If a constraint can be removed without affecting the shape of the feasible region, the constraint is said to be </a:t>
            </a:r>
            <a:r>
              <a:rPr lang="en-US" u="sng"/>
              <a:t>redundant</a:t>
            </a:r>
            <a:r>
              <a:rPr lang="en-US"/>
              <a:t>.  </a:t>
            </a:r>
          </a:p>
          <a:p>
            <a:r>
              <a:rPr lang="en-US"/>
              <a:t>A </a:t>
            </a:r>
            <a:r>
              <a:rPr lang="en-US" u="sng"/>
              <a:t>nonbinding constraint</a:t>
            </a:r>
            <a:r>
              <a:rPr lang="en-US"/>
              <a:t> is one in which there is positive slack or surplus when evaluated at the optimal solution.</a:t>
            </a:r>
          </a:p>
          <a:p>
            <a:r>
              <a:rPr lang="en-US"/>
              <a:t>A linear program which is overconstrained so that no point satisfies all the constraints is said to be </a:t>
            </a:r>
            <a:r>
              <a:rPr lang="en-US" u="sng"/>
              <a:t>infeasible</a:t>
            </a:r>
            <a:r>
              <a:rPr lang="en-US"/>
              <a:t>.</a:t>
            </a:r>
          </a:p>
        </p:txBody>
      </p:sp>
    </p:spTree>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842963" y="328613"/>
            <a:ext cx="7772400" cy="433387"/>
          </a:xfrm>
          <a:noFill/>
          <a:ln/>
        </p:spPr>
        <p:txBody>
          <a:bodyPr/>
          <a:lstStyle/>
          <a:p>
            <a:r>
              <a:rPr lang="en-US"/>
              <a:t>LP Solutions</a:t>
            </a:r>
          </a:p>
        </p:txBody>
      </p:sp>
      <p:sp>
        <p:nvSpPr>
          <p:cNvPr id="15363" name="Rectangle 3"/>
          <p:cNvSpPr>
            <a:spLocks noGrp="1" noChangeArrowheads="1"/>
          </p:cNvSpPr>
          <p:nvPr>
            <p:ph type="body" idx="1"/>
          </p:nvPr>
        </p:nvSpPr>
        <p:spPr>
          <a:xfrm>
            <a:off x="862013" y="957263"/>
            <a:ext cx="7772400" cy="4681537"/>
          </a:xfrm>
          <a:noFill/>
          <a:ln/>
        </p:spPr>
        <p:txBody>
          <a:bodyPr/>
          <a:lstStyle/>
          <a:p>
            <a:r>
              <a:rPr lang="en-US"/>
              <a:t>A </a:t>
            </a:r>
            <a:r>
              <a:rPr lang="en-US" u="sng"/>
              <a:t>feasible region</a:t>
            </a:r>
            <a:r>
              <a:rPr lang="en-US"/>
              <a:t> may be unbounded and yet there may be optimal solutions.  This is common in minimization problems and is possible in maximization problems.</a:t>
            </a:r>
          </a:p>
          <a:p>
            <a:r>
              <a:rPr lang="en-US"/>
              <a:t>The feasible region for a two-variable linear programming problem can be nonexistent, a single point, a line, a polygon, or an unbounded area.</a:t>
            </a:r>
          </a:p>
          <a:p>
            <a:r>
              <a:rPr lang="en-US"/>
              <a:t>Any linear program falls in one of three categories:</a:t>
            </a:r>
          </a:p>
          <a:p>
            <a:pPr lvl="1"/>
            <a:r>
              <a:rPr lang="en-US"/>
              <a:t>is infeasible </a:t>
            </a:r>
          </a:p>
          <a:p>
            <a:pPr lvl="1"/>
            <a:r>
              <a:rPr lang="en-US"/>
              <a:t>has a unique optimal solution or alternate optimal solutions</a:t>
            </a:r>
          </a:p>
          <a:p>
            <a:pPr lvl="1"/>
            <a:r>
              <a:rPr lang="en-US"/>
              <a:t>has an objective function that can be increased without bound</a:t>
            </a:r>
          </a:p>
        </p:txBody>
      </p:sp>
    </p:spTree>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766763" y="252413"/>
            <a:ext cx="7772400" cy="585787"/>
          </a:xfrm>
          <a:noFill/>
          <a:ln/>
        </p:spPr>
        <p:txBody>
          <a:bodyPr/>
          <a:lstStyle/>
          <a:p>
            <a:r>
              <a:rPr lang="en-US"/>
              <a:t>Example:  Graphical Solution</a:t>
            </a:r>
          </a:p>
        </p:txBody>
      </p:sp>
      <p:sp>
        <p:nvSpPr>
          <p:cNvPr id="19459" name="Rectangle 3"/>
          <p:cNvSpPr>
            <a:spLocks noGrp="1" noChangeArrowheads="1"/>
          </p:cNvSpPr>
          <p:nvPr>
            <p:ph type="body" idx="1"/>
          </p:nvPr>
        </p:nvSpPr>
        <p:spPr>
          <a:xfrm>
            <a:off x="862013" y="957263"/>
            <a:ext cx="7772400" cy="4381500"/>
          </a:xfrm>
          <a:noFill/>
          <a:ln/>
        </p:spPr>
        <p:txBody>
          <a:bodyPr/>
          <a:lstStyle/>
          <a:p>
            <a:r>
              <a:rPr lang="en-US">
                <a:solidFill>
                  <a:schemeClr val="tx2"/>
                </a:solidFill>
              </a:rPr>
              <a:t>Solve graphically for the optimal solution:</a:t>
            </a:r>
          </a:p>
          <a:p>
            <a:pPr>
              <a:buFont typeface="Monotype Sorts" pitchFamily="2" charset="2"/>
              <a:buNone/>
            </a:pPr>
            <a:endParaRPr lang="en-US"/>
          </a:p>
          <a:p>
            <a:pPr>
              <a:buFont typeface="Monotype Sorts" pitchFamily="2" charset="2"/>
              <a:buNone/>
            </a:pPr>
            <a:r>
              <a:rPr lang="en-US"/>
              <a:t>                    	     Min   </a:t>
            </a:r>
            <a:r>
              <a:rPr lang="en-US" i="1"/>
              <a:t>z</a:t>
            </a:r>
            <a:r>
              <a:rPr lang="en-US"/>
              <a:t> = 5</a:t>
            </a:r>
            <a:r>
              <a:rPr lang="en-US" i="1"/>
              <a:t>x</a:t>
            </a:r>
            <a:r>
              <a:rPr lang="en-US" baseline="-25000"/>
              <a:t>1</a:t>
            </a:r>
            <a:r>
              <a:rPr lang="en-US"/>
              <a:t> + 2</a:t>
            </a:r>
            <a:r>
              <a:rPr lang="en-US" i="1"/>
              <a:t>x</a:t>
            </a:r>
            <a:r>
              <a:rPr lang="en-US" baseline="-25000"/>
              <a:t>2</a:t>
            </a:r>
            <a:r>
              <a:rPr lang="en-US"/>
              <a:t> </a:t>
            </a:r>
          </a:p>
          <a:p>
            <a:pPr>
              <a:buFont typeface="Monotype Sorts" pitchFamily="2" charset="2"/>
              <a:buNone/>
            </a:pPr>
            <a:endParaRPr lang="en-US"/>
          </a:p>
          <a:p>
            <a:pPr>
              <a:buFont typeface="Monotype Sorts" pitchFamily="2" charset="2"/>
              <a:buNone/>
            </a:pPr>
            <a:r>
              <a:rPr lang="en-US"/>
              <a:t>                    	           s.t.      2</a:t>
            </a:r>
            <a:r>
              <a:rPr lang="en-US" i="1"/>
              <a:t>x</a:t>
            </a:r>
            <a:r>
              <a:rPr lang="en-US" baseline="-25000"/>
              <a:t>1</a:t>
            </a:r>
            <a:r>
              <a:rPr lang="en-US"/>
              <a:t> + 5</a:t>
            </a:r>
            <a:r>
              <a:rPr lang="en-US" i="1"/>
              <a:t>x</a:t>
            </a:r>
            <a:r>
              <a:rPr lang="en-US" baseline="-25000"/>
              <a:t>2</a:t>
            </a:r>
            <a:r>
              <a:rPr lang="en-US"/>
              <a:t> </a:t>
            </a:r>
            <a:r>
              <a:rPr lang="en-US" u="sng"/>
              <a:t>&gt;</a:t>
            </a:r>
            <a:r>
              <a:rPr lang="en-US"/>
              <a:t> 10</a:t>
            </a:r>
          </a:p>
          <a:p>
            <a:pPr>
              <a:buFont typeface="Monotype Sorts" pitchFamily="2" charset="2"/>
              <a:buNone/>
            </a:pPr>
            <a:r>
              <a:rPr lang="en-US"/>
              <a:t>                                              4</a:t>
            </a:r>
            <a:r>
              <a:rPr lang="en-US" i="1"/>
              <a:t>x</a:t>
            </a:r>
            <a:r>
              <a:rPr lang="en-US" baseline="-25000"/>
              <a:t>1</a:t>
            </a:r>
            <a:r>
              <a:rPr lang="en-US"/>
              <a:t>  -   </a:t>
            </a:r>
            <a:r>
              <a:rPr lang="en-US" i="1"/>
              <a:t>x</a:t>
            </a:r>
            <a:r>
              <a:rPr lang="en-US" baseline="-25000"/>
              <a:t>2</a:t>
            </a:r>
            <a:r>
              <a:rPr lang="en-US"/>
              <a:t> </a:t>
            </a:r>
            <a:r>
              <a:rPr lang="en-US" u="sng"/>
              <a:t>&gt;</a:t>
            </a:r>
            <a:r>
              <a:rPr lang="en-US"/>
              <a:t> 12</a:t>
            </a:r>
          </a:p>
          <a:p>
            <a:pPr>
              <a:buFont typeface="Monotype Sorts" pitchFamily="2" charset="2"/>
              <a:buNone/>
            </a:pPr>
            <a:r>
              <a:rPr lang="en-US"/>
              <a:t>                                                </a:t>
            </a:r>
            <a:r>
              <a:rPr lang="en-US" i="1"/>
              <a:t>x</a:t>
            </a:r>
            <a:r>
              <a:rPr lang="en-US" baseline="-25000"/>
              <a:t>1</a:t>
            </a:r>
            <a:r>
              <a:rPr lang="en-US"/>
              <a:t> +   </a:t>
            </a:r>
            <a:r>
              <a:rPr lang="en-US" i="1"/>
              <a:t>x</a:t>
            </a:r>
            <a:r>
              <a:rPr lang="en-US" baseline="-25000"/>
              <a:t>2</a:t>
            </a:r>
            <a:r>
              <a:rPr lang="en-US"/>
              <a:t> </a:t>
            </a:r>
            <a:r>
              <a:rPr lang="en-US" u="sng"/>
              <a:t>&gt;</a:t>
            </a:r>
            <a:r>
              <a:rPr lang="en-US"/>
              <a:t>  4</a:t>
            </a:r>
          </a:p>
          <a:p>
            <a:pPr>
              <a:buFont typeface="Monotype Sorts" pitchFamily="2" charset="2"/>
              <a:buNone/>
            </a:pPr>
            <a:endParaRPr lang="en-US"/>
          </a:p>
          <a:p>
            <a:pPr>
              <a:buFont typeface="Monotype Sorts" pitchFamily="2" charset="2"/>
              <a:buNone/>
            </a:pPr>
            <a:r>
              <a:rPr lang="en-US"/>
              <a:t>                                 		    </a:t>
            </a:r>
            <a:r>
              <a:rPr lang="en-US" i="1"/>
              <a:t>x</a:t>
            </a:r>
            <a:r>
              <a:rPr lang="en-US" baseline="-25000"/>
              <a:t>1</a:t>
            </a:r>
            <a:r>
              <a:rPr lang="en-US"/>
              <a:t>, </a:t>
            </a:r>
            <a:r>
              <a:rPr lang="en-US" i="1"/>
              <a:t>x</a:t>
            </a:r>
            <a:r>
              <a:rPr lang="en-US" baseline="-25000"/>
              <a:t>2</a:t>
            </a:r>
            <a:r>
              <a:rPr lang="en-US"/>
              <a:t> </a:t>
            </a:r>
            <a:r>
              <a:rPr lang="en-US" u="sng"/>
              <a:t>&gt;</a:t>
            </a:r>
            <a:r>
              <a:rPr lang="en-US"/>
              <a:t> 0</a:t>
            </a:r>
          </a:p>
        </p:txBody>
      </p:sp>
    </p:spTree>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a:ln/>
        </p:spPr>
        <p:txBody>
          <a:bodyPr/>
          <a:lstStyle/>
          <a:p>
            <a:r>
              <a:rPr lang="en-US"/>
              <a:t>Example:  Graphical Solution</a:t>
            </a:r>
          </a:p>
        </p:txBody>
      </p:sp>
      <p:sp>
        <p:nvSpPr>
          <p:cNvPr id="21507" name="Rectangle 3"/>
          <p:cNvSpPr>
            <a:spLocks noGrp="1" noChangeArrowheads="1"/>
          </p:cNvSpPr>
          <p:nvPr>
            <p:ph type="body" idx="1"/>
          </p:nvPr>
        </p:nvSpPr>
        <p:spPr>
          <a:noFill/>
          <a:ln/>
        </p:spPr>
        <p:txBody>
          <a:bodyPr/>
          <a:lstStyle/>
          <a:p>
            <a:r>
              <a:rPr lang="en-US">
                <a:solidFill>
                  <a:schemeClr val="tx2"/>
                </a:solidFill>
              </a:rPr>
              <a:t>Graph the Constraints</a:t>
            </a:r>
          </a:p>
          <a:p>
            <a:pPr>
              <a:buFont typeface="Monotype Sorts" pitchFamily="2" charset="2"/>
              <a:buNone/>
            </a:pPr>
            <a:r>
              <a:rPr lang="en-US"/>
              <a:t>     </a:t>
            </a:r>
            <a:r>
              <a:rPr lang="en-US" u="sng"/>
              <a:t>Constraint 1</a:t>
            </a:r>
            <a:r>
              <a:rPr lang="en-US"/>
              <a:t>:  When </a:t>
            </a:r>
            <a:r>
              <a:rPr lang="en-US" i="1"/>
              <a:t>x</a:t>
            </a:r>
            <a:r>
              <a:rPr lang="en-US" baseline="-25000"/>
              <a:t>1</a:t>
            </a:r>
            <a:r>
              <a:rPr lang="en-US"/>
              <a:t> = 0, then </a:t>
            </a:r>
            <a:r>
              <a:rPr lang="en-US" i="1"/>
              <a:t>x</a:t>
            </a:r>
            <a:r>
              <a:rPr lang="en-US" baseline="-25000"/>
              <a:t>2</a:t>
            </a:r>
            <a:r>
              <a:rPr lang="en-US"/>
              <a:t> = 2; when </a:t>
            </a:r>
            <a:r>
              <a:rPr lang="en-US" i="1"/>
              <a:t>x</a:t>
            </a:r>
            <a:r>
              <a:rPr lang="en-US" baseline="-25000"/>
              <a:t>2</a:t>
            </a:r>
            <a:r>
              <a:rPr lang="en-US"/>
              <a:t> = 0, 	then </a:t>
            </a:r>
            <a:r>
              <a:rPr lang="en-US" i="1"/>
              <a:t>x</a:t>
            </a:r>
            <a:r>
              <a:rPr lang="en-US" baseline="-25000"/>
              <a:t>1</a:t>
            </a:r>
            <a:r>
              <a:rPr lang="en-US"/>
              <a:t> = 5.  Connect (5,0) and (0,2).  The "&gt;" side is 	above this line.</a:t>
            </a:r>
          </a:p>
          <a:p>
            <a:pPr>
              <a:buFont typeface="Monotype Sorts" pitchFamily="2" charset="2"/>
              <a:buNone/>
            </a:pPr>
            <a:r>
              <a:rPr lang="en-US"/>
              <a:t>     </a:t>
            </a:r>
            <a:r>
              <a:rPr lang="en-US" u="sng"/>
              <a:t>Constraint 2</a:t>
            </a:r>
            <a:r>
              <a:rPr lang="en-US"/>
              <a:t>:  When </a:t>
            </a:r>
            <a:r>
              <a:rPr lang="en-US" i="1"/>
              <a:t>x</a:t>
            </a:r>
            <a:r>
              <a:rPr lang="en-US" baseline="-25000"/>
              <a:t>2</a:t>
            </a:r>
            <a:r>
              <a:rPr lang="en-US"/>
              <a:t> = 0, then </a:t>
            </a:r>
            <a:r>
              <a:rPr lang="en-US" i="1"/>
              <a:t>x</a:t>
            </a:r>
            <a:r>
              <a:rPr lang="en-US" baseline="-25000"/>
              <a:t>1</a:t>
            </a:r>
            <a:r>
              <a:rPr lang="en-US"/>
              <a:t> = 3.  But setting </a:t>
            </a:r>
            <a:r>
              <a:rPr lang="en-US" i="1"/>
              <a:t>x</a:t>
            </a:r>
            <a:r>
              <a:rPr lang="en-US" baseline="-25000"/>
              <a:t>1</a:t>
            </a:r>
            <a:r>
              <a:rPr lang="en-US"/>
              <a:t> to 	0 will yield </a:t>
            </a:r>
            <a:r>
              <a:rPr lang="en-US" i="1"/>
              <a:t>x</a:t>
            </a:r>
            <a:r>
              <a:rPr lang="en-US" baseline="-25000"/>
              <a:t>2</a:t>
            </a:r>
            <a:r>
              <a:rPr lang="en-US"/>
              <a:t> = -12, which is not on the graph.  	Thus, to get a second point on this line, set </a:t>
            </a:r>
            <a:r>
              <a:rPr lang="en-US" i="1"/>
              <a:t>x</a:t>
            </a:r>
            <a:r>
              <a:rPr lang="en-US" baseline="-25000"/>
              <a:t>1</a:t>
            </a:r>
            <a:r>
              <a:rPr lang="en-US"/>
              <a:t> to any 	number larger than 3 and solve for </a:t>
            </a:r>
            <a:r>
              <a:rPr lang="en-US" i="1"/>
              <a:t>x</a:t>
            </a:r>
            <a:r>
              <a:rPr lang="en-US" baseline="-25000"/>
              <a:t>2</a:t>
            </a:r>
            <a:r>
              <a:rPr lang="en-US"/>
              <a:t>:  when </a:t>
            </a:r>
            <a:r>
              <a:rPr lang="en-US" i="1"/>
              <a:t>x</a:t>
            </a:r>
            <a:r>
              <a:rPr lang="en-US" baseline="-25000"/>
              <a:t>1</a:t>
            </a:r>
            <a:r>
              <a:rPr lang="en-US"/>
              <a:t> = 5, 	then </a:t>
            </a:r>
            <a:r>
              <a:rPr lang="en-US" i="1"/>
              <a:t>x</a:t>
            </a:r>
            <a:r>
              <a:rPr lang="en-US" baseline="-25000"/>
              <a:t>2</a:t>
            </a:r>
            <a:r>
              <a:rPr lang="en-US"/>
              <a:t> = 8.  Connect (3,0) and (5,8).  The "&gt;" side is 	to the right.</a:t>
            </a:r>
          </a:p>
          <a:p>
            <a:pPr>
              <a:buFont typeface="Monotype Sorts" pitchFamily="2" charset="2"/>
              <a:buNone/>
            </a:pPr>
            <a:r>
              <a:rPr lang="en-US"/>
              <a:t>     </a:t>
            </a:r>
            <a:r>
              <a:rPr lang="en-US" u="sng"/>
              <a:t>Constraint 3</a:t>
            </a:r>
            <a:r>
              <a:rPr lang="en-US"/>
              <a:t>:  When </a:t>
            </a:r>
            <a:r>
              <a:rPr lang="en-US" i="1"/>
              <a:t>x</a:t>
            </a:r>
            <a:r>
              <a:rPr lang="en-US" baseline="-25000"/>
              <a:t>1</a:t>
            </a:r>
            <a:r>
              <a:rPr lang="en-US"/>
              <a:t> = 0, then </a:t>
            </a:r>
            <a:r>
              <a:rPr lang="en-US" i="1"/>
              <a:t>x</a:t>
            </a:r>
            <a:r>
              <a:rPr lang="en-US" baseline="-25000"/>
              <a:t>2</a:t>
            </a:r>
            <a:r>
              <a:rPr lang="en-US"/>
              <a:t> = 4; when </a:t>
            </a:r>
            <a:r>
              <a:rPr lang="en-US" i="1"/>
              <a:t>x</a:t>
            </a:r>
            <a:r>
              <a:rPr lang="en-US" baseline="-25000"/>
              <a:t>2</a:t>
            </a:r>
            <a:r>
              <a:rPr lang="en-US"/>
              <a:t> = 0, 	then </a:t>
            </a:r>
            <a:r>
              <a:rPr lang="en-US" i="1"/>
              <a:t>x</a:t>
            </a:r>
            <a:r>
              <a:rPr lang="en-US" baseline="-25000"/>
              <a:t>1</a:t>
            </a:r>
            <a:r>
              <a:rPr lang="en-US"/>
              <a:t> = 4.  Connect (4,0) and (0,4).  The "&gt;" side is 	above this line.</a:t>
            </a:r>
          </a:p>
        </p:txBody>
      </p:sp>
    </p:spTree>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reeform 2"/>
          <p:cNvSpPr>
            <a:spLocks/>
          </p:cNvSpPr>
          <p:nvPr/>
        </p:nvSpPr>
        <p:spPr bwMode="auto">
          <a:xfrm>
            <a:off x="3479800" y="2090738"/>
            <a:ext cx="1922463" cy="3819525"/>
          </a:xfrm>
          <a:custGeom>
            <a:avLst/>
            <a:gdLst>
              <a:gd name="T0" fmla="*/ 0 w 1211"/>
              <a:gd name="T1" fmla="*/ 2153 h 2406"/>
              <a:gd name="T2" fmla="*/ 493 w 1211"/>
              <a:gd name="T3" fmla="*/ 0 h 2406"/>
              <a:gd name="T4" fmla="*/ 1210 w 1211"/>
              <a:gd name="T5" fmla="*/ 0 h 2406"/>
              <a:gd name="T6" fmla="*/ 1210 w 1211"/>
              <a:gd name="T7" fmla="*/ 2405 h 2406"/>
              <a:gd name="T8" fmla="*/ 676 w 1211"/>
              <a:gd name="T9" fmla="*/ 2405 h 2406"/>
              <a:gd name="T10" fmla="*/ 0 w 1211"/>
              <a:gd name="T11" fmla="*/ 2153 h 2406"/>
            </a:gdLst>
            <a:ahLst/>
            <a:cxnLst>
              <a:cxn ang="0">
                <a:pos x="T0" y="T1"/>
              </a:cxn>
              <a:cxn ang="0">
                <a:pos x="T2" y="T3"/>
              </a:cxn>
              <a:cxn ang="0">
                <a:pos x="T4" y="T5"/>
              </a:cxn>
              <a:cxn ang="0">
                <a:pos x="T6" y="T7"/>
              </a:cxn>
              <a:cxn ang="0">
                <a:pos x="T8" y="T9"/>
              </a:cxn>
              <a:cxn ang="0">
                <a:pos x="T10" y="T11"/>
              </a:cxn>
            </a:cxnLst>
            <a:rect l="0" t="0" r="r" b="b"/>
            <a:pathLst>
              <a:path w="1211" h="2406">
                <a:moveTo>
                  <a:pt x="0" y="2153"/>
                </a:moveTo>
                <a:lnTo>
                  <a:pt x="493" y="0"/>
                </a:lnTo>
                <a:lnTo>
                  <a:pt x="1210" y="0"/>
                </a:lnTo>
                <a:lnTo>
                  <a:pt x="1210" y="2405"/>
                </a:lnTo>
                <a:lnTo>
                  <a:pt x="676" y="2405"/>
                </a:lnTo>
                <a:lnTo>
                  <a:pt x="0" y="2153"/>
                </a:lnTo>
              </a:path>
            </a:pathLst>
          </a:custGeom>
          <a:solidFill>
            <a:schemeClr val="folHlink"/>
          </a:solidFill>
          <a:ln>
            <a:noFill/>
          </a:ln>
          <a:effectLst>
            <a:outerShdw dist="17961" dir="2700000" algn="ctr" rotWithShape="0">
              <a:srgbClr val="000000"/>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3555" name="Rectangle 3"/>
          <p:cNvSpPr>
            <a:spLocks noGrp="1" noChangeArrowheads="1"/>
          </p:cNvSpPr>
          <p:nvPr>
            <p:ph type="title"/>
          </p:nvPr>
        </p:nvSpPr>
        <p:spPr>
          <a:noFill/>
          <a:ln/>
        </p:spPr>
        <p:txBody>
          <a:bodyPr/>
          <a:lstStyle/>
          <a:p>
            <a:r>
              <a:rPr lang="en-US"/>
              <a:t>Example:  Graphical Solution</a:t>
            </a:r>
          </a:p>
        </p:txBody>
      </p:sp>
      <p:sp>
        <p:nvSpPr>
          <p:cNvPr id="23556" name="Rectangle 4"/>
          <p:cNvSpPr>
            <a:spLocks noGrp="1" noChangeArrowheads="1"/>
          </p:cNvSpPr>
          <p:nvPr>
            <p:ph type="body" idx="1"/>
          </p:nvPr>
        </p:nvSpPr>
        <p:spPr>
          <a:noFill/>
          <a:ln/>
        </p:spPr>
        <p:txBody>
          <a:bodyPr/>
          <a:lstStyle/>
          <a:p>
            <a:r>
              <a:rPr lang="en-US">
                <a:solidFill>
                  <a:schemeClr val="tx2"/>
                </a:solidFill>
              </a:rPr>
              <a:t>Constraints Graphed</a:t>
            </a:r>
          </a:p>
        </p:txBody>
      </p:sp>
      <p:sp>
        <p:nvSpPr>
          <p:cNvPr id="23557" name="Rectangle 5"/>
          <p:cNvSpPr>
            <a:spLocks noChangeArrowheads="1"/>
          </p:cNvSpPr>
          <p:nvPr/>
        </p:nvSpPr>
        <p:spPr bwMode="auto">
          <a:xfrm>
            <a:off x="7710488" y="3849688"/>
            <a:ext cx="257175" cy="90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sz="1700" u="none">
              <a:latin typeface="Arial" panose="020B0604020202020204" pitchFamily="34" charset="0"/>
            </a:endParaRPr>
          </a:p>
          <a:p>
            <a:endParaRPr lang="en-US" sz="1700" u="none">
              <a:latin typeface="Arial" panose="020B0604020202020204" pitchFamily="34" charset="0"/>
            </a:endParaRPr>
          </a:p>
          <a:p>
            <a:endParaRPr lang="en-US" sz="1700" u="none">
              <a:latin typeface="Arial" panose="020B0604020202020204" pitchFamily="34" charset="0"/>
            </a:endParaRPr>
          </a:p>
        </p:txBody>
      </p:sp>
      <p:sp>
        <p:nvSpPr>
          <p:cNvPr id="23558" name="Rectangle 6"/>
          <p:cNvSpPr>
            <a:spLocks noChangeArrowheads="1"/>
          </p:cNvSpPr>
          <p:nvPr/>
        </p:nvSpPr>
        <p:spPr bwMode="auto">
          <a:xfrm>
            <a:off x="1344613" y="1949450"/>
            <a:ext cx="450850" cy="39592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128588" tIns="63500" rIns="128588" bIns="63500"/>
          <a:lstStyle>
            <a:lvl1pPr marL="398463" indent="-398463" defTabSz="1768475">
              <a:defRPr sz="2400">
                <a:solidFill>
                  <a:schemeClr val="tx1"/>
                </a:solidFill>
                <a:latin typeface="Times New Roman" panose="02020603050405020304" pitchFamily="18" charset="0"/>
              </a:defRPr>
            </a:lvl1pPr>
            <a:lvl2pPr marL="955675" indent="-320675" defTabSz="1768475">
              <a:defRPr sz="2400">
                <a:solidFill>
                  <a:schemeClr val="tx1"/>
                </a:solidFill>
                <a:latin typeface="Times New Roman" panose="02020603050405020304" pitchFamily="18" charset="0"/>
              </a:defRPr>
            </a:lvl2pPr>
            <a:lvl3pPr marL="1590675" indent="-319088" defTabSz="1768475">
              <a:defRPr sz="2400">
                <a:solidFill>
                  <a:schemeClr val="tx1"/>
                </a:solidFill>
                <a:latin typeface="Times New Roman" panose="02020603050405020304" pitchFamily="18" charset="0"/>
              </a:defRPr>
            </a:lvl3pPr>
            <a:lvl4pPr marL="2147888" indent="-239713" defTabSz="1768475">
              <a:defRPr sz="2400">
                <a:solidFill>
                  <a:schemeClr val="tx1"/>
                </a:solidFill>
                <a:latin typeface="Times New Roman" panose="02020603050405020304" pitchFamily="18" charset="0"/>
              </a:defRPr>
            </a:lvl4pPr>
            <a:lvl5pPr marL="2782888" indent="-236538" defTabSz="1768475">
              <a:defRPr sz="2400">
                <a:solidFill>
                  <a:schemeClr val="tx1"/>
                </a:solidFill>
                <a:latin typeface="Times New Roman" panose="02020603050405020304" pitchFamily="18" charset="0"/>
              </a:defRPr>
            </a:lvl5pPr>
            <a:lvl6pPr marL="3240088" indent="-236538" defTabSz="1768475" eaLnBrk="0" fontAlgn="base" hangingPunct="0">
              <a:spcBef>
                <a:spcPct val="0"/>
              </a:spcBef>
              <a:spcAft>
                <a:spcPct val="0"/>
              </a:spcAft>
              <a:defRPr sz="2400">
                <a:solidFill>
                  <a:schemeClr val="tx1"/>
                </a:solidFill>
                <a:latin typeface="Times New Roman" panose="02020603050405020304" pitchFamily="18" charset="0"/>
              </a:defRPr>
            </a:lvl6pPr>
            <a:lvl7pPr marL="3697288" indent="-236538" defTabSz="1768475" eaLnBrk="0" fontAlgn="base" hangingPunct="0">
              <a:spcBef>
                <a:spcPct val="0"/>
              </a:spcBef>
              <a:spcAft>
                <a:spcPct val="0"/>
              </a:spcAft>
              <a:defRPr sz="2400">
                <a:solidFill>
                  <a:schemeClr val="tx1"/>
                </a:solidFill>
                <a:latin typeface="Times New Roman" panose="02020603050405020304" pitchFamily="18" charset="0"/>
              </a:defRPr>
            </a:lvl7pPr>
            <a:lvl8pPr marL="4154488" indent="-236538" defTabSz="1768475" eaLnBrk="0" fontAlgn="base" hangingPunct="0">
              <a:spcBef>
                <a:spcPct val="0"/>
              </a:spcBef>
              <a:spcAft>
                <a:spcPct val="0"/>
              </a:spcAft>
              <a:defRPr sz="2400">
                <a:solidFill>
                  <a:schemeClr val="tx1"/>
                </a:solidFill>
                <a:latin typeface="Times New Roman" panose="02020603050405020304" pitchFamily="18" charset="0"/>
              </a:defRPr>
            </a:lvl8pPr>
            <a:lvl9pPr marL="4611688" indent="-236538" defTabSz="1768475"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30000"/>
              </a:spcBef>
            </a:pPr>
            <a:endParaRPr lang="en-US" sz="1700" u="none">
              <a:latin typeface="Arial" panose="020B0604020202020204" pitchFamily="34" charset="0"/>
            </a:endParaRP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r>
              <a:rPr lang="en-US" sz="1700" u="none">
                <a:solidFill>
                  <a:srgbClr val="FFFFFF"/>
                </a:solidFill>
                <a:effectLst>
                  <a:outerShdw blurRad="38100" dist="38100" dir="2700000" algn="tl">
                    <a:srgbClr val="000000"/>
                  </a:outerShdw>
                </a:effectLst>
                <a:latin typeface="Arial" panose="020B0604020202020204" pitchFamily="34" charset="0"/>
              </a:rPr>
              <a:t>5</a:t>
            </a:r>
          </a:p>
          <a:p>
            <a:pPr>
              <a:lnSpc>
                <a:spcPct val="90000"/>
              </a:lnSpc>
              <a:spcBef>
                <a:spcPct val="30000"/>
              </a:spcBef>
            </a:pPr>
            <a:endParaRPr lang="en-US" sz="1700" u="none">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700" u="none">
                <a:solidFill>
                  <a:srgbClr val="FFFFFF"/>
                </a:solidFill>
                <a:effectLst>
                  <a:outerShdw blurRad="38100" dist="38100" dir="2700000" algn="tl">
                    <a:srgbClr val="000000"/>
                  </a:outerShdw>
                </a:effectLst>
                <a:latin typeface="Arial" panose="020B0604020202020204" pitchFamily="34" charset="0"/>
              </a:rPr>
              <a:t>4</a:t>
            </a:r>
          </a:p>
          <a:p>
            <a:pPr>
              <a:lnSpc>
                <a:spcPct val="90000"/>
              </a:lnSpc>
              <a:spcBef>
                <a:spcPct val="30000"/>
              </a:spcBef>
            </a:pPr>
            <a:endParaRPr lang="en-US" sz="1700" u="none">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700" u="none">
                <a:solidFill>
                  <a:srgbClr val="FFFFFF"/>
                </a:solidFill>
                <a:effectLst>
                  <a:outerShdw blurRad="38100" dist="38100" dir="2700000" algn="tl">
                    <a:srgbClr val="000000"/>
                  </a:outerShdw>
                </a:effectLst>
                <a:latin typeface="Arial" panose="020B0604020202020204" pitchFamily="34" charset="0"/>
              </a:rPr>
              <a:t>3</a:t>
            </a:r>
          </a:p>
          <a:p>
            <a:pPr>
              <a:lnSpc>
                <a:spcPct val="90000"/>
              </a:lnSpc>
              <a:spcBef>
                <a:spcPct val="30000"/>
              </a:spcBef>
            </a:pPr>
            <a:endParaRPr lang="en-US" sz="1700" u="none">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700" u="none">
                <a:solidFill>
                  <a:srgbClr val="FFFFFF"/>
                </a:solidFill>
                <a:effectLst>
                  <a:outerShdw blurRad="38100" dist="38100" dir="2700000" algn="tl">
                    <a:srgbClr val="000000"/>
                  </a:outerShdw>
                </a:effectLst>
                <a:latin typeface="Arial" panose="020B0604020202020204" pitchFamily="34" charset="0"/>
              </a:rPr>
              <a:t>2</a:t>
            </a:r>
          </a:p>
          <a:p>
            <a:pPr>
              <a:lnSpc>
                <a:spcPct val="90000"/>
              </a:lnSpc>
              <a:spcBef>
                <a:spcPct val="30000"/>
              </a:spcBef>
            </a:pPr>
            <a:endParaRPr lang="en-US" sz="1700" u="none">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700" u="none">
                <a:solidFill>
                  <a:srgbClr val="FFFFFF"/>
                </a:solidFill>
                <a:effectLst>
                  <a:outerShdw blurRad="38100" dist="38100" dir="2700000" algn="tl">
                    <a:srgbClr val="000000"/>
                  </a:outerShdw>
                </a:effectLst>
                <a:latin typeface="Arial" panose="020B0604020202020204" pitchFamily="34" charset="0"/>
              </a:rPr>
              <a:t>1</a:t>
            </a:r>
            <a:endParaRPr lang="en-US" sz="1700" u="none">
              <a:solidFill>
                <a:srgbClr val="FFFFFF"/>
              </a:solidFill>
              <a:latin typeface="Arial" panose="020B0604020202020204" pitchFamily="34" charset="0"/>
            </a:endParaRPr>
          </a:p>
          <a:p>
            <a:pPr>
              <a:lnSpc>
                <a:spcPct val="90000"/>
              </a:lnSpc>
              <a:spcBef>
                <a:spcPct val="30000"/>
              </a:spcBef>
            </a:pPr>
            <a:r>
              <a:rPr lang="en-US" sz="3400" b="1" u="none">
                <a:latin typeface="Arial" panose="020B0604020202020204" pitchFamily="34" charset="0"/>
              </a:rPr>
              <a:t>      </a:t>
            </a:r>
          </a:p>
        </p:txBody>
      </p:sp>
      <p:sp>
        <p:nvSpPr>
          <p:cNvPr id="23559" name="Rectangle 7"/>
          <p:cNvSpPr>
            <a:spLocks noChangeArrowheads="1"/>
          </p:cNvSpPr>
          <p:nvPr/>
        </p:nvSpPr>
        <p:spPr bwMode="auto">
          <a:xfrm>
            <a:off x="1560513" y="5440363"/>
            <a:ext cx="3735387" cy="903287"/>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sz="1700" u="none">
              <a:latin typeface="Arial" panose="020B0604020202020204" pitchFamily="34" charset="0"/>
            </a:endParaRPr>
          </a:p>
          <a:p>
            <a:endParaRPr lang="en-US" sz="1700" u="none">
              <a:latin typeface="Arial" panose="020B0604020202020204" pitchFamily="34" charset="0"/>
            </a:endParaRPr>
          </a:p>
          <a:p>
            <a:r>
              <a:rPr lang="en-US" sz="1700" u="none">
                <a:effectLst>
                  <a:outerShdw blurRad="38100" dist="38100" dir="2700000" algn="tl">
                    <a:srgbClr val="000000"/>
                  </a:outerShdw>
                </a:effectLst>
                <a:latin typeface="Arial" panose="020B0604020202020204" pitchFamily="34" charset="0"/>
              </a:rPr>
              <a:t>       </a:t>
            </a:r>
            <a:r>
              <a:rPr lang="en-US" sz="1700" u="none">
                <a:solidFill>
                  <a:srgbClr val="FFFFFF"/>
                </a:solidFill>
                <a:effectLst>
                  <a:outerShdw blurRad="38100" dist="38100" dir="2700000" algn="tl">
                    <a:srgbClr val="000000"/>
                  </a:outerShdw>
                </a:effectLst>
                <a:latin typeface="Arial" panose="020B0604020202020204" pitchFamily="34" charset="0"/>
              </a:rPr>
              <a:t>1        2        3        4        5       6</a:t>
            </a:r>
          </a:p>
        </p:txBody>
      </p:sp>
      <p:sp>
        <p:nvSpPr>
          <p:cNvPr id="23560" name="Line 8"/>
          <p:cNvSpPr>
            <a:spLocks noChangeShapeType="1"/>
          </p:cNvSpPr>
          <p:nvPr/>
        </p:nvSpPr>
        <p:spPr bwMode="auto">
          <a:xfrm>
            <a:off x="1689100" y="2408238"/>
            <a:ext cx="0" cy="3500437"/>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561" name="Line 9"/>
          <p:cNvSpPr>
            <a:spLocks noChangeShapeType="1"/>
          </p:cNvSpPr>
          <p:nvPr/>
        </p:nvSpPr>
        <p:spPr bwMode="auto">
          <a:xfrm>
            <a:off x="1689100" y="3681413"/>
            <a:ext cx="2120900" cy="2227262"/>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562" name="Rectangle 10"/>
          <p:cNvSpPr>
            <a:spLocks noChangeArrowheads="1"/>
          </p:cNvSpPr>
          <p:nvPr/>
        </p:nvSpPr>
        <p:spPr bwMode="auto">
          <a:xfrm>
            <a:off x="1454150" y="1811338"/>
            <a:ext cx="511175" cy="4921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p>
        </p:txBody>
      </p:sp>
      <p:sp>
        <p:nvSpPr>
          <p:cNvPr id="23563" name="Rectangle 11"/>
          <p:cNvSpPr>
            <a:spLocks noChangeArrowheads="1"/>
          </p:cNvSpPr>
          <p:nvPr/>
        </p:nvSpPr>
        <p:spPr bwMode="auto">
          <a:xfrm>
            <a:off x="5589588" y="2603500"/>
            <a:ext cx="2146300" cy="122237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4</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12</a:t>
            </a:r>
            <a:endParaRPr lang="en-US" u="none">
              <a:solidFill>
                <a:srgbClr val="FFFFFF"/>
              </a:solidFill>
              <a:latin typeface="Arial" panose="020B0604020202020204" pitchFamily="34" charset="0"/>
            </a:endParaRPr>
          </a:p>
          <a:p>
            <a:endParaRPr lang="en-US" u="none">
              <a:solidFill>
                <a:srgbClr val="FFFFFF"/>
              </a:solidFill>
              <a:latin typeface="Arial" panose="020B0604020202020204" pitchFamily="34" charset="0"/>
            </a:endParaRPr>
          </a:p>
          <a:p>
            <a:r>
              <a:rPr lang="en-US" i="1" u="none">
                <a:solidFill>
                  <a:srgbClr val="FFFFFF"/>
                </a:solidFill>
                <a:effectLst>
                  <a:outerShdw blurRad="38100" dist="38100" dir="2700000" algn="tl">
                    <a:srgbClr val="000000"/>
                  </a:outerShdw>
                </a:effectLst>
                <a:latin typeface="Arial" panose="020B0604020202020204" pitchFamily="34" charset="0"/>
              </a:rPr>
              <a:t>  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4</a:t>
            </a:r>
          </a:p>
        </p:txBody>
      </p:sp>
      <p:sp>
        <p:nvSpPr>
          <p:cNvPr id="23564" name="Rectangle 12"/>
          <p:cNvSpPr>
            <a:spLocks noChangeArrowheads="1"/>
          </p:cNvSpPr>
          <p:nvPr/>
        </p:nvSpPr>
        <p:spPr bwMode="auto">
          <a:xfrm>
            <a:off x="5665788" y="4375150"/>
            <a:ext cx="2308225" cy="4921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2</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+ 5</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10</a:t>
            </a:r>
          </a:p>
        </p:txBody>
      </p:sp>
      <p:sp>
        <p:nvSpPr>
          <p:cNvPr id="23565" name="Rectangle 13"/>
          <p:cNvSpPr>
            <a:spLocks noChangeArrowheads="1"/>
          </p:cNvSpPr>
          <p:nvPr/>
        </p:nvSpPr>
        <p:spPr bwMode="auto">
          <a:xfrm>
            <a:off x="5513388" y="5675313"/>
            <a:ext cx="511175" cy="4921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p>
        </p:txBody>
      </p:sp>
      <p:sp>
        <p:nvSpPr>
          <p:cNvPr id="23566" name="Rectangle 14"/>
          <p:cNvSpPr>
            <a:spLocks noChangeArrowheads="1"/>
          </p:cNvSpPr>
          <p:nvPr/>
        </p:nvSpPr>
        <p:spPr bwMode="auto">
          <a:xfrm>
            <a:off x="4964113" y="3903663"/>
            <a:ext cx="257175" cy="125412"/>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23567" name="Line 15"/>
          <p:cNvSpPr>
            <a:spLocks noChangeShapeType="1"/>
          </p:cNvSpPr>
          <p:nvPr/>
        </p:nvSpPr>
        <p:spPr bwMode="auto">
          <a:xfrm>
            <a:off x="4127500" y="2833688"/>
            <a:ext cx="1379538" cy="0"/>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568" name="Line 16"/>
          <p:cNvSpPr>
            <a:spLocks noChangeShapeType="1"/>
          </p:cNvSpPr>
          <p:nvPr/>
        </p:nvSpPr>
        <p:spPr bwMode="auto">
          <a:xfrm>
            <a:off x="1689100" y="5908675"/>
            <a:ext cx="3711575" cy="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569" name="Line 17"/>
          <p:cNvSpPr>
            <a:spLocks noChangeShapeType="1"/>
          </p:cNvSpPr>
          <p:nvPr/>
        </p:nvSpPr>
        <p:spPr bwMode="auto">
          <a:xfrm flipV="1">
            <a:off x="3386138" y="2057400"/>
            <a:ext cx="881062" cy="3851275"/>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570" name="Line 18"/>
          <p:cNvSpPr>
            <a:spLocks noChangeShapeType="1"/>
          </p:cNvSpPr>
          <p:nvPr/>
        </p:nvSpPr>
        <p:spPr bwMode="auto">
          <a:xfrm>
            <a:off x="1689100" y="4848225"/>
            <a:ext cx="2863850" cy="106045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571" name="Line 19"/>
          <p:cNvSpPr>
            <a:spLocks noChangeShapeType="1"/>
          </p:cNvSpPr>
          <p:nvPr/>
        </p:nvSpPr>
        <p:spPr bwMode="auto">
          <a:xfrm flipV="1">
            <a:off x="2325688" y="4637088"/>
            <a:ext cx="3286125" cy="315912"/>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572" name="Line 20"/>
          <p:cNvSpPr>
            <a:spLocks noChangeShapeType="1"/>
          </p:cNvSpPr>
          <p:nvPr/>
        </p:nvSpPr>
        <p:spPr bwMode="auto">
          <a:xfrm flipV="1">
            <a:off x="2112963" y="3576638"/>
            <a:ext cx="3394075" cy="315912"/>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573" name="Line 21"/>
          <p:cNvSpPr>
            <a:spLocks noChangeShapeType="1"/>
          </p:cNvSpPr>
          <p:nvPr/>
        </p:nvSpPr>
        <p:spPr bwMode="auto">
          <a:xfrm flipV="1">
            <a:off x="4965700" y="2057400"/>
            <a:ext cx="1358900" cy="242888"/>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574" name="Rectangle 22"/>
          <p:cNvSpPr>
            <a:spLocks noChangeArrowheads="1"/>
          </p:cNvSpPr>
          <p:nvPr/>
        </p:nvSpPr>
        <p:spPr bwMode="auto">
          <a:xfrm>
            <a:off x="6384925" y="1812925"/>
            <a:ext cx="1990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400" u="none">
                <a:solidFill>
                  <a:srgbClr val="FFFFFF"/>
                </a:solidFill>
                <a:effectLst>
                  <a:outerShdw blurRad="38100" dist="38100" dir="2700000" algn="tl">
                    <a:srgbClr val="000000"/>
                  </a:outerShdw>
                </a:effectLst>
              </a:rPr>
              <a:t>Feasible Region</a:t>
            </a:r>
          </a:p>
        </p:txBody>
      </p:sp>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919163" y="252413"/>
            <a:ext cx="7772400" cy="585787"/>
          </a:xfrm>
          <a:noFill/>
          <a:ln/>
        </p:spPr>
        <p:txBody>
          <a:bodyPr/>
          <a:lstStyle/>
          <a:p>
            <a:r>
              <a:rPr lang="en-US"/>
              <a:t>Example:  Graphical Solution</a:t>
            </a:r>
          </a:p>
        </p:txBody>
      </p:sp>
      <p:sp>
        <p:nvSpPr>
          <p:cNvPr id="25603" name="Rectangle 3"/>
          <p:cNvSpPr>
            <a:spLocks noGrp="1" noChangeArrowheads="1"/>
          </p:cNvSpPr>
          <p:nvPr>
            <p:ph type="body" idx="1"/>
          </p:nvPr>
        </p:nvSpPr>
        <p:spPr>
          <a:xfrm>
            <a:off x="862013" y="1033463"/>
            <a:ext cx="7772400" cy="4381500"/>
          </a:xfrm>
          <a:noFill/>
          <a:ln/>
        </p:spPr>
        <p:txBody>
          <a:bodyPr/>
          <a:lstStyle/>
          <a:p>
            <a:r>
              <a:rPr lang="en-US">
                <a:solidFill>
                  <a:schemeClr val="tx2"/>
                </a:solidFill>
              </a:rPr>
              <a:t>Graph the Objective Function</a:t>
            </a:r>
          </a:p>
          <a:p>
            <a:pPr>
              <a:buFont typeface="Monotype Sorts" pitchFamily="2" charset="2"/>
              <a:buNone/>
            </a:pPr>
            <a:r>
              <a:rPr lang="en-US"/>
              <a:t>		Set the objective function equal to an arbitrary constant (say 20) and graph it.  For 5</a:t>
            </a:r>
            <a:r>
              <a:rPr lang="en-US" i="1"/>
              <a:t>x</a:t>
            </a:r>
            <a:r>
              <a:rPr lang="en-US" baseline="-25000"/>
              <a:t>1</a:t>
            </a:r>
            <a:r>
              <a:rPr lang="en-US"/>
              <a:t> + 2</a:t>
            </a:r>
            <a:r>
              <a:rPr lang="en-US" i="1"/>
              <a:t>x</a:t>
            </a:r>
            <a:r>
              <a:rPr lang="en-US" baseline="-25000"/>
              <a:t>2</a:t>
            </a:r>
            <a:r>
              <a:rPr lang="en-US"/>
              <a:t> = 20, when </a:t>
            </a:r>
            <a:r>
              <a:rPr lang="en-US" i="1"/>
              <a:t>x</a:t>
            </a:r>
            <a:r>
              <a:rPr lang="en-US" baseline="-25000"/>
              <a:t>1</a:t>
            </a:r>
            <a:r>
              <a:rPr lang="en-US"/>
              <a:t> = 0, then </a:t>
            </a:r>
            <a:r>
              <a:rPr lang="en-US" i="1"/>
              <a:t>x</a:t>
            </a:r>
            <a:r>
              <a:rPr lang="en-US" baseline="-25000"/>
              <a:t>2</a:t>
            </a:r>
            <a:r>
              <a:rPr lang="en-US"/>
              <a:t> = 10; when </a:t>
            </a:r>
            <a:r>
              <a:rPr lang="en-US" i="1"/>
              <a:t>x</a:t>
            </a:r>
            <a:r>
              <a:rPr lang="en-US" baseline="-25000"/>
              <a:t>2</a:t>
            </a:r>
            <a:r>
              <a:rPr lang="en-US"/>
              <a:t>= 0, then </a:t>
            </a:r>
            <a:r>
              <a:rPr lang="en-US" i="1"/>
              <a:t>x</a:t>
            </a:r>
            <a:r>
              <a:rPr lang="en-US" baseline="-25000"/>
              <a:t>1</a:t>
            </a:r>
            <a:r>
              <a:rPr lang="en-US"/>
              <a:t> = 4.  Connect (4,0) and (0,10).</a:t>
            </a:r>
          </a:p>
          <a:p>
            <a:pPr>
              <a:buFont typeface="Monotype Sorts" pitchFamily="2" charset="2"/>
              <a:buNone/>
            </a:pPr>
            <a:endParaRPr lang="en-US"/>
          </a:p>
          <a:p>
            <a:r>
              <a:rPr lang="en-US">
                <a:solidFill>
                  <a:schemeClr val="tx2"/>
                </a:solidFill>
              </a:rPr>
              <a:t>Move the Objective Function Line Toward Optimality</a:t>
            </a:r>
          </a:p>
          <a:p>
            <a:pPr>
              <a:buFont typeface="Monotype Sorts" pitchFamily="2" charset="2"/>
              <a:buNone/>
            </a:pPr>
            <a:r>
              <a:rPr lang="en-US"/>
              <a:t>		Move it in the direction which lowers its value (down), since we are minimizing, until it touches the last point of the feasible region, determined by the last two constraints. This is called the Iso-Value Line Method.</a:t>
            </a:r>
          </a:p>
        </p:txBody>
      </p:sp>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noFill/>
          <a:ln/>
        </p:spPr>
        <p:txBody>
          <a:bodyPr/>
          <a:lstStyle/>
          <a:p>
            <a:r>
              <a:rPr lang="en-US"/>
              <a:t>Example:  Graphical Solution</a:t>
            </a:r>
          </a:p>
        </p:txBody>
      </p:sp>
      <p:sp>
        <p:nvSpPr>
          <p:cNvPr id="27651" name="Rectangle 3"/>
          <p:cNvSpPr>
            <a:spLocks noGrp="1" noChangeArrowheads="1"/>
          </p:cNvSpPr>
          <p:nvPr>
            <p:ph type="body" idx="1"/>
          </p:nvPr>
        </p:nvSpPr>
        <p:spPr>
          <a:noFill/>
          <a:ln/>
        </p:spPr>
        <p:txBody>
          <a:bodyPr/>
          <a:lstStyle/>
          <a:p>
            <a:r>
              <a:rPr lang="en-US">
                <a:solidFill>
                  <a:schemeClr val="tx2"/>
                </a:solidFill>
              </a:rPr>
              <a:t>Objective Function Graphed</a:t>
            </a:r>
          </a:p>
        </p:txBody>
      </p:sp>
      <p:sp>
        <p:nvSpPr>
          <p:cNvPr id="27652" name="Rectangle 4"/>
          <p:cNvSpPr>
            <a:spLocks noChangeArrowheads="1"/>
          </p:cNvSpPr>
          <p:nvPr/>
        </p:nvSpPr>
        <p:spPr bwMode="auto">
          <a:xfrm>
            <a:off x="1344613" y="1873250"/>
            <a:ext cx="450850" cy="39592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128588" tIns="63500" rIns="128588" bIns="63500"/>
          <a:lstStyle>
            <a:lvl1pPr marL="398463" indent="-398463" defTabSz="1768475">
              <a:defRPr sz="2400">
                <a:solidFill>
                  <a:schemeClr val="tx1"/>
                </a:solidFill>
                <a:latin typeface="Times New Roman" panose="02020603050405020304" pitchFamily="18" charset="0"/>
              </a:defRPr>
            </a:lvl1pPr>
            <a:lvl2pPr marL="955675" indent="-320675" defTabSz="1768475">
              <a:defRPr sz="2400">
                <a:solidFill>
                  <a:schemeClr val="tx1"/>
                </a:solidFill>
                <a:latin typeface="Times New Roman" panose="02020603050405020304" pitchFamily="18" charset="0"/>
              </a:defRPr>
            </a:lvl2pPr>
            <a:lvl3pPr marL="1590675" indent="-319088" defTabSz="1768475">
              <a:defRPr sz="2400">
                <a:solidFill>
                  <a:schemeClr val="tx1"/>
                </a:solidFill>
                <a:latin typeface="Times New Roman" panose="02020603050405020304" pitchFamily="18" charset="0"/>
              </a:defRPr>
            </a:lvl3pPr>
            <a:lvl4pPr marL="2147888" indent="-239713" defTabSz="1768475">
              <a:defRPr sz="2400">
                <a:solidFill>
                  <a:schemeClr val="tx1"/>
                </a:solidFill>
                <a:latin typeface="Times New Roman" panose="02020603050405020304" pitchFamily="18" charset="0"/>
              </a:defRPr>
            </a:lvl4pPr>
            <a:lvl5pPr marL="2782888" indent="-236538" defTabSz="1768475">
              <a:defRPr sz="2400">
                <a:solidFill>
                  <a:schemeClr val="tx1"/>
                </a:solidFill>
                <a:latin typeface="Times New Roman" panose="02020603050405020304" pitchFamily="18" charset="0"/>
              </a:defRPr>
            </a:lvl5pPr>
            <a:lvl6pPr marL="3240088" indent="-236538" defTabSz="1768475" eaLnBrk="0" fontAlgn="base" hangingPunct="0">
              <a:spcBef>
                <a:spcPct val="0"/>
              </a:spcBef>
              <a:spcAft>
                <a:spcPct val="0"/>
              </a:spcAft>
              <a:defRPr sz="2400">
                <a:solidFill>
                  <a:schemeClr val="tx1"/>
                </a:solidFill>
                <a:latin typeface="Times New Roman" panose="02020603050405020304" pitchFamily="18" charset="0"/>
              </a:defRPr>
            </a:lvl6pPr>
            <a:lvl7pPr marL="3697288" indent="-236538" defTabSz="1768475" eaLnBrk="0" fontAlgn="base" hangingPunct="0">
              <a:spcBef>
                <a:spcPct val="0"/>
              </a:spcBef>
              <a:spcAft>
                <a:spcPct val="0"/>
              </a:spcAft>
              <a:defRPr sz="2400">
                <a:solidFill>
                  <a:schemeClr val="tx1"/>
                </a:solidFill>
                <a:latin typeface="Times New Roman" panose="02020603050405020304" pitchFamily="18" charset="0"/>
              </a:defRPr>
            </a:lvl7pPr>
            <a:lvl8pPr marL="4154488" indent="-236538" defTabSz="1768475" eaLnBrk="0" fontAlgn="base" hangingPunct="0">
              <a:spcBef>
                <a:spcPct val="0"/>
              </a:spcBef>
              <a:spcAft>
                <a:spcPct val="0"/>
              </a:spcAft>
              <a:defRPr sz="2400">
                <a:solidFill>
                  <a:schemeClr val="tx1"/>
                </a:solidFill>
                <a:latin typeface="Times New Roman" panose="02020603050405020304" pitchFamily="18" charset="0"/>
              </a:defRPr>
            </a:lvl8pPr>
            <a:lvl9pPr marL="4611688" indent="-236538" defTabSz="1768475"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30000"/>
              </a:spcBef>
            </a:pPr>
            <a:endParaRPr lang="en-US" sz="1700" u="none">
              <a:latin typeface="Arial" panose="020B0604020202020204" pitchFamily="34" charset="0"/>
            </a:endParaRPr>
          </a:p>
          <a:p>
            <a:pPr>
              <a:lnSpc>
                <a:spcPct val="90000"/>
              </a:lnSpc>
              <a:spcBef>
                <a:spcPct val="30000"/>
              </a:spcBef>
            </a:pPr>
            <a:endParaRPr lang="en-US" sz="1700" u="none">
              <a:latin typeface="Arial" panose="020B0604020202020204" pitchFamily="34" charset="0"/>
            </a:endParaRPr>
          </a:p>
          <a:p>
            <a:pPr>
              <a:lnSpc>
                <a:spcPct val="90000"/>
              </a:lnSpc>
              <a:spcBef>
                <a:spcPct val="30000"/>
              </a:spcBef>
            </a:pPr>
            <a:endParaRPr lang="en-US" sz="1700" u="none">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5</a:t>
            </a: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4</a:t>
            </a: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3</a:t>
            </a: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2</a:t>
            </a: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1</a:t>
            </a:r>
          </a:p>
          <a:p>
            <a:pPr>
              <a:lnSpc>
                <a:spcPct val="90000"/>
              </a:lnSpc>
              <a:spcBef>
                <a:spcPct val="30000"/>
              </a:spcBef>
            </a:pPr>
            <a:r>
              <a:rPr lang="en-US" sz="3400" b="1" u="none">
                <a:latin typeface="Arial" panose="020B0604020202020204" pitchFamily="34" charset="0"/>
              </a:rPr>
              <a:t>      </a:t>
            </a:r>
          </a:p>
        </p:txBody>
      </p:sp>
      <p:sp>
        <p:nvSpPr>
          <p:cNvPr id="27653" name="Rectangle 5"/>
          <p:cNvSpPr>
            <a:spLocks noChangeArrowheads="1"/>
          </p:cNvSpPr>
          <p:nvPr/>
        </p:nvSpPr>
        <p:spPr bwMode="auto">
          <a:xfrm>
            <a:off x="1560513" y="5364163"/>
            <a:ext cx="3735387" cy="903287"/>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sz="1700" u="none">
              <a:latin typeface="Arial" panose="020B0604020202020204" pitchFamily="34" charset="0"/>
            </a:endParaRPr>
          </a:p>
          <a:p>
            <a:endParaRPr lang="en-US" sz="1700" u="none">
              <a:latin typeface="Arial" panose="020B0604020202020204" pitchFamily="34" charset="0"/>
            </a:endParaRPr>
          </a:p>
          <a:p>
            <a:r>
              <a:rPr lang="en-US" sz="1700" u="none">
                <a:latin typeface="Arial" panose="020B0604020202020204" pitchFamily="34" charset="0"/>
              </a:rPr>
              <a:t>       </a:t>
            </a:r>
            <a:r>
              <a:rPr lang="en-US" sz="1700" u="none">
                <a:solidFill>
                  <a:srgbClr val="FFFFFF"/>
                </a:solidFill>
                <a:latin typeface="Arial" panose="020B0604020202020204" pitchFamily="34" charset="0"/>
              </a:rPr>
              <a:t>1        2        3        4        5       6</a:t>
            </a:r>
          </a:p>
        </p:txBody>
      </p:sp>
      <p:sp>
        <p:nvSpPr>
          <p:cNvPr id="27654" name="Line 6"/>
          <p:cNvSpPr>
            <a:spLocks noChangeShapeType="1"/>
          </p:cNvSpPr>
          <p:nvPr/>
        </p:nvSpPr>
        <p:spPr bwMode="auto">
          <a:xfrm>
            <a:off x="1689100" y="2332038"/>
            <a:ext cx="0" cy="3500437"/>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55" name="Line 7"/>
          <p:cNvSpPr>
            <a:spLocks noChangeShapeType="1"/>
          </p:cNvSpPr>
          <p:nvPr/>
        </p:nvSpPr>
        <p:spPr bwMode="auto">
          <a:xfrm>
            <a:off x="1689100" y="3605213"/>
            <a:ext cx="2120900" cy="2227262"/>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56" name="Rectangle 8"/>
          <p:cNvSpPr>
            <a:spLocks noChangeArrowheads="1"/>
          </p:cNvSpPr>
          <p:nvPr/>
        </p:nvSpPr>
        <p:spPr bwMode="auto">
          <a:xfrm>
            <a:off x="1454150" y="1811338"/>
            <a:ext cx="511175" cy="4921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p>
        </p:txBody>
      </p:sp>
      <p:sp>
        <p:nvSpPr>
          <p:cNvPr id="27657" name="Rectangle 9"/>
          <p:cNvSpPr>
            <a:spLocks noChangeArrowheads="1"/>
          </p:cNvSpPr>
          <p:nvPr/>
        </p:nvSpPr>
        <p:spPr bwMode="auto">
          <a:xfrm>
            <a:off x="5589588" y="1765300"/>
            <a:ext cx="2697162" cy="19526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Min  </a:t>
            </a:r>
            <a:r>
              <a:rPr lang="en-US" i="1" u="none">
                <a:solidFill>
                  <a:srgbClr val="FFFFFF"/>
                </a:solidFill>
                <a:effectLst>
                  <a:outerShdw blurRad="38100" dist="38100" dir="2700000" algn="tl">
                    <a:srgbClr val="000000"/>
                  </a:outerShdw>
                </a:effectLst>
                <a:latin typeface="Arial" panose="020B0604020202020204" pitchFamily="34" charset="0"/>
              </a:rPr>
              <a:t>z</a:t>
            </a:r>
            <a:r>
              <a:rPr lang="en-US" u="none">
                <a:solidFill>
                  <a:srgbClr val="FFFFFF"/>
                </a:solidFill>
                <a:effectLst>
                  <a:outerShdw blurRad="38100" dist="38100" dir="2700000" algn="tl">
                    <a:srgbClr val="000000"/>
                  </a:outerShdw>
                </a:effectLst>
                <a:latin typeface="Arial" panose="020B0604020202020204" pitchFamily="34" charset="0"/>
              </a:rPr>
              <a:t> =  5</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+ 2</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endParaRPr lang="en-US" u="none">
              <a:solidFill>
                <a:srgbClr val="FFFFFF"/>
              </a:solidFill>
              <a:effectLst>
                <a:outerShdw blurRad="38100" dist="38100" dir="2700000" algn="tl">
                  <a:srgbClr val="000000"/>
                </a:outerShdw>
              </a:effectLst>
              <a:latin typeface="Arial" panose="020B0604020202020204" pitchFamily="34" charset="0"/>
            </a:endParaRPr>
          </a:p>
          <a:p>
            <a:endParaRPr lang="en-US" u="none">
              <a:solidFill>
                <a:srgbClr val="FFFFFF"/>
              </a:solidFill>
              <a:effectLst>
                <a:outerShdw blurRad="38100" dist="38100" dir="2700000" algn="tl">
                  <a:srgbClr val="000000"/>
                </a:outerShdw>
              </a:effectLst>
              <a:latin typeface="Arial" panose="020B0604020202020204" pitchFamily="34" charset="0"/>
            </a:endParaRPr>
          </a:p>
          <a:p>
            <a:r>
              <a:rPr lang="en-US" u="none">
                <a:solidFill>
                  <a:srgbClr val="FFFFFF"/>
                </a:solidFill>
                <a:effectLst>
                  <a:outerShdw blurRad="38100" dist="38100" dir="2700000" algn="tl">
                    <a:srgbClr val="000000"/>
                  </a:outerShdw>
                </a:effectLst>
                <a:latin typeface="Arial" panose="020B0604020202020204" pitchFamily="34" charset="0"/>
              </a:rPr>
              <a:t>4</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12</a:t>
            </a:r>
          </a:p>
          <a:p>
            <a:endParaRPr lang="en-US" u="none">
              <a:solidFill>
                <a:srgbClr val="FFFFFF"/>
              </a:solidFill>
              <a:effectLst>
                <a:outerShdw blurRad="38100" dist="38100" dir="2700000" algn="tl">
                  <a:srgbClr val="000000"/>
                </a:outerShdw>
              </a:effectLst>
              <a:latin typeface="Arial" panose="020B0604020202020204" pitchFamily="34" charset="0"/>
            </a:endParaRPr>
          </a:p>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4</a:t>
            </a:r>
          </a:p>
        </p:txBody>
      </p:sp>
      <p:sp>
        <p:nvSpPr>
          <p:cNvPr id="27658" name="Rectangle 10"/>
          <p:cNvSpPr>
            <a:spLocks noChangeArrowheads="1"/>
          </p:cNvSpPr>
          <p:nvPr/>
        </p:nvSpPr>
        <p:spPr bwMode="auto">
          <a:xfrm>
            <a:off x="7710488" y="3773488"/>
            <a:ext cx="257175" cy="903287"/>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sz="1700" u="none">
              <a:latin typeface="Arial" panose="020B0604020202020204" pitchFamily="34" charset="0"/>
            </a:endParaRPr>
          </a:p>
          <a:p>
            <a:endParaRPr lang="en-US" sz="1700" u="none">
              <a:latin typeface="Arial" panose="020B0604020202020204" pitchFamily="34" charset="0"/>
            </a:endParaRPr>
          </a:p>
          <a:p>
            <a:endParaRPr lang="en-US" sz="1700" u="none">
              <a:latin typeface="Arial" panose="020B0604020202020204" pitchFamily="34" charset="0"/>
            </a:endParaRPr>
          </a:p>
        </p:txBody>
      </p:sp>
      <p:sp>
        <p:nvSpPr>
          <p:cNvPr id="27659" name="Rectangle 11"/>
          <p:cNvSpPr>
            <a:spLocks noChangeArrowheads="1"/>
          </p:cNvSpPr>
          <p:nvPr/>
        </p:nvSpPr>
        <p:spPr bwMode="auto">
          <a:xfrm>
            <a:off x="5589588" y="4298950"/>
            <a:ext cx="2308225" cy="4921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2</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+ 5</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10</a:t>
            </a:r>
          </a:p>
        </p:txBody>
      </p:sp>
      <p:sp>
        <p:nvSpPr>
          <p:cNvPr id="27660" name="Rectangle 12"/>
          <p:cNvSpPr>
            <a:spLocks noChangeArrowheads="1"/>
          </p:cNvSpPr>
          <p:nvPr/>
        </p:nvSpPr>
        <p:spPr bwMode="auto">
          <a:xfrm>
            <a:off x="5513388" y="5599113"/>
            <a:ext cx="511175" cy="4921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p>
        </p:txBody>
      </p:sp>
      <p:sp>
        <p:nvSpPr>
          <p:cNvPr id="27661" name="Line 13"/>
          <p:cNvSpPr>
            <a:spLocks noChangeShapeType="1"/>
          </p:cNvSpPr>
          <p:nvPr/>
        </p:nvSpPr>
        <p:spPr bwMode="auto">
          <a:xfrm flipV="1">
            <a:off x="4127500" y="2757488"/>
            <a:ext cx="1273175" cy="104775"/>
          </a:xfrm>
          <a:prstGeom prst="line">
            <a:avLst/>
          </a:prstGeom>
          <a:noFill/>
          <a:ln w="12700">
            <a:solidFill>
              <a:schemeClr val="tx1"/>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62" name="Line 14"/>
          <p:cNvSpPr>
            <a:spLocks noChangeShapeType="1"/>
          </p:cNvSpPr>
          <p:nvPr/>
        </p:nvSpPr>
        <p:spPr bwMode="auto">
          <a:xfrm flipV="1">
            <a:off x="3492500" y="5195888"/>
            <a:ext cx="1908175" cy="211137"/>
          </a:xfrm>
          <a:prstGeom prst="line">
            <a:avLst/>
          </a:prstGeom>
          <a:noFill/>
          <a:ln w="12700">
            <a:solidFill>
              <a:schemeClr val="tx1"/>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63" name="Line 15"/>
          <p:cNvSpPr>
            <a:spLocks noChangeShapeType="1"/>
          </p:cNvSpPr>
          <p:nvPr/>
        </p:nvSpPr>
        <p:spPr bwMode="auto">
          <a:xfrm flipH="1">
            <a:off x="3992563" y="6045200"/>
            <a:ext cx="423862" cy="211138"/>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64" name="Line 16"/>
          <p:cNvSpPr>
            <a:spLocks noChangeShapeType="1"/>
          </p:cNvSpPr>
          <p:nvPr/>
        </p:nvSpPr>
        <p:spPr bwMode="auto">
          <a:xfrm flipH="1">
            <a:off x="2401888" y="2014538"/>
            <a:ext cx="422275" cy="211137"/>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65" name="Rectangle 17"/>
          <p:cNvSpPr>
            <a:spLocks noChangeArrowheads="1"/>
          </p:cNvSpPr>
          <p:nvPr/>
        </p:nvSpPr>
        <p:spPr bwMode="auto">
          <a:xfrm>
            <a:off x="4964113" y="3827463"/>
            <a:ext cx="257175" cy="125412"/>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27666" name="Oval 18"/>
          <p:cNvSpPr>
            <a:spLocks noChangeArrowheads="1"/>
          </p:cNvSpPr>
          <p:nvPr/>
        </p:nvSpPr>
        <p:spPr bwMode="auto">
          <a:xfrm>
            <a:off x="4451350" y="4143375"/>
            <a:ext cx="95250" cy="92075"/>
          </a:xfrm>
          <a:prstGeom prst="ellipse">
            <a:avLst/>
          </a:prstGeom>
          <a:solidFill>
            <a:schemeClr val="tx1"/>
          </a:solidFill>
          <a:ln w="12700">
            <a:solidFill>
              <a:schemeClr val="tx1"/>
            </a:solidFill>
            <a:round/>
            <a:headEnd/>
            <a:tailEnd/>
          </a:ln>
          <a:effectLst>
            <a:outerShdw dist="17961" dir="2700000" algn="ctr" rotWithShape="0">
              <a:srgbClr val="000000"/>
            </a:outerShdw>
          </a:effectLst>
        </p:spPr>
        <p:txBody>
          <a:bodyPr wrap="none" anchor="ctr"/>
          <a:lstStyle/>
          <a:p>
            <a:endParaRPr lang="en-US"/>
          </a:p>
        </p:txBody>
      </p:sp>
      <p:sp>
        <p:nvSpPr>
          <p:cNvPr id="27667" name="Freeform 19"/>
          <p:cNvSpPr>
            <a:spLocks/>
          </p:cNvSpPr>
          <p:nvPr/>
        </p:nvSpPr>
        <p:spPr bwMode="auto">
          <a:xfrm>
            <a:off x="3482975" y="2011363"/>
            <a:ext cx="1919288" cy="3822700"/>
          </a:xfrm>
          <a:custGeom>
            <a:avLst/>
            <a:gdLst>
              <a:gd name="T0" fmla="*/ 0 w 1209"/>
              <a:gd name="T1" fmla="*/ 2155 h 2408"/>
              <a:gd name="T2" fmla="*/ 491 w 1209"/>
              <a:gd name="T3" fmla="*/ 0 h 2408"/>
              <a:gd name="T4" fmla="*/ 1208 w 1209"/>
              <a:gd name="T5" fmla="*/ 2 h 2408"/>
              <a:gd name="T6" fmla="*/ 1208 w 1209"/>
              <a:gd name="T7" fmla="*/ 2407 h 2408"/>
              <a:gd name="T8" fmla="*/ 674 w 1209"/>
              <a:gd name="T9" fmla="*/ 2407 h 2408"/>
              <a:gd name="T10" fmla="*/ 0 w 1209"/>
              <a:gd name="T11" fmla="*/ 2155 h 2408"/>
            </a:gdLst>
            <a:ahLst/>
            <a:cxnLst>
              <a:cxn ang="0">
                <a:pos x="T0" y="T1"/>
              </a:cxn>
              <a:cxn ang="0">
                <a:pos x="T2" y="T3"/>
              </a:cxn>
              <a:cxn ang="0">
                <a:pos x="T4" y="T5"/>
              </a:cxn>
              <a:cxn ang="0">
                <a:pos x="T6" y="T7"/>
              </a:cxn>
              <a:cxn ang="0">
                <a:pos x="T8" y="T9"/>
              </a:cxn>
              <a:cxn ang="0">
                <a:pos x="T10" y="T11"/>
              </a:cxn>
            </a:cxnLst>
            <a:rect l="0" t="0" r="r" b="b"/>
            <a:pathLst>
              <a:path w="1209" h="2408">
                <a:moveTo>
                  <a:pt x="0" y="2155"/>
                </a:moveTo>
                <a:lnTo>
                  <a:pt x="491" y="0"/>
                </a:lnTo>
                <a:lnTo>
                  <a:pt x="1208" y="2"/>
                </a:lnTo>
                <a:lnTo>
                  <a:pt x="1208" y="2407"/>
                </a:lnTo>
                <a:lnTo>
                  <a:pt x="674" y="2407"/>
                </a:lnTo>
                <a:lnTo>
                  <a:pt x="0" y="2155"/>
                </a:lnTo>
              </a:path>
            </a:pathLst>
          </a:custGeom>
          <a:solidFill>
            <a:schemeClr val="folHlink"/>
          </a:solidFill>
          <a:ln>
            <a:noFill/>
          </a:ln>
          <a:effectLst>
            <a:outerShdw dist="17961" dir="2700000" algn="ctr" rotWithShape="0">
              <a:srgbClr val="000000"/>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7668" name="Line 20"/>
          <p:cNvSpPr>
            <a:spLocks noChangeShapeType="1"/>
          </p:cNvSpPr>
          <p:nvPr/>
        </p:nvSpPr>
        <p:spPr bwMode="auto">
          <a:xfrm flipV="1">
            <a:off x="3068638" y="1981200"/>
            <a:ext cx="2493962" cy="455613"/>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69" name="Line 21"/>
          <p:cNvSpPr>
            <a:spLocks noChangeShapeType="1"/>
          </p:cNvSpPr>
          <p:nvPr/>
        </p:nvSpPr>
        <p:spPr bwMode="auto">
          <a:xfrm flipV="1">
            <a:off x="2112963" y="3500438"/>
            <a:ext cx="3394075" cy="315912"/>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70" name="Line 22"/>
          <p:cNvSpPr>
            <a:spLocks noChangeShapeType="1"/>
          </p:cNvSpPr>
          <p:nvPr/>
        </p:nvSpPr>
        <p:spPr bwMode="auto">
          <a:xfrm flipV="1">
            <a:off x="2325688" y="4560888"/>
            <a:ext cx="3286125" cy="315912"/>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71" name="Line 23"/>
          <p:cNvSpPr>
            <a:spLocks noChangeShapeType="1"/>
          </p:cNvSpPr>
          <p:nvPr/>
        </p:nvSpPr>
        <p:spPr bwMode="auto">
          <a:xfrm flipH="1" flipV="1">
            <a:off x="2986088" y="2055813"/>
            <a:ext cx="1587500" cy="4030662"/>
          </a:xfrm>
          <a:prstGeom prst="line">
            <a:avLst/>
          </a:prstGeom>
          <a:noFill/>
          <a:ln w="508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72" name="Line 24"/>
          <p:cNvSpPr>
            <a:spLocks noChangeShapeType="1"/>
          </p:cNvSpPr>
          <p:nvPr/>
        </p:nvSpPr>
        <p:spPr bwMode="auto">
          <a:xfrm>
            <a:off x="4127500" y="2757488"/>
            <a:ext cx="1379538" cy="0"/>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73" name="Line 25"/>
          <p:cNvSpPr>
            <a:spLocks noChangeShapeType="1"/>
          </p:cNvSpPr>
          <p:nvPr/>
        </p:nvSpPr>
        <p:spPr bwMode="auto">
          <a:xfrm>
            <a:off x="1689100" y="4772025"/>
            <a:ext cx="2863850" cy="106045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74" name="Line 26"/>
          <p:cNvSpPr>
            <a:spLocks noChangeShapeType="1"/>
          </p:cNvSpPr>
          <p:nvPr/>
        </p:nvSpPr>
        <p:spPr bwMode="auto">
          <a:xfrm>
            <a:off x="1689100" y="5832475"/>
            <a:ext cx="3711575" cy="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75" name="Line 27"/>
          <p:cNvSpPr>
            <a:spLocks noChangeShapeType="1"/>
          </p:cNvSpPr>
          <p:nvPr/>
        </p:nvSpPr>
        <p:spPr bwMode="auto">
          <a:xfrm flipV="1">
            <a:off x="3386138" y="1981200"/>
            <a:ext cx="881062" cy="3851275"/>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2520950" y="5797550"/>
            <a:ext cx="4178300" cy="520700"/>
          </a:xfrm>
          <a:prstGeom prst="rect">
            <a:avLst/>
          </a:prstGeom>
          <a:solidFill>
            <a:schemeClr val="folHlink"/>
          </a:solidFill>
          <a:ln w="127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699" name="Rectangle 3"/>
          <p:cNvSpPr>
            <a:spLocks noGrp="1" noChangeArrowheads="1"/>
          </p:cNvSpPr>
          <p:nvPr>
            <p:ph type="title"/>
          </p:nvPr>
        </p:nvSpPr>
        <p:spPr>
          <a:noFill/>
          <a:ln/>
        </p:spPr>
        <p:txBody>
          <a:bodyPr/>
          <a:lstStyle/>
          <a:p>
            <a:r>
              <a:rPr lang="en-US"/>
              <a:t>Example:  Graphical Solution</a:t>
            </a:r>
          </a:p>
        </p:txBody>
      </p:sp>
      <p:sp>
        <p:nvSpPr>
          <p:cNvPr id="29700" name="Rectangle 4"/>
          <p:cNvSpPr>
            <a:spLocks noGrp="1" noChangeArrowheads="1"/>
          </p:cNvSpPr>
          <p:nvPr>
            <p:ph type="body" idx="1"/>
          </p:nvPr>
        </p:nvSpPr>
        <p:spPr>
          <a:noFill/>
          <a:ln/>
        </p:spPr>
        <p:txBody>
          <a:bodyPr/>
          <a:lstStyle/>
          <a:p>
            <a:r>
              <a:rPr lang="en-US">
                <a:solidFill>
                  <a:schemeClr val="tx2"/>
                </a:solidFill>
              </a:rPr>
              <a:t>Solve for the Extreme Point at the Intersection of the Two Binding Constraints</a:t>
            </a:r>
            <a:endParaRPr lang="en-US"/>
          </a:p>
          <a:p>
            <a:pPr>
              <a:buFont typeface="Monotype Sorts" pitchFamily="2" charset="2"/>
              <a:buNone/>
            </a:pPr>
            <a:r>
              <a:rPr lang="en-US"/>
              <a:t>                    		    4</a:t>
            </a:r>
            <a:r>
              <a:rPr lang="en-US" i="1"/>
              <a:t>x</a:t>
            </a:r>
            <a:r>
              <a:rPr lang="en-US" baseline="-25000"/>
              <a:t>1</a:t>
            </a:r>
            <a:r>
              <a:rPr lang="en-US"/>
              <a:t> - </a:t>
            </a:r>
            <a:r>
              <a:rPr lang="en-US" i="1"/>
              <a:t>x</a:t>
            </a:r>
            <a:r>
              <a:rPr lang="en-US" baseline="-25000"/>
              <a:t>2</a:t>
            </a:r>
            <a:r>
              <a:rPr lang="en-US"/>
              <a:t> = 12</a:t>
            </a:r>
          </a:p>
          <a:p>
            <a:pPr>
              <a:buFont typeface="Monotype Sorts" pitchFamily="2" charset="2"/>
              <a:buNone/>
            </a:pPr>
            <a:r>
              <a:rPr lang="en-US"/>
              <a:t>                     		      </a:t>
            </a:r>
            <a:r>
              <a:rPr lang="en-US" i="1"/>
              <a:t>x</a:t>
            </a:r>
            <a:r>
              <a:rPr lang="en-US" baseline="-25000"/>
              <a:t>1</a:t>
            </a:r>
            <a:r>
              <a:rPr lang="en-US"/>
              <a:t>+ </a:t>
            </a:r>
            <a:r>
              <a:rPr lang="en-US" i="1"/>
              <a:t>x</a:t>
            </a:r>
            <a:r>
              <a:rPr lang="en-US" baseline="-25000"/>
              <a:t>2</a:t>
            </a:r>
            <a:r>
              <a:rPr lang="en-US"/>
              <a:t> =  4</a:t>
            </a:r>
          </a:p>
          <a:p>
            <a:pPr>
              <a:buFont typeface="Monotype Sorts" pitchFamily="2" charset="2"/>
              <a:buNone/>
            </a:pPr>
            <a:r>
              <a:rPr lang="en-US"/>
              <a:t>     Adding these two equations gives:  </a:t>
            </a:r>
          </a:p>
          <a:p>
            <a:pPr>
              <a:buFont typeface="Monotype Sorts" pitchFamily="2" charset="2"/>
              <a:buNone/>
            </a:pPr>
            <a:r>
              <a:rPr lang="en-US"/>
              <a:t>			         5</a:t>
            </a:r>
            <a:r>
              <a:rPr lang="en-US" i="1"/>
              <a:t>x</a:t>
            </a:r>
            <a:r>
              <a:rPr lang="en-US" baseline="-25000"/>
              <a:t>1</a:t>
            </a:r>
            <a:r>
              <a:rPr lang="en-US"/>
              <a:t> = 16  or  </a:t>
            </a:r>
            <a:r>
              <a:rPr lang="en-US" i="1"/>
              <a:t>x</a:t>
            </a:r>
            <a:r>
              <a:rPr lang="en-US" baseline="-25000"/>
              <a:t>1</a:t>
            </a:r>
            <a:r>
              <a:rPr lang="en-US"/>
              <a:t> = 16/5.</a:t>
            </a:r>
          </a:p>
          <a:p>
            <a:pPr>
              <a:buFont typeface="Monotype Sorts" pitchFamily="2" charset="2"/>
              <a:buNone/>
            </a:pPr>
            <a:r>
              <a:rPr lang="en-US"/>
              <a:t>      Substituting this into </a:t>
            </a:r>
            <a:r>
              <a:rPr lang="en-US" i="1"/>
              <a:t>x</a:t>
            </a:r>
            <a:r>
              <a:rPr lang="en-US" baseline="-25000"/>
              <a:t>1</a:t>
            </a:r>
            <a:r>
              <a:rPr lang="en-US"/>
              <a:t> + </a:t>
            </a:r>
            <a:r>
              <a:rPr lang="en-US" i="1"/>
              <a:t>x</a:t>
            </a:r>
            <a:r>
              <a:rPr lang="en-US" baseline="-25000"/>
              <a:t>2</a:t>
            </a:r>
            <a:r>
              <a:rPr lang="en-US"/>
              <a:t> = 4 gives:  </a:t>
            </a:r>
            <a:r>
              <a:rPr lang="en-US" i="1"/>
              <a:t>x</a:t>
            </a:r>
            <a:r>
              <a:rPr lang="en-US" baseline="-25000"/>
              <a:t>2</a:t>
            </a:r>
            <a:r>
              <a:rPr lang="en-US"/>
              <a:t> = 4/5</a:t>
            </a:r>
          </a:p>
          <a:p>
            <a:r>
              <a:rPr lang="en-US">
                <a:solidFill>
                  <a:schemeClr val="tx2"/>
                </a:solidFill>
              </a:rPr>
              <a:t>Solve for the Optimal Value of the Objective Function</a:t>
            </a:r>
          </a:p>
          <a:p>
            <a:pPr>
              <a:buFont typeface="Monotype Sorts" pitchFamily="2" charset="2"/>
              <a:buNone/>
            </a:pPr>
            <a:r>
              <a:rPr lang="en-US">
                <a:solidFill>
                  <a:schemeClr val="tx2"/>
                </a:solidFill>
              </a:rPr>
              <a:t>	</a:t>
            </a:r>
            <a:r>
              <a:rPr lang="en-US"/>
              <a:t>Solve for </a:t>
            </a:r>
            <a:r>
              <a:rPr lang="en-US" i="1"/>
              <a:t>z</a:t>
            </a:r>
            <a:r>
              <a:rPr lang="en-US"/>
              <a:t> = 5</a:t>
            </a:r>
            <a:r>
              <a:rPr lang="en-US" i="1"/>
              <a:t>x</a:t>
            </a:r>
            <a:r>
              <a:rPr lang="en-US" baseline="-25000"/>
              <a:t>1</a:t>
            </a:r>
            <a:r>
              <a:rPr lang="en-US"/>
              <a:t> + 2</a:t>
            </a:r>
            <a:r>
              <a:rPr lang="en-US" i="1"/>
              <a:t>x</a:t>
            </a:r>
            <a:r>
              <a:rPr lang="en-US" baseline="-25000"/>
              <a:t>2</a:t>
            </a:r>
            <a:r>
              <a:rPr lang="en-US"/>
              <a:t>  = 5(16/5) + 2(4/5) = 88/5.</a:t>
            </a:r>
          </a:p>
          <a:p>
            <a:pPr>
              <a:buFont typeface="Monotype Sorts" pitchFamily="2" charset="2"/>
              <a:buNone/>
            </a:pPr>
            <a:r>
              <a:rPr lang="en-US"/>
              <a:t>    Thus the optimal solution is </a:t>
            </a:r>
          </a:p>
          <a:p>
            <a:pPr>
              <a:buFont typeface="Monotype Sorts" pitchFamily="2" charset="2"/>
              <a:buNone/>
            </a:pPr>
            <a:r>
              <a:rPr lang="en-US" i="1"/>
              <a:t>			 </a:t>
            </a:r>
          </a:p>
          <a:p>
            <a:pPr algn="ctr">
              <a:buFont typeface="Monotype Sorts" pitchFamily="2" charset="2"/>
              <a:buNone/>
            </a:pPr>
            <a:r>
              <a:rPr lang="en-US" i="1"/>
              <a:t> x</a:t>
            </a:r>
            <a:r>
              <a:rPr lang="en-US" baseline="-25000"/>
              <a:t>1</a:t>
            </a:r>
            <a:r>
              <a:rPr lang="en-US"/>
              <a:t> = 16/5;  </a:t>
            </a:r>
            <a:r>
              <a:rPr lang="en-US" i="1"/>
              <a:t>x</a:t>
            </a:r>
            <a:r>
              <a:rPr lang="en-US" baseline="-25000"/>
              <a:t>2</a:t>
            </a:r>
            <a:r>
              <a:rPr lang="en-US"/>
              <a:t> = 4/5;  </a:t>
            </a:r>
            <a:r>
              <a:rPr lang="en-US" i="1"/>
              <a:t>z </a:t>
            </a:r>
            <a:r>
              <a:rPr lang="en-US"/>
              <a:t>= 88/5</a:t>
            </a:r>
          </a:p>
        </p:txBody>
      </p:sp>
    </p:spTree>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noFill/>
          <a:ln/>
        </p:spPr>
        <p:txBody>
          <a:bodyPr/>
          <a:lstStyle/>
          <a:p>
            <a:r>
              <a:rPr lang="en-US"/>
              <a:t>Example:  Graphical Solution</a:t>
            </a:r>
          </a:p>
        </p:txBody>
      </p:sp>
      <p:sp>
        <p:nvSpPr>
          <p:cNvPr id="31747" name="Rectangle 3"/>
          <p:cNvSpPr>
            <a:spLocks noChangeArrowheads="1"/>
          </p:cNvSpPr>
          <p:nvPr/>
        </p:nvSpPr>
        <p:spPr bwMode="auto">
          <a:xfrm>
            <a:off x="1344613" y="1873250"/>
            <a:ext cx="450850" cy="39592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128588" tIns="63500" rIns="128588" bIns="63500"/>
          <a:lstStyle>
            <a:lvl1pPr marL="398463" indent="-398463" defTabSz="1768475">
              <a:defRPr sz="2400">
                <a:solidFill>
                  <a:schemeClr val="tx1"/>
                </a:solidFill>
                <a:latin typeface="Times New Roman" panose="02020603050405020304" pitchFamily="18" charset="0"/>
              </a:defRPr>
            </a:lvl1pPr>
            <a:lvl2pPr marL="955675" indent="-320675" defTabSz="1768475">
              <a:defRPr sz="2400">
                <a:solidFill>
                  <a:schemeClr val="tx1"/>
                </a:solidFill>
                <a:latin typeface="Times New Roman" panose="02020603050405020304" pitchFamily="18" charset="0"/>
              </a:defRPr>
            </a:lvl2pPr>
            <a:lvl3pPr marL="1590675" indent="-319088" defTabSz="1768475">
              <a:defRPr sz="2400">
                <a:solidFill>
                  <a:schemeClr val="tx1"/>
                </a:solidFill>
                <a:latin typeface="Times New Roman" panose="02020603050405020304" pitchFamily="18" charset="0"/>
              </a:defRPr>
            </a:lvl3pPr>
            <a:lvl4pPr marL="2147888" indent="-239713" defTabSz="1768475">
              <a:defRPr sz="2400">
                <a:solidFill>
                  <a:schemeClr val="tx1"/>
                </a:solidFill>
                <a:latin typeface="Times New Roman" panose="02020603050405020304" pitchFamily="18" charset="0"/>
              </a:defRPr>
            </a:lvl4pPr>
            <a:lvl5pPr marL="2782888" indent="-236538" defTabSz="1768475">
              <a:defRPr sz="2400">
                <a:solidFill>
                  <a:schemeClr val="tx1"/>
                </a:solidFill>
                <a:latin typeface="Times New Roman" panose="02020603050405020304" pitchFamily="18" charset="0"/>
              </a:defRPr>
            </a:lvl5pPr>
            <a:lvl6pPr marL="3240088" indent="-236538" defTabSz="1768475" eaLnBrk="0" fontAlgn="base" hangingPunct="0">
              <a:spcBef>
                <a:spcPct val="0"/>
              </a:spcBef>
              <a:spcAft>
                <a:spcPct val="0"/>
              </a:spcAft>
              <a:defRPr sz="2400">
                <a:solidFill>
                  <a:schemeClr val="tx1"/>
                </a:solidFill>
                <a:latin typeface="Times New Roman" panose="02020603050405020304" pitchFamily="18" charset="0"/>
              </a:defRPr>
            </a:lvl6pPr>
            <a:lvl7pPr marL="3697288" indent="-236538" defTabSz="1768475" eaLnBrk="0" fontAlgn="base" hangingPunct="0">
              <a:spcBef>
                <a:spcPct val="0"/>
              </a:spcBef>
              <a:spcAft>
                <a:spcPct val="0"/>
              </a:spcAft>
              <a:defRPr sz="2400">
                <a:solidFill>
                  <a:schemeClr val="tx1"/>
                </a:solidFill>
                <a:latin typeface="Times New Roman" panose="02020603050405020304" pitchFamily="18" charset="0"/>
              </a:defRPr>
            </a:lvl7pPr>
            <a:lvl8pPr marL="4154488" indent="-236538" defTabSz="1768475" eaLnBrk="0" fontAlgn="base" hangingPunct="0">
              <a:spcBef>
                <a:spcPct val="0"/>
              </a:spcBef>
              <a:spcAft>
                <a:spcPct val="0"/>
              </a:spcAft>
              <a:defRPr sz="2400">
                <a:solidFill>
                  <a:schemeClr val="tx1"/>
                </a:solidFill>
                <a:latin typeface="Times New Roman" panose="02020603050405020304" pitchFamily="18" charset="0"/>
              </a:defRPr>
            </a:lvl8pPr>
            <a:lvl9pPr marL="4611688" indent="-236538" defTabSz="1768475"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30000"/>
              </a:spcBef>
            </a:pPr>
            <a:endParaRPr lang="en-US" sz="1700" u="none">
              <a:latin typeface="Arial" panose="020B0604020202020204" pitchFamily="34" charset="0"/>
            </a:endParaRPr>
          </a:p>
          <a:p>
            <a:pPr>
              <a:lnSpc>
                <a:spcPct val="90000"/>
              </a:lnSpc>
              <a:spcBef>
                <a:spcPct val="30000"/>
              </a:spcBef>
            </a:pPr>
            <a:endParaRPr lang="en-US" sz="1700" u="none">
              <a:latin typeface="Arial" panose="020B0604020202020204" pitchFamily="34" charset="0"/>
            </a:endParaRPr>
          </a:p>
          <a:p>
            <a:pPr>
              <a:lnSpc>
                <a:spcPct val="90000"/>
              </a:lnSpc>
              <a:spcBef>
                <a:spcPct val="30000"/>
              </a:spcBef>
            </a:pPr>
            <a:endParaRPr lang="en-US" sz="1700" u="none">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5</a:t>
            </a: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4</a:t>
            </a: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3</a:t>
            </a: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2</a:t>
            </a: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1</a:t>
            </a:r>
          </a:p>
          <a:p>
            <a:pPr>
              <a:lnSpc>
                <a:spcPct val="90000"/>
              </a:lnSpc>
              <a:spcBef>
                <a:spcPct val="30000"/>
              </a:spcBef>
            </a:pPr>
            <a:r>
              <a:rPr lang="en-US" sz="3400" b="1" u="none">
                <a:latin typeface="Arial" panose="020B0604020202020204" pitchFamily="34" charset="0"/>
              </a:rPr>
              <a:t>      </a:t>
            </a:r>
          </a:p>
        </p:txBody>
      </p:sp>
      <p:sp>
        <p:nvSpPr>
          <p:cNvPr id="31748" name="Rectangle 4"/>
          <p:cNvSpPr>
            <a:spLocks noChangeArrowheads="1"/>
          </p:cNvSpPr>
          <p:nvPr/>
        </p:nvSpPr>
        <p:spPr bwMode="auto">
          <a:xfrm>
            <a:off x="1560513" y="5364163"/>
            <a:ext cx="3735387" cy="903287"/>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sz="1700" u="none">
              <a:latin typeface="Arial" panose="020B0604020202020204" pitchFamily="34" charset="0"/>
            </a:endParaRPr>
          </a:p>
          <a:p>
            <a:endParaRPr lang="en-US" sz="1700" u="none">
              <a:latin typeface="Arial" panose="020B0604020202020204" pitchFamily="34" charset="0"/>
            </a:endParaRPr>
          </a:p>
          <a:p>
            <a:r>
              <a:rPr lang="en-US" sz="1700" u="none">
                <a:latin typeface="Arial" panose="020B0604020202020204" pitchFamily="34" charset="0"/>
              </a:rPr>
              <a:t>       </a:t>
            </a:r>
            <a:r>
              <a:rPr lang="en-US" sz="1700" u="none">
                <a:solidFill>
                  <a:srgbClr val="FFFFFF"/>
                </a:solidFill>
                <a:latin typeface="Arial" panose="020B0604020202020204" pitchFamily="34" charset="0"/>
              </a:rPr>
              <a:t>1        2        3        4        5       6</a:t>
            </a:r>
          </a:p>
        </p:txBody>
      </p:sp>
      <p:sp>
        <p:nvSpPr>
          <p:cNvPr id="31749" name="Line 5"/>
          <p:cNvSpPr>
            <a:spLocks noChangeShapeType="1"/>
          </p:cNvSpPr>
          <p:nvPr/>
        </p:nvSpPr>
        <p:spPr bwMode="auto">
          <a:xfrm>
            <a:off x="1689100" y="2332038"/>
            <a:ext cx="0" cy="3500437"/>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50" name="Line 6"/>
          <p:cNvSpPr>
            <a:spLocks noChangeShapeType="1"/>
          </p:cNvSpPr>
          <p:nvPr/>
        </p:nvSpPr>
        <p:spPr bwMode="auto">
          <a:xfrm>
            <a:off x="1689100" y="3605213"/>
            <a:ext cx="2120900" cy="2227262"/>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51" name="Rectangle 7"/>
          <p:cNvSpPr>
            <a:spLocks noChangeArrowheads="1"/>
          </p:cNvSpPr>
          <p:nvPr/>
        </p:nvSpPr>
        <p:spPr bwMode="auto">
          <a:xfrm>
            <a:off x="1454150" y="1811338"/>
            <a:ext cx="511175" cy="4921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p>
        </p:txBody>
      </p:sp>
      <p:sp>
        <p:nvSpPr>
          <p:cNvPr id="31752" name="Rectangle 8"/>
          <p:cNvSpPr>
            <a:spLocks noChangeArrowheads="1"/>
          </p:cNvSpPr>
          <p:nvPr/>
        </p:nvSpPr>
        <p:spPr bwMode="auto">
          <a:xfrm>
            <a:off x="5589588" y="1765300"/>
            <a:ext cx="2697162" cy="19526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Min  </a:t>
            </a:r>
            <a:r>
              <a:rPr lang="en-US" i="1" u="none">
                <a:solidFill>
                  <a:srgbClr val="FFFFFF"/>
                </a:solidFill>
                <a:effectLst>
                  <a:outerShdw blurRad="38100" dist="38100" dir="2700000" algn="tl">
                    <a:srgbClr val="000000"/>
                  </a:outerShdw>
                </a:effectLst>
                <a:latin typeface="Arial" panose="020B0604020202020204" pitchFamily="34" charset="0"/>
              </a:rPr>
              <a:t>z</a:t>
            </a:r>
            <a:r>
              <a:rPr lang="en-US" u="none">
                <a:solidFill>
                  <a:srgbClr val="FFFFFF"/>
                </a:solidFill>
                <a:effectLst>
                  <a:outerShdw blurRad="38100" dist="38100" dir="2700000" algn="tl">
                    <a:srgbClr val="000000"/>
                  </a:outerShdw>
                </a:effectLst>
                <a:latin typeface="Arial" panose="020B0604020202020204" pitchFamily="34" charset="0"/>
              </a:rPr>
              <a:t> =  5</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+ 2</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endParaRPr lang="en-US" u="none">
              <a:solidFill>
                <a:srgbClr val="FFFFFF"/>
              </a:solidFill>
              <a:effectLst>
                <a:outerShdw blurRad="38100" dist="38100" dir="2700000" algn="tl">
                  <a:srgbClr val="000000"/>
                </a:outerShdw>
              </a:effectLst>
              <a:latin typeface="Arial" panose="020B0604020202020204" pitchFamily="34" charset="0"/>
            </a:endParaRPr>
          </a:p>
          <a:p>
            <a:endParaRPr lang="en-US" u="none">
              <a:solidFill>
                <a:srgbClr val="FFFFFF"/>
              </a:solidFill>
              <a:effectLst>
                <a:outerShdw blurRad="38100" dist="38100" dir="2700000" algn="tl">
                  <a:srgbClr val="000000"/>
                </a:outerShdw>
              </a:effectLst>
              <a:latin typeface="Arial" panose="020B0604020202020204" pitchFamily="34" charset="0"/>
            </a:endParaRPr>
          </a:p>
          <a:p>
            <a:r>
              <a:rPr lang="en-US" u="none">
                <a:solidFill>
                  <a:srgbClr val="FFFFFF"/>
                </a:solidFill>
                <a:effectLst>
                  <a:outerShdw blurRad="38100" dist="38100" dir="2700000" algn="tl">
                    <a:srgbClr val="000000"/>
                  </a:outerShdw>
                </a:effectLst>
                <a:latin typeface="Arial" panose="020B0604020202020204" pitchFamily="34" charset="0"/>
              </a:rPr>
              <a:t>4</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12</a:t>
            </a:r>
          </a:p>
          <a:p>
            <a:endParaRPr lang="en-US" u="none">
              <a:solidFill>
                <a:srgbClr val="FFFFFF"/>
              </a:solidFill>
              <a:effectLst>
                <a:outerShdw blurRad="38100" dist="38100" dir="2700000" algn="tl">
                  <a:srgbClr val="000000"/>
                </a:outerShdw>
              </a:effectLst>
              <a:latin typeface="Arial" panose="020B0604020202020204" pitchFamily="34" charset="0"/>
            </a:endParaRPr>
          </a:p>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4</a:t>
            </a:r>
          </a:p>
        </p:txBody>
      </p:sp>
      <p:sp>
        <p:nvSpPr>
          <p:cNvPr id="31753" name="Rectangle 9"/>
          <p:cNvSpPr>
            <a:spLocks noChangeArrowheads="1"/>
          </p:cNvSpPr>
          <p:nvPr/>
        </p:nvSpPr>
        <p:spPr bwMode="auto">
          <a:xfrm>
            <a:off x="7710488" y="3773488"/>
            <a:ext cx="257175" cy="903287"/>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sz="1700" u="none">
              <a:latin typeface="Arial" panose="020B0604020202020204" pitchFamily="34" charset="0"/>
            </a:endParaRPr>
          </a:p>
          <a:p>
            <a:endParaRPr lang="en-US" sz="1700" u="none">
              <a:latin typeface="Arial" panose="020B0604020202020204" pitchFamily="34" charset="0"/>
            </a:endParaRPr>
          </a:p>
          <a:p>
            <a:endParaRPr lang="en-US" sz="1700" u="none">
              <a:latin typeface="Arial" panose="020B0604020202020204" pitchFamily="34" charset="0"/>
            </a:endParaRPr>
          </a:p>
        </p:txBody>
      </p:sp>
      <p:sp>
        <p:nvSpPr>
          <p:cNvPr id="31754" name="Rectangle 10"/>
          <p:cNvSpPr>
            <a:spLocks noChangeArrowheads="1"/>
          </p:cNvSpPr>
          <p:nvPr/>
        </p:nvSpPr>
        <p:spPr bwMode="auto">
          <a:xfrm>
            <a:off x="5589588" y="4298950"/>
            <a:ext cx="2757487" cy="1587500"/>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2</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+ 5</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10</a:t>
            </a:r>
          </a:p>
          <a:p>
            <a:endParaRPr lang="en-US" u="none">
              <a:solidFill>
                <a:srgbClr val="FFFFFF"/>
              </a:solidFill>
              <a:effectLst>
                <a:outerShdw blurRad="38100" dist="38100" dir="2700000" algn="tl">
                  <a:srgbClr val="000000"/>
                </a:outerShdw>
              </a:effectLst>
              <a:latin typeface="Arial" panose="020B0604020202020204" pitchFamily="34" charset="0"/>
            </a:endParaRPr>
          </a:p>
          <a:p>
            <a:r>
              <a:rPr lang="en-US" u="none">
                <a:solidFill>
                  <a:srgbClr val="FFFFFF"/>
                </a:solidFill>
                <a:effectLst>
                  <a:outerShdw blurRad="38100" dist="38100" dir="2700000" algn="tl">
                    <a:srgbClr val="000000"/>
                  </a:outerShdw>
                </a:effectLst>
                <a:latin typeface="Arial" panose="020B0604020202020204" pitchFamily="34" charset="0"/>
              </a:rPr>
              <a:t>Optimal: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16/5</a:t>
            </a:r>
          </a:p>
          <a:p>
            <a:r>
              <a:rPr lang="en-US" u="none">
                <a:solidFill>
                  <a:srgbClr val="FFFFFF"/>
                </a:solidFill>
                <a:effectLst>
                  <a:outerShdw blurRad="38100" dist="38100" dir="2700000" algn="tl">
                    <a:srgbClr val="000000"/>
                  </a:outerShdw>
                </a:effectLst>
                <a:latin typeface="Arial" panose="020B0604020202020204" pitchFamily="34" charset="0"/>
              </a:rPr>
              <a:t>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 4/5</a:t>
            </a:r>
          </a:p>
        </p:txBody>
      </p:sp>
      <p:sp>
        <p:nvSpPr>
          <p:cNvPr id="31755" name="Rectangle 11"/>
          <p:cNvSpPr>
            <a:spLocks noChangeArrowheads="1"/>
          </p:cNvSpPr>
          <p:nvPr/>
        </p:nvSpPr>
        <p:spPr bwMode="auto">
          <a:xfrm>
            <a:off x="5513388" y="5599113"/>
            <a:ext cx="511175" cy="4921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p>
        </p:txBody>
      </p:sp>
      <p:sp>
        <p:nvSpPr>
          <p:cNvPr id="31756" name="Line 12"/>
          <p:cNvSpPr>
            <a:spLocks noChangeShapeType="1"/>
          </p:cNvSpPr>
          <p:nvPr/>
        </p:nvSpPr>
        <p:spPr bwMode="auto">
          <a:xfrm flipV="1">
            <a:off x="4127500" y="2757488"/>
            <a:ext cx="1273175" cy="104775"/>
          </a:xfrm>
          <a:prstGeom prst="line">
            <a:avLst/>
          </a:prstGeom>
          <a:noFill/>
          <a:ln w="12700">
            <a:solidFill>
              <a:schemeClr val="tx1"/>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57" name="Line 13"/>
          <p:cNvSpPr>
            <a:spLocks noChangeShapeType="1"/>
          </p:cNvSpPr>
          <p:nvPr/>
        </p:nvSpPr>
        <p:spPr bwMode="auto">
          <a:xfrm flipV="1">
            <a:off x="3492500" y="5195888"/>
            <a:ext cx="1908175" cy="211137"/>
          </a:xfrm>
          <a:prstGeom prst="line">
            <a:avLst/>
          </a:prstGeom>
          <a:noFill/>
          <a:ln w="12700">
            <a:solidFill>
              <a:schemeClr val="tx1"/>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58" name="Line 14"/>
          <p:cNvSpPr>
            <a:spLocks noChangeShapeType="1"/>
          </p:cNvSpPr>
          <p:nvPr/>
        </p:nvSpPr>
        <p:spPr bwMode="auto">
          <a:xfrm flipH="1">
            <a:off x="3992563" y="6045200"/>
            <a:ext cx="423862" cy="211138"/>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59" name="Line 15"/>
          <p:cNvSpPr>
            <a:spLocks noChangeShapeType="1"/>
          </p:cNvSpPr>
          <p:nvPr/>
        </p:nvSpPr>
        <p:spPr bwMode="auto">
          <a:xfrm flipH="1">
            <a:off x="2401888" y="2014538"/>
            <a:ext cx="422275" cy="211137"/>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60" name="Rectangle 16"/>
          <p:cNvSpPr>
            <a:spLocks noChangeArrowheads="1"/>
          </p:cNvSpPr>
          <p:nvPr/>
        </p:nvSpPr>
        <p:spPr bwMode="auto">
          <a:xfrm>
            <a:off x="4964113" y="3827463"/>
            <a:ext cx="257175" cy="125412"/>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31761" name="Oval 17"/>
          <p:cNvSpPr>
            <a:spLocks noChangeArrowheads="1"/>
          </p:cNvSpPr>
          <p:nvPr/>
        </p:nvSpPr>
        <p:spPr bwMode="auto">
          <a:xfrm>
            <a:off x="4451350" y="4143375"/>
            <a:ext cx="95250" cy="92075"/>
          </a:xfrm>
          <a:prstGeom prst="ellipse">
            <a:avLst/>
          </a:prstGeom>
          <a:solidFill>
            <a:schemeClr val="tx1"/>
          </a:solidFill>
          <a:ln w="12700">
            <a:solidFill>
              <a:schemeClr val="tx1"/>
            </a:solidFill>
            <a:round/>
            <a:headEnd/>
            <a:tailEnd/>
          </a:ln>
          <a:effectLst>
            <a:outerShdw dist="17961" dir="2700000" algn="ctr" rotWithShape="0">
              <a:srgbClr val="000000"/>
            </a:outerShdw>
          </a:effectLst>
        </p:spPr>
        <p:txBody>
          <a:bodyPr wrap="none" anchor="ctr"/>
          <a:lstStyle/>
          <a:p>
            <a:endParaRPr lang="en-US"/>
          </a:p>
        </p:txBody>
      </p:sp>
      <p:sp>
        <p:nvSpPr>
          <p:cNvPr id="31762" name="Freeform 18"/>
          <p:cNvSpPr>
            <a:spLocks/>
          </p:cNvSpPr>
          <p:nvPr/>
        </p:nvSpPr>
        <p:spPr bwMode="auto">
          <a:xfrm>
            <a:off x="3476625" y="2011363"/>
            <a:ext cx="1927225" cy="3822700"/>
          </a:xfrm>
          <a:custGeom>
            <a:avLst/>
            <a:gdLst>
              <a:gd name="T0" fmla="*/ 0 w 1214"/>
              <a:gd name="T1" fmla="*/ 2155 h 2408"/>
              <a:gd name="T2" fmla="*/ 495 w 1214"/>
              <a:gd name="T3" fmla="*/ 0 h 2408"/>
              <a:gd name="T4" fmla="*/ 1213 w 1214"/>
              <a:gd name="T5" fmla="*/ 0 h 2408"/>
              <a:gd name="T6" fmla="*/ 1212 w 1214"/>
              <a:gd name="T7" fmla="*/ 2407 h 2408"/>
              <a:gd name="T8" fmla="*/ 678 w 1214"/>
              <a:gd name="T9" fmla="*/ 2407 h 2408"/>
              <a:gd name="T10" fmla="*/ 0 w 1214"/>
              <a:gd name="T11" fmla="*/ 2155 h 2408"/>
            </a:gdLst>
            <a:ahLst/>
            <a:cxnLst>
              <a:cxn ang="0">
                <a:pos x="T0" y="T1"/>
              </a:cxn>
              <a:cxn ang="0">
                <a:pos x="T2" y="T3"/>
              </a:cxn>
              <a:cxn ang="0">
                <a:pos x="T4" y="T5"/>
              </a:cxn>
              <a:cxn ang="0">
                <a:pos x="T6" y="T7"/>
              </a:cxn>
              <a:cxn ang="0">
                <a:pos x="T8" y="T9"/>
              </a:cxn>
              <a:cxn ang="0">
                <a:pos x="T10" y="T11"/>
              </a:cxn>
            </a:cxnLst>
            <a:rect l="0" t="0" r="r" b="b"/>
            <a:pathLst>
              <a:path w="1214" h="2408">
                <a:moveTo>
                  <a:pt x="0" y="2155"/>
                </a:moveTo>
                <a:lnTo>
                  <a:pt x="495" y="0"/>
                </a:lnTo>
                <a:lnTo>
                  <a:pt x="1213" y="0"/>
                </a:lnTo>
                <a:lnTo>
                  <a:pt x="1212" y="2407"/>
                </a:lnTo>
                <a:lnTo>
                  <a:pt x="678" y="2407"/>
                </a:lnTo>
                <a:lnTo>
                  <a:pt x="0" y="2155"/>
                </a:lnTo>
              </a:path>
            </a:pathLst>
          </a:custGeom>
          <a:solidFill>
            <a:schemeClr val="folHlink"/>
          </a:solidFill>
          <a:ln>
            <a:noFill/>
          </a:ln>
          <a:effectLst>
            <a:outerShdw dist="17961" dir="2700000" algn="ctr" rotWithShape="0">
              <a:srgbClr val="000000"/>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31763" name="Line 19"/>
          <p:cNvSpPr>
            <a:spLocks noChangeShapeType="1"/>
          </p:cNvSpPr>
          <p:nvPr/>
        </p:nvSpPr>
        <p:spPr bwMode="auto">
          <a:xfrm flipV="1">
            <a:off x="3068638" y="1981200"/>
            <a:ext cx="2493962" cy="455613"/>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64" name="Line 20"/>
          <p:cNvSpPr>
            <a:spLocks noChangeShapeType="1"/>
          </p:cNvSpPr>
          <p:nvPr/>
        </p:nvSpPr>
        <p:spPr bwMode="auto">
          <a:xfrm flipV="1">
            <a:off x="2112963" y="3500438"/>
            <a:ext cx="3394075" cy="315912"/>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65" name="Line 21"/>
          <p:cNvSpPr>
            <a:spLocks noChangeShapeType="1"/>
          </p:cNvSpPr>
          <p:nvPr/>
        </p:nvSpPr>
        <p:spPr bwMode="auto">
          <a:xfrm flipV="1">
            <a:off x="2325688" y="4560888"/>
            <a:ext cx="3286125" cy="315912"/>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66" name="Line 22"/>
          <p:cNvSpPr>
            <a:spLocks noChangeShapeType="1"/>
          </p:cNvSpPr>
          <p:nvPr/>
        </p:nvSpPr>
        <p:spPr bwMode="auto">
          <a:xfrm flipV="1">
            <a:off x="3703638" y="5195888"/>
            <a:ext cx="1803400" cy="211137"/>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67" name="Line 23"/>
          <p:cNvSpPr>
            <a:spLocks noChangeShapeType="1"/>
          </p:cNvSpPr>
          <p:nvPr/>
        </p:nvSpPr>
        <p:spPr bwMode="auto">
          <a:xfrm flipH="1" flipV="1">
            <a:off x="2857500" y="2014538"/>
            <a:ext cx="1587500" cy="4030662"/>
          </a:xfrm>
          <a:prstGeom prst="line">
            <a:avLst/>
          </a:prstGeom>
          <a:noFill/>
          <a:ln w="508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68" name="Line 24"/>
          <p:cNvSpPr>
            <a:spLocks noChangeShapeType="1"/>
          </p:cNvSpPr>
          <p:nvPr/>
        </p:nvSpPr>
        <p:spPr bwMode="auto">
          <a:xfrm>
            <a:off x="4127500" y="2757488"/>
            <a:ext cx="1379538" cy="0"/>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69" name="Line 25"/>
          <p:cNvSpPr>
            <a:spLocks noChangeShapeType="1"/>
          </p:cNvSpPr>
          <p:nvPr/>
        </p:nvSpPr>
        <p:spPr bwMode="auto">
          <a:xfrm>
            <a:off x="1689100" y="4772025"/>
            <a:ext cx="2863850" cy="106045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70" name="Line 26"/>
          <p:cNvSpPr>
            <a:spLocks noChangeShapeType="1"/>
          </p:cNvSpPr>
          <p:nvPr/>
        </p:nvSpPr>
        <p:spPr bwMode="auto">
          <a:xfrm>
            <a:off x="1689100" y="5832475"/>
            <a:ext cx="3711575" cy="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71" name="Line 27"/>
          <p:cNvSpPr>
            <a:spLocks noChangeShapeType="1"/>
          </p:cNvSpPr>
          <p:nvPr/>
        </p:nvSpPr>
        <p:spPr bwMode="auto">
          <a:xfrm flipV="1">
            <a:off x="3386138" y="1981200"/>
            <a:ext cx="881062" cy="3851275"/>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72" name="Oval 28"/>
          <p:cNvSpPr>
            <a:spLocks noChangeArrowheads="1"/>
          </p:cNvSpPr>
          <p:nvPr/>
        </p:nvSpPr>
        <p:spPr bwMode="auto">
          <a:xfrm>
            <a:off x="3446463" y="5394325"/>
            <a:ext cx="68262" cy="68263"/>
          </a:xfrm>
          <a:prstGeom prst="ellipse">
            <a:avLst/>
          </a:prstGeom>
          <a:solidFill>
            <a:srgbClr val="FFFFFF"/>
          </a:solidFill>
          <a:ln w="12700">
            <a:solidFill>
              <a:srgbClr val="FFFFFF"/>
            </a:solidFill>
            <a:round/>
            <a:headEnd/>
            <a:tailEnd/>
          </a:ln>
          <a:effectLst>
            <a:outerShdw dist="17961" dir="2700000" algn="ctr" rotWithShape="0">
              <a:srgbClr val="000000"/>
            </a:outerShdw>
          </a:effectLst>
        </p:spPr>
        <p:txBody>
          <a:bodyPr wrap="none" anchor="ctr"/>
          <a:lstStyle/>
          <a:p>
            <a:endParaRPr lang="en-US"/>
          </a:p>
        </p:txBody>
      </p:sp>
    </p:spTree>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noFill/>
          <a:ln/>
        </p:spPr>
        <p:txBody>
          <a:bodyPr/>
          <a:lstStyle/>
          <a:p>
            <a:r>
              <a:rPr lang="en-US"/>
              <a:t>Sensitivity Analysis</a:t>
            </a:r>
          </a:p>
        </p:txBody>
      </p:sp>
      <p:sp>
        <p:nvSpPr>
          <p:cNvPr id="33795" name="Rectangle 3"/>
          <p:cNvSpPr>
            <a:spLocks noGrp="1" noChangeArrowheads="1"/>
          </p:cNvSpPr>
          <p:nvPr>
            <p:ph type="body" idx="1"/>
          </p:nvPr>
        </p:nvSpPr>
        <p:spPr>
          <a:noFill/>
          <a:ln/>
        </p:spPr>
        <p:txBody>
          <a:bodyPr/>
          <a:lstStyle/>
          <a:p>
            <a:r>
              <a:rPr lang="en-US" u="sng"/>
              <a:t>Sensitivity analysis</a:t>
            </a:r>
            <a:r>
              <a:rPr lang="en-US"/>
              <a:t> is used to determine effects on the optimal solution within specified ranges for the objective function coefficients, constraint coefficients, and right hand side values. </a:t>
            </a:r>
          </a:p>
          <a:p>
            <a:r>
              <a:rPr lang="en-US"/>
              <a:t>Sensitivity analysis provides answers to certain what-if questions.</a:t>
            </a:r>
          </a:p>
        </p:txBody>
      </p:sp>
    </p:spTree>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a:lstStyle/>
          <a:p>
            <a:r>
              <a:rPr lang="en-US"/>
              <a:t>Range of Optimality</a:t>
            </a:r>
          </a:p>
        </p:txBody>
      </p:sp>
      <p:sp>
        <p:nvSpPr>
          <p:cNvPr id="35843" name="Rectangle 3"/>
          <p:cNvSpPr>
            <a:spLocks noGrp="1" noChangeArrowheads="1"/>
          </p:cNvSpPr>
          <p:nvPr>
            <p:ph type="body" idx="1"/>
          </p:nvPr>
        </p:nvSpPr>
        <p:spPr>
          <a:noFill/>
          <a:ln/>
        </p:spPr>
        <p:txBody>
          <a:bodyPr/>
          <a:lstStyle/>
          <a:p>
            <a:r>
              <a:rPr lang="en-US"/>
              <a:t>A </a:t>
            </a:r>
            <a:r>
              <a:rPr lang="en-US" u="sng"/>
              <a:t>range of optimality</a:t>
            </a:r>
            <a:r>
              <a:rPr lang="en-US"/>
              <a:t> of an objective function coefficient is found by determining an interval for the objective function coefficient in which the original optimal solution remains optimal while keeping all other data of the problem constant.  The value of the objective function may change in this range.</a:t>
            </a:r>
          </a:p>
          <a:p>
            <a:r>
              <a:rPr lang="en-US"/>
              <a:t>Graphically, the limits of a range of optimality are found by changing the slope of the objective function line within the limits of the slopes of the binding constraint lines.  (This would also apply to simultaneous changes in the objective coefficients.)</a:t>
            </a:r>
          </a:p>
          <a:p>
            <a:r>
              <a:rPr lang="en-US"/>
              <a:t>The slope of an objective function line, Max </a:t>
            </a:r>
            <a:r>
              <a:rPr lang="en-US" i="1"/>
              <a:t>c</a:t>
            </a:r>
            <a:r>
              <a:rPr lang="en-US" baseline="-25000"/>
              <a:t>1</a:t>
            </a:r>
            <a:r>
              <a:rPr lang="en-US" i="1"/>
              <a:t>x</a:t>
            </a:r>
            <a:r>
              <a:rPr lang="en-US" baseline="-25000"/>
              <a:t>1</a:t>
            </a:r>
            <a:r>
              <a:rPr lang="en-US"/>
              <a:t> + </a:t>
            </a:r>
            <a:r>
              <a:rPr lang="en-US" i="1"/>
              <a:t>c</a:t>
            </a:r>
            <a:r>
              <a:rPr lang="en-US" baseline="-25000"/>
              <a:t>2</a:t>
            </a:r>
            <a:r>
              <a:rPr lang="en-US" i="1"/>
              <a:t>x</a:t>
            </a:r>
            <a:r>
              <a:rPr lang="en-US" baseline="-25000"/>
              <a:t>2</a:t>
            </a:r>
            <a:r>
              <a:rPr lang="en-US"/>
              <a:t>, is -</a:t>
            </a:r>
            <a:r>
              <a:rPr lang="en-US" i="1"/>
              <a:t>c</a:t>
            </a:r>
            <a:r>
              <a:rPr lang="en-US" baseline="-25000"/>
              <a:t>1</a:t>
            </a:r>
            <a:r>
              <a:rPr lang="en-US"/>
              <a:t>/</a:t>
            </a:r>
            <a:r>
              <a:rPr lang="en-US" i="1"/>
              <a:t>c</a:t>
            </a:r>
            <a:r>
              <a:rPr lang="en-US" baseline="-25000"/>
              <a:t>2</a:t>
            </a:r>
            <a:r>
              <a:rPr lang="en-US"/>
              <a:t>, and the slope of a constraint, </a:t>
            </a:r>
            <a:r>
              <a:rPr lang="en-US" i="1"/>
              <a:t>a</a:t>
            </a:r>
            <a:r>
              <a:rPr lang="en-US" baseline="-25000"/>
              <a:t>1</a:t>
            </a:r>
            <a:r>
              <a:rPr lang="en-US" i="1"/>
              <a:t>x</a:t>
            </a:r>
            <a:r>
              <a:rPr lang="en-US" baseline="-25000"/>
              <a:t>1</a:t>
            </a:r>
            <a:r>
              <a:rPr lang="en-US"/>
              <a:t> + </a:t>
            </a:r>
            <a:r>
              <a:rPr lang="en-US" i="1"/>
              <a:t>a</a:t>
            </a:r>
            <a:r>
              <a:rPr lang="en-US" baseline="-25000"/>
              <a:t>2</a:t>
            </a:r>
            <a:r>
              <a:rPr lang="en-US" i="1"/>
              <a:t>x</a:t>
            </a:r>
            <a:r>
              <a:rPr lang="en-US" baseline="-25000"/>
              <a:t>2</a:t>
            </a:r>
            <a:r>
              <a:rPr lang="en-US"/>
              <a:t> = </a:t>
            </a:r>
            <a:r>
              <a:rPr lang="en-US" i="1"/>
              <a:t>b</a:t>
            </a:r>
            <a:r>
              <a:rPr lang="en-US"/>
              <a:t>, is   -</a:t>
            </a:r>
            <a:r>
              <a:rPr lang="en-US" i="1"/>
              <a:t>a</a:t>
            </a:r>
            <a:r>
              <a:rPr lang="en-US" baseline="-25000"/>
              <a:t>1</a:t>
            </a:r>
            <a:r>
              <a:rPr lang="en-US"/>
              <a:t>/</a:t>
            </a:r>
            <a:r>
              <a:rPr lang="en-US" i="1"/>
              <a:t>a</a:t>
            </a:r>
            <a:r>
              <a:rPr lang="en-US" baseline="-25000"/>
              <a:t>2</a:t>
            </a:r>
            <a:r>
              <a:rPr lang="en-US"/>
              <a:t>.</a:t>
            </a:r>
          </a:p>
        </p:txBody>
      </p:sp>
    </p:spTree>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ln/>
        </p:spPr>
        <p:txBody>
          <a:bodyPr/>
          <a:lstStyle/>
          <a:p>
            <a:r>
              <a:rPr lang="en-US"/>
              <a:t>Example:  Sensitivity Analysis</a:t>
            </a:r>
          </a:p>
        </p:txBody>
      </p:sp>
      <p:sp>
        <p:nvSpPr>
          <p:cNvPr id="44035" name="Rectangle 3"/>
          <p:cNvSpPr>
            <a:spLocks noGrp="1" noChangeArrowheads="1"/>
          </p:cNvSpPr>
          <p:nvPr>
            <p:ph type="body" idx="1"/>
          </p:nvPr>
        </p:nvSpPr>
        <p:spPr>
          <a:noFill/>
          <a:ln/>
        </p:spPr>
        <p:txBody>
          <a:bodyPr/>
          <a:lstStyle/>
          <a:p>
            <a:r>
              <a:rPr lang="en-US">
                <a:solidFill>
                  <a:schemeClr val="tx2"/>
                </a:solidFill>
              </a:rPr>
              <a:t>Solve graphically for the optimal solution:</a:t>
            </a:r>
          </a:p>
          <a:p>
            <a:pPr>
              <a:buFont typeface="Monotype Sorts" pitchFamily="2" charset="2"/>
              <a:buNone/>
            </a:pPr>
            <a:r>
              <a:rPr lang="en-US"/>
              <a:t>                         </a:t>
            </a:r>
          </a:p>
          <a:p>
            <a:pPr>
              <a:buFont typeface="Monotype Sorts" pitchFamily="2" charset="2"/>
              <a:buNone/>
            </a:pPr>
            <a:r>
              <a:rPr lang="en-US"/>
              <a:t>			 Max    </a:t>
            </a:r>
            <a:r>
              <a:rPr lang="en-US" i="1"/>
              <a:t>z</a:t>
            </a:r>
            <a:r>
              <a:rPr lang="en-US"/>
              <a:t> = 5</a:t>
            </a:r>
            <a:r>
              <a:rPr lang="en-US" i="1"/>
              <a:t>x</a:t>
            </a:r>
            <a:r>
              <a:rPr lang="en-US" baseline="-25000"/>
              <a:t>1</a:t>
            </a:r>
            <a:r>
              <a:rPr lang="en-US"/>
              <a:t> + 7</a:t>
            </a:r>
            <a:r>
              <a:rPr lang="en-US" i="1"/>
              <a:t>x</a:t>
            </a:r>
            <a:r>
              <a:rPr lang="en-US" baseline="-25000"/>
              <a:t>2</a:t>
            </a:r>
            <a:endParaRPr lang="en-US"/>
          </a:p>
          <a:p>
            <a:pPr>
              <a:buFont typeface="Monotype Sorts" pitchFamily="2" charset="2"/>
              <a:buNone/>
            </a:pPr>
            <a:endParaRPr lang="en-US"/>
          </a:p>
          <a:p>
            <a:pPr>
              <a:buFont typeface="Monotype Sorts" pitchFamily="2" charset="2"/>
              <a:buNone/>
            </a:pPr>
            <a:r>
              <a:rPr lang="en-US"/>
              <a:t>                         s.t.               </a:t>
            </a:r>
            <a:r>
              <a:rPr lang="en-US" i="1"/>
              <a:t>x</a:t>
            </a:r>
            <a:r>
              <a:rPr lang="en-US" baseline="-25000"/>
              <a:t>1</a:t>
            </a:r>
            <a:r>
              <a:rPr lang="en-US"/>
              <a:t>            </a:t>
            </a:r>
            <a:r>
              <a:rPr lang="en-US" u="sng"/>
              <a:t>&lt;</a:t>
            </a:r>
            <a:r>
              <a:rPr lang="en-US"/>
              <a:t>   6</a:t>
            </a:r>
          </a:p>
          <a:p>
            <a:pPr>
              <a:buFont typeface="Monotype Sorts" pitchFamily="2" charset="2"/>
              <a:buNone/>
            </a:pPr>
            <a:r>
              <a:rPr lang="en-US"/>
              <a:t>                                           2</a:t>
            </a:r>
            <a:r>
              <a:rPr lang="en-US" i="1"/>
              <a:t>x</a:t>
            </a:r>
            <a:r>
              <a:rPr lang="en-US" baseline="-25000"/>
              <a:t>1</a:t>
            </a:r>
            <a:r>
              <a:rPr lang="en-US"/>
              <a:t> + 3</a:t>
            </a:r>
            <a:r>
              <a:rPr lang="en-US" i="1"/>
              <a:t>x</a:t>
            </a:r>
            <a:r>
              <a:rPr lang="en-US" baseline="-25000"/>
              <a:t>2</a:t>
            </a:r>
            <a:r>
              <a:rPr lang="en-US"/>
              <a:t>  </a:t>
            </a:r>
            <a:r>
              <a:rPr lang="en-US" u="sng"/>
              <a:t>&lt;</a:t>
            </a:r>
            <a:r>
              <a:rPr lang="en-US"/>
              <a:t>  19</a:t>
            </a:r>
          </a:p>
          <a:p>
            <a:pPr>
              <a:buFont typeface="Monotype Sorts" pitchFamily="2" charset="2"/>
              <a:buNone/>
            </a:pPr>
            <a:r>
              <a:rPr lang="en-US"/>
              <a:t>                                             </a:t>
            </a:r>
            <a:r>
              <a:rPr lang="en-US" i="1"/>
              <a:t>x</a:t>
            </a:r>
            <a:r>
              <a:rPr lang="en-US" baseline="-25000"/>
              <a:t>1</a:t>
            </a:r>
            <a:r>
              <a:rPr lang="en-US"/>
              <a:t> +   </a:t>
            </a:r>
            <a:r>
              <a:rPr lang="en-US" i="1"/>
              <a:t>x</a:t>
            </a:r>
            <a:r>
              <a:rPr lang="en-US" baseline="-25000"/>
              <a:t>2</a:t>
            </a:r>
            <a:r>
              <a:rPr lang="en-US"/>
              <a:t>  </a:t>
            </a:r>
            <a:r>
              <a:rPr lang="en-US" u="sng"/>
              <a:t>&lt;</a:t>
            </a:r>
            <a:r>
              <a:rPr lang="en-US"/>
              <a:t>   8</a:t>
            </a:r>
          </a:p>
          <a:p>
            <a:pPr>
              <a:buFont typeface="Monotype Sorts" pitchFamily="2" charset="2"/>
              <a:buNone/>
            </a:pPr>
            <a:endParaRPr lang="en-US"/>
          </a:p>
          <a:p>
            <a:pPr>
              <a:buFont typeface="Monotype Sorts" pitchFamily="2" charset="2"/>
              <a:buNone/>
            </a:pPr>
            <a:r>
              <a:rPr lang="en-US"/>
              <a:t>                                     	  </a:t>
            </a:r>
            <a:r>
              <a:rPr lang="en-US" i="1"/>
              <a:t>x</a:t>
            </a:r>
            <a:r>
              <a:rPr lang="en-US" baseline="-25000"/>
              <a:t>1</a:t>
            </a:r>
            <a:r>
              <a:rPr lang="en-US"/>
              <a:t>, </a:t>
            </a:r>
            <a:r>
              <a:rPr lang="en-US" i="1"/>
              <a:t>x</a:t>
            </a:r>
            <a:r>
              <a:rPr lang="en-US" baseline="-25000"/>
              <a:t>2</a:t>
            </a:r>
            <a:r>
              <a:rPr lang="en-US"/>
              <a:t> </a:t>
            </a:r>
            <a:r>
              <a:rPr lang="en-US" u="sng"/>
              <a:t>&gt;</a:t>
            </a:r>
            <a:r>
              <a:rPr lang="en-US"/>
              <a:t> 0</a:t>
            </a:r>
          </a:p>
        </p:txBody>
      </p:sp>
    </p:spTree>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766763" y="252413"/>
            <a:ext cx="7772400" cy="585787"/>
          </a:xfrm>
          <a:noFill/>
          <a:ln/>
        </p:spPr>
        <p:txBody>
          <a:bodyPr/>
          <a:lstStyle/>
          <a:p>
            <a:r>
              <a:rPr lang="en-US"/>
              <a:t>Example:  Sensitivity Analysis</a:t>
            </a:r>
          </a:p>
        </p:txBody>
      </p:sp>
      <p:sp>
        <p:nvSpPr>
          <p:cNvPr id="46083" name="Rectangle 3"/>
          <p:cNvSpPr>
            <a:spLocks noGrp="1" noChangeArrowheads="1"/>
          </p:cNvSpPr>
          <p:nvPr>
            <p:ph type="body" idx="1"/>
          </p:nvPr>
        </p:nvSpPr>
        <p:spPr>
          <a:xfrm>
            <a:off x="785813" y="957263"/>
            <a:ext cx="7772400" cy="4381500"/>
          </a:xfrm>
          <a:noFill/>
          <a:ln/>
        </p:spPr>
        <p:txBody>
          <a:bodyPr/>
          <a:lstStyle/>
          <a:p>
            <a:r>
              <a:rPr lang="en-US">
                <a:solidFill>
                  <a:schemeClr val="tx2"/>
                </a:solidFill>
              </a:rPr>
              <a:t>Graphical Solution</a:t>
            </a:r>
          </a:p>
        </p:txBody>
      </p:sp>
      <p:sp>
        <p:nvSpPr>
          <p:cNvPr id="46084" name="Rectangle 4"/>
          <p:cNvSpPr>
            <a:spLocks noChangeArrowheads="1"/>
          </p:cNvSpPr>
          <p:nvPr/>
        </p:nvSpPr>
        <p:spPr bwMode="auto">
          <a:xfrm>
            <a:off x="1752600" y="1905000"/>
            <a:ext cx="53340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85750" indent="-285750">
              <a:defRPr sz="2400">
                <a:solidFill>
                  <a:schemeClr val="tx1"/>
                </a:solidFill>
                <a:latin typeface="Times New Roman" panose="02020603050405020304" pitchFamily="18" charset="0"/>
              </a:defRPr>
            </a:lvl1pPr>
            <a:lvl2pPr marL="685800" indent="-22860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543050" indent="-171450">
              <a:defRPr sz="2400">
                <a:solidFill>
                  <a:schemeClr val="tx1"/>
                </a:solidFill>
                <a:latin typeface="Times New Roman" panose="02020603050405020304" pitchFamily="18" charset="0"/>
              </a:defRPr>
            </a:lvl4pPr>
            <a:lvl5pPr marL="2000250" indent="-171450">
              <a:defRPr sz="2400">
                <a:solidFill>
                  <a:schemeClr val="tx1"/>
                </a:solidFill>
                <a:latin typeface="Times New Roman" panose="02020603050405020304" pitchFamily="18" charset="0"/>
              </a:defRPr>
            </a:lvl5pPr>
            <a:lvl6pPr marL="2457450" indent="-171450" eaLnBrk="0" fontAlgn="base" hangingPunct="0">
              <a:spcBef>
                <a:spcPct val="0"/>
              </a:spcBef>
              <a:spcAft>
                <a:spcPct val="0"/>
              </a:spcAft>
              <a:defRPr sz="2400">
                <a:solidFill>
                  <a:schemeClr val="tx1"/>
                </a:solidFill>
                <a:latin typeface="Times New Roman" panose="02020603050405020304" pitchFamily="18" charset="0"/>
              </a:defRPr>
            </a:lvl6pPr>
            <a:lvl7pPr marL="2914650" indent="-171450" eaLnBrk="0" fontAlgn="base" hangingPunct="0">
              <a:spcBef>
                <a:spcPct val="0"/>
              </a:spcBef>
              <a:spcAft>
                <a:spcPct val="0"/>
              </a:spcAft>
              <a:defRPr sz="2400">
                <a:solidFill>
                  <a:schemeClr val="tx1"/>
                </a:solidFill>
                <a:latin typeface="Times New Roman" panose="02020603050405020304" pitchFamily="18" charset="0"/>
              </a:defRPr>
            </a:lvl7pPr>
            <a:lvl8pPr marL="3371850" indent="-171450" eaLnBrk="0" fontAlgn="base" hangingPunct="0">
              <a:spcBef>
                <a:spcPct val="0"/>
              </a:spcBef>
              <a:spcAft>
                <a:spcPct val="0"/>
              </a:spcAft>
              <a:defRPr sz="2400">
                <a:solidFill>
                  <a:schemeClr val="tx1"/>
                </a:solidFill>
                <a:latin typeface="Times New Roman" panose="02020603050405020304" pitchFamily="18" charset="0"/>
              </a:defRPr>
            </a:lvl8pPr>
            <a:lvl9pPr marL="3829050" indent="-17145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30000"/>
              </a:spcBef>
            </a:pPr>
            <a:endParaRPr lang="en-US" sz="1200" u="none">
              <a:latin typeface="Arial" panose="020B0604020202020204" pitchFamily="34" charset="0"/>
            </a:endParaRPr>
          </a:p>
          <a:p>
            <a:pPr>
              <a:lnSpc>
                <a:spcPct val="90000"/>
              </a:lnSpc>
              <a:spcBef>
                <a:spcPct val="30000"/>
              </a:spcBef>
            </a:pPr>
            <a:r>
              <a:rPr lang="en-US" sz="1200" u="none">
                <a:solidFill>
                  <a:srgbClr val="FFFFFF"/>
                </a:solidFill>
                <a:effectLst>
                  <a:outerShdw blurRad="38100" dist="38100" dir="2700000" algn="tl">
                    <a:srgbClr val="000000"/>
                  </a:outerShdw>
                </a:effectLst>
                <a:latin typeface="Arial" panose="020B0604020202020204" pitchFamily="34" charset="0"/>
              </a:rPr>
              <a:t>8</a:t>
            </a:r>
          </a:p>
          <a:p>
            <a:pPr>
              <a:lnSpc>
                <a:spcPct val="90000"/>
              </a:lnSpc>
              <a:spcBef>
                <a:spcPct val="30000"/>
              </a:spcBef>
            </a:pPr>
            <a:endParaRPr lang="en-US" sz="1200" u="none">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200" u="none">
                <a:solidFill>
                  <a:srgbClr val="FFFFFF"/>
                </a:solidFill>
                <a:effectLst>
                  <a:outerShdw blurRad="38100" dist="38100" dir="2700000" algn="tl">
                    <a:srgbClr val="000000"/>
                  </a:outerShdw>
                </a:effectLst>
                <a:latin typeface="Arial" panose="020B0604020202020204" pitchFamily="34" charset="0"/>
              </a:rPr>
              <a:t>7</a:t>
            </a:r>
          </a:p>
          <a:p>
            <a:pPr>
              <a:lnSpc>
                <a:spcPct val="90000"/>
              </a:lnSpc>
              <a:spcBef>
                <a:spcPct val="30000"/>
              </a:spcBef>
            </a:pPr>
            <a:endParaRPr lang="en-US" sz="1200" u="none">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200" u="none">
                <a:solidFill>
                  <a:srgbClr val="FFFFFF"/>
                </a:solidFill>
                <a:effectLst>
                  <a:outerShdw blurRad="38100" dist="38100" dir="2700000" algn="tl">
                    <a:srgbClr val="000000"/>
                  </a:outerShdw>
                </a:effectLst>
                <a:latin typeface="Arial" panose="020B0604020202020204" pitchFamily="34" charset="0"/>
              </a:rPr>
              <a:t>6</a:t>
            </a:r>
          </a:p>
          <a:p>
            <a:pPr>
              <a:lnSpc>
                <a:spcPct val="90000"/>
              </a:lnSpc>
              <a:spcBef>
                <a:spcPct val="30000"/>
              </a:spcBef>
            </a:pPr>
            <a:endParaRPr lang="en-US" sz="1200" u="none">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200" u="none">
                <a:solidFill>
                  <a:srgbClr val="FFFFFF"/>
                </a:solidFill>
                <a:effectLst>
                  <a:outerShdw blurRad="38100" dist="38100" dir="2700000" algn="tl">
                    <a:srgbClr val="000000"/>
                  </a:outerShdw>
                </a:effectLst>
                <a:latin typeface="Arial" panose="020B0604020202020204" pitchFamily="34" charset="0"/>
              </a:rPr>
              <a:t>5</a:t>
            </a:r>
          </a:p>
          <a:p>
            <a:pPr>
              <a:lnSpc>
                <a:spcPct val="90000"/>
              </a:lnSpc>
              <a:spcBef>
                <a:spcPct val="30000"/>
              </a:spcBef>
            </a:pPr>
            <a:endParaRPr lang="en-US" sz="1200" u="none">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200" u="none">
                <a:solidFill>
                  <a:srgbClr val="FFFFFF"/>
                </a:solidFill>
                <a:effectLst>
                  <a:outerShdw blurRad="38100" dist="38100" dir="2700000" algn="tl">
                    <a:srgbClr val="000000"/>
                  </a:outerShdw>
                </a:effectLst>
                <a:latin typeface="Arial" panose="020B0604020202020204" pitchFamily="34" charset="0"/>
              </a:rPr>
              <a:t>4</a:t>
            </a:r>
          </a:p>
          <a:p>
            <a:pPr>
              <a:lnSpc>
                <a:spcPct val="90000"/>
              </a:lnSpc>
              <a:spcBef>
                <a:spcPct val="30000"/>
              </a:spcBef>
            </a:pPr>
            <a:endParaRPr lang="en-US" sz="1200" u="none">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200" u="none">
                <a:solidFill>
                  <a:srgbClr val="FFFFFF"/>
                </a:solidFill>
                <a:effectLst>
                  <a:outerShdw blurRad="38100" dist="38100" dir="2700000" algn="tl">
                    <a:srgbClr val="000000"/>
                  </a:outerShdw>
                </a:effectLst>
                <a:latin typeface="Arial" panose="020B0604020202020204" pitchFamily="34" charset="0"/>
              </a:rPr>
              <a:t>3</a:t>
            </a:r>
          </a:p>
          <a:p>
            <a:pPr>
              <a:lnSpc>
                <a:spcPct val="90000"/>
              </a:lnSpc>
              <a:spcBef>
                <a:spcPct val="30000"/>
              </a:spcBef>
            </a:pPr>
            <a:endParaRPr lang="en-US" sz="1200" u="none">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200" u="none">
                <a:solidFill>
                  <a:srgbClr val="FFFFFF"/>
                </a:solidFill>
                <a:effectLst>
                  <a:outerShdw blurRad="38100" dist="38100" dir="2700000" algn="tl">
                    <a:srgbClr val="000000"/>
                  </a:outerShdw>
                </a:effectLst>
                <a:latin typeface="Arial" panose="020B0604020202020204" pitchFamily="34" charset="0"/>
              </a:rPr>
              <a:t>2</a:t>
            </a:r>
          </a:p>
          <a:p>
            <a:pPr>
              <a:lnSpc>
                <a:spcPct val="90000"/>
              </a:lnSpc>
              <a:spcBef>
                <a:spcPct val="30000"/>
              </a:spcBef>
            </a:pPr>
            <a:endParaRPr lang="en-US" sz="1200" u="none">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200" u="none">
                <a:solidFill>
                  <a:srgbClr val="FFFFFF"/>
                </a:solidFill>
                <a:effectLst>
                  <a:outerShdw blurRad="38100" dist="38100" dir="2700000" algn="tl">
                    <a:srgbClr val="000000"/>
                  </a:outerShdw>
                </a:effectLst>
                <a:latin typeface="Arial" panose="020B0604020202020204" pitchFamily="34" charset="0"/>
              </a:rPr>
              <a:t>1</a:t>
            </a:r>
            <a:endParaRPr lang="en-US" sz="1200" u="none">
              <a:solidFill>
                <a:srgbClr val="FFFFFF"/>
              </a:solidFill>
              <a:latin typeface="Arial" panose="020B0604020202020204" pitchFamily="34" charset="0"/>
            </a:endParaRPr>
          </a:p>
          <a:p>
            <a:pPr>
              <a:lnSpc>
                <a:spcPct val="90000"/>
              </a:lnSpc>
              <a:spcBef>
                <a:spcPct val="30000"/>
              </a:spcBef>
            </a:pPr>
            <a:endParaRPr lang="en-US" sz="1200" u="none">
              <a:solidFill>
                <a:srgbClr val="FFFFFF"/>
              </a:solidFill>
              <a:latin typeface="Arial" panose="020B0604020202020204" pitchFamily="34" charset="0"/>
            </a:endParaRPr>
          </a:p>
          <a:p>
            <a:pPr>
              <a:lnSpc>
                <a:spcPct val="90000"/>
              </a:lnSpc>
              <a:spcBef>
                <a:spcPct val="30000"/>
              </a:spcBef>
            </a:pPr>
            <a:endParaRPr lang="en-US" sz="1200" u="none">
              <a:latin typeface="Arial" panose="020B0604020202020204" pitchFamily="34" charset="0"/>
            </a:endParaRPr>
          </a:p>
          <a:p>
            <a:pPr>
              <a:lnSpc>
                <a:spcPct val="90000"/>
              </a:lnSpc>
              <a:spcBef>
                <a:spcPct val="30000"/>
              </a:spcBef>
            </a:pPr>
            <a:r>
              <a:rPr lang="en-US" sz="1200" u="none">
                <a:latin typeface="Arial" panose="020B0604020202020204" pitchFamily="34" charset="0"/>
              </a:rPr>
              <a:t>              </a:t>
            </a:r>
            <a:r>
              <a:rPr lang="en-US" sz="1200" u="none">
                <a:solidFill>
                  <a:srgbClr val="FFFFFF"/>
                </a:solidFill>
                <a:effectLst>
                  <a:outerShdw blurRad="38100" dist="38100" dir="2700000" algn="tl">
                    <a:srgbClr val="000000"/>
                  </a:outerShdw>
                </a:effectLst>
                <a:latin typeface="Arial" panose="020B0604020202020204" pitchFamily="34" charset="0"/>
              </a:rPr>
              <a:t>1        2         3         4         5         6         7         8         9         10</a:t>
            </a:r>
            <a:r>
              <a:rPr lang="en-US" sz="1200" u="none">
                <a:latin typeface="Arial" panose="020B0604020202020204" pitchFamily="34" charset="0"/>
              </a:rPr>
              <a:t>   </a:t>
            </a:r>
          </a:p>
        </p:txBody>
      </p:sp>
      <p:sp>
        <p:nvSpPr>
          <p:cNvPr id="46085" name="Line 5"/>
          <p:cNvSpPr>
            <a:spLocks noChangeShapeType="1"/>
          </p:cNvSpPr>
          <p:nvPr/>
        </p:nvSpPr>
        <p:spPr bwMode="auto">
          <a:xfrm>
            <a:off x="1981200" y="2209800"/>
            <a:ext cx="3657600" cy="365760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86" name="Line 6"/>
          <p:cNvSpPr>
            <a:spLocks noChangeShapeType="1"/>
          </p:cNvSpPr>
          <p:nvPr/>
        </p:nvSpPr>
        <p:spPr bwMode="auto">
          <a:xfrm>
            <a:off x="1981200" y="3048000"/>
            <a:ext cx="4419600" cy="281940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87" name="Rectangle 7"/>
          <p:cNvSpPr>
            <a:spLocks noChangeArrowheads="1"/>
          </p:cNvSpPr>
          <p:nvPr/>
        </p:nvSpPr>
        <p:spPr bwMode="auto">
          <a:xfrm>
            <a:off x="5715000" y="4495800"/>
            <a:ext cx="259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sz="2400" u="none">
                <a:solidFill>
                  <a:srgbClr val="FFFFFF"/>
                </a:solidFill>
                <a:effectLst>
                  <a:outerShdw blurRad="38100" dist="38100" dir="2700000" algn="tl">
                    <a:srgbClr val="000000"/>
                  </a:outerShdw>
                </a:effectLst>
                <a:latin typeface="Arial" panose="020B0604020202020204" pitchFamily="34" charset="0"/>
              </a:rPr>
              <a:t>2</a:t>
            </a:r>
            <a:r>
              <a:rPr lang="en-US" sz="2400" i="1" u="none">
                <a:solidFill>
                  <a:srgbClr val="FFFFFF"/>
                </a:solidFill>
                <a:effectLst>
                  <a:outerShdw blurRad="38100" dist="38100" dir="2700000" algn="tl">
                    <a:srgbClr val="000000"/>
                  </a:outerShdw>
                </a:effectLst>
                <a:latin typeface="Arial" panose="020B0604020202020204" pitchFamily="34" charset="0"/>
              </a:rPr>
              <a:t>x</a:t>
            </a:r>
            <a:r>
              <a:rPr lang="en-US" sz="2400" u="none" baseline="-25000">
                <a:solidFill>
                  <a:srgbClr val="FFFFFF"/>
                </a:solidFill>
                <a:effectLst>
                  <a:outerShdw blurRad="38100" dist="38100" dir="2700000" algn="tl">
                    <a:srgbClr val="000000"/>
                  </a:outerShdw>
                </a:effectLst>
                <a:latin typeface="Arial" panose="020B0604020202020204" pitchFamily="34" charset="0"/>
              </a:rPr>
              <a:t>1</a:t>
            </a:r>
            <a:r>
              <a:rPr lang="en-US" sz="2400" u="none">
                <a:solidFill>
                  <a:srgbClr val="FFFFFF"/>
                </a:solidFill>
                <a:effectLst>
                  <a:outerShdw blurRad="38100" dist="38100" dir="2700000" algn="tl">
                    <a:srgbClr val="000000"/>
                  </a:outerShdw>
                </a:effectLst>
                <a:latin typeface="Arial" panose="020B0604020202020204" pitchFamily="34" charset="0"/>
              </a:rPr>
              <a:t> + 3</a:t>
            </a:r>
            <a:r>
              <a:rPr lang="en-US" sz="2400" i="1" u="none">
                <a:solidFill>
                  <a:srgbClr val="FFFFFF"/>
                </a:solidFill>
                <a:effectLst>
                  <a:outerShdw blurRad="38100" dist="38100" dir="2700000" algn="tl">
                    <a:srgbClr val="000000"/>
                  </a:outerShdw>
                </a:effectLst>
                <a:latin typeface="Arial" panose="020B0604020202020204" pitchFamily="34" charset="0"/>
              </a:rPr>
              <a:t>x</a:t>
            </a:r>
            <a:r>
              <a:rPr lang="en-US" sz="2400" u="none" baseline="-25000">
                <a:solidFill>
                  <a:srgbClr val="FFFFFF"/>
                </a:solidFill>
                <a:effectLst>
                  <a:outerShdw blurRad="38100" dist="38100" dir="2700000" algn="tl">
                    <a:srgbClr val="000000"/>
                  </a:outerShdw>
                </a:effectLst>
                <a:latin typeface="Arial" panose="020B0604020202020204" pitchFamily="34" charset="0"/>
              </a:rPr>
              <a:t>2</a:t>
            </a:r>
            <a:r>
              <a:rPr lang="en-US" sz="2400" u="none">
                <a:solidFill>
                  <a:srgbClr val="FFFFFF"/>
                </a:solidFill>
                <a:effectLst>
                  <a:outerShdw blurRad="38100" dist="38100" dir="2700000" algn="tl">
                    <a:srgbClr val="000000"/>
                  </a:outerShdw>
                </a:effectLst>
                <a:latin typeface="Arial" panose="020B0604020202020204" pitchFamily="34" charset="0"/>
              </a:rPr>
              <a:t>  </a:t>
            </a:r>
            <a:r>
              <a:rPr lang="en-US" sz="2400">
                <a:solidFill>
                  <a:srgbClr val="FFFFFF"/>
                </a:solidFill>
                <a:effectLst>
                  <a:outerShdw blurRad="38100" dist="38100" dir="2700000" algn="tl">
                    <a:srgbClr val="000000"/>
                  </a:outerShdw>
                </a:effectLst>
                <a:latin typeface="Arial" panose="020B0604020202020204" pitchFamily="34" charset="0"/>
              </a:rPr>
              <a:t>&lt;</a:t>
            </a:r>
            <a:r>
              <a:rPr lang="en-US" sz="2400" u="none">
                <a:solidFill>
                  <a:srgbClr val="FFFFFF"/>
                </a:solidFill>
                <a:effectLst>
                  <a:outerShdw blurRad="38100" dist="38100" dir="2700000" algn="tl">
                    <a:srgbClr val="000000"/>
                  </a:outerShdw>
                </a:effectLst>
                <a:latin typeface="Arial" panose="020B0604020202020204" pitchFamily="34" charset="0"/>
              </a:rPr>
              <a:t> 19</a:t>
            </a:r>
            <a:r>
              <a:rPr lang="en-US" sz="2400" u="none">
                <a:effectLst>
                  <a:outerShdw blurRad="38100" dist="38100" dir="2700000" algn="tl">
                    <a:srgbClr val="000000"/>
                  </a:outerShdw>
                </a:effectLst>
                <a:latin typeface="Arial" panose="020B0604020202020204" pitchFamily="34" charset="0"/>
              </a:rPr>
              <a:t> </a:t>
            </a:r>
          </a:p>
        </p:txBody>
      </p:sp>
      <p:sp>
        <p:nvSpPr>
          <p:cNvPr id="46088" name="Rectangle 8"/>
          <p:cNvSpPr>
            <a:spLocks noChangeArrowheads="1"/>
          </p:cNvSpPr>
          <p:nvPr/>
        </p:nvSpPr>
        <p:spPr bwMode="auto">
          <a:xfrm>
            <a:off x="1584325" y="1508125"/>
            <a:ext cx="619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400" u="none">
                <a:solidFill>
                  <a:srgbClr val="FFFFFF"/>
                </a:solidFill>
                <a:effectLst>
                  <a:outerShdw blurRad="38100" dist="38100" dir="2700000" algn="tl">
                    <a:srgbClr val="000000"/>
                  </a:outerShdw>
                </a:effectLst>
                <a:latin typeface="Arial" panose="020B0604020202020204" pitchFamily="34" charset="0"/>
              </a:rPr>
              <a:t>  </a:t>
            </a:r>
            <a:r>
              <a:rPr lang="en-US" sz="2400" i="1" u="none">
                <a:solidFill>
                  <a:srgbClr val="FFFFFF"/>
                </a:solidFill>
                <a:effectLst>
                  <a:outerShdw blurRad="38100" dist="38100" dir="2700000" algn="tl">
                    <a:srgbClr val="000000"/>
                  </a:outerShdw>
                </a:effectLst>
                <a:latin typeface="Arial" panose="020B0604020202020204" pitchFamily="34" charset="0"/>
              </a:rPr>
              <a:t>x</a:t>
            </a:r>
            <a:r>
              <a:rPr lang="en-US" sz="2400" u="none" baseline="-25000">
                <a:solidFill>
                  <a:srgbClr val="FFFFFF"/>
                </a:solidFill>
                <a:effectLst>
                  <a:outerShdw blurRad="38100" dist="38100" dir="2700000" algn="tl">
                    <a:srgbClr val="000000"/>
                  </a:outerShdw>
                </a:effectLst>
                <a:latin typeface="Arial" panose="020B0604020202020204" pitchFamily="34" charset="0"/>
              </a:rPr>
              <a:t>2</a:t>
            </a:r>
          </a:p>
        </p:txBody>
      </p:sp>
      <p:sp>
        <p:nvSpPr>
          <p:cNvPr id="46089" name="Rectangle 9"/>
          <p:cNvSpPr>
            <a:spLocks noChangeArrowheads="1"/>
          </p:cNvSpPr>
          <p:nvPr/>
        </p:nvSpPr>
        <p:spPr bwMode="auto">
          <a:xfrm>
            <a:off x="6994525" y="5622925"/>
            <a:ext cx="449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400" i="1" u="none">
                <a:solidFill>
                  <a:srgbClr val="FFFFFF"/>
                </a:solidFill>
                <a:effectLst>
                  <a:outerShdw blurRad="38100" dist="38100" dir="2700000" algn="tl">
                    <a:srgbClr val="000000"/>
                  </a:outerShdw>
                </a:effectLst>
                <a:latin typeface="Arial" panose="020B0604020202020204" pitchFamily="34" charset="0"/>
              </a:rPr>
              <a:t>x</a:t>
            </a:r>
            <a:r>
              <a:rPr lang="en-US" sz="2400" u="none" baseline="-25000">
                <a:solidFill>
                  <a:srgbClr val="FFFFFF"/>
                </a:solidFill>
                <a:effectLst>
                  <a:outerShdw blurRad="38100" dist="38100" dir="2700000" algn="tl">
                    <a:srgbClr val="000000"/>
                  </a:outerShdw>
                </a:effectLst>
                <a:latin typeface="Arial" panose="020B0604020202020204" pitchFamily="34" charset="0"/>
              </a:rPr>
              <a:t>1</a:t>
            </a:r>
          </a:p>
        </p:txBody>
      </p:sp>
      <p:sp>
        <p:nvSpPr>
          <p:cNvPr id="46090" name="Line 10"/>
          <p:cNvSpPr>
            <a:spLocks noChangeShapeType="1"/>
          </p:cNvSpPr>
          <p:nvPr/>
        </p:nvSpPr>
        <p:spPr bwMode="auto">
          <a:xfrm flipV="1">
            <a:off x="4800600" y="1905000"/>
            <a:ext cx="0" cy="396240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91" name="Line 11"/>
          <p:cNvSpPr>
            <a:spLocks noChangeShapeType="1"/>
          </p:cNvSpPr>
          <p:nvPr/>
        </p:nvSpPr>
        <p:spPr bwMode="auto">
          <a:xfrm flipH="1">
            <a:off x="2667000" y="2362200"/>
            <a:ext cx="381000" cy="457200"/>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92" name="Line 12"/>
          <p:cNvSpPr>
            <a:spLocks noChangeShapeType="1"/>
          </p:cNvSpPr>
          <p:nvPr/>
        </p:nvSpPr>
        <p:spPr bwMode="auto">
          <a:xfrm flipH="1">
            <a:off x="4876800" y="3200400"/>
            <a:ext cx="609600" cy="0"/>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93" name="Line 13"/>
          <p:cNvSpPr>
            <a:spLocks noChangeShapeType="1"/>
          </p:cNvSpPr>
          <p:nvPr/>
        </p:nvSpPr>
        <p:spPr bwMode="auto">
          <a:xfrm flipH="1">
            <a:off x="5486400" y="4876800"/>
            <a:ext cx="304800" cy="304800"/>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94" name="Line 14"/>
          <p:cNvSpPr>
            <a:spLocks noChangeShapeType="1"/>
          </p:cNvSpPr>
          <p:nvPr/>
        </p:nvSpPr>
        <p:spPr bwMode="auto">
          <a:xfrm flipH="1">
            <a:off x="4343400" y="3810000"/>
            <a:ext cx="1066800" cy="685800"/>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95" name="Line 15"/>
          <p:cNvSpPr>
            <a:spLocks noChangeShapeType="1"/>
          </p:cNvSpPr>
          <p:nvPr/>
        </p:nvSpPr>
        <p:spPr bwMode="auto">
          <a:xfrm flipV="1">
            <a:off x="5257800" y="5486400"/>
            <a:ext cx="304800" cy="381000"/>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96" name="Line 16"/>
          <p:cNvSpPr>
            <a:spLocks noChangeShapeType="1"/>
          </p:cNvSpPr>
          <p:nvPr/>
        </p:nvSpPr>
        <p:spPr bwMode="auto">
          <a:xfrm>
            <a:off x="2057400" y="5867400"/>
            <a:ext cx="4876800" cy="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97" name="Line 17"/>
          <p:cNvSpPr>
            <a:spLocks noChangeShapeType="1"/>
          </p:cNvSpPr>
          <p:nvPr/>
        </p:nvSpPr>
        <p:spPr bwMode="auto">
          <a:xfrm>
            <a:off x="1981200" y="1981200"/>
            <a:ext cx="0" cy="388620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98" name="Line 18"/>
          <p:cNvSpPr>
            <a:spLocks noChangeShapeType="1"/>
          </p:cNvSpPr>
          <p:nvPr/>
        </p:nvSpPr>
        <p:spPr bwMode="auto">
          <a:xfrm>
            <a:off x="1981200" y="5867400"/>
            <a:ext cx="76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099" name="Freeform 19"/>
          <p:cNvSpPr>
            <a:spLocks/>
          </p:cNvSpPr>
          <p:nvPr/>
        </p:nvSpPr>
        <p:spPr bwMode="auto">
          <a:xfrm>
            <a:off x="1981200" y="3048000"/>
            <a:ext cx="2820988" cy="2820988"/>
          </a:xfrm>
          <a:custGeom>
            <a:avLst/>
            <a:gdLst>
              <a:gd name="T0" fmla="*/ 0 w 1777"/>
              <a:gd name="T1" fmla="*/ 0 h 1777"/>
              <a:gd name="T2" fmla="*/ 1440 w 1777"/>
              <a:gd name="T3" fmla="*/ 912 h 1777"/>
              <a:gd name="T4" fmla="*/ 1776 w 1777"/>
              <a:gd name="T5" fmla="*/ 1248 h 1777"/>
              <a:gd name="T6" fmla="*/ 1776 w 1777"/>
              <a:gd name="T7" fmla="*/ 1776 h 1777"/>
              <a:gd name="T8" fmla="*/ 0 w 1777"/>
              <a:gd name="T9" fmla="*/ 1776 h 1777"/>
              <a:gd name="T10" fmla="*/ 0 w 1777"/>
              <a:gd name="T11" fmla="*/ 0 h 1777"/>
            </a:gdLst>
            <a:ahLst/>
            <a:cxnLst>
              <a:cxn ang="0">
                <a:pos x="T0" y="T1"/>
              </a:cxn>
              <a:cxn ang="0">
                <a:pos x="T2" y="T3"/>
              </a:cxn>
              <a:cxn ang="0">
                <a:pos x="T4" y="T5"/>
              </a:cxn>
              <a:cxn ang="0">
                <a:pos x="T6" y="T7"/>
              </a:cxn>
              <a:cxn ang="0">
                <a:pos x="T8" y="T9"/>
              </a:cxn>
              <a:cxn ang="0">
                <a:pos x="T10" y="T11"/>
              </a:cxn>
            </a:cxnLst>
            <a:rect l="0" t="0" r="r" b="b"/>
            <a:pathLst>
              <a:path w="1777" h="1777">
                <a:moveTo>
                  <a:pt x="0" y="0"/>
                </a:moveTo>
                <a:lnTo>
                  <a:pt x="1440" y="912"/>
                </a:lnTo>
                <a:lnTo>
                  <a:pt x="1776" y="1248"/>
                </a:lnTo>
                <a:lnTo>
                  <a:pt x="1776" y="1776"/>
                </a:lnTo>
                <a:lnTo>
                  <a:pt x="0" y="1776"/>
                </a:lnTo>
                <a:lnTo>
                  <a:pt x="0" y="0"/>
                </a:lnTo>
              </a:path>
            </a:pathLst>
          </a:custGeom>
          <a:solidFill>
            <a:schemeClr val="folHlink"/>
          </a:solidFill>
          <a:ln w="12700" cap="rnd" cmpd="sng">
            <a:solidFill>
              <a:srgbClr val="FFFFFF"/>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100" name="Line 20"/>
          <p:cNvSpPr>
            <a:spLocks noChangeShapeType="1"/>
          </p:cNvSpPr>
          <p:nvPr/>
        </p:nvSpPr>
        <p:spPr bwMode="auto">
          <a:xfrm>
            <a:off x="1981200" y="3581400"/>
            <a:ext cx="3276600" cy="2286000"/>
          </a:xfrm>
          <a:prstGeom prst="line">
            <a:avLst/>
          </a:prstGeom>
          <a:noFill/>
          <a:ln w="508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101" name="Line 21"/>
          <p:cNvSpPr>
            <a:spLocks noChangeShapeType="1"/>
          </p:cNvSpPr>
          <p:nvPr/>
        </p:nvSpPr>
        <p:spPr bwMode="auto">
          <a:xfrm flipH="1">
            <a:off x="2514600" y="2438400"/>
            <a:ext cx="2514600" cy="1447800"/>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102" name="Line 22"/>
          <p:cNvSpPr>
            <a:spLocks noChangeShapeType="1"/>
          </p:cNvSpPr>
          <p:nvPr/>
        </p:nvSpPr>
        <p:spPr bwMode="auto">
          <a:xfrm flipV="1">
            <a:off x="1981200" y="3048000"/>
            <a:ext cx="381000" cy="533400"/>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103" name="Oval 23"/>
          <p:cNvSpPr>
            <a:spLocks noChangeArrowheads="1"/>
          </p:cNvSpPr>
          <p:nvPr/>
        </p:nvSpPr>
        <p:spPr bwMode="auto">
          <a:xfrm>
            <a:off x="4257675" y="4483100"/>
            <a:ext cx="63500" cy="63500"/>
          </a:xfrm>
          <a:prstGeom prst="ellipse">
            <a:avLst/>
          </a:prstGeom>
          <a:solidFill>
            <a:srgbClr val="FFFFFF"/>
          </a:solidFill>
          <a:ln w="12700">
            <a:solidFill>
              <a:srgbClr val="FFFFFF"/>
            </a:solidFill>
            <a:round/>
            <a:headEnd/>
            <a:tailEnd/>
          </a:ln>
          <a:effectLst>
            <a:outerShdw dist="17961" dir="2700000" algn="ctr" rotWithShape="0">
              <a:schemeClr val="bg2"/>
            </a:outerShdw>
          </a:effectLst>
        </p:spPr>
        <p:txBody>
          <a:bodyPr wrap="none" anchor="ctr"/>
          <a:lstStyle/>
          <a:p>
            <a:endParaRPr lang="en-US"/>
          </a:p>
        </p:txBody>
      </p:sp>
      <p:sp>
        <p:nvSpPr>
          <p:cNvPr id="46104" name="Rectangle 24"/>
          <p:cNvSpPr>
            <a:spLocks noChangeArrowheads="1"/>
          </p:cNvSpPr>
          <p:nvPr/>
        </p:nvSpPr>
        <p:spPr bwMode="auto">
          <a:xfrm>
            <a:off x="2422525" y="1889125"/>
            <a:ext cx="1747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400" i="1" u="none">
                <a:solidFill>
                  <a:srgbClr val="FFFFFF"/>
                </a:solidFill>
                <a:effectLst>
                  <a:outerShdw blurRad="38100" dist="38100" dir="2700000" algn="tl">
                    <a:srgbClr val="000000"/>
                  </a:outerShdw>
                </a:effectLst>
                <a:latin typeface="Arial" panose="020B0604020202020204" pitchFamily="34" charset="0"/>
              </a:rPr>
              <a:t>x</a:t>
            </a:r>
            <a:r>
              <a:rPr lang="en-US" sz="2400" u="none" baseline="-25000">
                <a:solidFill>
                  <a:srgbClr val="FFFFFF"/>
                </a:solidFill>
                <a:effectLst>
                  <a:outerShdw blurRad="38100" dist="38100" dir="2700000" algn="tl">
                    <a:srgbClr val="000000"/>
                  </a:outerShdw>
                </a:effectLst>
                <a:latin typeface="Arial" panose="020B0604020202020204" pitchFamily="34" charset="0"/>
              </a:rPr>
              <a:t>1</a:t>
            </a:r>
            <a:r>
              <a:rPr lang="en-US" sz="2400" u="none">
                <a:solidFill>
                  <a:srgbClr val="FFFFFF"/>
                </a:solidFill>
                <a:effectLst>
                  <a:outerShdw blurRad="38100" dist="38100" dir="2700000" algn="tl">
                    <a:srgbClr val="000000"/>
                  </a:outerShdw>
                </a:effectLst>
                <a:latin typeface="Arial" panose="020B0604020202020204" pitchFamily="34" charset="0"/>
              </a:rPr>
              <a:t> + </a:t>
            </a:r>
            <a:r>
              <a:rPr lang="en-US" sz="2400" i="1" u="none">
                <a:solidFill>
                  <a:srgbClr val="FFFFFF"/>
                </a:solidFill>
                <a:effectLst>
                  <a:outerShdw blurRad="38100" dist="38100" dir="2700000" algn="tl">
                    <a:srgbClr val="000000"/>
                  </a:outerShdw>
                </a:effectLst>
                <a:latin typeface="Arial" panose="020B0604020202020204" pitchFamily="34" charset="0"/>
              </a:rPr>
              <a:t>x</a:t>
            </a:r>
            <a:r>
              <a:rPr lang="en-US" sz="2400" u="none" baseline="-25000">
                <a:solidFill>
                  <a:srgbClr val="FFFFFF"/>
                </a:solidFill>
                <a:effectLst>
                  <a:outerShdw blurRad="38100" dist="38100" dir="2700000" algn="tl">
                    <a:srgbClr val="000000"/>
                  </a:outerShdw>
                </a:effectLst>
                <a:latin typeface="Arial" panose="020B0604020202020204" pitchFamily="34" charset="0"/>
              </a:rPr>
              <a:t>2</a:t>
            </a:r>
            <a:r>
              <a:rPr lang="en-US" sz="2400" u="none">
                <a:solidFill>
                  <a:srgbClr val="FFFFFF"/>
                </a:solidFill>
                <a:effectLst>
                  <a:outerShdw blurRad="38100" dist="38100" dir="2700000" algn="tl">
                    <a:srgbClr val="000000"/>
                  </a:outerShdw>
                </a:effectLst>
                <a:latin typeface="Arial" panose="020B0604020202020204" pitchFamily="34" charset="0"/>
              </a:rPr>
              <a:t>  </a:t>
            </a:r>
            <a:r>
              <a:rPr lang="en-US" sz="2400">
                <a:solidFill>
                  <a:srgbClr val="FFFFFF"/>
                </a:solidFill>
                <a:effectLst>
                  <a:outerShdw blurRad="38100" dist="38100" dir="2700000" algn="tl">
                    <a:srgbClr val="000000"/>
                  </a:outerShdw>
                </a:effectLst>
                <a:latin typeface="Arial" panose="020B0604020202020204" pitchFamily="34" charset="0"/>
              </a:rPr>
              <a:t>&lt;</a:t>
            </a:r>
            <a:r>
              <a:rPr lang="en-US" sz="2400" u="none">
                <a:solidFill>
                  <a:srgbClr val="FFFFFF"/>
                </a:solidFill>
                <a:effectLst>
                  <a:outerShdw blurRad="38100" dist="38100" dir="2700000" algn="tl">
                    <a:srgbClr val="000000"/>
                  </a:outerShdw>
                </a:effectLst>
                <a:latin typeface="Arial" panose="020B0604020202020204" pitchFamily="34" charset="0"/>
              </a:rPr>
              <a:t>  8</a:t>
            </a:r>
          </a:p>
        </p:txBody>
      </p:sp>
      <p:sp>
        <p:nvSpPr>
          <p:cNvPr id="46105" name="Rectangle 25"/>
          <p:cNvSpPr>
            <a:spLocks noChangeArrowheads="1"/>
          </p:cNvSpPr>
          <p:nvPr/>
        </p:nvSpPr>
        <p:spPr bwMode="auto">
          <a:xfrm>
            <a:off x="5089525" y="2193925"/>
            <a:ext cx="2146300" cy="457200"/>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2075" tIns="46038" rIns="92075" bIns="46038">
            <a:spAutoFit/>
          </a:bodyPr>
          <a:lstStyle/>
          <a:p>
            <a:r>
              <a:rPr lang="en-US" sz="2400" u="none">
                <a:solidFill>
                  <a:srgbClr val="FFFFFF"/>
                </a:solidFill>
                <a:latin typeface="Arial" panose="020B0604020202020204" pitchFamily="34" charset="0"/>
              </a:rPr>
              <a:t>Max  5</a:t>
            </a:r>
            <a:r>
              <a:rPr lang="en-US" sz="2400" i="1" u="none">
                <a:solidFill>
                  <a:srgbClr val="FFFFFF"/>
                </a:solidFill>
                <a:latin typeface="Arial" panose="020B0604020202020204" pitchFamily="34" charset="0"/>
              </a:rPr>
              <a:t>x</a:t>
            </a:r>
            <a:r>
              <a:rPr lang="en-US" sz="2400" u="none" baseline="-25000">
                <a:solidFill>
                  <a:srgbClr val="FFFFFF"/>
                </a:solidFill>
                <a:latin typeface="Arial" panose="020B0604020202020204" pitchFamily="34" charset="0"/>
              </a:rPr>
              <a:t>1</a:t>
            </a:r>
            <a:r>
              <a:rPr lang="en-US" sz="2400" u="none">
                <a:solidFill>
                  <a:srgbClr val="FFFFFF"/>
                </a:solidFill>
                <a:latin typeface="Arial" panose="020B0604020202020204" pitchFamily="34" charset="0"/>
              </a:rPr>
              <a:t> + </a:t>
            </a:r>
            <a:r>
              <a:rPr lang="en-US" sz="2400" i="1" u="none">
                <a:solidFill>
                  <a:srgbClr val="FFFFFF"/>
                </a:solidFill>
                <a:latin typeface="Arial" panose="020B0604020202020204" pitchFamily="34" charset="0"/>
              </a:rPr>
              <a:t>7x</a:t>
            </a:r>
            <a:r>
              <a:rPr lang="en-US" sz="2400" u="none" baseline="-25000">
                <a:solidFill>
                  <a:srgbClr val="FFFFFF"/>
                </a:solidFill>
                <a:latin typeface="Arial" panose="020B0604020202020204" pitchFamily="34" charset="0"/>
              </a:rPr>
              <a:t>2</a:t>
            </a:r>
          </a:p>
        </p:txBody>
      </p:sp>
      <p:sp>
        <p:nvSpPr>
          <p:cNvPr id="46106" name="Rectangle 26"/>
          <p:cNvSpPr>
            <a:spLocks noChangeArrowheads="1"/>
          </p:cNvSpPr>
          <p:nvPr/>
        </p:nvSpPr>
        <p:spPr bwMode="auto">
          <a:xfrm>
            <a:off x="5546725" y="2955925"/>
            <a:ext cx="915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400" i="1" u="none">
                <a:solidFill>
                  <a:srgbClr val="FFFFFF"/>
                </a:solidFill>
                <a:effectLst>
                  <a:outerShdw blurRad="38100" dist="38100" dir="2700000" algn="tl">
                    <a:srgbClr val="000000"/>
                  </a:outerShdw>
                </a:effectLst>
              </a:rPr>
              <a:t>x</a:t>
            </a:r>
            <a:r>
              <a:rPr lang="en-US" sz="2400" u="none" baseline="-25000">
                <a:solidFill>
                  <a:srgbClr val="FFFFFF"/>
                </a:solidFill>
                <a:effectLst>
                  <a:outerShdw blurRad="38100" dist="38100" dir="2700000" algn="tl">
                    <a:srgbClr val="000000"/>
                  </a:outerShdw>
                </a:effectLst>
                <a:latin typeface="Arial" panose="020B0604020202020204" pitchFamily="34" charset="0"/>
              </a:rPr>
              <a:t>1</a:t>
            </a:r>
            <a:r>
              <a:rPr lang="en-US" sz="2400" u="none">
                <a:solidFill>
                  <a:srgbClr val="FFFFFF"/>
                </a:solidFill>
                <a:effectLst>
                  <a:outerShdw blurRad="38100" dist="38100" dir="2700000" algn="tl">
                    <a:srgbClr val="000000"/>
                  </a:outerShdw>
                </a:effectLst>
              </a:rPr>
              <a:t> </a:t>
            </a:r>
            <a:r>
              <a:rPr lang="en-US" sz="2400">
                <a:solidFill>
                  <a:srgbClr val="FFFFFF"/>
                </a:solidFill>
                <a:effectLst>
                  <a:outerShdw blurRad="38100" dist="38100" dir="2700000" algn="tl">
                    <a:srgbClr val="000000"/>
                  </a:outerShdw>
                </a:effectLst>
              </a:rPr>
              <a:t>&lt;</a:t>
            </a:r>
            <a:r>
              <a:rPr lang="en-US" sz="2400" u="none">
                <a:solidFill>
                  <a:srgbClr val="FFFFFF"/>
                </a:solidFill>
                <a:effectLst>
                  <a:outerShdw blurRad="38100" dist="38100" dir="2700000" algn="tl">
                    <a:srgbClr val="000000"/>
                  </a:outerShdw>
                </a:effectLst>
              </a:rPr>
              <a:t>  6</a:t>
            </a:r>
          </a:p>
        </p:txBody>
      </p:sp>
      <p:sp>
        <p:nvSpPr>
          <p:cNvPr id="46107" name="Rectangle 27"/>
          <p:cNvSpPr>
            <a:spLocks noChangeArrowheads="1"/>
          </p:cNvSpPr>
          <p:nvPr/>
        </p:nvSpPr>
        <p:spPr bwMode="auto">
          <a:xfrm>
            <a:off x="5470525" y="3565525"/>
            <a:ext cx="26479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400" u="none">
                <a:solidFill>
                  <a:srgbClr val="FFFFFF"/>
                </a:solidFill>
                <a:effectLst>
                  <a:outerShdw blurRad="38100" dist="38100" dir="2700000" algn="tl">
                    <a:srgbClr val="000000"/>
                  </a:outerShdw>
                </a:effectLst>
              </a:rPr>
              <a:t>Optimal  </a:t>
            </a:r>
            <a:r>
              <a:rPr lang="en-US" sz="2400" i="1" u="none">
                <a:solidFill>
                  <a:srgbClr val="FFFFFF"/>
                </a:solidFill>
                <a:effectLst>
                  <a:outerShdw blurRad="38100" dist="38100" dir="2700000" algn="tl">
                    <a:srgbClr val="000000"/>
                  </a:outerShdw>
                </a:effectLst>
              </a:rPr>
              <a:t>x</a:t>
            </a:r>
            <a:r>
              <a:rPr lang="en-US" sz="2400" u="none" baseline="-25000">
                <a:solidFill>
                  <a:srgbClr val="FFFFFF"/>
                </a:solidFill>
                <a:effectLst>
                  <a:outerShdw blurRad="38100" dist="38100" dir="2700000" algn="tl">
                    <a:srgbClr val="000000"/>
                  </a:outerShdw>
                </a:effectLst>
                <a:latin typeface="Arial" panose="020B0604020202020204" pitchFamily="34" charset="0"/>
              </a:rPr>
              <a:t>1</a:t>
            </a:r>
            <a:r>
              <a:rPr lang="en-US" sz="2400" u="none">
                <a:solidFill>
                  <a:srgbClr val="FFFFFF"/>
                </a:solidFill>
                <a:effectLst>
                  <a:outerShdw blurRad="38100" dist="38100" dir="2700000" algn="tl">
                    <a:srgbClr val="000000"/>
                  </a:outerShdw>
                </a:effectLst>
              </a:rPr>
              <a:t> = 5, </a:t>
            </a:r>
            <a:r>
              <a:rPr lang="en-US" sz="2400" i="1" u="none">
                <a:solidFill>
                  <a:srgbClr val="FFFFFF"/>
                </a:solidFill>
                <a:effectLst>
                  <a:outerShdw blurRad="38100" dist="38100" dir="2700000" algn="tl">
                    <a:srgbClr val="000000"/>
                  </a:outerShdw>
                </a:effectLst>
              </a:rPr>
              <a:t>x</a:t>
            </a:r>
            <a:r>
              <a:rPr lang="en-US" sz="2400" u="none" baseline="-25000">
                <a:solidFill>
                  <a:srgbClr val="FFFFFF"/>
                </a:solidFill>
                <a:effectLst>
                  <a:outerShdw blurRad="38100" dist="38100" dir="2700000" algn="tl">
                    <a:srgbClr val="000000"/>
                  </a:outerShdw>
                </a:effectLst>
                <a:latin typeface="Arial" panose="020B0604020202020204" pitchFamily="34" charset="0"/>
              </a:rPr>
              <a:t>2</a:t>
            </a:r>
            <a:r>
              <a:rPr lang="en-US" sz="2400" u="none">
                <a:solidFill>
                  <a:srgbClr val="FFFFFF"/>
                </a:solidFill>
                <a:effectLst>
                  <a:outerShdw blurRad="38100" dist="38100" dir="2700000" algn="tl">
                    <a:srgbClr val="000000"/>
                  </a:outerShdw>
                </a:effectLst>
              </a:rPr>
              <a:t> = 3</a:t>
            </a:r>
          </a:p>
          <a:p>
            <a:r>
              <a:rPr lang="en-US" sz="2400" u="none">
                <a:solidFill>
                  <a:srgbClr val="FFFFFF"/>
                </a:solidFill>
                <a:effectLst>
                  <a:outerShdw blurRad="38100" dist="38100" dir="2700000" algn="tl">
                    <a:srgbClr val="000000"/>
                  </a:outerShdw>
                </a:effectLst>
              </a:rPr>
              <a:t>                 </a:t>
            </a:r>
            <a:r>
              <a:rPr lang="en-US" sz="2400" i="1" u="none">
                <a:solidFill>
                  <a:srgbClr val="FFFFFF"/>
                </a:solidFill>
                <a:effectLst>
                  <a:outerShdw blurRad="38100" dist="38100" dir="2700000" algn="tl">
                    <a:srgbClr val="000000"/>
                  </a:outerShdw>
                </a:effectLst>
              </a:rPr>
              <a:t>z</a:t>
            </a:r>
            <a:r>
              <a:rPr lang="en-US" sz="2400" u="none">
                <a:solidFill>
                  <a:srgbClr val="FFFFFF"/>
                </a:solidFill>
                <a:effectLst>
                  <a:outerShdw blurRad="38100" dist="38100" dir="2700000" algn="tl">
                    <a:srgbClr val="000000"/>
                  </a:outerShdw>
                </a:effectLst>
              </a:rPr>
              <a:t> = 46</a:t>
            </a:r>
          </a:p>
        </p:txBody>
      </p:sp>
    </p:spTree>
  </p:cSld>
  <p:clrMapOvr>
    <a:masterClrMapping/>
  </p:clrMapOvr>
  <p:transition>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3359150" y="5416550"/>
            <a:ext cx="2273300" cy="596900"/>
          </a:xfrm>
          <a:prstGeom prst="rect">
            <a:avLst/>
          </a:prstGeom>
          <a:solidFill>
            <a:schemeClr val="folHlink"/>
          </a:solidFill>
          <a:ln w="127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1" name="Rectangle 3"/>
          <p:cNvSpPr>
            <a:spLocks noGrp="1" noChangeArrowheads="1"/>
          </p:cNvSpPr>
          <p:nvPr>
            <p:ph type="title"/>
          </p:nvPr>
        </p:nvSpPr>
        <p:spPr>
          <a:noFill/>
          <a:ln/>
        </p:spPr>
        <p:txBody>
          <a:bodyPr/>
          <a:lstStyle/>
          <a:p>
            <a:r>
              <a:rPr lang="en-US"/>
              <a:t>Example:  Sensitivity Analysis</a:t>
            </a:r>
          </a:p>
        </p:txBody>
      </p:sp>
      <p:sp>
        <p:nvSpPr>
          <p:cNvPr id="48132" name="Rectangle 4"/>
          <p:cNvSpPr>
            <a:spLocks noGrp="1" noChangeArrowheads="1"/>
          </p:cNvSpPr>
          <p:nvPr>
            <p:ph type="body" idx="1"/>
          </p:nvPr>
        </p:nvSpPr>
        <p:spPr>
          <a:noFill/>
          <a:ln/>
        </p:spPr>
        <p:txBody>
          <a:bodyPr/>
          <a:lstStyle/>
          <a:p>
            <a:r>
              <a:rPr lang="en-US">
                <a:solidFill>
                  <a:schemeClr val="tx2"/>
                </a:solidFill>
              </a:rPr>
              <a:t>Range of Optimality for </a:t>
            </a:r>
            <a:r>
              <a:rPr lang="en-US" i="1">
                <a:solidFill>
                  <a:schemeClr val="tx2"/>
                </a:solidFill>
              </a:rPr>
              <a:t>c</a:t>
            </a:r>
            <a:r>
              <a:rPr lang="en-US" baseline="-25000">
                <a:solidFill>
                  <a:schemeClr val="tx2"/>
                </a:solidFill>
              </a:rPr>
              <a:t>1</a:t>
            </a:r>
            <a:r>
              <a:rPr lang="en-US">
                <a:solidFill>
                  <a:schemeClr val="tx2"/>
                </a:solidFill>
              </a:rPr>
              <a:t> </a:t>
            </a:r>
          </a:p>
          <a:p>
            <a:pPr>
              <a:buFont typeface="Monotype Sorts" pitchFamily="2" charset="2"/>
              <a:buNone/>
            </a:pPr>
            <a:r>
              <a:rPr lang="en-US"/>
              <a:t>		The slope of the objective function line is -</a:t>
            </a:r>
            <a:r>
              <a:rPr lang="en-US" i="1"/>
              <a:t>c</a:t>
            </a:r>
            <a:r>
              <a:rPr lang="en-US" baseline="-25000"/>
              <a:t>1</a:t>
            </a:r>
            <a:r>
              <a:rPr lang="en-US"/>
              <a:t>/</a:t>
            </a:r>
            <a:r>
              <a:rPr lang="en-US" i="1"/>
              <a:t>c</a:t>
            </a:r>
            <a:r>
              <a:rPr lang="en-US" baseline="-25000"/>
              <a:t>2</a:t>
            </a:r>
            <a:r>
              <a:rPr lang="en-US"/>
              <a:t>.  The slope of the first binding constraint, </a:t>
            </a:r>
            <a:r>
              <a:rPr lang="en-US" i="1"/>
              <a:t>x</a:t>
            </a:r>
            <a:r>
              <a:rPr lang="en-US" baseline="-25000"/>
              <a:t>1</a:t>
            </a:r>
            <a:r>
              <a:rPr lang="en-US"/>
              <a:t> + </a:t>
            </a:r>
            <a:r>
              <a:rPr lang="en-US" i="1"/>
              <a:t>x</a:t>
            </a:r>
            <a:r>
              <a:rPr lang="en-US" baseline="-25000"/>
              <a:t>2</a:t>
            </a:r>
            <a:r>
              <a:rPr lang="en-US"/>
              <a:t> = 8, is -1 and the slope of the second binding constraint,              </a:t>
            </a:r>
            <a:r>
              <a:rPr lang="en-US" i="1"/>
              <a:t>x</a:t>
            </a:r>
            <a:r>
              <a:rPr lang="en-US" baseline="-25000"/>
              <a:t>1</a:t>
            </a:r>
            <a:r>
              <a:rPr lang="en-US"/>
              <a:t> + 3</a:t>
            </a:r>
            <a:r>
              <a:rPr lang="en-US" i="1"/>
              <a:t>x</a:t>
            </a:r>
            <a:r>
              <a:rPr lang="en-US" baseline="-25000"/>
              <a:t>2</a:t>
            </a:r>
            <a:r>
              <a:rPr lang="en-US"/>
              <a:t> = 19, is -2/3.</a:t>
            </a:r>
          </a:p>
          <a:p>
            <a:pPr>
              <a:buFont typeface="Monotype Sorts" pitchFamily="2" charset="2"/>
              <a:buNone/>
            </a:pPr>
            <a:r>
              <a:rPr lang="en-US"/>
              <a:t>		Find the range of values for </a:t>
            </a:r>
            <a:r>
              <a:rPr lang="en-US" i="1"/>
              <a:t>c</a:t>
            </a:r>
            <a:r>
              <a:rPr lang="en-US" baseline="-25000"/>
              <a:t>1</a:t>
            </a:r>
            <a:r>
              <a:rPr lang="en-US"/>
              <a:t> (with </a:t>
            </a:r>
            <a:r>
              <a:rPr lang="en-US" i="1"/>
              <a:t>c</a:t>
            </a:r>
            <a:r>
              <a:rPr lang="en-US" baseline="-25000"/>
              <a:t>2</a:t>
            </a:r>
            <a:r>
              <a:rPr lang="en-US"/>
              <a:t> staying 7) such that the objective function line slope lies between that of the two binding constraints:</a:t>
            </a:r>
          </a:p>
          <a:p>
            <a:pPr>
              <a:buFont typeface="Monotype Sorts" pitchFamily="2" charset="2"/>
              <a:buNone/>
            </a:pPr>
            <a:r>
              <a:rPr lang="en-US"/>
              <a:t>                    	         -1  </a:t>
            </a:r>
            <a:r>
              <a:rPr lang="en-US" u="sng"/>
              <a:t>&lt;</a:t>
            </a:r>
            <a:r>
              <a:rPr lang="en-US"/>
              <a:t>   -</a:t>
            </a:r>
            <a:r>
              <a:rPr lang="en-US" i="1"/>
              <a:t>c</a:t>
            </a:r>
            <a:r>
              <a:rPr lang="en-US" baseline="-25000"/>
              <a:t>1</a:t>
            </a:r>
            <a:r>
              <a:rPr lang="en-US"/>
              <a:t>/7  </a:t>
            </a:r>
            <a:r>
              <a:rPr lang="en-US" u="sng"/>
              <a:t>&lt;</a:t>
            </a:r>
            <a:r>
              <a:rPr lang="en-US"/>
              <a:t>  -2/3</a:t>
            </a:r>
          </a:p>
          <a:p>
            <a:pPr>
              <a:buFont typeface="Monotype Sorts" pitchFamily="2" charset="2"/>
              <a:buNone/>
            </a:pPr>
            <a:r>
              <a:rPr lang="en-US"/>
              <a:t>    		Multiplying through by -7 (and reversing the inequalities):</a:t>
            </a:r>
          </a:p>
          <a:p>
            <a:pPr>
              <a:buFont typeface="Monotype Sorts" pitchFamily="2" charset="2"/>
              <a:buNone/>
            </a:pPr>
            <a:r>
              <a:rPr lang="en-US"/>
              <a:t>                  		  14/3 </a:t>
            </a:r>
            <a:r>
              <a:rPr lang="en-US" u="sng"/>
              <a:t>&lt;</a:t>
            </a:r>
            <a:r>
              <a:rPr lang="en-US"/>
              <a:t>  </a:t>
            </a:r>
            <a:r>
              <a:rPr lang="en-US" i="1"/>
              <a:t>c</a:t>
            </a:r>
            <a:r>
              <a:rPr lang="en-US" baseline="-25000"/>
              <a:t>1</a:t>
            </a:r>
            <a:r>
              <a:rPr lang="en-US"/>
              <a:t>  </a:t>
            </a:r>
            <a:r>
              <a:rPr lang="en-US" u="sng"/>
              <a:t>&lt;</a:t>
            </a:r>
            <a:r>
              <a:rPr lang="en-US"/>
              <a:t>  7</a:t>
            </a:r>
          </a:p>
        </p:txBody>
      </p:sp>
    </p:spTree>
  </p:cSld>
  <p:clrMapOvr>
    <a:masterClrMapping/>
  </p:clrMapOvr>
  <p:transition>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4197350" y="4425950"/>
            <a:ext cx="2273300" cy="520700"/>
          </a:xfrm>
          <a:prstGeom prst="rect">
            <a:avLst/>
          </a:prstGeom>
          <a:solidFill>
            <a:schemeClr val="folHlink"/>
          </a:solidFill>
          <a:ln w="127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79" name="Rectangle 3"/>
          <p:cNvSpPr>
            <a:spLocks noGrp="1" noChangeArrowheads="1"/>
          </p:cNvSpPr>
          <p:nvPr>
            <p:ph type="title"/>
          </p:nvPr>
        </p:nvSpPr>
        <p:spPr>
          <a:noFill/>
          <a:ln/>
        </p:spPr>
        <p:txBody>
          <a:bodyPr/>
          <a:lstStyle/>
          <a:p>
            <a:r>
              <a:rPr lang="en-US"/>
              <a:t>Example:  Sensitivity Analysis</a:t>
            </a:r>
          </a:p>
        </p:txBody>
      </p:sp>
      <p:sp>
        <p:nvSpPr>
          <p:cNvPr id="50180" name="Rectangle 4"/>
          <p:cNvSpPr>
            <a:spLocks noGrp="1" noChangeArrowheads="1"/>
          </p:cNvSpPr>
          <p:nvPr>
            <p:ph type="body" idx="1"/>
          </p:nvPr>
        </p:nvSpPr>
        <p:spPr>
          <a:noFill/>
          <a:ln/>
        </p:spPr>
        <p:txBody>
          <a:bodyPr/>
          <a:lstStyle/>
          <a:p>
            <a:r>
              <a:rPr lang="en-US">
                <a:solidFill>
                  <a:schemeClr val="tx2"/>
                </a:solidFill>
              </a:rPr>
              <a:t>Range of Optimality for </a:t>
            </a:r>
            <a:r>
              <a:rPr lang="en-US" i="1">
                <a:solidFill>
                  <a:schemeClr val="tx2"/>
                </a:solidFill>
              </a:rPr>
              <a:t>c</a:t>
            </a:r>
            <a:r>
              <a:rPr lang="en-US" baseline="-25000">
                <a:solidFill>
                  <a:schemeClr val="tx2"/>
                </a:solidFill>
              </a:rPr>
              <a:t>2</a:t>
            </a:r>
            <a:endParaRPr lang="en-US">
              <a:solidFill>
                <a:schemeClr val="tx2"/>
              </a:solidFill>
            </a:endParaRPr>
          </a:p>
          <a:p>
            <a:pPr>
              <a:buFont typeface="Monotype Sorts" pitchFamily="2" charset="2"/>
              <a:buNone/>
            </a:pPr>
            <a:r>
              <a:rPr lang="en-US"/>
              <a:t>     	Find the range of values for </a:t>
            </a:r>
            <a:r>
              <a:rPr lang="en-US" i="1"/>
              <a:t>c</a:t>
            </a:r>
            <a:r>
              <a:rPr lang="en-US" baseline="-25000"/>
              <a:t>2</a:t>
            </a:r>
            <a:r>
              <a:rPr lang="en-US"/>
              <a:t> ( with </a:t>
            </a:r>
            <a:r>
              <a:rPr lang="en-US" i="1"/>
              <a:t>c</a:t>
            </a:r>
            <a:r>
              <a:rPr lang="en-US" baseline="-25000"/>
              <a:t>1</a:t>
            </a:r>
            <a:r>
              <a:rPr lang="en-US"/>
              <a:t> staying 5) such that the objective function line slope lies between that of the two binding constraints:</a:t>
            </a:r>
          </a:p>
          <a:p>
            <a:pPr>
              <a:buFont typeface="Monotype Sorts" pitchFamily="2" charset="2"/>
              <a:buNone/>
            </a:pPr>
            <a:r>
              <a:rPr lang="en-US"/>
              <a:t>                    		-1  </a:t>
            </a:r>
            <a:r>
              <a:rPr lang="en-US" u="sng"/>
              <a:t>&lt;</a:t>
            </a:r>
            <a:r>
              <a:rPr lang="en-US"/>
              <a:t>  -5/</a:t>
            </a:r>
            <a:r>
              <a:rPr lang="en-US" i="1"/>
              <a:t>c</a:t>
            </a:r>
            <a:r>
              <a:rPr lang="en-US" baseline="-25000"/>
              <a:t>2</a:t>
            </a:r>
            <a:r>
              <a:rPr lang="en-US"/>
              <a:t>  </a:t>
            </a:r>
            <a:r>
              <a:rPr lang="en-US" u="sng"/>
              <a:t>&lt;</a:t>
            </a:r>
            <a:r>
              <a:rPr lang="en-US"/>
              <a:t>  -2/3</a:t>
            </a:r>
          </a:p>
          <a:p>
            <a:pPr>
              <a:buFont typeface="Monotype Sorts" pitchFamily="2" charset="2"/>
              <a:buNone/>
            </a:pPr>
            <a:r>
              <a:rPr lang="en-US"/>
              <a:t>	Multiplying by -1:            1  </a:t>
            </a:r>
            <a:r>
              <a:rPr lang="en-US" u="sng"/>
              <a:t>&gt;</a:t>
            </a:r>
            <a:r>
              <a:rPr lang="en-US"/>
              <a:t>  5/</a:t>
            </a:r>
            <a:r>
              <a:rPr lang="en-US" i="1"/>
              <a:t>c</a:t>
            </a:r>
            <a:r>
              <a:rPr lang="en-US" baseline="-25000"/>
              <a:t>2</a:t>
            </a:r>
            <a:r>
              <a:rPr lang="en-US"/>
              <a:t> </a:t>
            </a:r>
            <a:r>
              <a:rPr lang="en-US" u="sng"/>
              <a:t>&gt;</a:t>
            </a:r>
            <a:r>
              <a:rPr lang="en-US"/>
              <a:t>  2/3</a:t>
            </a:r>
          </a:p>
          <a:p>
            <a:pPr>
              <a:buFont typeface="Monotype Sorts" pitchFamily="2" charset="2"/>
              <a:buNone/>
            </a:pPr>
            <a:r>
              <a:rPr lang="en-US"/>
              <a:t>	Inverting,           		 1  </a:t>
            </a:r>
            <a:r>
              <a:rPr lang="en-US" u="sng"/>
              <a:t>&lt;</a:t>
            </a:r>
            <a:r>
              <a:rPr lang="en-US"/>
              <a:t>  </a:t>
            </a:r>
            <a:r>
              <a:rPr lang="en-US" i="1"/>
              <a:t>c</a:t>
            </a:r>
            <a:r>
              <a:rPr lang="en-US" baseline="-25000"/>
              <a:t>2</a:t>
            </a:r>
            <a:r>
              <a:rPr lang="en-US"/>
              <a:t>/5 </a:t>
            </a:r>
            <a:r>
              <a:rPr lang="en-US" u="sng"/>
              <a:t>&lt;</a:t>
            </a:r>
            <a:r>
              <a:rPr lang="en-US"/>
              <a:t>  3/2</a:t>
            </a:r>
          </a:p>
          <a:p>
            <a:pPr>
              <a:buFont typeface="Monotype Sorts" pitchFamily="2" charset="2"/>
              <a:buNone/>
            </a:pPr>
            <a:endParaRPr lang="en-US"/>
          </a:p>
          <a:p>
            <a:pPr>
              <a:buFont typeface="Monotype Sorts" pitchFamily="2" charset="2"/>
              <a:buNone/>
            </a:pPr>
            <a:r>
              <a:rPr lang="en-US"/>
              <a:t>      Multiplying by 5:    	 5  </a:t>
            </a:r>
            <a:r>
              <a:rPr lang="en-US" u="sng"/>
              <a:t>&lt;</a:t>
            </a:r>
            <a:r>
              <a:rPr lang="en-US"/>
              <a:t>  </a:t>
            </a:r>
            <a:r>
              <a:rPr lang="en-US" i="1"/>
              <a:t>c</a:t>
            </a:r>
            <a:r>
              <a:rPr lang="en-US" baseline="-25000"/>
              <a:t>2</a:t>
            </a:r>
            <a:r>
              <a:rPr lang="en-US"/>
              <a:t>  </a:t>
            </a:r>
            <a:r>
              <a:rPr lang="en-US" u="sng"/>
              <a:t>&lt;</a:t>
            </a:r>
            <a:r>
              <a:rPr lang="en-US"/>
              <a:t>  15/2</a:t>
            </a:r>
          </a:p>
          <a:p>
            <a:pPr>
              <a:buFont typeface="Monotype Sorts" pitchFamily="2" charset="2"/>
              <a:buNone/>
            </a:pPr>
            <a:endParaRPr lang="en-US"/>
          </a:p>
        </p:txBody>
      </p:sp>
    </p:spTree>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noFill/>
          <a:ln/>
        </p:spPr>
        <p:txBody>
          <a:bodyPr/>
          <a:lstStyle/>
          <a:p>
            <a:r>
              <a:rPr lang="en-US"/>
              <a:t>Example:  Sensitivity Analysis</a:t>
            </a:r>
          </a:p>
        </p:txBody>
      </p:sp>
      <p:sp>
        <p:nvSpPr>
          <p:cNvPr id="52227" name="Rectangle 3"/>
          <p:cNvSpPr>
            <a:spLocks noGrp="1" noChangeArrowheads="1"/>
          </p:cNvSpPr>
          <p:nvPr>
            <p:ph type="body" idx="1"/>
          </p:nvPr>
        </p:nvSpPr>
        <p:spPr>
          <a:xfrm>
            <a:off x="533400" y="938213"/>
            <a:ext cx="8101013" cy="5005387"/>
          </a:xfrm>
          <a:noFill/>
          <a:ln/>
        </p:spPr>
        <p:txBody>
          <a:bodyPr/>
          <a:lstStyle/>
          <a:p>
            <a:r>
              <a:rPr lang="en-US">
                <a:solidFill>
                  <a:schemeClr val="tx2"/>
                </a:solidFill>
              </a:rPr>
              <a:t>Shadow Prices</a:t>
            </a:r>
          </a:p>
          <a:p>
            <a:pPr>
              <a:buFont typeface="Monotype Sorts" pitchFamily="2" charset="2"/>
              <a:buNone/>
            </a:pPr>
            <a:r>
              <a:rPr lang="en-US"/>
              <a:t>     </a:t>
            </a:r>
            <a:r>
              <a:rPr lang="en-US" u="sng"/>
              <a:t>Constraint 1</a:t>
            </a:r>
            <a:r>
              <a:rPr lang="en-US"/>
              <a:t>:  Since </a:t>
            </a:r>
            <a:r>
              <a:rPr lang="en-US" i="1"/>
              <a:t>x</a:t>
            </a:r>
            <a:r>
              <a:rPr lang="en-US" baseline="-25000"/>
              <a:t>1</a:t>
            </a:r>
            <a:r>
              <a:rPr lang="en-US"/>
              <a:t> </a:t>
            </a:r>
            <a:r>
              <a:rPr lang="en-US" u="sng"/>
              <a:t>&lt;</a:t>
            </a:r>
            <a:r>
              <a:rPr lang="en-US"/>
              <a:t> 6 is not a binding constraint,         	its shadow price is 0.</a:t>
            </a:r>
          </a:p>
          <a:p>
            <a:pPr>
              <a:buFont typeface="Monotype Sorts" pitchFamily="2" charset="2"/>
              <a:buNone/>
            </a:pPr>
            <a:r>
              <a:rPr lang="en-US"/>
              <a:t>     </a:t>
            </a:r>
            <a:r>
              <a:rPr lang="en-US" u="sng"/>
              <a:t>Constraint 2</a:t>
            </a:r>
            <a:r>
              <a:rPr lang="en-US"/>
              <a:t>:  Change the RHS value of the second 		constraint to 20 and resolve for the optimal point 	determined by the last two constraints:  </a:t>
            </a:r>
          </a:p>
          <a:p>
            <a:pPr>
              <a:buFont typeface="Monotype Sorts" pitchFamily="2" charset="2"/>
              <a:buNone/>
            </a:pPr>
            <a:r>
              <a:rPr lang="en-US"/>
              <a:t>			2</a:t>
            </a:r>
            <a:r>
              <a:rPr lang="en-US" i="1"/>
              <a:t>x</a:t>
            </a:r>
            <a:r>
              <a:rPr lang="en-US" baseline="-25000"/>
              <a:t>1</a:t>
            </a:r>
            <a:r>
              <a:rPr lang="en-US"/>
              <a:t> + 3</a:t>
            </a:r>
            <a:r>
              <a:rPr lang="en-US" i="1"/>
              <a:t>x</a:t>
            </a:r>
            <a:r>
              <a:rPr lang="en-US" baseline="-25000"/>
              <a:t>2</a:t>
            </a:r>
            <a:r>
              <a:rPr lang="en-US"/>
              <a:t> = 20   and   </a:t>
            </a:r>
            <a:r>
              <a:rPr lang="en-US" i="1"/>
              <a:t>x</a:t>
            </a:r>
            <a:r>
              <a:rPr lang="en-US" baseline="-25000"/>
              <a:t>1</a:t>
            </a:r>
            <a:r>
              <a:rPr lang="en-US"/>
              <a:t> + </a:t>
            </a:r>
            <a:r>
              <a:rPr lang="en-US" i="1"/>
              <a:t>x</a:t>
            </a:r>
            <a:r>
              <a:rPr lang="en-US" baseline="-25000"/>
              <a:t>2</a:t>
            </a:r>
            <a:r>
              <a:rPr lang="en-US"/>
              <a:t> = 8.  </a:t>
            </a:r>
          </a:p>
          <a:p>
            <a:pPr>
              <a:buFont typeface="Monotype Sorts" pitchFamily="2" charset="2"/>
              <a:buNone/>
            </a:pPr>
            <a:r>
              <a:rPr lang="en-US"/>
              <a:t>		The solution is </a:t>
            </a:r>
            <a:r>
              <a:rPr lang="en-US" i="1"/>
              <a:t>x</a:t>
            </a:r>
            <a:r>
              <a:rPr lang="en-US" baseline="-25000"/>
              <a:t>1</a:t>
            </a:r>
            <a:r>
              <a:rPr lang="en-US"/>
              <a:t> = 4, </a:t>
            </a:r>
            <a:r>
              <a:rPr lang="en-US" i="1"/>
              <a:t>x</a:t>
            </a:r>
            <a:r>
              <a:rPr lang="en-US" baseline="-25000"/>
              <a:t>2</a:t>
            </a:r>
            <a:r>
              <a:rPr lang="en-US"/>
              <a:t> = 4, </a:t>
            </a:r>
            <a:r>
              <a:rPr lang="en-US" i="1"/>
              <a:t>z</a:t>
            </a:r>
            <a:r>
              <a:rPr lang="en-US"/>
              <a:t> = 48.  Hence, the </a:t>
            </a:r>
          </a:p>
          <a:p>
            <a:pPr>
              <a:buFont typeface="Monotype Sorts" pitchFamily="2" charset="2"/>
              <a:buNone/>
            </a:pPr>
            <a:r>
              <a:rPr lang="en-US"/>
              <a:t>		shadow price = </a:t>
            </a:r>
            <a:r>
              <a:rPr lang="en-US" i="1"/>
              <a:t>z</a:t>
            </a:r>
            <a:r>
              <a:rPr lang="en-US" baseline="-25000"/>
              <a:t>new</a:t>
            </a:r>
            <a:r>
              <a:rPr lang="en-US"/>
              <a:t>  - </a:t>
            </a:r>
            <a:r>
              <a:rPr lang="en-US" i="1"/>
              <a:t>z</a:t>
            </a:r>
            <a:r>
              <a:rPr lang="en-US" baseline="-25000"/>
              <a:t>old</a:t>
            </a:r>
            <a:r>
              <a:rPr lang="en-US"/>
              <a:t> = 48 - 46 = 2.</a:t>
            </a:r>
          </a:p>
          <a:p>
            <a:pPr>
              <a:buFont typeface="Monotype Sorts" pitchFamily="2" charset="2"/>
              <a:buNone/>
            </a:pPr>
            <a:r>
              <a:rPr lang="en-US"/>
              <a:t>     </a:t>
            </a:r>
          </a:p>
        </p:txBody>
      </p:sp>
    </p:spTree>
  </p:cSld>
  <p:clrMapOvr>
    <a:masterClrMapping/>
  </p:clrMapOvr>
  <p:transition>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noFill/>
          <a:ln/>
        </p:spPr>
        <p:txBody>
          <a:bodyPr/>
          <a:lstStyle/>
          <a:p>
            <a:r>
              <a:rPr lang="en-US"/>
              <a:t>Example:  Sensitivity Analysis</a:t>
            </a:r>
          </a:p>
        </p:txBody>
      </p:sp>
      <p:sp>
        <p:nvSpPr>
          <p:cNvPr id="54275" name="Rectangle 3"/>
          <p:cNvSpPr>
            <a:spLocks noGrp="1" noChangeArrowheads="1"/>
          </p:cNvSpPr>
          <p:nvPr>
            <p:ph type="body" idx="1"/>
          </p:nvPr>
        </p:nvSpPr>
        <p:spPr>
          <a:noFill/>
          <a:ln/>
        </p:spPr>
        <p:txBody>
          <a:bodyPr/>
          <a:lstStyle/>
          <a:p>
            <a:r>
              <a:rPr lang="en-US">
                <a:solidFill>
                  <a:schemeClr val="tx2"/>
                </a:solidFill>
              </a:rPr>
              <a:t>Shadow Prices (continued)</a:t>
            </a:r>
          </a:p>
          <a:p>
            <a:pPr>
              <a:buFont typeface="Monotype Sorts" pitchFamily="2" charset="2"/>
              <a:buNone/>
            </a:pPr>
            <a:r>
              <a:rPr lang="en-US" u="sng"/>
              <a:t>	Constraint 3</a:t>
            </a:r>
            <a:r>
              <a:rPr lang="en-US"/>
              <a:t>:  Change the RHS value of the third 		constraint to 9 and resolve for the optimal point 	determined by the last two constraints:  </a:t>
            </a:r>
          </a:p>
          <a:p>
            <a:pPr>
              <a:buFont typeface="Monotype Sorts" pitchFamily="2" charset="2"/>
              <a:buNone/>
            </a:pPr>
            <a:r>
              <a:rPr lang="en-US"/>
              <a:t>			2</a:t>
            </a:r>
            <a:r>
              <a:rPr lang="en-US" i="1"/>
              <a:t>x</a:t>
            </a:r>
            <a:r>
              <a:rPr lang="en-US" baseline="-25000"/>
              <a:t>1</a:t>
            </a:r>
            <a:r>
              <a:rPr lang="en-US"/>
              <a:t> + 3</a:t>
            </a:r>
            <a:r>
              <a:rPr lang="en-US" i="1"/>
              <a:t>x</a:t>
            </a:r>
            <a:r>
              <a:rPr lang="en-US" baseline="-25000"/>
              <a:t>2</a:t>
            </a:r>
            <a:r>
              <a:rPr lang="en-US"/>
              <a:t> = 19   and   </a:t>
            </a:r>
            <a:r>
              <a:rPr lang="en-US" i="1"/>
              <a:t>x</a:t>
            </a:r>
            <a:r>
              <a:rPr lang="en-US" baseline="-25000"/>
              <a:t>1</a:t>
            </a:r>
            <a:r>
              <a:rPr lang="en-US"/>
              <a:t> + </a:t>
            </a:r>
            <a:r>
              <a:rPr lang="en-US" i="1"/>
              <a:t>x</a:t>
            </a:r>
            <a:r>
              <a:rPr lang="en-US" baseline="-25000"/>
              <a:t>2</a:t>
            </a:r>
            <a:r>
              <a:rPr lang="en-US"/>
              <a:t> = 9. </a:t>
            </a:r>
          </a:p>
          <a:p>
            <a:pPr>
              <a:buFont typeface="Monotype Sorts" pitchFamily="2" charset="2"/>
              <a:buNone/>
            </a:pPr>
            <a:r>
              <a:rPr lang="en-US"/>
              <a:t>		The solution is:  </a:t>
            </a:r>
            <a:r>
              <a:rPr lang="en-US" i="1"/>
              <a:t>x</a:t>
            </a:r>
            <a:r>
              <a:rPr lang="en-US" baseline="-25000"/>
              <a:t>1</a:t>
            </a:r>
            <a:r>
              <a:rPr lang="en-US"/>
              <a:t> = 8, </a:t>
            </a:r>
            <a:r>
              <a:rPr lang="en-US" i="1"/>
              <a:t>x</a:t>
            </a:r>
            <a:r>
              <a:rPr lang="en-US" baseline="-25000"/>
              <a:t>2</a:t>
            </a:r>
            <a:r>
              <a:rPr lang="en-US"/>
              <a:t> = 1, </a:t>
            </a:r>
            <a:r>
              <a:rPr lang="en-US" i="1"/>
              <a:t>z</a:t>
            </a:r>
            <a:r>
              <a:rPr lang="en-US"/>
              <a:t> = 47.  Hence, the 	shadow price is  </a:t>
            </a:r>
            <a:r>
              <a:rPr lang="en-US" i="1"/>
              <a:t>z</a:t>
            </a:r>
            <a:r>
              <a:rPr lang="en-US" baseline="-25000"/>
              <a:t>new</a:t>
            </a:r>
            <a:r>
              <a:rPr lang="en-US"/>
              <a:t> - </a:t>
            </a:r>
            <a:r>
              <a:rPr lang="en-US" i="1"/>
              <a:t>z</a:t>
            </a:r>
            <a:r>
              <a:rPr lang="en-US" baseline="-25000"/>
              <a:t>old</a:t>
            </a:r>
            <a:r>
              <a:rPr lang="en-US"/>
              <a:t> = 47 - 46 = 1.</a:t>
            </a:r>
          </a:p>
        </p:txBody>
      </p:sp>
    </p:spTree>
  </p:cSld>
  <p:clrMapOvr>
    <a:masterClrMapping/>
  </p:clrMapOvr>
  <p:transition>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noFill/>
          <a:ln/>
        </p:spPr>
        <p:txBody>
          <a:bodyPr/>
          <a:lstStyle/>
          <a:p>
            <a:r>
              <a:rPr lang="en-US"/>
              <a:t>Example:  Infeasible Problem</a:t>
            </a:r>
          </a:p>
        </p:txBody>
      </p:sp>
      <p:sp>
        <p:nvSpPr>
          <p:cNvPr id="55299" name="Rectangle 3"/>
          <p:cNvSpPr>
            <a:spLocks noGrp="1" noChangeArrowheads="1"/>
          </p:cNvSpPr>
          <p:nvPr>
            <p:ph type="body" idx="1"/>
          </p:nvPr>
        </p:nvSpPr>
        <p:spPr>
          <a:noFill/>
          <a:ln/>
        </p:spPr>
        <p:txBody>
          <a:bodyPr/>
          <a:lstStyle/>
          <a:p>
            <a:r>
              <a:rPr lang="en-US">
                <a:solidFill>
                  <a:schemeClr val="tx2"/>
                </a:solidFill>
              </a:rPr>
              <a:t>Solve graphically for the optimal solution:</a:t>
            </a:r>
          </a:p>
          <a:p>
            <a:pPr>
              <a:buFont typeface="Monotype Sorts" pitchFamily="2" charset="2"/>
              <a:buNone/>
            </a:pPr>
            <a:endParaRPr lang="en-US"/>
          </a:p>
          <a:p>
            <a:pPr>
              <a:buFont typeface="Monotype Sorts" pitchFamily="2" charset="2"/>
              <a:buNone/>
            </a:pPr>
            <a:r>
              <a:rPr lang="en-US"/>
              <a:t>			       Max    </a:t>
            </a:r>
            <a:r>
              <a:rPr lang="en-US" i="1"/>
              <a:t>z</a:t>
            </a:r>
            <a:r>
              <a:rPr lang="en-US"/>
              <a:t> = 2</a:t>
            </a:r>
            <a:r>
              <a:rPr lang="en-US" i="1"/>
              <a:t>x</a:t>
            </a:r>
            <a:r>
              <a:rPr lang="en-US" baseline="-25000"/>
              <a:t>1</a:t>
            </a:r>
            <a:r>
              <a:rPr lang="en-US"/>
              <a:t> + 6</a:t>
            </a:r>
            <a:r>
              <a:rPr lang="en-US" i="1"/>
              <a:t>x</a:t>
            </a:r>
            <a:r>
              <a:rPr lang="en-US" baseline="-25000"/>
              <a:t>2</a:t>
            </a:r>
            <a:endParaRPr lang="en-US"/>
          </a:p>
          <a:p>
            <a:pPr>
              <a:buFont typeface="Monotype Sorts" pitchFamily="2" charset="2"/>
              <a:buNone/>
            </a:pPr>
            <a:endParaRPr lang="en-US"/>
          </a:p>
          <a:p>
            <a:pPr>
              <a:buFont typeface="Monotype Sorts" pitchFamily="2" charset="2"/>
              <a:buNone/>
            </a:pPr>
            <a:r>
              <a:rPr lang="en-US"/>
              <a:t>    	    		          s.t.          4</a:t>
            </a:r>
            <a:r>
              <a:rPr lang="en-US" i="1"/>
              <a:t>x</a:t>
            </a:r>
            <a:r>
              <a:rPr lang="en-US" baseline="-25000"/>
              <a:t>1</a:t>
            </a:r>
            <a:r>
              <a:rPr lang="en-US"/>
              <a:t> + 3</a:t>
            </a:r>
            <a:r>
              <a:rPr lang="en-US" i="1"/>
              <a:t>x</a:t>
            </a:r>
            <a:r>
              <a:rPr lang="en-US" baseline="-25000"/>
              <a:t>2</a:t>
            </a:r>
            <a:r>
              <a:rPr lang="en-US"/>
              <a:t>  </a:t>
            </a:r>
            <a:r>
              <a:rPr lang="en-US" u="sng"/>
              <a:t>&lt;</a:t>
            </a:r>
            <a:r>
              <a:rPr lang="en-US"/>
              <a:t>  12</a:t>
            </a:r>
          </a:p>
          <a:p>
            <a:pPr>
              <a:buFont typeface="Monotype Sorts" pitchFamily="2" charset="2"/>
              <a:buNone/>
            </a:pPr>
            <a:r>
              <a:rPr lang="en-US"/>
              <a:t>				             2</a:t>
            </a:r>
            <a:r>
              <a:rPr lang="en-US" i="1"/>
              <a:t>x</a:t>
            </a:r>
            <a:r>
              <a:rPr lang="en-US" baseline="-25000"/>
              <a:t>1</a:t>
            </a:r>
            <a:r>
              <a:rPr lang="en-US"/>
              <a:t> +   </a:t>
            </a:r>
            <a:r>
              <a:rPr lang="en-US" i="1"/>
              <a:t>x</a:t>
            </a:r>
            <a:r>
              <a:rPr lang="en-US" baseline="-25000"/>
              <a:t>2</a:t>
            </a:r>
            <a:r>
              <a:rPr lang="en-US"/>
              <a:t>  </a:t>
            </a:r>
            <a:r>
              <a:rPr lang="en-US" u="sng"/>
              <a:t>&gt;</a:t>
            </a:r>
            <a:r>
              <a:rPr lang="en-US"/>
              <a:t>   8</a:t>
            </a:r>
          </a:p>
          <a:p>
            <a:pPr>
              <a:buFont typeface="Monotype Sorts" pitchFamily="2" charset="2"/>
              <a:buNone/>
            </a:pPr>
            <a:endParaRPr lang="en-US"/>
          </a:p>
          <a:p>
            <a:pPr>
              <a:buFont typeface="Monotype Sorts" pitchFamily="2" charset="2"/>
              <a:buNone/>
            </a:pPr>
            <a:r>
              <a:rPr lang="en-US"/>
              <a:t>                   		                  </a:t>
            </a:r>
            <a:r>
              <a:rPr lang="en-US" i="1"/>
              <a:t>x</a:t>
            </a:r>
            <a:r>
              <a:rPr lang="en-US" baseline="-25000"/>
              <a:t>1</a:t>
            </a:r>
            <a:r>
              <a:rPr lang="en-US"/>
              <a:t>, </a:t>
            </a:r>
            <a:r>
              <a:rPr lang="en-US" i="1"/>
              <a:t>x</a:t>
            </a:r>
            <a:r>
              <a:rPr lang="en-US" baseline="-25000"/>
              <a:t>2</a:t>
            </a:r>
            <a:r>
              <a:rPr lang="en-US"/>
              <a:t> </a:t>
            </a:r>
            <a:r>
              <a:rPr lang="en-US" u="sng"/>
              <a:t>&gt;</a:t>
            </a:r>
            <a:r>
              <a:rPr lang="en-US"/>
              <a:t> 0</a:t>
            </a:r>
          </a:p>
        </p:txBody>
      </p:sp>
    </p:spTree>
  </p:cSld>
  <p:clrMapOvr>
    <a:masterClrMapping/>
  </p:clrMapOvr>
  <p:transition>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a:lstStyle/>
          <a:p>
            <a:r>
              <a:rPr lang="en-US"/>
              <a:t>Example:  Infeasible Problem</a:t>
            </a:r>
          </a:p>
        </p:txBody>
      </p:sp>
      <p:sp>
        <p:nvSpPr>
          <p:cNvPr id="57347" name="Rectangle 3"/>
          <p:cNvSpPr>
            <a:spLocks noGrp="1" noChangeArrowheads="1"/>
          </p:cNvSpPr>
          <p:nvPr>
            <p:ph type="body" idx="1"/>
          </p:nvPr>
        </p:nvSpPr>
        <p:spPr>
          <a:noFill/>
          <a:ln/>
        </p:spPr>
        <p:txBody>
          <a:bodyPr/>
          <a:lstStyle/>
          <a:p>
            <a:r>
              <a:rPr lang="en-US"/>
              <a:t>There are no points that satisfy both constraints, hence this problem has no feasible region, and no optimal solution. </a:t>
            </a:r>
          </a:p>
        </p:txBody>
      </p:sp>
      <p:sp>
        <p:nvSpPr>
          <p:cNvPr id="57348" name="Rectangle 4"/>
          <p:cNvSpPr>
            <a:spLocks noChangeArrowheads="1"/>
          </p:cNvSpPr>
          <p:nvPr/>
        </p:nvSpPr>
        <p:spPr bwMode="auto">
          <a:xfrm>
            <a:off x="2444750" y="2135188"/>
            <a:ext cx="522288"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8588" tIns="63500" rIns="128588" bIns="63500">
            <a:spAutoFit/>
          </a:bodyPr>
          <a:lstStyle>
            <a:lvl1pPr defTabSz="1739900">
              <a:defRPr sz="2400">
                <a:solidFill>
                  <a:schemeClr val="tx1"/>
                </a:solidFill>
                <a:latin typeface="Times New Roman" panose="02020603050405020304" pitchFamily="18" charset="0"/>
              </a:defRPr>
            </a:lvl1pPr>
            <a:lvl2pPr marL="631825" defTabSz="1739900">
              <a:defRPr sz="2400">
                <a:solidFill>
                  <a:schemeClr val="tx1"/>
                </a:solidFill>
                <a:latin typeface="Times New Roman" panose="02020603050405020304" pitchFamily="18" charset="0"/>
              </a:defRPr>
            </a:lvl2pPr>
            <a:lvl3pPr marL="1262063" defTabSz="1739900">
              <a:defRPr sz="2400">
                <a:solidFill>
                  <a:schemeClr val="tx1"/>
                </a:solidFill>
                <a:latin typeface="Times New Roman" panose="02020603050405020304" pitchFamily="18" charset="0"/>
              </a:defRPr>
            </a:lvl3pPr>
            <a:lvl4pPr marL="1893888" defTabSz="1739900">
              <a:defRPr sz="2400">
                <a:solidFill>
                  <a:schemeClr val="tx1"/>
                </a:solidFill>
                <a:latin typeface="Times New Roman" panose="02020603050405020304" pitchFamily="18" charset="0"/>
              </a:defRPr>
            </a:lvl4pPr>
            <a:lvl5pPr marL="2522538" defTabSz="1739900">
              <a:defRPr sz="2400">
                <a:solidFill>
                  <a:schemeClr val="tx1"/>
                </a:solidFill>
                <a:latin typeface="Times New Roman" panose="02020603050405020304" pitchFamily="18" charset="0"/>
              </a:defRPr>
            </a:lvl5pPr>
            <a:lvl6pPr marL="2979738" defTabSz="1739900" eaLnBrk="0" fontAlgn="base" hangingPunct="0">
              <a:spcBef>
                <a:spcPct val="0"/>
              </a:spcBef>
              <a:spcAft>
                <a:spcPct val="0"/>
              </a:spcAft>
              <a:defRPr sz="2400">
                <a:solidFill>
                  <a:schemeClr val="tx1"/>
                </a:solidFill>
                <a:latin typeface="Times New Roman" panose="02020603050405020304" pitchFamily="18" charset="0"/>
              </a:defRPr>
            </a:lvl6pPr>
            <a:lvl7pPr marL="3436938" defTabSz="1739900" eaLnBrk="0" fontAlgn="base" hangingPunct="0">
              <a:spcBef>
                <a:spcPct val="0"/>
              </a:spcBef>
              <a:spcAft>
                <a:spcPct val="0"/>
              </a:spcAft>
              <a:defRPr sz="2400">
                <a:solidFill>
                  <a:schemeClr val="tx1"/>
                </a:solidFill>
                <a:latin typeface="Times New Roman" panose="02020603050405020304" pitchFamily="18" charset="0"/>
              </a:defRPr>
            </a:lvl7pPr>
            <a:lvl8pPr marL="3894138" defTabSz="1739900" eaLnBrk="0" fontAlgn="base" hangingPunct="0">
              <a:spcBef>
                <a:spcPct val="0"/>
              </a:spcBef>
              <a:spcAft>
                <a:spcPct val="0"/>
              </a:spcAft>
              <a:defRPr sz="2400">
                <a:solidFill>
                  <a:schemeClr val="tx1"/>
                </a:solidFill>
                <a:latin typeface="Times New Roman" panose="02020603050405020304" pitchFamily="18" charset="0"/>
              </a:defRPr>
            </a:lvl8pPr>
            <a:lvl9pPr marL="4351338" defTabSz="1739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2</a:t>
            </a:r>
          </a:p>
        </p:txBody>
      </p:sp>
      <p:sp>
        <p:nvSpPr>
          <p:cNvPr id="57349" name="Rectangle 5"/>
          <p:cNvSpPr>
            <a:spLocks noChangeArrowheads="1"/>
          </p:cNvSpPr>
          <p:nvPr/>
        </p:nvSpPr>
        <p:spPr bwMode="auto">
          <a:xfrm>
            <a:off x="6124575" y="5784850"/>
            <a:ext cx="522288"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8588" tIns="63500" rIns="128588" bIns="63500">
            <a:spAutoFit/>
          </a:bodyPr>
          <a:lstStyle>
            <a:lvl1pPr defTabSz="1739900">
              <a:defRPr sz="2400">
                <a:solidFill>
                  <a:schemeClr val="tx1"/>
                </a:solidFill>
                <a:latin typeface="Times New Roman" panose="02020603050405020304" pitchFamily="18" charset="0"/>
              </a:defRPr>
            </a:lvl1pPr>
            <a:lvl2pPr marL="631825" defTabSz="1739900">
              <a:defRPr sz="2400">
                <a:solidFill>
                  <a:schemeClr val="tx1"/>
                </a:solidFill>
                <a:latin typeface="Times New Roman" panose="02020603050405020304" pitchFamily="18" charset="0"/>
              </a:defRPr>
            </a:lvl2pPr>
            <a:lvl3pPr marL="1262063" defTabSz="1739900">
              <a:defRPr sz="2400">
                <a:solidFill>
                  <a:schemeClr val="tx1"/>
                </a:solidFill>
                <a:latin typeface="Times New Roman" panose="02020603050405020304" pitchFamily="18" charset="0"/>
              </a:defRPr>
            </a:lvl3pPr>
            <a:lvl4pPr marL="1893888" defTabSz="1739900">
              <a:defRPr sz="2400">
                <a:solidFill>
                  <a:schemeClr val="tx1"/>
                </a:solidFill>
                <a:latin typeface="Times New Roman" panose="02020603050405020304" pitchFamily="18" charset="0"/>
              </a:defRPr>
            </a:lvl4pPr>
            <a:lvl5pPr marL="2522538" defTabSz="1739900">
              <a:defRPr sz="2400">
                <a:solidFill>
                  <a:schemeClr val="tx1"/>
                </a:solidFill>
                <a:latin typeface="Times New Roman" panose="02020603050405020304" pitchFamily="18" charset="0"/>
              </a:defRPr>
            </a:lvl5pPr>
            <a:lvl6pPr marL="2979738" defTabSz="1739900" eaLnBrk="0" fontAlgn="base" hangingPunct="0">
              <a:spcBef>
                <a:spcPct val="0"/>
              </a:spcBef>
              <a:spcAft>
                <a:spcPct val="0"/>
              </a:spcAft>
              <a:defRPr sz="2400">
                <a:solidFill>
                  <a:schemeClr val="tx1"/>
                </a:solidFill>
                <a:latin typeface="Times New Roman" panose="02020603050405020304" pitchFamily="18" charset="0"/>
              </a:defRPr>
            </a:lvl6pPr>
            <a:lvl7pPr marL="3436938" defTabSz="1739900" eaLnBrk="0" fontAlgn="base" hangingPunct="0">
              <a:spcBef>
                <a:spcPct val="0"/>
              </a:spcBef>
              <a:spcAft>
                <a:spcPct val="0"/>
              </a:spcAft>
              <a:defRPr sz="2400">
                <a:solidFill>
                  <a:schemeClr val="tx1"/>
                </a:solidFill>
                <a:latin typeface="Times New Roman" panose="02020603050405020304" pitchFamily="18" charset="0"/>
              </a:defRPr>
            </a:lvl7pPr>
            <a:lvl8pPr marL="3894138" defTabSz="1739900" eaLnBrk="0" fontAlgn="base" hangingPunct="0">
              <a:spcBef>
                <a:spcPct val="0"/>
              </a:spcBef>
              <a:spcAft>
                <a:spcPct val="0"/>
              </a:spcAft>
              <a:defRPr sz="2400">
                <a:solidFill>
                  <a:schemeClr val="tx1"/>
                </a:solidFill>
                <a:latin typeface="Times New Roman" panose="02020603050405020304" pitchFamily="18" charset="0"/>
              </a:defRPr>
            </a:lvl8pPr>
            <a:lvl9pPr marL="4351338" defTabSz="1739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1</a:t>
            </a:r>
          </a:p>
        </p:txBody>
      </p:sp>
      <p:sp>
        <p:nvSpPr>
          <p:cNvPr id="57350" name="Rectangle 6"/>
          <p:cNvSpPr>
            <a:spLocks noChangeArrowheads="1"/>
          </p:cNvSpPr>
          <p:nvPr/>
        </p:nvSpPr>
        <p:spPr bwMode="auto">
          <a:xfrm>
            <a:off x="4413250" y="4303713"/>
            <a:ext cx="2330450"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8588" tIns="63500" rIns="128588" bIns="63500">
            <a:spAutoFit/>
          </a:bodyPr>
          <a:lstStyle>
            <a:lvl1pPr defTabSz="1739900">
              <a:defRPr sz="2400">
                <a:solidFill>
                  <a:schemeClr val="tx1"/>
                </a:solidFill>
                <a:latin typeface="Times New Roman" panose="02020603050405020304" pitchFamily="18" charset="0"/>
              </a:defRPr>
            </a:lvl1pPr>
            <a:lvl2pPr marL="631825" defTabSz="1739900">
              <a:defRPr sz="2400">
                <a:solidFill>
                  <a:schemeClr val="tx1"/>
                </a:solidFill>
                <a:latin typeface="Times New Roman" panose="02020603050405020304" pitchFamily="18" charset="0"/>
              </a:defRPr>
            </a:lvl2pPr>
            <a:lvl3pPr marL="1262063" defTabSz="1739900">
              <a:defRPr sz="2400">
                <a:solidFill>
                  <a:schemeClr val="tx1"/>
                </a:solidFill>
                <a:latin typeface="Times New Roman" panose="02020603050405020304" pitchFamily="18" charset="0"/>
              </a:defRPr>
            </a:lvl3pPr>
            <a:lvl4pPr marL="1893888" defTabSz="1739900">
              <a:defRPr sz="2400">
                <a:solidFill>
                  <a:schemeClr val="tx1"/>
                </a:solidFill>
                <a:latin typeface="Times New Roman" panose="02020603050405020304" pitchFamily="18" charset="0"/>
              </a:defRPr>
            </a:lvl4pPr>
            <a:lvl5pPr marL="2522538" defTabSz="1739900">
              <a:defRPr sz="2400">
                <a:solidFill>
                  <a:schemeClr val="tx1"/>
                </a:solidFill>
                <a:latin typeface="Times New Roman" panose="02020603050405020304" pitchFamily="18" charset="0"/>
              </a:defRPr>
            </a:lvl5pPr>
            <a:lvl6pPr marL="2979738" defTabSz="1739900" eaLnBrk="0" fontAlgn="base" hangingPunct="0">
              <a:spcBef>
                <a:spcPct val="0"/>
              </a:spcBef>
              <a:spcAft>
                <a:spcPct val="0"/>
              </a:spcAft>
              <a:defRPr sz="2400">
                <a:solidFill>
                  <a:schemeClr val="tx1"/>
                </a:solidFill>
                <a:latin typeface="Times New Roman" panose="02020603050405020304" pitchFamily="18" charset="0"/>
              </a:defRPr>
            </a:lvl6pPr>
            <a:lvl7pPr marL="3436938" defTabSz="1739900" eaLnBrk="0" fontAlgn="base" hangingPunct="0">
              <a:spcBef>
                <a:spcPct val="0"/>
              </a:spcBef>
              <a:spcAft>
                <a:spcPct val="0"/>
              </a:spcAft>
              <a:defRPr sz="2400">
                <a:solidFill>
                  <a:schemeClr val="tx1"/>
                </a:solidFill>
                <a:latin typeface="Times New Roman" panose="02020603050405020304" pitchFamily="18" charset="0"/>
              </a:defRPr>
            </a:lvl7pPr>
            <a:lvl8pPr marL="3894138" defTabSz="1739900" eaLnBrk="0" fontAlgn="base" hangingPunct="0">
              <a:spcBef>
                <a:spcPct val="0"/>
              </a:spcBef>
              <a:spcAft>
                <a:spcPct val="0"/>
              </a:spcAft>
              <a:defRPr sz="2400">
                <a:solidFill>
                  <a:schemeClr val="tx1"/>
                </a:solidFill>
                <a:latin typeface="Times New Roman" panose="02020603050405020304" pitchFamily="18" charset="0"/>
              </a:defRPr>
            </a:lvl8pPr>
            <a:lvl9pPr marL="4351338" defTabSz="1739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4</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1</a:t>
            </a:r>
            <a:r>
              <a:rPr lang="en-US" u="none">
                <a:solidFill>
                  <a:srgbClr val="FFFFFF"/>
                </a:solidFill>
                <a:effectLst>
                  <a:outerShdw blurRad="38100" dist="38100" dir="2700000" algn="tl">
                    <a:srgbClr val="000000"/>
                  </a:outerShdw>
                </a:effectLst>
                <a:latin typeface="Arial" panose="020B0604020202020204" pitchFamily="34" charset="0"/>
              </a:rPr>
              <a:t> + 3</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&lt;</a:t>
            </a:r>
            <a:r>
              <a:rPr lang="en-US" u="none">
                <a:solidFill>
                  <a:srgbClr val="FFFFFF"/>
                </a:solidFill>
                <a:effectLst>
                  <a:outerShdw blurRad="38100" dist="38100" dir="2700000" algn="tl">
                    <a:srgbClr val="000000"/>
                  </a:outerShdw>
                </a:effectLst>
                <a:latin typeface="Arial" panose="020B0604020202020204" pitchFamily="34" charset="0"/>
              </a:rPr>
              <a:t>  12</a:t>
            </a:r>
          </a:p>
        </p:txBody>
      </p:sp>
      <p:sp>
        <p:nvSpPr>
          <p:cNvPr id="57351" name="Rectangle 7"/>
          <p:cNvSpPr>
            <a:spLocks noChangeArrowheads="1"/>
          </p:cNvSpPr>
          <p:nvPr/>
        </p:nvSpPr>
        <p:spPr bwMode="auto">
          <a:xfrm>
            <a:off x="4156075" y="3160713"/>
            <a:ext cx="1990725"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8588" tIns="63500" rIns="128588" bIns="63500">
            <a:spAutoFit/>
          </a:bodyPr>
          <a:lstStyle>
            <a:lvl1pPr defTabSz="1739900">
              <a:defRPr sz="2400">
                <a:solidFill>
                  <a:schemeClr val="tx1"/>
                </a:solidFill>
                <a:latin typeface="Times New Roman" panose="02020603050405020304" pitchFamily="18" charset="0"/>
              </a:defRPr>
            </a:lvl1pPr>
            <a:lvl2pPr marL="631825" defTabSz="1739900">
              <a:defRPr sz="2400">
                <a:solidFill>
                  <a:schemeClr val="tx1"/>
                </a:solidFill>
                <a:latin typeface="Times New Roman" panose="02020603050405020304" pitchFamily="18" charset="0"/>
              </a:defRPr>
            </a:lvl2pPr>
            <a:lvl3pPr marL="1262063" defTabSz="1739900">
              <a:defRPr sz="2400">
                <a:solidFill>
                  <a:schemeClr val="tx1"/>
                </a:solidFill>
                <a:latin typeface="Times New Roman" panose="02020603050405020304" pitchFamily="18" charset="0"/>
              </a:defRPr>
            </a:lvl3pPr>
            <a:lvl4pPr marL="1893888" defTabSz="1739900">
              <a:defRPr sz="2400">
                <a:solidFill>
                  <a:schemeClr val="tx1"/>
                </a:solidFill>
                <a:latin typeface="Times New Roman" panose="02020603050405020304" pitchFamily="18" charset="0"/>
              </a:defRPr>
            </a:lvl4pPr>
            <a:lvl5pPr marL="2522538" defTabSz="1739900">
              <a:defRPr sz="2400">
                <a:solidFill>
                  <a:schemeClr val="tx1"/>
                </a:solidFill>
                <a:latin typeface="Times New Roman" panose="02020603050405020304" pitchFamily="18" charset="0"/>
              </a:defRPr>
            </a:lvl5pPr>
            <a:lvl6pPr marL="2979738" defTabSz="1739900" eaLnBrk="0" fontAlgn="base" hangingPunct="0">
              <a:spcBef>
                <a:spcPct val="0"/>
              </a:spcBef>
              <a:spcAft>
                <a:spcPct val="0"/>
              </a:spcAft>
              <a:defRPr sz="2400">
                <a:solidFill>
                  <a:schemeClr val="tx1"/>
                </a:solidFill>
                <a:latin typeface="Times New Roman" panose="02020603050405020304" pitchFamily="18" charset="0"/>
              </a:defRPr>
            </a:lvl6pPr>
            <a:lvl7pPr marL="3436938" defTabSz="1739900" eaLnBrk="0" fontAlgn="base" hangingPunct="0">
              <a:spcBef>
                <a:spcPct val="0"/>
              </a:spcBef>
              <a:spcAft>
                <a:spcPct val="0"/>
              </a:spcAft>
              <a:defRPr sz="2400">
                <a:solidFill>
                  <a:schemeClr val="tx1"/>
                </a:solidFill>
                <a:latin typeface="Times New Roman" panose="02020603050405020304" pitchFamily="18" charset="0"/>
              </a:defRPr>
            </a:lvl7pPr>
            <a:lvl8pPr marL="3894138" defTabSz="1739900" eaLnBrk="0" fontAlgn="base" hangingPunct="0">
              <a:spcBef>
                <a:spcPct val="0"/>
              </a:spcBef>
              <a:spcAft>
                <a:spcPct val="0"/>
              </a:spcAft>
              <a:defRPr sz="2400">
                <a:solidFill>
                  <a:schemeClr val="tx1"/>
                </a:solidFill>
                <a:latin typeface="Times New Roman" panose="02020603050405020304" pitchFamily="18" charset="0"/>
              </a:defRPr>
            </a:lvl8pPr>
            <a:lvl9pPr marL="4351338" defTabSz="1739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2</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1</a:t>
            </a:r>
            <a:r>
              <a:rPr lang="en-US" u="none">
                <a:solidFill>
                  <a:srgbClr val="FFFFFF"/>
                </a:solidFill>
                <a:effectLst>
                  <a:outerShdw blurRad="38100" dist="38100" dir="2700000" algn="tl">
                    <a:srgbClr val="000000"/>
                  </a:outerShdw>
                </a:effectLst>
                <a:latin typeface="Arial" panose="020B0604020202020204" pitchFamily="34" charset="0"/>
              </a:rPr>
              <a:t> +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8</a:t>
            </a:r>
          </a:p>
        </p:txBody>
      </p:sp>
      <p:sp>
        <p:nvSpPr>
          <p:cNvPr id="57352" name="Line 8"/>
          <p:cNvSpPr>
            <a:spLocks noChangeShapeType="1"/>
          </p:cNvSpPr>
          <p:nvPr/>
        </p:nvSpPr>
        <p:spPr bwMode="auto">
          <a:xfrm flipH="1">
            <a:off x="3308350" y="4649788"/>
            <a:ext cx="1052513" cy="736600"/>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7353" name="Line 9"/>
          <p:cNvSpPr>
            <a:spLocks noChangeShapeType="1"/>
          </p:cNvSpPr>
          <p:nvPr/>
        </p:nvSpPr>
        <p:spPr bwMode="auto">
          <a:xfrm flipH="1">
            <a:off x="3098800" y="3494088"/>
            <a:ext cx="1050925" cy="736600"/>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7354" name="Line 10"/>
          <p:cNvSpPr>
            <a:spLocks noChangeShapeType="1"/>
          </p:cNvSpPr>
          <p:nvPr/>
        </p:nvSpPr>
        <p:spPr bwMode="auto">
          <a:xfrm>
            <a:off x="2679700" y="2652713"/>
            <a:ext cx="0" cy="3259137"/>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7355" name="Line 11"/>
          <p:cNvSpPr>
            <a:spLocks noChangeShapeType="1"/>
          </p:cNvSpPr>
          <p:nvPr/>
        </p:nvSpPr>
        <p:spPr bwMode="auto">
          <a:xfrm>
            <a:off x="2679700" y="5911850"/>
            <a:ext cx="0" cy="10636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56" name="Line 12"/>
          <p:cNvSpPr>
            <a:spLocks noChangeShapeType="1"/>
          </p:cNvSpPr>
          <p:nvPr/>
        </p:nvSpPr>
        <p:spPr bwMode="auto">
          <a:xfrm>
            <a:off x="2679700" y="6018213"/>
            <a:ext cx="3362325" cy="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7357" name="Line 13"/>
          <p:cNvSpPr>
            <a:spLocks noChangeShapeType="1"/>
          </p:cNvSpPr>
          <p:nvPr/>
        </p:nvSpPr>
        <p:spPr bwMode="auto">
          <a:xfrm>
            <a:off x="2679700" y="4756150"/>
            <a:ext cx="944563" cy="1262063"/>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7358" name="Line 14"/>
          <p:cNvSpPr>
            <a:spLocks noChangeShapeType="1"/>
          </p:cNvSpPr>
          <p:nvPr/>
        </p:nvSpPr>
        <p:spPr bwMode="auto">
          <a:xfrm>
            <a:off x="2679700" y="3494088"/>
            <a:ext cx="1260475" cy="2524125"/>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7359" name="Rectangle 15"/>
          <p:cNvSpPr>
            <a:spLocks noChangeArrowheads="1"/>
          </p:cNvSpPr>
          <p:nvPr/>
        </p:nvSpPr>
        <p:spPr bwMode="auto">
          <a:xfrm>
            <a:off x="3489325" y="6126163"/>
            <a:ext cx="3000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u="none">
                <a:solidFill>
                  <a:srgbClr val="FFFFFF"/>
                </a:solidFill>
                <a:effectLst>
                  <a:outerShdw blurRad="38100" dist="38100" dir="2700000" algn="tl">
                    <a:srgbClr val="000000"/>
                  </a:outerShdw>
                </a:effectLst>
              </a:rPr>
              <a:t>3</a:t>
            </a:r>
          </a:p>
        </p:txBody>
      </p:sp>
      <p:sp>
        <p:nvSpPr>
          <p:cNvPr id="57360" name="Rectangle 16"/>
          <p:cNvSpPr>
            <a:spLocks noChangeArrowheads="1"/>
          </p:cNvSpPr>
          <p:nvPr/>
        </p:nvSpPr>
        <p:spPr bwMode="auto">
          <a:xfrm>
            <a:off x="3870325" y="6126163"/>
            <a:ext cx="3000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u="none">
                <a:solidFill>
                  <a:srgbClr val="FFFFFF"/>
                </a:solidFill>
                <a:effectLst>
                  <a:outerShdw blurRad="38100" dist="38100" dir="2700000" algn="tl">
                    <a:srgbClr val="000000"/>
                  </a:outerShdw>
                </a:effectLst>
              </a:rPr>
              <a:t>4</a:t>
            </a:r>
          </a:p>
        </p:txBody>
      </p:sp>
      <p:sp>
        <p:nvSpPr>
          <p:cNvPr id="57361" name="Rectangle 17"/>
          <p:cNvSpPr>
            <a:spLocks noChangeArrowheads="1"/>
          </p:cNvSpPr>
          <p:nvPr/>
        </p:nvSpPr>
        <p:spPr bwMode="auto">
          <a:xfrm>
            <a:off x="2422525" y="4602163"/>
            <a:ext cx="3000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u="none">
                <a:solidFill>
                  <a:srgbClr val="FFFFFF"/>
                </a:solidFill>
                <a:effectLst>
                  <a:outerShdw blurRad="38100" dist="38100" dir="2700000" algn="tl">
                    <a:srgbClr val="000000"/>
                  </a:outerShdw>
                </a:effectLst>
              </a:rPr>
              <a:t>4</a:t>
            </a:r>
          </a:p>
        </p:txBody>
      </p:sp>
      <p:sp>
        <p:nvSpPr>
          <p:cNvPr id="57362" name="Rectangle 18"/>
          <p:cNvSpPr>
            <a:spLocks noChangeArrowheads="1"/>
          </p:cNvSpPr>
          <p:nvPr/>
        </p:nvSpPr>
        <p:spPr bwMode="auto">
          <a:xfrm>
            <a:off x="2422525" y="3306763"/>
            <a:ext cx="3000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u="none">
                <a:solidFill>
                  <a:srgbClr val="FFFFFF"/>
                </a:solidFill>
                <a:effectLst>
                  <a:outerShdw blurRad="38100" dist="38100" dir="2700000" algn="tl">
                    <a:srgbClr val="000000"/>
                  </a:outerShdw>
                </a:effectLst>
              </a:rPr>
              <a:t>8</a:t>
            </a:r>
          </a:p>
        </p:txBody>
      </p:sp>
    </p:spTree>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noFill/>
          <a:ln/>
        </p:spPr>
        <p:txBody>
          <a:bodyPr/>
          <a:lstStyle/>
          <a:p>
            <a:r>
              <a:rPr lang="en-US"/>
              <a:t>Example:  Unbounded Problem</a:t>
            </a:r>
          </a:p>
        </p:txBody>
      </p:sp>
      <p:sp>
        <p:nvSpPr>
          <p:cNvPr id="59395" name="Rectangle 3"/>
          <p:cNvSpPr>
            <a:spLocks noGrp="1" noChangeArrowheads="1"/>
          </p:cNvSpPr>
          <p:nvPr>
            <p:ph type="body" idx="1"/>
          </p:nvPr>
        </p:nvSpPr>
        <p:spPr>
          <a:noFill/>
          <a:ln/>
        </p:spPr>
        <p:txBody>
          <a:bodyPr/>
          <a:lstStyle/>
          <a:p>
            <a:r>
              <a:rPr lang="en-US">
                <a:solidFill>
                  <a:schemeClr val="tx2"/>
                </a:solidFill>
              </a:rPr>
              <a:t>Solve graphically for the optimal solution:</a:t>
            </a:r>
            <a:endParaRPr lang="en-US"/>
          </a:p>
          <a:p>
            <a:pPr>
              <a:buFont typeface="Monotype Sorts" pitchFamily="2" charset="2"/>
              <a:buNone/>
            </a:pPr>
            <a:endParaRPr lang="en-US"/>
          </a:p>
          <a:p>
            <a:pPr>
              <a:buFont typeface="Monotype Sorts" pitchFamily="2" charset="2"/>
              <a:buNone/>
            </a:pPr>
            <a:r>
              <a:rPr lang="en-US"/>
              <a:t>  			      Max    </a:t>
            </a:r>
            <a:r>
              <a:rPr lang="en-US" i="1"/>
              <a:t>z </a:t>
            </a:r>
            <a:r>
              <a:rPr lang="en-US"/>
              <a:t> =  3</a:t>
            </a:r>
            <a:r>
              <a:rPr lang="en-US" i="1"/>
              <a:t>x</a:t>
            </a:r>
            <a:r>
              <a:rPr lang="en-US" baseline="-25000"/>
              <a:t>1</a:t>
            </a:r>
            <a:r>
              <a:rPr lang="en-US"/>
              <a:t> + 4</a:t>
            </a:r>
            <a:r>
              <a:rPr lang="en-US" i="1"/>
              <a:t>x</a:t>
            </a:r>
            <a:r>
              <a:rPr lang="en-US" baseline="-25000"/>
              <a:t>2</a:t>
            </a:r>
            <a:endParaRPr lang="en-US"/>
          </a:p>
          <a:p>
            <a:pPr>
              <a:buFont typeface="Monotype Sorts" pitchFamily="2" charset="2"/>
              <a:buNone/>
            </a:pPr>
            <a:r>
              <a:rPr lang="en-US"/>
              <a:t>	</a:t>
            </a:r>
          </a:p>
          <a:p>
            <a:pPr>
              <a:buFont typeface="Monotype Sorts" pitchFamily="2" charset="2"/>
              <a:buNone/>
            </a:pPr>
            <a:r>
              <a:rPr lang="en-US"/>
              <a:t> 			         s.t.              </a:t>
            </a:r>
            <a:r>
              <a:rPr lang="en-US" i="1"/>
              <a:t>x</a:t>
            </a:r>
            <a:r>
              <a:rPr lang="en-US" baseline="-25000"/>
              <a:t>1</a:t>
            </a:r>
            <a:r>
              <a:rPr lang="en-US"/>
              <a:t> +   </a:t>
            </a:r>
            <a:r>
              <a:rPr lang="en-US" i="1"/>
              <a:t>x</a:t>
            </a:r>
            <a:r>
              <a:rPr lang="en-US" baseline="-25000"/>
              <a:t>2</a:t>
            </a:r>
            <a:r>
              <a:rPr lang="en-US"/>
              <a:t>  </a:t>
            </a:r>
            <a:r>
              <a:rPr lang="en-US" u="sng"/>
              <a:t>&gt;</a:t>
            </a:r>
            <a:r>
              <a:rPr lang="en-US"/>
              <a:t>  5</a:t>
            </a:r>
          </a:p>
          <a:p>
            <a:pPr>
              <a:buFont typeface="Monotype Sorts" pitchFamily="2" charset="2"/>
              <a:buNone/>
            </a:pPr>
            <a:r>
              <a:rPr lang="en-US"/>
              <a:t>				  	  3</a:t>
            </a:r>
            <a:r>
              <a:rPr lang="en-US" i="1"/>
              <a:t>x</a:t>
            </a:r>
            <a:r>
              <a:rPr lang="en-US" baseline="-25000"/>
              <a:t>1</a:t>
            </a:r>
            <a:r>
              <a:rPr lang="en-US"/>
              <a:t> +   </a:t>
            </a:r>
            <a:r>
              <a:rPr lang="en-US" i="1"/>
              <a:t>x</a:t>
            </a:r>
            <a:r>
              <a:rPr lang="en-US" baseline="-25000"/>
              <a:t>2</a:t>
            </a:r>
            <a:r>
              <a:rPr lang="en-US"/>
              <a:t>  </a:t>
            </a:r>
            <a:r>
              <a:rPr lang="en-US" u="sng"/>
              <a:t>&gt;</a:t>
            </a:r>
            <a:r>
              <a:rPr lang="en-US"/>
              <a:t>  8</a:t>
            </a:r>
          </a:p>
          <a:p>
            <a:pPr>
              <a:buFont typeface="Monotype Sorts" pitchFamily="2" charset="2"/>
              <a:buNone/>
            </a:pPr>
            <a:endParaRPr lang="en-US"/>
          </a:p>
          <a:p>
            <a:pPr>
              <a:buFont typeface="Monotype Sorts" pitchFamily="2" charset="2"/>
              <a:buNone/>
            </a:pPr>
            <a:r>
              <a:rPr lang="en-US"/>
              <a:t>				 	       </a:t>
            </a:r>
            <a:r>
              <a:rPr lang="en-US" i="1"/>
              <a:t>x</a:t>
            </a:r>
            <a:r>
              <a:rPr lang="en-US" baseline="-25000"/>
              <a:t>1</a:t>
            </a:r>
            <a:r>
              <a:rPr lang="en-US"/>
              <a:t>, </a:t>
            </a:r>
            <a:r>
              <a:rPr lang="en-US" i="1"/>
              <a:t>x</a:t>
            </a:r>
            <a:r>
              <a:rPr lang="en-US" baseline="-25000"/>
              <a:t>2</a:t>
            </a:r>
            <a:r>
              <a:rPr lang="en-US"/>
              <a:t> </a:t>
            </a:r>
            <a:r>
              <a:rPr lang="en-US" u="sng"/>
              <a:t>&gt;</a:t>
            </a:r>
            <a:r>
              <a:rPr lang="en-US"/>
              <a:t> 0</a:t>
            </a:r>
          </a:p>
          <a:p>
            <a:pPr>
              <a:buFont typeface="Monotype Sorts" pitchFamily="2" charset="2"/>
              <a:buNone/>
            </a:pPr>
            <a:endParaRPr lang="en-US"/>
          </a:p>
          <a:p>
            <a:pPr>
              <a:buFont typeface="Monotype Sorts" pitchFamily="2" charset="2"/>
              <a:buNone/>
            </a:pPr>
            <a:endParaRPr lang="en-US"/>
          </a:p>
          <a:p>
            <a:pPr>
              <a:buFont typeface="Monotype Sorts" pitchFamily="2" charset="2"/>
              <a:buNone/>
            </a:pPr>
            <a:endParaRPr lang="en-US"/>
          </a:p>
        </p:txBody>
      </p:sp>
    </p:spTree>
  </p:cSld>
  <p:clrMapOvr>
    <a:masterClrMapping/>
  </p:clrMapOvr>
  <p:transition>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noFill/>
          <a:ln/>
        </p:spPr>
        <p:txBody>
          <a:bodyPr/>
          <a:lstStyle/>
          <a:p>
            <a:r>
              <a:rPr lang="en-US"/>
              <a:t>Example:  Unbounded Problem</a:t>
            </a:r>
          </a:p>
        </p:txBody>
      </p:sp>
      <p:sp>
        <p:nvSpPr>
          <p:cNvPr id="61443" name="Rectangle 3"/>
          <p:cNvSpPr>
            <a:spLocks noGrp="1" noChangeArrowheads="1"/>
          </p:cNvSpPr>
          <p:nvPr>
            <p:ph type="body" idx="1"/>
          </p:nvPr>
        </p:nvSpPr>
        <p:spPr>
          <a:noFill/>
          <a:ln/>
        </p:spPr>
        <p:txBody>
          <a:bodyPr/>
          <a:lstStyle/>
          <a:p>
            <a:r>
              <a:rPr lang="en-US"/>
              <a:t>The feasible region is unbounded and the objective function line can be moved parallel to itself without bound so that </a:t>
            </a:r>
            <a:r>
              <a:rPr lang="en-US" i="1"/>
              <a:t>z</a:t>
            </a:r>
            <a:r>
              <a:rPr lang="en-US"/>
              <a:t> can be increased infinitely.  </a:t>
            </a:r>
          </a:p>
        </p:txBody>
      </p:sp>
      <p:sp>
        <p:nvSpPr>
          <p:cNvPr id="61444" name="Rectangle 4"/>
          <p:cNvSpPr>
            <a:spLocks noChangeArrowheads="1"/>
          </p:cNvSpPr>
          <p:nvPr/>
        </p:nvSpPr>
        <p:spPr bwMode="auto">
          <a:xfrm>
            <a:off x="2952750" y="2382838"/>
            <a:ext cx="509588"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238" tIns="61912" rIns="122238" bIns="61912">
            <a:spAutoFit/>
          </a:bodyPr>
          <a:lstStyle>
            <a:lvl1pPr defTabSz="1592263">
              <a:defRPr sz="2400">
                <a:solidFill>
                  <a:schemeClr val="tx1"/>
                </a:solidFill>
                <a:latin typeface="Times New Roman" panose="02020603050405020304" pitchFamily="18" charset="0"/>
              </a:defRPr>
            </a:lvl1pPr>
            <a:lvl2pPr marL="604838" defTabSz="1592263">
              <a:defRPr sz="2400">
                <a:solidFill>
                  <a:schemeClr val="tx1"/>
                </a:solidFill>
                <a:latin typeface="Times New Roman" panose="02020603050405020304" pitchFamily="18" charset="0"/>
              </a:defRPr>
            </a:lvl2pPr>
            <a:lvl3pPr marL="1206500" defTabSz="1592263">
              <a:defRPr sz="2400">
                <a:solidFill>
                  <a:schemeClr val="tx1"/>
                </a:solidFill>
                <a:latin typeface="Times New Roman" panose="02020603050405020304" pitchFamily="18" charset="0"/>
              </a:defRPr>
            </a:lvl3pPr>
            <a:lvl4pPr marL="1811338" defTabSz="1592263">
              <a:defRPr sz="2400">
                <a:solidFill>
                  <a:schemeClr val="tx1"/>
                </a:solidFill>
                <a:latin typeface="Times New Roman" panose="02020603050405020304" pitchFamily="18" charset="0"/>
              </a:defRPr>
            </a:lvl4pPr>
            <a:lvl5pPr marL="2413000" defTabSz="1592263">
              <a:defRPr sz="2400">
                <a:solidFill>
                  <a:schemeClr val="tx1"/>
                </a:solidFill>
                <a:latin typeface="Times New Roman" panose="02020603050405020304" pitchFamily="18" charset="0"/>
              </a:defRPr>
            </a:lvl5pPr>
            <a:lvl6pPr marL="2870200" defTabSz="1592263" eaLnBrk="0" fontAlgn="base" hangingPunct="0">
              <a:spcBef>
                <a:spcPct val="0"/>
              </a:spcBef>
              <a:spcAft>
                <a:spcPct val="0"/>
              </a:spcAft>
              <a:defRPr sz="2400">
                <a:solidFill>
                  <a:schemeClr val="tx1"/>
                </a:solidFill>
                <a:latin typeface="Times New Roman" panose="02020603050405020304" pitchFamily="18" charset="0"/>
              </a:defRPr>
            </a:lvl6pPr>
            <a:lvl7pPr marL="3327400" defTabSz="1592263" eaLnBrk="0" fontAlgn="base" hangingPunct="0">
              <a:spcBef>
                <a:spcPct val="0"/>
              </a:spcBef>
              <a:spcAft>
                <a:spcPct val="0"/>
              </a:spcAft>
              <a:defRPr sz="2400">
                <a:solidFill>
                  <a:schemeClr val="tx1"/>
                </a:solidFill>
                <a:latin typeface="Times New Roman" panose="02020603050405020304" pitchFamily="18" charset="0"/>
              </a:defRPr>
            </a:lvl7pPr>
            <a:lvl8pPr marL="3784600" defTabSz="1592263" eaLnBrk="0" fontAlgn="base" hangingPunct="0">
              <a:spcBef>
                <a:spcPct val="0"/>
              </a:spcBef>
              <a:spcAft>
                <a:spcPct val="0"/>
              </a:spcAft>
              <a:defRPr sz="2400">
                <a:solidFill>
                  <a:schemeClr val="tx1"/>
                </a:solidFill>
                <a:latin typeface="Times New Roman" panose="02020603050405020304" pitchFamily="18" charset="0"/>
              </a:defRPr>
            </a:lvl8pPr>
            <a:lvl9pPr marL="4241800" defTabSz="1592263"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2</a:t>
            </a:r>
          </a:p>
        </p:txBody>
      </p:sp>
      <p:sp>
        <p:nvSpPr>
          <p:cNvPr id="61445" name="Rectangle 5"/>
          <p:cNvSpPr>
            <a:spLocks noChangeArrowheads="1"/>
          </p:cNvSpPr>
          <p:nvPr/>
        </p:nvSpPr>
        <p:spPr bwMode="auto">
          <a:xfrm>
            <a:off x="6473825" y="5878513"/>
            <a:ext cx="509588"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238" tIns="61912" rIns="122238" bIns="61912">
            <a:spAutoFit/>
          </a:bodyPr>
          <a:lstStyle>
            <a:lvl1pPr defTabSz="1592263">
              <a:defRPr sz="2400">
                <a:solidFill>
                  <a:schemeClr val="tx1"/>
                </a:solidFill>
                <a:latin typeface="Times New Roman" panose="02020603050405020304" pitchFamily="18" charset="0"/>
              </a:defRPr>
            </a:lvl1pPr>
            <a:lvl2pPr marL="604838" defTabSz="1592263">
              <a:defRPr sz="2400">
                <a:solidFill>
                  <a:schemeClr val="tx1"/>
                </a:solidFill>
                <a:latin typeface="Times New Roman" panose="02020603050405020304" pitchFamily="18" charset="0"/>
              </a:defRPr>
            </a:lvl2pPr>
            <a:lvl3pPr marL="1206500" defTabSz="1592263">
              <a:defRPr sz="2400">
                <a:solidFill>
                  <a:schemeClr val="tx1"/>
                </a:solidFill>
                <a:latin typeface="Times New Roman" panose="02020603050405020304" pitchFamily="18" charset="0"/>
              </a:defRPr>
            </a:lvl3pPr>
            <a:lvl4pPr marL="1811338" defTabSz="1592263">
              <a:defRPr sz="2400">
                <a:solidFill>
                  <a:schemeClr val="tx1"/>
                </a:solidFill>
                <a:latin typeface="Times New Roman" panose="02020603050405020304" pitchFamily="18" charset="0"/>
              </a:defRPr>
            </a:lvl4pPr>
            <a:lvl5pPr marL="2413000" defTabSz="1592263">
              <a:defRPr sz="2400">
                <a:solidFill>
                  <a:schemeClr val="tx1"/>
                </a:solidFill>
                <a:latin typeface="Times New Roman" panose="02020603050405020304" pitchFamily="18" charset="0"/>
              </a:defRPr>
            </a:lvl5pPr>
            <a:lvl6pPr marL="2870200" defTabSz="1592263" eaLnBrk="0" fontAlgn="base" hangingPunct="0">
              <a:spcBef>
                <a:spcPct val="0"/>
              </a:spcBef>
              <a:spcAft>
                <a:spcPct val="0"/>
              </a:spcAft>
              <a:defRPr sz="2400">
                <a:solidFill>
                  <a:schemeClr val="tx1"/>
                </a:solidFill>
                <a:latin typeface="Times New Roman" panose="02020603050405020304" pitchFamily="18" charset="0"/>
              </a:defRPr>
            </a:lvl6pPr>
            <a:lvl7pPr marL="3327400" defTabSz="1592263" eaLnBrk="0" fontAlgn="base" hangingPunct="0">
              <a:spcBef>
                <a:spcPct val="0"/>
              </a:spcBef>
              <a:spcAft>
                <a:spcPct val="0"/>
              </a:spcAft>
              <a:defRPr sz="2400">
                <a:solidFill>
                  <a:schemeClr val="tx1"/>
                </a:solidFill>
                <a:latin typeface="Times New Roman" panose="02020603050405020304" pitchFamily="18" charset="0"/>
              </a:defRPr>
            </a:lvl7pPr>
            <a:lvl8pPr marL="3784600" defTabSz="1592263" eaLnBrk="0" fontAlgn="base" hangingPunct="0">
              <a:spcBef>
                <a:spcPct val="0"/>
              </a:spcBef>
              <a:spcAft>
                <a:spcPct val="0"/>
              </a:spcAft>
              <a:defRPr sz="2400">
                <a:solidFill>
                  <a:schemeClr val="tx1"/>
                </a:solidFill>
                <a:latin typeface="Times New Roman" panose="02020603050405020304" pitchFamily="18" charset="0"/>
              </a:defRPr>
            </a:lvl8pPr>
            <a:lvl9pPr marL="4241800" defTabSz="1592263"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1</a:t>
            </a:r>
          </a:p>
        </p:txBody>
      </p:sp>
      <p:sp>
        <p:nvSpPr>
          <p:cNvPr id="61446" name="Line 6"/>
          <p:cNvSpPr>
            <a:spLocks noChangeShapeType="1"/>
          </p:cNvSpPr>
          <p:nvPr/>
        </p:nvSpPr>
        <p:spPr bwMode="auto">
          <a:xfrm flipV="1">
            <a:off x="2873375" y="4343400"/>
            <a:ext cx="479425" cy="665163"/>
          </a:xfrm>
          <a:prstGeom prst="line">
            <a:avLst/>
          </a:prstGeom>
          <a:noFill/>
          <a:ln w="12700">
            <a:solidFill>
              <a:srgbClr val="FFFFFF"/>
            </a:solidFill>
            <a:round/>
            <a:headEnd type="none" w="sm" len="sm"/>
            <a:tailEnd type="stealth" w="med" len="lg"/>
          </a:ln>
          <a:effectLst>
            <a:outerShdw dist="28398" dir="1593903"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1447" name="Freeform 7"/>
          <p:cNvSpPr>
            <a:spLocks/>
          </p:cNvSpPr>
          <p:nvPr/>
        </p:nvSpPr>
        <p:spPr bwMode="auto">
          <a:xfrm>
            <a:off x="3175000" y="2897188"/>
            <a:ext cx="3221038" cy="3222625"/>
          </a:xfrm>
          <a:custGeom>
            <a:avLst/>
            <a:gdLst>
              <a:gd name="T0" fmla="*/ 0 w 2029"/>
              <a:gd name="T1" fmla="*/ 0 h 2030"/>
              <a:gd name="T2" fmla="*/ 2028 w 2029"/>
              <a:gd name="T3" fmla="*/ 0 h 2030"/>
              <a:gd name="T4" fmla="*/ 2028 w 2029"/>
              <a:gd name="T5" fmla="*/ 2027 h 2030"/>
              <a:gd name="T6" fmla="*/ 1019 w 2029"/>
              <a:gd name="T7" fmla="*/ 2029 h 2030"/>
              <a:gd name="T8" fmla="*/ 390 w 2029"/>
              <a:gd name="T9" fmla="*/ 1447 h 2030"/>
              <a:gd name="T10" fmla="*/ 0 w 2029"/>
              <a:gd name="T11" fmla="*/ 507 h 2030"/>
              <a:gd name="T12" fmla="*/ 0 w 2029"/>
              <a:gd name="T13" fmla="*/ 0 h 2030"/>
            </a:gdLst>
            <a:ahLst/>
            <a:cxnLst>
              <a:cxn ang="0">
                <a:pos x="T0" y="T1"/>
              </a:cxn>
              <a:cxn ang="0">
                <a:pos x="T2" y="T3"/>
              </a:cxn>
              <a:cxn ang="0">
                <a:pos x="T4" y="T5"/>
              </a:cxn>
              <a:cxn ang="0">
                <a:pos x="T6" y="T7"/>
              </a:cxn>
              <a:cxn ang="0">
                <a:pos x="T8" y="T9"/>
              </a:cxn>
              <a:cxn ang="0">
                <a:pos x="T10" y="T11"/>
              </a:cxn>
              <a:cxn ang="0">
                <a:pos x="T12" y="T13"/>
              </a:cxn>
            </a:cxnLst>
            <a:rect l="0" t="0" r="r" b="b"/>
            <a:pathLst>
              <a:path w="2029" h="2030">
                <a:moveTo>
                  <a:pt x="0" y="0"/>
                </a:moveTo>
                <a:lnTo>
                  <a:pt x="2028" y="0"/>
                </a:lnTo>
                <a:lnTo>
                  <a:pt x="2028" y="2027"/>
                </a:lnTo>
                <a:lnTo>
                  <a:pt x="1019" y="2029"/>
                </a:lnTo>
                <a:lnTo>
                  <a:pt x="390" y="1447"/>
                </a:lnTo>
                <a:lnTo>
                  <a:pt x="0" y="507"/>
                </a:lnTo>
                <a:lnTo>
                  <a:pt x="0" y="0"/>
                </a:lnTo>
              </a:path>
            </a:pathLst>
          </a:custGeom>
          <a:solidFill>
            <a:schemeClr val="folHlink"/>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48" name="Line 8"/>
          <p:cNvSpPr>
            <a:spLocks noChangeShapeType="1"/>
          </p:cNvSpPr>
          <p:nvPr/>
        </p:nvSpPr>
        <p:spPr bwMode="auto">
          <a:xfrm flipH="1">
            <a:off x="3300413" y="3400425"/>
            <a:ext cx="703262" cy="601663"/>
          </a:xfrm>
          <a:prstGeom prst="line">
            <a:avLst/>
          </a:prstGeom>
          <a:noFill/>
          <a:ln w="12700">
            <a:solidFill>
              <a:srgbClr val="FFFFFF"/>
            </a:solidFill>
            <a:round/>
            <a:headEnd type="none" w="sm" len="sm"/>
            <a:tailEnd type="stealth" w="med" len="lg"/>
          </a:ln>
          <a:effectLst>
            <a:outerShdw dist="28398" dir="1593903"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1449" name="Rectangle 9"/>
          <p:cNvSpPr>
            <a:spLocks noChangeArrowheads="1"/>
          </p:cNvSpPr>
          <p:nvPr/>
        </p:nvSpPr>
        <p:spPr bwMode="auto">
          <a:xfrm>
            <a:off x="3449638" y="2886075"/>
            <a:ext cx="197802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238" tIns="61912" rIns="122238" bIns="61912">
            <a:spAutoFit/>
          </a:bodyPr>
          <a:lstStyle>
            <a:lvl1pPr defTabSz="1592263">
              <a:defRPr sz="2400">
                <a:solidFill>
                  <a:schemeClr val="tx1"/>
                </a:solidFill>
                <a:latin typeface="Times New Roman" panose="02020603050405020304" pitchFamily="18" charset="0"/>
              </a:defRPr>
            </a:lvl1pPr>
            <a:lvl2pPr marL="604838" defTabSz="1592263">
              <a:defRPr sz="2400">
                <a:solidFill>
                  <a:schemeClr val="tx1"/>
                </a:solidFill>
                <a:latin typeface="Times New Roman" panose="02020603050405020304" pitchFamily="18" charset="0"/>
              </a:defRPr>
            </a:lvl2pPr>
            <a:lvl3pPr marL="1206500" defTabSz="1592263">
              <a:defRPr sz="2400">
                <a:solidFill>
                  <a:schemeClr val="tx1"/>
                </a:solidFill>
                <a:latin typeface="Times New Roman" panose="02020603050405020304" pitchFamily="18" charset="0"/>
              </a:defRPr>
            </a:lvl3pPr>
            <a:lvl4pPr marL="1811338" defTabSz="1592263">
              <a:defRPr sz="2400">
                <a:solidFill>
                  <a:schemeClr val="tx1"/>
                </a:solidFill>
                <a:latin typeface="Times New Roman" panose="02020603050405020304" pitchFamily="18" charset="0"/>
              </a:defRPr>
            </a:lvl4pPr>
            <a:lvl5pPr marL="2413000" defTabSz="1592263">
              <a:defRPr sz="2400">
                <a:solidFill>
                  <a:schemeClr val="tx1"/>
                </a:solidFill>
                <a:latin typeface="Times New Roman" panose="02020603050405020304" pitchFamily="18" charset="0"/>
              </a:defRPr>
            </a:lvl5pPr>
            <a:lvl6pPr marL="2870200" defTabSz="1592263" eaLnBrk="0" fontAlgn="base" hangingPunct="0">
              <a:spcBef>
                <a:spcPct val="0"/>
              </a:spcBef>
              <a:spcAft>
                <a:spcPct val="0"/>
              </a:spcAft>
              <a:defRPr sz="2400">
                <a:solidFill>
                  <a:schemeClr val="tx1"/>
                </a:solidFill>
                <a:latin typeface="Times New Roman" panose="02020603050405020304" pitchFamily="18" charset="0"/>
              </a:defRPr>
            </a:lvl6pPr>
            <a:lvl7pPr marL="3327400" defTabSz="1592263" eaLnBrk="0" fontAlgn="base" hangingPunct="0">
              <a:spcBef>
                <a:spcPct val="0"/>
              </a:spcBef>
              <a:spcAft>
                <a:spcPct val="0"/>
              </a:spcAft>
              <a:defRPr sz="2400">
                <a:solidFill>
                  <a:schemeClr val="tx1"/>
                </a:solidFill>
                <a:latin typeface="Times New Roman" panose="02020603050405020304" pitchFamily="18" charset="0"/>
              </a:defRPr>
            </a:lvl7pPr>
            <a:lvl8pPr marL="3784600" defTabSz="1592263" eaLnBrk="0" fontAlgn="base" hangingPunct="0">
              <a:spcBef>
                <a:spcPct val="0"/>
              </a:spcBef>
              <a:spcAft>
                <a:spcPct val="0"/>
              </a:spcAft>
              <a:defRPr sz="2400">
                <a:solidFill>
                  <a:schemeClr val="tx1"/>
                </a:solidFill>
                <a:latin typeface="Times New Roman" panose="02020603050405020304" pitchFamily="18" charset="0"/>
              </a:defRPr>
            </a:lvl8pPr>
            <a:lvl9pPr marL="4241800" defTabSz="1592263"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3</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1</a:t>
            </a:r>
            <a:r>
              <a:rPr lang="en-US" u="none">
                <a:solidFill>
                  <a:srgbClr val="FFFFFF"/>
                </a:solidFill>
                <a:effectLst>
                  <a:outerShdw blurRad="38100" dist="38100" dir="2700000" algn="tl">
                    <a:srgbClr val="000000"/>
                  </a:outerShdw>
                </a:effectLst>
                <a:latin typeface="Arial" panose="020B0604020202020204" pitchFamily="34" charset="0"/>
              </a:rPr>
              <a:t> +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8</a:t>
            </a:r>
          </a:p>
        </p:txBody>
      </p:sp>
      <p:sp>
        <p:nvSpPr>
          <p:cNvPr id="61450" name="Line 10"/>
          <p:cNvSpPr>
            <a:spLocks noChangeShapeType="1"/>
          </p:cNvSpPr>
          <p:nvPr/>
        </p:nvSpPr>
        <p:spPr bwMode="auto">
          <a:xfrm flipH="1">
            <a:off x="4003675" y="4606925"/>
            <a:ext cx="604838" cy="703263"/>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1451" name="Rectangle 11"/>
          <p:cNvSpPr>
            <a:spLocks noChangeArrowheads="1"/>
          </p:cNvSpPr>
          <p:nvPr/>
        </p:nvSpPr>
        <p:spPr bwMode="auto">
          <a:xfrm>
            <a:off x="4130675" y="4068763"/>
            <a:ext cx="18081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238" tIns="61912" rIns="122238" bIns="61912">
            <a:spAutoFit/>
          </a:bodyPr>
          <a:lstStyle>
            <a:lvl1pPr defTabSz="1592263">
              <a:defRPr sz="2400">
                <a:solidFill>
                  <a:schemeClr val="tx1"/>
                </a:solidFill>
                <a:latin typeface="Times New Roman" panose="02020603050405020304" pitchFamily="18" charset="0"/>
              </a:defRPr>
            </a:lvl1pPr>
            <a:lvl2pPr marL="604838" defTabSz="1592263">
              <a:defRPr sz="2400">
                <a:solidFill>
                  <a:schemeClr val="tx1"/>
                </a:solidFill>
                <a:latin typeface="Times New Roman" panose="02020603050405020304" pitchFamily="18" charset="0"/>
              </a:defRPr>
            </a:lvl2pPr>
            <a:lvl3pPr marL="1206500" defTabSz="1592263">
              <a:defRPr sz="2400">
                <a:solidFill>
                  <a:schemeClr val="tx1"/>
                </a:solidFill>
                <a:latin typeface="Times New Roman" panose="02020603050405020304" pitchFamily="18" charset="0"/>
              </a:defRPr>
            </a:lvl3pPr>
            <a:lvl4pPr marL="1811338" defTabSz="1592263">
              <a:defRPr sz="2400">
                <a:solidFill>
                  <a:schemeClr val="tx1"/>
                </a:solidFill>
                <a:latin typeface="Times New Roman" panose="02020603050405020304" pitchFamily="18" charset="0"/>
              </a:defRPr>
            </a:lvl4pPr>
            <a:lvl5pPr marL="2413000" defTabSz="1592263">
              <a:defRPr sz="2400">
                <a:solidFill>
                  <a:schemeClr val="tx1"/>
                </a:solidFill>
                <a:latin typeface="Times New Roman" panose="02020603050405020304" pitchFamily="18" charset="0"/>
              </a:defRPr>
            </a:lvl5pPr>
            <a:lvl6pPr marL="2870200" defTabSz="1592263" eaLnBrk="0" fontAlgn="base" hangingPunct="0">
              <a:spcBef>
                <a:spcPct val="0"/>
              </a:spcBef>
              <a:spcAft>
                <a:spcPct val="0"/>
              </a:spcAft>
              <a:defRPr sz="2400">
                <a:solidFill>
                  <a:schemeClr val="tx1"/>
                </a:solidFill>
                <a:latin typeface="Times New Roman" panose="02020603050405020304" pitchFamily="18" charset="0"/>
              </a:defRPr>
            </a:lvl6pPr>
            <a:lvl7pPr marL="3327400" defTabSz="1592263" eaLnBrk="0" fontAlgn="base" hangingPunct="0">
              <a:spcBef>
                <a:spcPct val="0"/>
              </a:spcBef>
              <a:spcAft>
                <a:spcPct val="0"/>
              </a:spcAft>
              <a:defRPr sz="2400">
                <a:solidFill>
                  <a:schemeClr val="tx1"/>
                </a:solidFill>
                <a:latin typeface="Times New Roman" panose="02020603050405020304" pitchFamily="18" charset="0"/>
              </a:defRPr>
            </a:lvl7pPr>
            <a:lvl8pPr marL="3784600" defTabSz="1592263" eaLnBrk="0" fontAlgn="base" hangingPunct="0">
              <a:spcBef>
                <a:spcPct val="0"/>
              </a:spcBef>
              <a:spcAft>
                <a:spcPct val="0"/>
              </a:spcAft>
              <a:defRPr sz="2400">
                <a:solidFill>
                  <a:schemeClr val="tx1"/>
                </a:solidFill>
                <a:latin typeface="Times New Roman" panose="02020603050405020304" pitchFamily="18" charset="0"/>
              </a:defRPr>
            </a:lvl8pPr>
            <a:lvl9pPr marL="4241800" defTabSz="1592263"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1</a:t>
            </a:r>
            <a:r>
              <a:rPr lang="en-US" u="none">
                <a:solidFill>
                  <a:srgbClr val="FFFFFF"/>
                </a:solidFill>
                <a:effectLst>
                  <a:outerShdw blurRad="38100" dist="38100" dir="2700000" algn="tl">
                    <a:srgbClr val="000000"/>
                  </a:outerShdw>
                </a:effectLst>
                <a:latin typeface="Arial" panose="020B0604020202020204" pitchFamily="34" charset="0"/>
              </a:rPr>
              <a:t> +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5</a:t>
            </a:r>
          </a:p>
        </p:txBody>
      </p:sp>
      <p:sp>
        <p:nvSpPr>
          <p:cNvPr id="61452" name="Rectangle 12"/>
          <p:cNvSpPr>
            <a:spLocks noChangeArrowheads="1"/>
          </p:cNvSpPr>
          <p:nvPr/>
        </p:nvSpPr>
        <p:spPr bwMode="auto">
          <a:xfrm>
            <a:off x="4359275" y="4949825"/>
            <a:ext cx="220662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238" tIns="61912" rIns="122238" bIns="61912">
            <a:spAutoFit/>
          </a:bodyPr>
          <a:lstStyle>
            <a:lvl1pPr defTabSz="1592263">
              <a:defRPr sz="2400">
                <a:solidFill>
                  <a:schemeClr val="tx1"/>
                </a:solidFill>
                <a:latin typeface="Times New Roman" panose="02020603050405020304" pitchFamily="18" charset="0"/>
              </a:defRPr>
            </a:lvl1pPr>
            <a:lvl2pPr marL="604838" defTabSz="1592263">
              <a:defRPr sz="2400">
                <a:solidFill>
                  <a:schemeClr val="tx1"/>
                </a:solidFill>
                <a:latin typeface="Times New Roman" panose="02020603050405020304" pitchFamily="18" charset="0"/>
              </a:defRPr>
            </a:lvl2pPr>
            <a:lvl3pPr marL="1206500" defTabSz="1592263">
              <a:defRPr sz="2400">
                <a:solidFill>
                  <a:schemeClr val="tx1"/>
                </a:solidFill>
                <a:latin typeface="Times New Roman" panose="02020603050405020304" pitchFamily="18" charset="0"/>
              </a:defRPr>
            </a:lvl3pPr>
            <a:lvl4pPr marL="1811338" defTabSz="1592263">
              <a:defRPr sz="2400">
                <a:solidFill>
                  <a:schemeClr val="tx1"/>
                </a:solidFill>
                <a:latin typeface="Times New Roman" panose="02020603050405020304" pitchFamily="18" charset="0"/>
              </a:defRPr>
            </a:lvl4pPr>
            <a:lvl5pPr marL="2413000" defTabSz="1592263">
              <a:defRPr sz="2400">
                <a:solidFill>
                  <a:schemeClr val="tx1"/>
                </a:solidFill>
                <a:latin typeface="Times New Roman" panose="02020603050405020304" pitchFamily="18" charset="0"/>
              </a:defRPr>
            </a:lvl5pPr>
            <a:lvl6pPr marL="2870200" defTabSz="1592263" eaLnBrk="0" fontAlgn="base" hangingPunct="0">
              <a:spcBef>
                <a:spcPct val="0"/>
              </a:spcBef>
              <a:spcAft>
                <a:spcPct val="0"/>
              </a:spcAft>
              <a:defRPr sz="2400">
                <a:solidFill>
                  <a:schemeClr val="tx1"/>
                </a:solidFill>
                <a:latin typeface="Times New Roman" panose="02020603050405020304" pitchFamily="18" charset="0"/>
              </a:defRPr>
            </a:lvl6pPr>
            <a:lvl7pPr marL="3327400" defTabSz="1592263" eaLnBrk="0" fontAlgn="base" hangingPunct="0">
              <a:spcBef>
                <a:spcPct val="0"/>
              </a:spcBef>
              <a:spcAft>
                <a:spcPct val="0"/>
              </a:spcAft>
              <a:defRPr sz="2400">
                <a:solidFill>
                  <a:schemeClr val="tx1"/>
                </a:solidFill>
                <a:latin typeface="Times New Roman" panose="02020603050405020304" pitchFamily="18" charset="0"/>
              </a:defRPr>
            </a:lvl7pPr>
            <a:lvl8pPr marL="3784600" defTabSz="1592263" eaLnBrk="0" fontAlgn="base" hangingPunct="0">
              <a:spcBef>
                <a:spcPct val="0"/>
              </a:spcBef>
              <a:spcAft>
                <a:spcPct val="0"/>
              </a:spcAft>
              <a:defRPr sz="2400">
                <a:solidFill>
                  <a:schemeClr val="tx1"/>
                </a:solidFill>
                <a:latin typeface="Times New Roman" panose="02020603050405020304" pitchFamily="18" charset="0"/>
              </a:defRPr>
            </a:lvl8pPr>
            <a:lvl9pPr marL="4241800" defTabSz="1592263"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Max  3</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1</a:t>
            </a:r>
            <a:r>
              <a:rPr lang="en-US" u="none">
                <a:solidFill>
                  <a:srgbClr val="FFFFFF"/>
                </a:solidFill>
                <a:effectLst>
                  <a:outerShdw blurRad="38100" dist="38100" dir="2700000" algn="tl">
                    <a:srgbClr val="000000"/>
                  </a:outerShdw>
                </a:effectLst>
                <a:latin typeface="Arial" panose="020B0604020202020204" pitchFamily="34" charset="0"/>
              </a:rPr>
              <a:t> + 4</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2</a:t>
            </a:r>
          </a:p>
        </p:txBody>
      </p:sp>
      <p:sp>
        <p:nvSpPr>
          <p:cNvPr id="61453" name="Line 13"/>
          <p:cNvSpPr>
            <a:spLocks noChangeShapeType="1"/>
          </p:cNvSpPr>
          <p:nvPr/>
        </p:nvSpPr>
        <p:spPr bwMode="auto">
          <a:xfrm flipH="1">
            <a:off x="4229100" y="5411788"/>
            <a:ext cx="604838" cy="603250"/>
          </a:xfrm>
          <a:prstGeom prst="line">
            <a:avLst/>
          </a:prstGeom>
          <a:noFill/>
          <a:ln w="12700">
            <a:solidFill>
              <a:srgbClr val="FFFFFF"/>
            </a:solidFill>
            <a:round/>
            <a:headEnd type="none" w="sm" len="sm"/>
            <a:tailEnd type="stealth" w="med" len="lg"/>
          </a:ln>
          <a:effectLst>
            <a:outerShdw dist="28398" dir="1593903"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1454" name="Line 14"/>
          <p:cNvSpPr>
            <a:spLocks noChangeShapeType="1"/>
          </p:cNvSpPr>
          <p:nvPr/>
        </p:nvSpPr>
        <p:spPr bwMode="auto">
          <a:xfrm>
            <a:off x="3175000" y="2897188"/>
            <a:ext cx="0" cy="3217862"/>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1455" name="Line 15"/>
          <p:cNvSpPr>
            <a:spLocks noChangeShapeType="1"/>
          </p:cNvSpPr>
          <p:nvPr/>
        </p:nvSpPr>
        <p:spPr bwMode="auto">
          <a:xfrm>
            <a:off x="3175000" y="6115050"/>
            <a:ext cx="3219450" cy="0"/>
          </a:xfrm>
          <a:prstGeom prst="line">
            <a:avLst/>
          </a:prstGeom>
          <a:noFill/>
          <a:ln w="12700">
            <a:solidFill>
              <a:srgbClr val="FFFFFF"/>
            </a:solidFill>
            <a:round/>
            <a:headEnd type="none" w="sm" len="sm"/>
            <a:tailEnd type="none" w="sm" len="sm"/>
          </a:ln>
          <a:effectLst>
            <a:outerShdw dist="28398" dir="1593903"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1456" name="Line 16"/>
          <p:cNvSpPr>
            <a:spLocks noChangeShapeType="1"/>
          </p:cNvSpPr>
          <p:nvPr/>
        </p:nvSpPr>
        <p:spPr bwMode="auto">
          <a:xfrm>
            <a:off x="3175000" y="4606925"/>
            <a:ext cx="1611313" cy="1508125"/>
          </a:xfrm>
          <a:prstGeom prst="line">
            <a:avLst/>
          </a:prstGeom>
          <a:noFill/>
          <a:ln w="12700">
            <a:solidFill>
              <a:srgbClr val="FF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7" name="Line 17"/>
          <p:cNvSpPr>
            <a:spLocks noChangeShapeType="1"/>
          </p:cNvSpPr>
          <p:nvPr/>
        </p:nvSpPr>
        <p:spPr bwMode="auto">
          <a:xfrm>
            <a:off x="3175000" y="3702050"/>
            <a:ext cx="1006475" cy="2413000"/>
          </a:xfrm>
          <a:prstGeom prst="line">
            <a:avLst/>
          </a:prstGeom>
          <a:noFill/>
          <a:ln w="12700">
            <a:solidFill>
              <a:srgbClr val="FF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8" name="Line 18"/>
          <p:cNvSpPr>
            <a:spLocks noChangeShapeType="1"/>
          </p:cNvSpPr>
          <p:nvPr/>
        </p:nvSpPr>
        <p:spPr bwMode="auto">
          <a:xfrm flipV="1">
            <a:off x="4583113" y="5715000"/>
            <a:ext cx="446087" cy="601663"/>
          </a:xfrm>
          <a:prstGeom prst="line">
            <a:avLst/>
          </a:prstGeom>
          <a:noFill/>
          <a:ln w="12700">
            <a:solidFill>
              <a:srgbClr val="FFFFFF"/>
            </a:solidFill>
            <a:round/>
            <a:headEnd type="none" w="sm" len="sm"/>
            <a:tailEnd type="stealth" w="med" len="lg"/>
          </a:ln>
          <a:effectLst>
            <a:outerShdw dist="28398" dir="1593903"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1459" name="Rectangle 19"/>
          <p:cNvSpPr>
            <a:spLocks noChangeArrowheads="1"/>
          </p:cNvSpPr>
          <p:nvPr/>
        </p:nvSpPr>
        <p:spPr bwMode="auto">
          <a:xfrm>
            <a:off x="4708525" y="6126163"/>
            <a:ext cx="3000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u="none">
                <a:solidFill>
                  <a:srgbClr val="FFFFFF"/>
                </a:solidFill>
                <a:effectLst>
                  <a:outerShdw blurRad="38100" dist="38100" dir="2700000" algn="tl">
                    <a:srgbClr val="000000"/>
                  </a:outerShdw>
                </a:effectLst>
              </a:rPr>
              <a:t>5</a:t>
            </a:r>
          </a:p>
        </p:txBody>
      </p:sp>
      <p:sp>
        <p:nvSpPr>
          <p:cNvPr id="61460" name="Rectangle 20"/>
          <p:cNvSpPr>
            <a:spLocks noChangeArrowheads="1"/>
          </p:cNvSpPr>
          <p:nvPr/>
        </p:nvSpPr>
        <p:spPr bwMode="auto">
          <a:xfrm>
            <a:off x="2879725" y="4373563"/>
            <a:ext cx="3000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u="none">
                <a:solidFill>
                  <a:srgbClr val="FFFFFF"/>
                </a:solidFill>
                <a:effectLst>
                  <a:outerShdw blurRad="38100" dist="38100" dir="2700000" algn="tl">
                    <a:srgbClr val="000000"/>
                  </a:outerShdw>
                </a:effectLst>
              </a:rPr>
              <a:t>5</a:t>
            </a:r>
          </a:p>
        </p:txBody>
      </p:sp>
      <p:sp>
        <p:nvSpPr>
          <p:cNvPr id="61461" name="Rectangle 21"/>
          <p:cNvSpPr>
            <a:spLocks noChangeArrowheads="1"/>
          </p:cNvSpPr>
          <p:nvPr/>
        </p:nvSpPr>
        <p:spPr bwMode="auto">
          <a:xfrm>
            <a:off x="2879725" y="3535363"/>
            <a:ext cx="3000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u="none">
                <a:solidFill>
                  <a:srgbClr val="FFFFFF"/>
                </a:solidFill>
                <a:effectLst>
                  <a:outerShdw blurRad="38100" dist="38100" dir="2700000" algn="tl">
                    <a:srgbClr val="000000"/>
                  </a:outerShdw>
                </a:effectLst>
              </a:rPr>
              <a:t>8</a:t>
            </a:r>
          </a:p>
        </p:txBody>
      </p:sp>
      <p:sp>
        <p:nvSpPr>
          <p:cNvPr id="61462" name="Rectangle 22"/>
          <p:cNvSpPr>
            <a:spLocks noChangeArrowheads="1"/>
          </p:cNvSpPr>
          <p:nvPr/>
        </p:nvSpPr>
        <p:spPr bwMode="auto">
          <a:xfrm>
            <a:off x="3870325" y="6126163"/>
            <a:ext cx="5889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u="none">
                <a:solidFill>
                  <a:srgbClr val="FFFFFF"/>
                </a:solidFill>
                <a:effectLst>
                  <a:outerShdw blurRad="38100" dist="38100" dir="2700000" algn="tl">
                    <a:srgbClr val="000000"/>
                  </a:outerShdw>
                </a:effectLst>
              </a:rPr>
              <a:t>2.67</a:t>
            </a:r>
          </a:p>
        </p:txBody>
      </p:sp>
      <p:sp>
        <p:nvSpPr>
          <p:cNvPr id="61463" name="Line 23"/>
          <p:cNvSpPr>
            <a:spLocks noChangeShapeType="1"/>
          </p:cNvSpPr>
          <p:nvPr/>
        </p:nvSpPr>
        <p:spPr bwMode="auto">
          <a:xfrm>
            <a:off x="2873375" y="5008563"/>
            <a:ext cx="1709738" cy="1308100"/>
          </a:xfrm>
          <a:prstGeom prst="line">
            <a:avLst/>
          </a:prstGeom>
          <a:noFill/>
          <a:ln w="508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ransition>
    <p:zoom/>
  </p:transition>
</p:sld>
</file>

<file path=ppt/theme/theme1.xml><?xml version="1.0" encoding="utf-8"?>
<a:theme xmlns:a="http://schemas.openxmlformats.org/drawingml/2006/main" name="QMB7CH07">
  <a:themeElements>
    <a:clrScheme name="">
      <a:dk1>
        <a:srgbClr val="000000"/>
      </a:dk1>
      <a:lt1>
        <a:srgbClr val="FCFEB9"/>
      </a:lt1>
      <a:dk2>
        <a:srgbClr val="610011"/>
      </a:dk2>
      <a:lt2>
        <a:srgbClr val="FAFD00"/>
      </a:lt2>
      <a:accent1>
        <a:srgbClr val="618FFD"/>
      </a:accent1>
      <a:accent2>
        <a:srgbClr val="B760F9"/>
      </a:accent2>
      <a:accent3>
        <a:srgbClr val="B7AAAA"/>
      </a:accent3>
      <a:accent4>
        <a:srgbClr val="D7D99E"/>
      </a:accent4>
      <a:accent5>
        <a:srgbClr val="B7C6FE"/>
      </a:accent5>
      <a:accent6>
        <a:srgbClr val="A656E2"/>
      </a:accent6>
      <a:hlink>
        <a:srgbClr val="919191"/>
      </a:hlink>
      <a:folHlink>
        <a:srgbClr val="B50069"/>
      </a:folHlink>
    </a:clrScheme>
    <a:fontScheme name="QMB7CH07">
      <a:majorFont>
        <a:latin typeface="Book Antiqua"/>
        <a:ea typeface=""/>
        <a:cs typeface=""/>
      </a:majorFont>
      <a:minorFont>
        <a:latin typeface="Book Antiqu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sng" strike="noStrike" cap="none" normalizeH="0" baseline="0" smtClean="0">
            <a:ln>
              <a:noFill/>
            </a:ln>
            <a:solidFill>
              <a:schemeClr val="tx1"/>
            </a:solidFill>
            <a:effectLst/>
            <a:latin typeface="Arial Narrow" panose="020B060602020203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sng" strike="noStrike" cap="none" normalizeH="0" baseline="0" smtClean="0">
            <a:ln>
              <a:noFill/>
            </a:ln>
            <a:solidFill>
              <a:schemeClr val="tx1"/>
            </a:solidFill>
            <a:effectLst/>
            <a:latin typeface="Arial Narrow" panose="020B0606020202030204" pitchFamily="34" charset="0"/>
          </a:defRPr>
        </a:defPPr>
      </a:lstStyle>
    </a:lnDef>
  </a:objectDefaults>
  <a:extraClrSchemeLst>
    <a:extraClrScheme>
      <a:clrScheme name="QMB7CH07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QMB7CH0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QMB7CH07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QMB7CH07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QMB7CH07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QMB7CH07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QMB7CH07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D:\aswppt\QMB7CH07.PPT</Template>
  <TotalTime>60264965</TotalTime>
  <Pages>30</Pages>
  <Words>3398</Words>
  <Application>Microsoft Office PowerPoint</Application>
  <PresentationFormat>On-screen Show (4:3)</PresentationFormat>
  <Paragraphs>532</Paragraphs>
  <Slides>49</Slides>
  <Notes>46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Arial Narrow</vt:lpstr>
      <vt:lpstr>Book Antiqua</vt:lpstr>
      <vt:lpstr>Monotype Sorts</vt:lpstr>
      <vt:lpstr>Times New Roman</vt:lpstr>
      <vt:lpstr>Wingdings</vt:lpstr>
      <vt:lpstr>QMB7CH07</vt:lpstr>
      <vt:lpstr>LINEAR PROGRAMMING:   THE GRAPHICAL METHOD</vt:lpstr>
      <vt:lpstr>Linear Programming (LP) Problem</vt:lpstr>
      <vt:lpstr>Linear Programming (LP) M</vt:lpstr>
      <vt:lpstr>Steps in Developing a  Linear Programming (LP) Model</vt:lpstr>
      <vt:lpstr>Steps in Formulating LP Problems</vt:lpstr>
      <vt:lpstr>Properties of LP Models</vt:lpstr>
      <vt:lpstr>LP Problems in:  Product Mix</vt:lpstr>
      <vt:lpstr>Example LP Model Formulation: The Product Mix Problem</vt:lpstr>
      <vt:lpstr>Example:  Pine Furniture Co.</vt:lpstr>
      <vt:lpstr>Pine Furniture  Data</vt:lpstr>
      <vt:lpstr>Constraints:</vt:lpstr>
      <vt:lpstr>PowerPoint Presentation</vt:lpstr>
      <vt:lpstr>Model Summary</vt:lpstr>
      <vt:lpstr>Graphical Solution</vt:lpstr>
      <vt:lpstr>PowerPoint Presentation</vt:lpstr>
      <vt:lpstr>PowerPoint Presentation</vt:lpstr>
      <vt:lpstr>PowerPoint Presentation</vt:lpstr>
      <vt:lpstr>PowerPoint Presentation</vt:lpstr>
      <vt:lpstr>PowerPoint Presentation</vt:lpstr>
      <vt:lpstr>LP Characteristics</vt:lpstr>
      <vt:lpstr>Special Situation in LP</vt:lpstr>
      <vt:lpstr>Special Situation in LP</vt:lpstr>
      <vt:lpstr>Special Situation in LP</vt:lpstr>
      <vt:lpstr>Special Situation in LP</vt:lpstr>
      <vt:lpstr>Building Linear Programming Models</vt:lpstr>
      <vt:lpstr>Building Linear Programming Models</vt:lpstr>
      <vt:lpstr>Building Linear Programming Models</vt:lpstr>
      <vt:lpstr>LP Solutions</vt:lpstr>
      <vt:lpstr>LP Solutions</vt:lpstr>
      <vt:lpstr>LP Solutions</vt:lpstr>
      <vt:lpstr>Example:  Graphical Solution</vt:lpstr>
      <vt:lpstr>Example:  Graphical Solution</vt:lpstr>
      <vt:lpstr>Example:  Graphical Solution</vt:lpstr>
      <vt:lpstr>Example:  Graphical Solution</vt:lpstr>
      <vt:lpstr>Example:  Graphical Solution</vt:lpstr>
      <vt:lpstr>Example:  Graphical Solution</vt:lpstr>
      <vt:lpstr>Example:  Graphical Solution</vt:lpstr>
      <vt:lpstr>Sensitivity Analysis</vt:lpstr>
      <vt:lpstr>Range of Optimality</vt:lpstr>
      <vt:lpstr>Example:  Sensitivity Analysis</vt:lpstr>
      <vt:lpstr>Example:  Sensitivity Analysis</vt:lpstr>
      <vt:lpstr>Example:  Sensitivity Analysis</vt:lpstr>
      <vt:lpstr>Example:  Sensitivity Analysis</vt:lpstr>
      <vt:lpstr>Example:  Sensitivity Analysis</vt:lpstr>
      <vt:lpstr>Example:  Sensitivity Analysis</vt:lpstr>
      <vt:lpstr>Example:  Infeasible Problem</vt:lpstr>
      <vt:lpstr>Example:  Infeasible Problem</vt:lpstr>
      <vt:lpstr>Example:  Unbounded Problem</vt:lpstr>
      <vt:lpstr>Example:  Unbounded Problem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analysis</dc:title>
  <dc:subject/>
  <dc:creator>John S. Loucks IV</dc:creator>
  <cp:keywords/>
  <dc:description/>
  <cp:lastModifiedBy>Sevak Kumar</cp:lastModifiedBy>
  <cp:revision>53</cp:revision>
  <cp:lastPrinted>1601-01-01T00:00:00Z</cp:lastPrinted>
  <dcterms:created xsi:type="dcterms:W3CDTF">1996-04-17T17:06:16Z</dcterms:created>
  <dcterms:modified xsi:type="dcterms:W3CDTF">2025-08-01T15:35:06Z</dcterms:modified>
</cp:coreProperties>
</file>