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4" r:id="rId5"/>
    <p:sldId id="265" r:id="rId6"/>
    <p:sldId id="266" r:id="rId7"/>
    <p:sldId id="259" r:id="rId8"/>
    <p:sldId id="267" r:id="rId9"/>
    <p:sldId id="268" r:id="rId10"/>
    <p:sldId id="269" r:id="rId11"/>
    <p:sldId id="277" r:id="rId12"/>
    <p:sldId id="270" r:id="rId13"/>
    <p:sldId id="271" r:id="rId14"/>
    <p:sldId id="275" r:id="rId15"/>
    <p:sldId id="272" r:id="rId16"/>
    <p:sldId id="273" r:id="rId17"/>
    <p:sldId id="274" r:id="rId18"/>
    <p:sldId id="276" r:id="rId19"/>
    <p:sldId id="260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63" r:id="rId40"/>
    <p:sldId id="297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585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868D1-D66D-43F7-B8C8-A32F493BFEEA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D3442-6686-4D54-912D-8C239AB927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0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7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89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35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68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97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8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38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45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92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97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32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00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73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64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28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8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593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11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149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65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26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167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625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341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729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271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95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394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642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558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678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025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096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421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783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456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067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D3442-6686-4D54-912D-8C239AB9275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9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0A317-7F4F-453E-9721-8806ABF69B3F}" type="datetimeFigureOut">
              <a:rPr lang="en-US" smtClean="0"/>
              <a:pPr/>
              <a:t>10/29/2022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770BE-6D4C-406A-A573-D31F71D2E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Document1.docx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Document2.docx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2.emf"/><Relationship Id="rId5" Type="http://schemas.openxmlformats.org/officeDocument/2006/relationships/package" Target="../embeddings/Microsoft_Word_Document3.docx"/><Relationship Id="rId4" Type="http://schemas.openxmlformats.org/officeDocument/2006/relationships/oleObject" Target="../embeddings/oleObject3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3.emf"/><Relationship Id="rId5" Type="http://schemas.openxmlformats.org/officeDocument/2006/relationships/package" Target="../embeddings/Microsoft_Word_Document4.docx"/><Relationship Id="rId4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wmf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2.emf"/><Relationship Id="rId5" Type="http://schemas.openxmlformats.org/officeDocument/2006/relationships/package" Target="../embeddings/Microsoft_Word_Document5.docx"/><Relationship Id="rId4" Type="http://schemas.openxmlformats.org/officeDocument/2006/relationships/oleObject" Target="../embeddings/oleObject5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5.emf"/><Relationship Id="rId5" Type="http://schemas.openxmlformats.org/officeDocument/2006/relationships/package" Target="../embeddings/Microsoft_Word_Document6.docx"/><Relationship Id="rId4" Type="http://schemas.openxmlformats.org/officeDocument/2006/relationships/oleObject" Target="../embeddings/oleObject6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Monte Carlo Simulation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7891" name="Picture 3" descr="C:\Users\Stew\AppData\Local\Microsoft\Windows\Temporary Internet Files\Content.IE5\S28K4LFJ\MC900441216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698" y="228600"/>
            <a:ext cx="1870989" cy="2411668"/>
          </a:xfrm>
          <a:prstGeom prst="rect">
            <a:avLst/>
          </a:prstGeom>
          <a:noFill/>
        </p:spPr>
      </p:pic>
      <p:pic>
        <p:nvPicPr>
          <p:cNvPr id="37893" name="Picture 5" descr="C:\Users\Stew\AppData\Local\Microsoft\Windows\Temporary Internet Files\Content.IE5\3M1JC1HA\MM900254443[1]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4343400"/>
            <a:ext cx="1921144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Monte Carlo In A Nutshell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a large number of simulated trials in order to  approximate a solution to a problem</a:t>
            </a:r>
          </a:p>
          <a:p>
            <a:r>
              <a:rPr lang="en-US" dirty="0" smtClean="0"/>
              <a:t>Generating random numbers</a:t>
            </a:r>
          </a:p>
          <a:p>
            <a:pPr lvl="1"/>
            <a:r>
              <a:rPr lang="en-US" dirty="0" smtClean="0"/>
              <a:t>Computer not required, though extremely helpful  </a:t>
            </a:r>
          </a:p>
          <a:p>
            <a:pPr lvl="1">
              <a:buNone/>
            </a:pPr>
            <a:endParaRPr lang="en-US" dirty="0"/>
          </a:p>
        </p:txBody>
      </p:sp>
      <p:pic>
        <p:nvPicPr>
          <p:cNvPr id="3074" name="Picture 2" descr="C:\Users\Stew\AppData\Local\Microsoft\Windows\Temporary Internet Files\Content.IE5\3U11F6ZG\MC900434786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42088" y="4289425"/>
            <a:ext cx="1828800" cy="1828800"/>
          </a:xfrm>
          <a:prstGeom prst="rect">
            <a:avLst/>
          </a:prstGeom>
          <a:noFill/>
        </p:spPr>
      </p:pic>
      <p:pic>
        <p:nvPicPr>
          <p:cNvPr id="3075" name="Picture 3" descr="C:\Program Files\Microsoft Office\MEDIA\CAGCAT10\j0285750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63750" y="4629150"/>
            <a:ext cx="1824038" cy="1120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Brief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Earliest well documented use of Monte Carlo:</a:t>
            </a:r>
          </a:p>
          <a:p>
            <a:pPr lvl="1"/>
            <a:r>
              <a:rPr lang="en-US" dirty="0" smtClean="0"/>
              <a:t>Late 18</a:t>
            </a:r>
            <a:r>
              <a:rPr lang="en-US" baseline="30000" dirty="0" smtClean="0"/>
              <a:t>th</a:t>
            </a:r>
            <a:r>
              <a:rPr lang="en-US" dirty="0" smtClean="0"/>
              <a:t> Century France</a:t>
            </a:r>
          </a:p>
          <a:p>
            <a:pPr lvl="2"/>
            <a:r>
              <a:rPr lang="en-US" dirty="0" smtClean="0"/>
              <a:t>Comte de Buffon performed an experiment involving the repeated tossing of a needle onto a plane</a:t>
            </a:r>
          </a:p>
          <a:p>
            <a:pPr lvl="2"/>
            <a:r>
              <a:rPr lang="en-US" dirty="0" smtClean="0"/>
              <a:t>Wanted to determine probability of needle intersecting a string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pic>
        <p:nvPicPr>
          <p:cNvPr id="1026" name="Picture 2" descr="C:\Users\Stew\AppData\Local\Microsoft\Windows\Temporary Internet Files\Content.IE5\3M1JC1HA\MP900401882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886200"/>
            <a:ext cx="4114800" cy="274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Monte Carlo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Named after Monte Carlo Casino in 1940’s by a group of men working on the nuclear bomb</a:t>
            </a:r>
          </a:p>
          <a:p>
            <a:pPr lvl="1"/>
            <a:r>
              <a:rPr lang="de-DE" dirty="0" smtClean="0"/>
              <a:t>John von Neumann, Stanislaw Ulam and Nicholas Metropolis</a:t>
            </a:r>
          </a:p>
          <a:p>
            <a:r>
              <a:rPr lang="en-US" dirty="0" err="1" smtClean="0"/>
              <a:t>Ulam’s</a:t>
            </a:r>
            <a:r>
              <a:rPr lang="en-US" dirty="0" smtClean="0"/>
              <a:t> Uncle supposedly often frequented this Casino</a:t>
            </a:r>
            <a:endParaRPr lang="en-US" dirty="0"/>
          </a:p>
        </p:txBody>
      </p:sp>
      <p:pic>
        <p:nvPicPr>
          <p:cNvPr id="2051" name="Picture 3" descr="C:\Users\Stew\AppData\Local\Microsoft\Windows\Temporary Internet Files\Content.IE5\SPMHA3YZ\MC900383612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3963329"/>
            <a:ext cx="3559853" cy="28946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Onset of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Invention and popularization of computer</a:t>
            </a:r>
          </a:p>
          <a:p>
            <a:pPr lvl="1"/>
            <a:r>
              <a:rPr lang="en-US" dirty="0" smtClean="0"/>
              <a:t>Much more practical to implement Monte Carlo</a:t>
            </a:r>
          </a:p>
          <a:p>
            <a:pPr lvl="1"/>
            <a:r>
              <a:rPr lang="en-US" dirty="0" smtClean="0"/>
              <a:t>Popularity has taken off since 1950’s</a:t>
            </a:r>
          </a:p>
        </p:txBody>
      </p:sp>
      <p:pic>
        <p:nvPicPr>
          <p:cNvPr id="4098" name="Picture 2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8200" y="3738562"/>
            <a:ext cx="1843430" cy="1819656"/>
          </a:xfrm>
          <a:prstGeom prst="rect">
            <a:avLst/>
          </a:prstGeom>
          <a:noFill/>
        </p:spPr>
      </p:pic>
      <p:pic>
        <p:nvPicPr>
          <p:cNvPr id="4099" name="Picture 3" descr="C:\Users\Stew\AppData\Local\Microsoft\Windows\Temporary Internet Files\Content.IE5\SPMHA3YZ\MC900286528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4267200"/>
            <a:ext cx="1781175" cy="16525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 aspect of computers: allow us to quickly generate thousands of “random” numbers.</a:t>
            </a:r>
          </a:p>
          <a:p>
            <a:pPr lvl="1"/>
            <a:r>
              <a:rPr lang="en-US" dirty="0" smtClean="0"/>
              <a:t>Food for thought:</a:t>
            </a:r>
          </a:p>
          <a:p>
            <a:pPr lvl="2"/>
            <a:r>
              <a:rPr lang="en-US" dirty="0" smtClean="0"/>
              <a:t>Computers are ultimately deterministic devices</a:t>
            </a:r>
          </a:p>
          <a:p>
            <a:pPr lvl="3"/>
            <a:r>
              <a:rPr lang="en-US" dirty="0" smtClean="0"/>
              <a:t>How then can the numbers be “random?”</a:t>
            </a:r>
          </a:p>
          <a:p>
            <a:pPr lvl="3"/>
            <a:r>
              <a:rPr lang="en-US" dirty="0" smtClean="0"/>
              <a:t>We will leave this thought for the philosophers and assume that we do actually have random numbers</a:t>
            </a:r>
          </a:p>
        </p:txBody>
      </p:sp>
      <p:grpSp>
        <p:nvGrpSpPr>
          <p:cNvPr id="5123" name="Group 3"/>
          <p:cNvGrpSpPr>
            <a:grpSpLocks/>
          </p:cNvGrpSpPr>
          <p:nvPr/>
        </p:nvGrpSpPr>
        <p:grpSpPr bwMode="auto">
          <a:xfrm>
            <a:off x="381000" y="4572000"/>
            <a:ext cx="2057400" cy="2111375"/>
            <a:chOff x="1632" y="1248"/>
            <a:chExt cx="2682" cy="2286"/>
          </a:xfrm>
        </p:grpSpPr>
        <p:sp>
          <p:nvSpPr>
            <p:cNvPr id="5124" name="Gear"/>
            <p:cNvSpPr>
              <a:spLocks noEditPoints="1" noChangeArrowheads="1"/>
            </p:cNvSpPr>
            <p:nvPr/>
          </p:nvSpPr>
          <p:spPr bwMode="auto">
            <a:xfrm>
              <a:off x="3119" y="1248"/>
              <a:ext cx="1195" cy="1048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10800 h 21600"/>
                <a:gd name="T4" fmla="*/ 10800 w 21600"/>
                <a:gd name="T5" fmla="*/ 21600 h 21600"/>
                <a:gd name="T6" fmla="*/ 0 w 21600"/>
                <a:gd name="T7" fmla="*/ 10800 h 21600"/>
                <a:gd name="T8" fmla="*/ 4374 w 21600"/>
                <a:gd name="T9" fmla="*/ 3964 h 21600"/>
                <a:gd name="T10" fmla="*/ 17841 w 21600"/>
                <a:gd name="T11" fmla="*/ 176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20099999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flatTx/>
            </a:bodyPr>
            <a:lstStyle/>
            <a:p>
              <a:endParaRPr lang="en-US"/>
            </a:p>
          </p:txBody>
        </p:sp>
        <p:sp>
          <p:nvSpPr>
            <p:cNvPr id="5125" name="AutoShape 5"/>
            <p:cNvSpPr>
              <a:spLocks noEditPoints="1" noChangeArrowheads="1"/>
            </p:cNvSpPr>
            <p:nvPr/>
          </p:nvSpPr>
          <p:spPr bwMode="auto">
            <a:xfrm>
              <a:off x="1632" y="1680"/>
              <a:ext cx="1429" cy="1253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10800 h 21600"/>
                <a:gd name="T4" fmla="*/ 10800 w 21600"/>
                <a:gd name="T5" fmla="*/ 21600 h 21600"/>
                <a:gd name="T6" fmla="*/ 0 w 21600"/>
                <a:gd name="T7" fmla="*/ 10800 h 21600"/>
                <a:gd name="T8" fmla="*/ 4374 w 21600"/>
                <a:gd name="T9" fmla="*/ 3964 h 21600"/>
                <a:gd name="T10" fmla="*/ 17841 w 21600"/>
                <a:gd name="T11" fmla="*/ 176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20099999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flatTx/>
            </a:bodyPr>
            <a:lstStyle/>
            <a:p>
              <a:endParaRPr lang="en-US"/>
            </a:p>
          </p:txBody>
        </p:sp>
        <p:sp>
          <p:nvSpPr>
            <p:cNvPr id="5126" name="AutoShape 6"/>
            <p:cNvSpPr>
              <a:spLocks noEditPoints="1" noChangeArrowheads="1"/>
            </p:cNvSpPr>
            <p:nvPr/>
          </p:nvSpPr>
          <p:spPr bwMode="auto">
            <a:xfrm>
              <a:off x="2559" y="2142"/>
              <a:ext cx="1588" cy="1392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10800 h 21600"/>
                <a:gd name="T4" fmla="*/ 10800 w 21600"/>
                <a:gd name="T5" fmla="*/ 21600 h 21600"/>
                <a:gd name="T6" fmla="*/ 0 w 21600"/>
                <a:gd name="T7" fmla="*/ 10800 h 21600"/>
                <a:gd name="T8" fmla="*/ 4374 w 21600"/>
                <a:gd name="T9" fmla="*/ 3964 h 21600"/>
                <a:gd name="T10" fmla="*/ 17841 w 21600"/>
                <a:gd name="T11" fmla="*/ 176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20099999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flatTx/>
            </a:bodyPr>
            <a:lstStyle/>
            <a:p>
              <a:endParaRPr lang="en-US"/>
            </a:p>
          </p:txBody>
        </p:sp>
      </p:grpSp>
      <p:pic>
        <p:nvPicPr>
          <p:cNvPr id="5127" name="Picture 7" descr="C:\Users\Stew\AppData\Local\Microsoft\Windows\Temporary Internet Files\Content.IE5\3M1JC1HA\MC900055357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0875" y="4689475"/>
            <a:ext cx="1017588" cy="16954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Simple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Monte Carlo to approximate pi</a:t>
            </a:r>
          </a:p>
          <a:p>
            <a:pPr lvl="1"/>
            <a:r>
              <a:rPr lang="en-US" dirty="0" smtClean="0"/>
              <a:t>Will give us a better understanding of how to implement and analyze a Monte Carlo Simulation</a:t>
            </a:r>
          </a:p>
          <a:p>
            <a:pPr lvl="2"/>
            <a:r>
              <a:rPr lang="en-US" dirty="0" smtClean="0"/>
              <a:t>Obviously, there are more efficient ways to figure out digits of pi</a:t>
            </a:r>
          </a:p>
          <a:p>
            <a:pPr lvl="2"/>
            <a:r>
              <a:rPr lang="en-US" dirty="0" smtClean="0"/>
              <a:t>This example will help build a conceptual understanding before looking at another example</a:t>
            </a:r>
            <a:endParaRPr lang="en-US" dirty="0"/>
          </a:p>
        </p:txBody>
      </p:sp>
      <p:pic>
        <p:nvPicPr>
          <p:cNvPr id="6147" name="Picture 3" descr="C:\Users\Stew\AppData\Local\Microsoft\Windows\Temporary Internet Files\Content.IE5\S28K4LFJ\MC900105082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953000"/>
            <a:ext cx="1371600" cy="1745933"/>
          </a:xfrm>
          <a:prstGeom prst="rect">
            <a:avLst/>
          </a:prstGeom>
          <a:noFill/>
        </p:spPr>
      </p:pic>
      <p:pic>
        <p:nvPicPr>
          <p:cNvPr id="6148" name="Picture 4" descr="C:\Users\Stew\AppData\Local\Microsoft\Windows\Temporary Internet Files\Content.IE5\SPMHA3YZ\MC90004806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43800" y="304800"/>
            <a:ext cx="996950" cy="19267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dirty="0" smtClean="0"/>
              <a:t>Consider a unit circle inscribed within a square</a:t>
            </a:r>
          </a:p>
          <a:p>
            <a:pPr lvl="1"/>
            <a:r>
              <a:rPr lang="en-US" dirty="0" smtClean="0"/>
              <a:t>The ratio of the area of the circle to the area of the square is </a:t>
            </a:r>
            <a:r>
              <a:rPr lang="el-GR" dirty="0" smtClean="0"/>
              <a:t>π</a:t>
            </a:r>
            <a:r>
              <a:rPr lang="en-US" dirty="0" smtClean="0"/>
              <a:t>/4</a:t>
            </a:r>
          </a:p>
          <a:p>
            <a:pPr lvl="2"/>
            <a:r>
              <a:rPr lang="en-US" dirty="0" smtClean="0"/>
              <a:t>We will use this key fact in order to estimate </a:t>
            </a:r>
            <a:r>
              <a:rPr lang="el-GR" dirty="0" smtClean="0"/>
              <a:t>π</a:t>
            </a:r>
            <a:r>
              <a:rPr lang="en-US" dirty="0" smtClean="0"/>
              <a:t> by randomly selecting points with the square, and checking whether they are within the circle</a:t>
            </a:r>
          </a:p>
          <a:p>
            <a:pPr lvl="1">
              <a:buNone/>
            </a:pPr>
            <a:endParaRPr lang="en-US" dirty="0"/>
          </a:p>
        </p:txBody>
      </p:sp>
      <p:pic>
        <p:nvPicPr>
          <p:cNvPr id="8" name="Picture 7" descr="Untitled.jpg"/>
          <p:cNvPicPr>
            <a:picLocks noChangeAspect="1"/>
          </p:cNvPicPr>
          <p:nvPr/>
        </p:nvPicPr>
        <p:blipFill>
          <a:blip r:embed="rId3" cstate="print"/>
          <a:srcRect l="25918" t="23711" r="37797" b="32990"/>
          <a:stretch>
            <a:fillRect/>
          </a:stretch>
        </p:blipFill>
        <p:spPr>
          <a:xfrm>
            <a:off x="3200400" y="3505200"/>
            <a:ext cx="2362200" cy="236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 smtClean="0"/>
              <a:t>We will generate n points uniformly distributed within the square</a:t>
            </a:r>
          </a:p>
          <a:p>
            <a:r>
              <a:rPr lang="en-US" dirty="0" smtClean="0"/>
              <a:t>Let X denote a binomial random variable which takes the value 1 if a randomly generated point falls within the circle and 0 if the point falls outside of the circle</a:t>
            </a:r>
          </a:p>
          <a:p>
            <a:r>
              <a:rPr lang="en-US" dirty="0" smtClean="0"/>
              <a:t> X is a Bernoulli R.V. with p = </a:t>
            </a:r>
            <a:r>
              <a:rPr lang="el-GR" dirty="0" smtClean="0"/>
              <a:t>π</a:t>
            </a:r>
            <a:r>
              <a:rPr lang="en-US" dirty="0" smtClean="0"/>
              <a:t>/4</a:t>
            </a:r>
          </a:p>
          <a:p>
            <a:r>
              <a:rPr lang="en-US" dirty="0" smtClean="0"/>
              <a:t>Notice:  E(X) = </a:t>
            </a:r>
            <a:r>
              <a:rPr lang="el-GR" dirty="0" smtClean="0"/>
              <a:t>π</a:t>
            </a:r>
            <a:r>
              <a:rPr lang="en-US" dirty="0" smtClean="0"/>
              <a:t>/4  </a:t>
            </a:r>
            <a:r>
              <a:rPr lang="en-US" dirty="0" smtClean="0">
                <a:sym typeface="Wingdings" pitchFamily="2" charset="2"/>
              </a:rPr>
              <a:t> E(4X) = </a:t>
            </a:r>
            <a:r>
              <a:rPr lang="el-GR" dirty="0" smtClean="0"/>
              <a:t>π</a:t>
            </a:r>
            <a:endParaRPr lang="en-US" dirty="0" smtClean="0"/>
          </a:p>
          <a:p>
            <a:r>
              <a:rPr lang="en-US" dirty="0" smtClean="0"/>
              <a:t>For convenience, let Y = 4X. Now, we estimate </a:t>
            </a:r>
            <a:r>
              <a:rPr lang="el-GR" dirty="0" smtClean="0"/>
              <a:t>π</a:t>
            </a:r>
            <a:r>
              <a:rPr lang="en-US" dirty="0" smtClean="0"/>
              <a:t> with </a:t>
            </a:r>
          </a:p>
        </p:txBody>
      </p:sp>
      <p:pic>
        <p:nvPicPr>
          <p:cNvPr id="7171" name="Picture 3" descr="C:\Users\Stew\AppData\Local\Microsoft\Windows\Temporary Internet Files\Content.IE5\S28K4LFJ\MC900437771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5105400"/>
            <a:ext cx="1997075" cy="1362075"/>
          </a:xfrm>
          <a:prstGeom prst="rect">
            <a:avLst/>
          </a:prstGeom>
          <a:noFill/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38400" y="5105400"/>
            <a:ext cx="1905000" cy="15954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The Simulation: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simulation can easily be programmed into a computer:</a:t>
            </a:r>
          </a:p>
          <a:p>
            <a:pPr lvl="1"/>
            <a:r>
              <a:rPr lang="en-US" dirty="0" smtClean="0"/>
              <a:t>I used VBA in Excel to write a short function to run our simulation</a:t>
            </a:r>
          </a:p>
          <a:p>
            <a:pPr lvl="2"/>
            <a:r>
              <a:rPr lang="en-US" dirty="0" smtClean="0"/>
              <a:t>We input n, number of trials, and function will repeatedly select points uniformly distributed within the square and determine how many fall within the circle</a:t>
            </a:r>
          </a:p>
          <a:p>
            <a:pPr lvl="2"/>
            <a:r>
              <a:rPr lang="en-US" dirty="0" smtClean="0"/>
              <a:t>Function computes sample mean and returns our estimate for </a:t>
            </a:r>
            <a:r>
              <a:rPr lang="el-GR" dirty="0" smtClean="0"/>
              <a:t>π</a:t>
            </a:r>
            <a:r>
              <a:rPr lang="en-US" dirty="0" smtClean="0"/>
              <a:t> :</a:t>
            </a:r>
          </a:p>
          <a:p>
            <a:pPr lvl="2"/>
            <a:endParaRPr lang="en-US" dirty="0" smtClean="0"/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198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10000" y="5709285"/>
            <a:ext cx="1371600" cy="1148715"/>
          </a:xfrm>
          <a:prstGeom prst="rect">
            <a:avLst/>
          </a:prstGeom>
          <a:noFill/>
        </p:spPr>
      </p:pic>
      <p:pic>
        <p:nvPicPr>
          <p:cNvPr id="41987" name="Picture 3" descr="C:\Users\Stew\AppData\Local\Microsoft\Windows\Temporary Internet Files\Content.IE5\SPMHA3YZ\MC90004821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52400"/>
            <a:ext cx="1524000" cy="15260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VBA Code:</a:t>
            </a:r>
            <a:endParaRPr lang="en-US" dirty="0"/>
          </a:p>
        </p:txBody>
      </p:sp>
      <p:graphicFrame>
        <p:nvGraphicFramePr>
          <p:cNvPr id="57346" name="Object 2"/>
          <p:cNvGraphicFramePr>
            <a:graphicFrameLocks noChangeAspect="1"/>
          </p:cNvGraphicFramePr>
          <p:nvPr/>
        </p:nvGraphicFramePr>
        <p:xfrm>
          <a:off x="1600200" y="1371600"/>
          <a:ext cx="10104822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7" name="Document" r:id="rId5" imgW="5942845" imgH="2689535" progId="Word.Document.12">
                  <p:embed/>
                </p:oleObj>
              </mc:Choice>
              <mc:Fallback>
                <p:oleObj name="Document" r:id="rId5" imgW="5942845" imgH="268953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371600"/>
                        <a:ext cx="10104822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accurate is this method?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dirty="0" smtClean="0"/>
              <a:t>Consider the variance of our estimate: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Since X is a Bernoulli R.V. with p = </a:t>
            </a:r>
            <a:r>
              <a:rPr lang="el-GR" dirty="0" smtClean="0"/>
              <a:t>π</a:t>
            </a:r>
            <a:r>
              <a:rPr lang="en-US" dirty="0" smtClean="0"/>
              <a:t>/4,     </a:t>
            </a:r>
            <a:r>
              <a:rPr lang="en-US" dirty="0" err="1" smtClean="0"/>
              <a:t>Var</a:t>
            </a:r>
            <a:r>
              <a:rPr lang="en-US" dirty="0" smtClean="0"/>
              <a:t>(X) = (</a:t>
            </a:r>
            <a:r>
              <a:rPr lang="el-GR" dirty="0" smtClean="0"/>
              <a:t>π</a:t>
            </a:r>
            <a:r>
              <a:rPr lang="en-US" dirty="0" smtClean="0"/>
              <a:t>/4)(1-</a:t>
            </a:r>
            <a:r>
              <a:rPr lang="el-GR" dirty="0" smtClean="0"/>
              <a:t> π</a:t>
            </a:r>
            <a:r>
              <a:rPr lang="en-US" dirty="0" smtClean="0"/>
              <a:t>/4), however we will assume we don’t know </a:t>
            </a:r>
            <a:r>
              <a:rPr lang="el-GR" dirty="0" smtClean="0"/>
              <a:t>π</a:t>
            </a:r>
            <a:r>
              <a:rPr lang="en-US" dirty="0" smtClean="0"/>
              <a:t>.  Hence, we shall compute the sample variance of X.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" y="2133600"/>
            <a:ext cx="7513093" cy="137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Variance of 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calculate this retrospectively, since X is a Bernoulli R.V:</a:t>
            </a:r>
          </a:p>
          <a:p>
            <a:pPr lvl="1"/>
            <a:r>
              <a:rPr lang="en-US" dirty="0" smtClean="0"/>
              <a:t>Ex:  When n = 1000, we estimate pi to be 3.188.  That is, 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Hence, 797 of our points fell within the circle, making x = 1 for 797 of our trials, and zero for the other 203 </a:t>
            </a:r>
          </a:p>
          <a:p>
            <a:pPr lvl="1"/>
            <a:r>
              <a:rPr lang="en-US" dirty="0" smtClean="0"/>
              <a:t>Now,                      can be easily calculated  </a:t>
            </a:r>
            <a:endParaRPr lang="en-US" dirty="0"/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90800" y="3124200"/>
            <a:ext cx="3920197" cy="1219200"/>
          </a:xfrm>
          <a:prstGeom prst="rect">
            <a:avLst/>
          </a:prstGeom>
          <a:noFill/>
        </p:spPr>
      </p:pic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600" y="5334000"/>
            <a:ext cx="1512863" cy="8477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Confidence Intervals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dirty="0" smtClean="0"/>
              <a:t>Central limit theorem:  tells us that      is </a:t>
            </a:r>
            <a:r>
              <a:rPr lang="en-US" i="1" dirty="0" smtClean="0"/>
              <a:t>approximately </a:t>
            </a:r>
            <a:r>
              <a:rPr lang="en-US" dirty="0" smtClean="0"/>
              <a:t> normal (for large n)</a:t>
            </a:r>
          </a:p>
          <a:p>
            <a:r>
              <a:rPr lang="en-US" dirty="0" smtClean="0"/>
              <a:t>Then, </a:t>
            </a:r>
          </a:p>
          <a:p>
            <a:pPr lvl="1"/>
            <a:r>
              <a:rPr lang="en-US" dirty="0" smtClean="0"/>
              <a:t> the (1 – </a:t>
            </a:r>
            <a:r>
              <a:rPr lang="el-GR" dirty="0" smtClean="0"/>
              <a:t>α</a:t>
            </a:r>
            <a:r>
              <a:rPr lang="en-US" dirty="0" smtClean="0"/>
              <a:t>) Confidence Interval is given by 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    where               is the inverse of the standard normal cumulative distribution function </a:t>
            </a:r>
            <a:endParaRPr lang="en-US" dirty="0"/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81800" y="1371600"/>
            <a:ext cx="228600" cy="889000"/>
          </a:xfrm>
          <a:prstGeom prst="rect">
            <a:avLst/>
          </a:prstGeom>
          <a:noFill/>
        </p:spPr>
      </p:pic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4279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4000" y="3581400"/>
            <a:ext cx="3048000" cy="948715"/>
          </a:xfrm>
          <a:prstGeom prst="rect">
            <a:avLst/>
          </a:prstGeom>
          <a:noFill/>
        </p:spPr>
      </p:pic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4281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62200" y="4572000"/>
            <a:ext cx="959303" cy="714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A note on variance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The variance of our estimate decreases with n, since</a:t>
            </a:r>
          </a:p>
          <a:p>
            <a:endParaRPr lang="en-US" dirty="0"/>
          </a:p>
          <a:p>
            <a:r>
              <a:rPr lang="en-US" dirty="0" smtClean="0"/>
              <a:t>As n changes, we have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For large n, this gets very small</a:t>
            </a:r>
          </a:p>
          <a:p>
            <a:r>
              <a:rPr lang="en-US" dirty="0" smtClean="0"/>
              <a:t>What are the implications for Monte Carlo?</a:t>
            </a:r>
          </a:p>
        </p:txBody>
      </p:sp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62200" y="3505200"/>
            <a:ext cx="2579077" cy="838200"/>
          </a:xfrm>
          <a:prstGeom prst="rect">
            <a:avLst/>
          </a:prstGeom>
          <a:noFill/>
        </p:spPr>
      </p:pic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62200" y="1752600"/>
            <a:ext cx="2505456" cy="91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lvl="2"/>
            <a:r>
              <a:rPr lang="en-US" dirty="0" smtClean="0"/>
              <a:t>For n = 10,000,000 our estimate is accurate to three decimal places when compared with </a:t>
            </a:r>
            <a:r>
              <a:rPr lang="el-GR" dirty="0" smtClean="0"/>
              <a:t>π</a:t>
            </a:r>
            <a:endParaRPr lang="en-US" dirty="0" smtClean="0"/>
          </a:p>
          <a:p>
            <a:pPr lvl="3"/>
            <a:r>
              <a:rPr lang="en-US" dirty="0" smtClean="0"/>
              <a:t>Not exactly efficient</a:t>
            </a:r>
            <a:endParaRPr lang="en-US" dirty="0"/>
          </a:p>
        </p:txBody>
      </p:sp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381000" y="1752600"/>
          <a:ext cx="8467218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5" name="Document" r:id="rId5" imgW="6099065" imgH="1811055" progId="Word.Document.12">
                  <p:embed/>
                </p:oleObj>
              </mc:Choice>
              <mc:Fallback>
                <p:oleObj name="Document" r:id="rId5" imgW="6099065" imgH="181105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752600"/>
                        <a:ext cx="8467218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Hypothetically…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this method for estimating </a:t>
            </a:r>
            <a:r>
              <a:rPr lang="el-GR" dirty="0" smtClean="0"/>
              <a:t>π</a:t>
            </a:r>
            <a:r>
              <a:rPr lang="en-US" dirty="0" smtClean="0"/>
              <a:t>, how many trials are necessary for us to be at least 95% sure that our error is less than 1x10</a:t>
            </a:r>
            <a:r>
              <a:rPr lang="en-US" baseline="30000" dirty="0" smtClean="0"/>
              <a:t>-10</a:t>
            </a:r>
            <a:r>
              <a:rPr lang="en-US" dirty="0" smtClean="0"/>
              <a:t>?</a:t>
            </a:r>
          </a:p>
          <a:p>
            <a:pPr lvl="2"/>
            <a:r>
              <a:rPr lang="en-US" dirty="0" smtClean="0"/>
              <a:t>About  1.036x10</a:t>
            </a:r>
            <a:r>
              <a:rPr lang="en-US" baseline="30000" dirty="0" smtClean="0"/>
              <a:t>21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0179" name="Picture 3" descr="C:\Users\Stew\AppData\Local\Microsoft\Windows\Temporary Internet Files\Content.IE5\3M1JC1HA\MC900433921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3810000"/>
            <a:ext cx="2133600" cy="213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425449"/>
            <a:ext cx="7215187" cy="5276851"/>
          </a:xfrm>
        </p:spPr>
        <p:txBody>
          <a:bodyPr/>
          <a:lstStyle/>
          <a:p>
            <a:r>
              <a:rPr lang="en-US" dirty="0" smtClean="0"/>
              <a:t>Clearly, Monte Carlo is not best method for figuring out digits of pi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So what is a </a:t>
            </a:r>
            <a:r>
              <a:rPr lang="en-US" i="1" dirty="0" smtClean="0"/>
              <a:t>practical </a:t>
            </a:r>
            <a:r>
              <a:rPr lang="en-US" dirty="0" smtClean="0"/>
              <a:t>application???</a:t>
            </a:r>
            <a:endParaRPr lang="en-US" dirty="0"/>
          </a:p>
        </p:txBody>
      </p:sp>
      <p:pic>
        <p:nvPicPr>
          <p:cNvPr id="52225" name="Picture 1" descr="C:\Users\Stew\AppData\Local\Microsoft\Windows\Temporary Internet Files\Content.IE5\S28K4LFJ\MC9001505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4495800"/>
            <a:ext cx="1554162" cy="1819275"/>
          </a:xfrm>
          <a:prstGeom prst="rect">
            <a:avLst/>
          </a:prstGeom>
          <a:noFill/>
        </p:spPr>
      </p:pic>
      <p:pic>
        <p:nvPicPr>
          <p:cNvPr id="52226" name="Picture 2" descr="C:\Users\Stew\AppData\Local\Microsoft\Windows\Temporary Internet Files\Content.IE5\SPMHA3YZ\MC90043477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00800" y="2895600"/>
            <a:ext cx="1828800" cy="1828800"/>
          </a:xfrm>
          <a:prstGeom prst="rect">
            <a:avLst/>
          </a:prstGeom>
          <a:noFill/>
        </p:spPr>
      </p:pic>
      <p:pic>
        <p:nvPicPr>
          <p:cNvPr id="52228" name="Picture 4" descr="C:\Users\Stew\AppData\Local\Microsoft\Windows\Temporary Internet Files\Content.IE5\S28K4LFJ\MC900436267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0" y="3200400"/>
            <a:ext cx="933450" cy="933450"/>
          </a:xfrm>
          <a:prstGeom prst="rect">
            <a:avLst/>
          </a:prstGeom>
          <a:noFill/>
        </p:spPr>
      </p:pic>
      <p:pic>
        <p:nvPicPr>
          <p:cNvPr id="52229" name="Picture 5" descr="C:\Users\Stew\AppData\Local\Microsoft\Windows\Temporary Internet Files\Content.IE5\3M1JC1HA\MC900237283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19600" y="3200400"/>
            <a:ext cx="1824037" cy="131542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Real World Example:  Valuing a Financial 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option is a financial derivative</a:t>
            </a:r>
          </a:p>
          <a:p>
            <a:pPr lvl="1"/>
            <a:r>
              <a:rPr lang="en-US" dirty="0" smtClean="0"/>
              <a:t>Its value is derived from some other object, such as a stock</a:t>
            </a:r>
          </a:p>
          <a:p>
            <a:pPr lvl="2"/>
            <a:r>
              <a:rPr lang="en-US" dirty="0" smtClean="0"/>
              <a:t>Payoff is dependent upon the value of the stock at the expiration date of the option</a:t>
            </a:r>
          </a:p>
          <a:p>
            <a:pPr lvl="3"/>
            <a:r>
              <a:rPr lang="en-US" dirty="0" smtClean="0"/>
              <a:t>For a call option, the owner has the right to buy or sell the underlying asset at a specified price, known as the “Strike Price,” at the “expiration date” specified in the option contract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a call option written on Apple stock with a strike price of $450 and an expiration date in 6 months.</a:t>
            </a:r>
          </a:p>
          <a:p>
            <a:pPr lvl="1"/>
            <a:r>
              <a:rPr lang="en-US" dirty="0" smtClean="0"/>
              <a:t>In 6 months, if the stock price is above $450 (say $475 perhaps), the owner will exercise the option and purchase the stock for $450 (getting a payoff of $25)</a:t>
            </a:r>
            <a:endParaRPr lang="en-US" dirty="0"/>
          </a:p>
          <a:p>
            <a:pPr lvl="2"/>
            <a:r>
              <a:rPr lang="en-US" dirty="0" smtClean="0"/>
              <a:t>If the stock price is below $450, the owner will simply let the option expire,  making a payoff of $0</a:t>
            </a:r>
          </a:p>
        </p:txBody>
      </p:sp>
      <p:pic>
        <p:nvPicPr>
          <p:cNvPr id="58370" name="Picture 2" descr="C:\Program Files\Microsoft Office\MEDIA\CAGCAT10\j0222015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52400"/>
            <a:ext cx="1524000" cy="15307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dirty="0" smtClean="0"/>
              <a:t>More succinctly, the payoff at expiration is given by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                Payoff = Max{0, S – 450}</a:t>
            </a:r>
          </a:p>
          <a:p>
            <a:pPr lvl="1">
              <a:buNone/>
            </a:pPr>
            <a:r>
              <a:rPr lang="en-US" dirty="0" smtClean="0"/>
              <a:t>Where S is the stock price and 450 is the strike price</a:t>
            </a:r>
          </a:p>
          <a:p>
            <a:pPr lvl="1"/>
            <a:r>
              <a:rPr lang="en-US" dirty="0" smtClean="0"/>
              <a:t>Note that the payoff is never negative!</a:t>
            </a:r>
            <a:endParaRPr lang="en-US" dirty="0"/>
          </a:p>
          <a:p>
            <a:r>
              <a:rPr lang="en-US" dirty="0" smtClean="0"/>
              <a:t>How can we value this sort of derivative?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equires some assumptions about the behavior of stock prices:</a:t>
            </a:r>
          </a:p>
          <a:p>
            <a:pPr lvl="2"/>
            <a:r>
              <a:rPr lang="en-US" dirty="0" smtClean="0"/>
              <a:t>Rate of return on a stock is normally distributed</a:t>
            </a:r>
          </a:p>
          <a:p>
            <a:pPr lvl="3"/>
            <a:r>
              <a:rPr lang="en-US" dirty="0" smtClean="0"/>
              <a:t>Implies that stock prices are Lognormal</a:t>
            </a:r>
          </a:p>
          <a:p>
            <a:pPr lvl="4"/>
            <a:r>
              <a:rPr lang="en-US" dirty="0" smtClean="0"/>
              <a:t>If X is a normal random variable, then exp(X) is a lognormal random variable</a:t>
            </a:r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Specifically, we say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Where we define:</a:t>
            </a:r>
          </a:p>
          <a:p>
            <a:pPr lvl="1">
              <a:buNone/>
            </a:pPr>
            <a:r>
              <a:rPr lang="en-US" dirty="0" smtClean="0"/>
              <a:t>       is the current stock price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  is the stock price at time t &gt; 0</a:t>
            </a:r>
          </a:p>
          <a:p>
            <a:pPr lvl="1">
              <a:buNone/>
            </a:pPr>
            <a:r>
              <a:rPr lang="en-US" dirty="0" smtClean="0"/>
              <a:t>       is the expected rate of return on the stock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  is the variance of the annual rate of return on              	  the stock and its square root is called volatility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  is a standard normal random variable</a:t>
            </a:r>
            <a:endParaRPr lang="en-US" dirty="0"/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53000" y="609600"/>
            <a:ext cx="3886200" cy="971550"/>
          </a:xfrm>
          <a:prstGeom prst="rect">
            <a:avLst/>
          </a:prstGeom>
          <a:noFill/>
        </p:spPr>
      </p:pic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2133600"/>
            <a:ext cx="381000" cy="925286"/>
          </a:xfrm>
          <a:prstGeom prst="rect">
            <a:avLst/>
          </a:prstGeom>
          <a:noFill/>
        </p:spPr>
      </p:pic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2743200"/>
            <a:ext cx="437029" cy="990600"/>
          </a:xfrm>
          <a:prstGeom prst="rect">
            <a:avLst/>
          </a:prstGeom>
          <a:noFill/>
        </p:spPr>
      </p:pic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0423" name="Picture 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3200401"/>
            <a:ext cx="262218" cy="990600"/>
          </a:xfrm>
          <a:prstGeom prst="rect">
            <a:avLst/>
          </a:prstGeom>
          <a:noFill/>
        </p:spPr>
      </p:pic>
      <p:sp>
        <p:nvSpPr>
          <p:cNvPr id="604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0425" name="Picture 9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3657600"/>
            <a:ext cx="457200" cy="1000125"/>
          </a:xfrm>
          <a:prstGeom prst="rect">
            <a:avLst/>
          </a:prstGeom>
          <a:noFill/>
        </p:spPr>
      </p:pic>
      <p:sp>
        <p:nvSpPr>
          <p:cNvPr id="6042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43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0429" name="Picture 1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4495800"/>
            <a:ext cx="340659" cy="12869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dirty="0" smtClean="0"/>
              <a:t>Using historical data, one can easily obtain estimates for the expected return and volatility of a stock</a:t>
            </a:r>
          </a:p>
          <a:p>
            <a:r>
              <a:rPr lang="en-US" dirty="0" smtClean="0"/>
              <a:t>Under the lognormal stock price model, predicting a future stock price boils down to generating a standard normal random variable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1379" name="Picture 3" descr="C:\Users\Stew\AppData\Local\Microsoft\Windows\Temporary Internet Files\Content.IE5\SPMHA3YZ\MM900365301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4038600"/>
            <a:ext cx="2189162" cy="2189162"/>
          </a:xfrm>
          <a:prstGeom prst="rect">
            <a:avLst/>
          </a:prstGeom>
          <a:noFill/>
        </p:spPr>
      </p:pic>
      <p:pic>
        <p:nvPicPr>
          <p:cNvPr id="101380" name="Picture 4" descr="C:\Users\Stew\AppData\Local\Microsoft\Windows\Temporary Internet Files\Content.IE5\3U11F6ZG\MC900286528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4114800"/>
            <a:ext cx="1495425" cy="138746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Black-</a:t>
            </a:r>
            <a:r>
              <a:rPr lang="en-US" dirty="0" err="1" smtClean="0"/>
              <a:t>Scholes</a:t>
            </a:r>
            <a:r>
              <a:rPr lang="en-US" dirty="0" smtClean="0"/>
              <a:t> Equation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options (such as the one which we examined earlier) can easily be valued using the Black-</a:t>
            </a:r>
            <a:r>
              <a:rPr lang="en-US" dirty="0" err="1" smtClean="0"/>
              <a:t>Scholes</a:t>
            </a:r>
            <a:r>
              <a:rPr lang="en-US" dirty="0" smtClean="0"/>
              <a:t>  equation</a:t>
            </a:r>
          </a:p>
          <a:p>
            <a:r>
              <a:rPr lang="en-US" dirty="0" smtClean="0"/>
              <a:t>So why would we want to use Monte-Carlo?</a:t>
            </a:r>
          </a:p>
          <a:p>
            <a:pPr lvl="1"/>
            <a:r>
              <a:rPr lang="en-US" dirty="0" smtClean="0"/>
              <a:t>Not all options can be valued with Black-</a:t>
            </a:r>
            <a:r>
              <a:rPr lang="en-US" dirty="0" err="1" smtClean="0"/>
              <a:t>Scholes</a:t>
            </a:r>
            <a:endParaRPr lang="en-US" dirty="0" smtClean="0"/>
          </a:p>
          <a:p>
            <a:pPr lvl="2"/>
            <a:r>
              <a:rPr lang="en-US" dirty="0" smtClean="0"/>
              <a:t>Why not???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rough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Recall, the payoff function for a call option discussed previously was given by</a:t>
            </a:r>
          </a:p>
          <a:p>
            <a:pPr lvl="1">
              <a:buNone/>
            </a:pPr>
            <a:r>
              <a:rPr lang="en-US" dirty="0" smtClean="0"/>
              <a:t>                      Payoff = Max{0, S-450}</a:t>
            </a:r>
          </a:p>
          <a:p>
            <a:pPr lvl="1">
              <a:buNone/>
            </a:pPr>
            <a:r>
              <a:rPr lang="en-US" dirty="0" smtClean="0"/>
              <a:t>If S is lognormal, the payoff of the option has to do with the probability that S &gt; 450 (and by how much)</a:t>
            </a:r>
          </a:p>
          <a:p>
            <a:pPr lvl="1"/>
            <a:r>
              <a:rPr lang="en-US" dirty="0" smtClean="0"/>
              <a:t>What if instead of a strike price of 450, we have a strike price that is also a random variable?  What if that random variable is not lognormal?</a:t>
            </a:r>
          </a:p>
          <a:p>
            <a:pPr lvl="1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/>
          <a:lstStyle/>
          <a:p>
            <a:r>
              <a:rPr lang="en-US" dirty="0" smtClean="0"/>
              <a:t>Consider an option which gives the owner the right (but not the obligation) to purchase a share of stock A for the average of the prices of stock B and stock C</a:t>
            </a:r>
          </a:p>
          <a:p>
            <a:r>
              <a:rPr lang="en-US" dirty="0" smtClean="0"/>
              <a:t>Then, our payoff function is given by</a:t>
            </a:r>
          </a:p>
          <a:p>
            <a:pPr>
              <a:buNone/>
            </a:pPr>
            <a:r>
              <a:rPr lang="en-US" dirty="0" smtClean="0"/>
              <a:t>     </a:t>
            </a:r>
          </a:p>
          <a:p>
            <a:r>
              <a:rPr lang="en-US" dirty="0" smtClean="0"/>
              <a:t>This is called a “basket option” and no formula exists to calculate its value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42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00200" y="3810000"/>
            <a:ext cx="5391665" cy="838200"/>
          </a:xfrm>
          <a:prstGeom prst="rect">
            <a:avLst/>
          </a:prstGeom>
          <a:noFill/>
        </p:spPr>
      </p:pic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0" y="809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103428" name="Picture 4" descr="C:\Program Files\Microsoft Office\MEDIA\CAGCAT10\j022201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5029200"/>
            <a:ext cx="1371600" cy="13765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Enter…. Monte Carlo!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Scenario:</a:t>
            </a:r>
          </a:p>
          <a:p>
            <a:pPr lvl="1"/>
            <a:r>
              <a:rPr lang="en-US" dirty="0" smtClean="0"/>
              <a:t>Suppose that Apple would like to encourage innovation and dedication by issuing its employees a stock option which pays off if the price of Apple stock exceeds the average of Google and Amazon stock 1 year from now</a:t>
            </a:r>
          </a:p>
          <a:p>
            <a:pPr lvl="1"/>
            <a:r>
              <a:rPr lang="en-US" dirty="0" smtClean="0"/>
              <a:t>Why value this option?</a:t>
            </a:r>
          </a:p>
          <a:p>
            <a:pPr lvl="2"/>
            <a:r>
              <a:rPr lang="en-US" dirty="0" smtClean="0"/>
              <a:t>Accounting purposes: what is this worth?</a:t>
            </a:r>
          </a:p>
          <a:p>
            <a:pPr lvl="2"/>
            <a:r>
              <a:rPr lang="en-US" dirty="0" smtClean="0"/>
              <a:t>Employee interest: what is the value of this option?</a:t>
            </a:r>
          </a:p>
        </p:txBody>
      </p:sp>
      <p:pic>
        <p:nvPicPr>
          <p:cNvPr id="129026" name="Picture 2" descr="C:\Users\Stew\AppData\Local\Microsoft\Windows\Temporary Internet Files\Content.IE5\SPMHA3YZ\MC90019817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533400"/>
            <a:ext cx="1447800" cy="16011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4724400"/>
          </a:xfrm>
        </p:spPr>
        <p:txBody>
          <a:bodyPr/>
          <a:lstStyle/>
          <a:p>
            <a:r>
              <a:rPr lang="en-US" dirty="0" smtClean="0"/>
              <a:t>The payoff is that of a basket option:</a:t>
            </a:r>
          </a:p>
          <a:p>
            <a:pPr>
              <a:buNone/>
            </a:pPr>
            <a:r>
              <a:rPr lang="en-US" dirty="0" smtClean="0"/>
              <a:t>     Payoff = Max{0,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apple</a:t>
            </a:r>
            <a:r>
              <a:rPr lang="en-US" dirty="0" smtClean="0"/>
              <a:t> - .5(</a:t>
            </a:r>
            <a:r>
              <a:rPr lang="en-US" dirty="0" err="1" smtClean="0"/>
              <a:t>S</a:t>
            </a:r>
            <a:r>
              <a:rPr lang="en-US" baseline="-25000" dirty="0" err="1" smtClean="0"/>
              <a:t>google</a:t>
            </a:r>
            <a:r>
              <a:rPr lang="en-US" dirty="0" smtClean="0"/>
              <a:t> +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Amazon</a:t>
            </a:r>
            <a:r>
              <a:rPr lang="en-US" dirty="0" smtClean="0"/>
              <a:t>)</a:t>
            </a:r>
            <a:r>
              <a:rPr lang="en-US" sz="3600" dirty="0" smtClean="0"/>
              <a:t>}</a:t>
            </a:r>
          </a:p>
          <a:p>
            <a:r>
              <a:rPr lang="en-US" dirty="0" smtClean="0"/>
              <a:t>How can we value this?</a:t>
            </a:r>
          </a:p>
          <a:p>
            <a:pPr lvl="1"/>
            <a:r>
              <a:rPr lang="en-US" dirty="0" smtClean="0"/>
              <a:t>Monte Carlo Simulation:</a:t>
            </a:r>
          </a:p>
          <a:p>
            <a:pPr lvl="2"/>
            <a:r>
              <a:rPr lang="en-US" dirty="0" smtClean="0"/>
              <a:t>Run many trials where we calculate the  average future value of the option for these trials.  Then discount this to the present value using the risk free rate</a:t>
            </a:r>
          </a:p>
        </p:txBody>
      </p:sp>
      <p:pic>
        <p:nvPicPr>
          <p:cNvPr id="130050" name="Picture 2" descr="C:\Users\Stew\AppData\Local\Microsoft\Windows\Temporary Internet Files\Content.IE5\3U11F6ZG\MC900433888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4953000"/>
            <a:ext cx="1263650" cy="12636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In order to run the simulation, we need to estimate the expected return and annual volatility for each of the three stocks</a:t>
            </a:r>
          </a:p>
          <a:p>
            <a:pPr lvl="1"/>
            <a:r>
              <a:rPr lang="en-US" dirty="0" smtClean="0"/>
              <a:t>For expected return, we can use the CAPM model</a:t>
            </a:r>
          </a:p>
          <a:p>
            <a:pPr lvl="1"/>
            <a:r>
              <a:rPr lang="en-US" dirty="0" smtClean="0"/>
              <a:t>Volatility is calculated using historical data</a:t>
            </a:r>
          </a:p>
          <a:p>
            <a:pPr lvl="1"/>
            <a:r>
              <a:rPr lang="en-US" dirty="0" smtClean="0"/>
              <a:t>Need starting price (end of day November 4</a:t>
            </a:r>
            <a:r>
              <a:rPr lang="en-US" baseline="30000" dirty="0" smtClean="0"/>
              <a:t>th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Need risk free rate of return: LIBOR = 0.95%</a:t>
            </a:r>
          </a:p>
          <a:p>
            <a:pPr lvl="1"/>
            <a:r>
              <a:rPr lang="en-US" dirty="0" smtClean="0"/>
              <a:t>t = 1</a:t>
            </a:r>
          </a:p>
          <a:p>
            <a:pPr lvl="1">
              <a:buNone/>
            </a:pPr>
            <a:endParaRPr lang="en-US" dirty="0" smtClean="0"/>
          </a:p>
        </p:txBody>
      </p:sp>
      <p:graphicFrame>
        <p:nvGraphicFramePr>
          <p:cNvPr id="131074" name="Object 2"/>
          <p:cNvGraphicFramePr>
            <a:graphicFrameLocks noChangeAspect="1"/>
          </p:cNvGraphicFramePr>
          <p:nvPr/>
        </p:nvGraphicFramePr>
        <p:xfrm>
          <a:off x="381000" y="5257800"/>
          <a:ext cx="10743872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5" name="Document" r:id="rId5" imgW="6086467" imgH="1121902" progId="Word.Document.12">
                  <p:embed/>
                </p:oleObj>
              </mc:Choice>
              <mc:Fallback>
                <p:oleObj name="Document" r:id="rId5" imgW="6086467" imgH="112190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257800"/>
                        <a:ext cx="10743872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Normal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our first example, we only needed to generate uniform random variables on (0,1)</a:t>
            </a:r>
          </a:p>
          <a:p>
            <a:pPr lvl="1"/>
            <a:r>
              <a:rPr lang="en-US" dirty="0" smtClean="0"/>
              <a:t>We now need to generate standard normal random variables to simulate future stock prices</a:t>
            </a:r>
          </a:p>
          <a:p>
            <a:pPr lvl="2"/>
            <a:r>
              <a:rPr lang="en-US" dirty="0" smtClean="0"/>
              <a:t>Generate uniform random variables on (0,1)</a:t>
            </a:r>
          </a:p>
          <a:p>
            <a:pPr lvl="2"/>
            <a:r>
              <a:rPr lang="en-US" dirty="0" smtClean="0"/>
              <a:t>Treat as a percentile from standard normal distribution, and take the inverse</a:t>
            </a:r>
          </a:p>
          <a:p>
            <a:pPr lvl="3"/>
            <a:r>
              <a:rPr lang="en-US" dirty="0" smtClean="0"/>
              <a:t>This gives you a random draw from the standard normal distribution</a:t>
            </a:r>
          </a:p>
          <a:p>
            <a:pPr lvl="2">
              <a:buNone/>
            </a:pPr>
            <a:endParaRPr lang="en-U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62200" y="5581650"/>
            <a:ext cx="5105400" cy="12763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Another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dirty="0" smtClean="0"/>
              <a:t>Stock prices do not move independently of one another</a:t>
            </a:r>
          </a:p>
          <a:p>
            <a:pPr lvl="1"/>
            <a:r>
              <a:rPr lang="en-US" dirty="0" smtClean="0"/>
              <a:t>We will need to calculate the correlation coefficient for the returns on Apple, Google and Amazon stock.  Again, we can use historical data:</a:t>
            </a:r>
          </a:p>
        </p:txBody>
      </p:sp>
      <p:graphicFrame>
        <p:nvGraphicFramePr>
          <p:cNvPr id="132098" name="Object 2"/>
          <p:cNvGraphicFramePr>
            <a:graphicFrameLocks noChangeAspect="1"/>
          </p:cNvGraphicFramePr>
          <p:nvPr/>
        </p:nvGraphicFramePr>
        <p:xfrm>
          <a:off x="-1143000" y="3886200"/>
          <a:ext cx="11670467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99" name="Document" r:id="rId5" imgW="6086467" imgH="1225401" progId="Word.Document.12">
                  <p:embed/>
                </p:oleObj>
              </mc:Choice>
              <mc:Fallback>
                <p:oleObj name="Document" r:id="rId5" imgW="6086467" imgH="1225401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43000" y="3886200"/>
                        <a:ext cx="11670467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do we generate correlated R.V.’s?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Let Z(</a:t>
            </a:r>
            <a:r>
              <a:rPr lang="en-US" sz="2800" dirty="0" err="1" smtClean="0"/>
              <a:t>ap</a:t>
            </a:r>
            <a:r>
              <a:rPr lang="en-US" sz="2800" dirty="0" smtClean="0"/>
              <a:t>), Z(g), and Z(</a:t>
            </a:r>
            <a:r>
              <a:rPr lang="en-US" sz="2800" dirty="0" err="1" smtClean="0"/>
              <a:t>az</a:t>
            </a:r>
            <a:r>
              <a:rPr lang="en-US" sz="2800" dirty="0" smtClean="0"/>
              <a:t>) be the standard normal random variables used to </a:t>
            </a:r>
            <a:r>
              <a:rPr lang="en-US" sz="2800" dirty="0" err="1" smtClean="0"/>
              <a:t>simuate</a:t>
            </a:r>
            <a:r>
              <a:rPr lang="en-US" sz="2800" dirty="0" smtClean="0"/>
              <a:t> the future stock prices of Apple, Google, and Amazon respectively. Let      ‘s be independent standard normal random variables Now, define:</a:t>
            </a:r>
            <a:endParaRPr lang="en-US" sz="2800" dirty="0"/>
          </a:p>
        </p:txBody>
      </p:sp>
      <p:sp>
        <p:nvSpPr>
          <p:cNvPr id="1341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3414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2209800"/>
            <a:ext cx="345141" cy="838200"/>
          </a:xfrm>
          <a:prstGeom prst="rect">
            <a:avLst/>
          </a:prstGeom>
          <a:noFill/>
        </p:spPr>
      </p:pic>
      <p:pic>
        <p:nvPicPr>
          <p:cNvPr id="134149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52800" y="3200400"/>
            <a:ext cx="1722904" cy="781050"/>
          </a:xfrm>
          <a:prstGeom prst="rect">
            <a:avLst/>
          </a:prstGeom>
          <a:noFill/>
        </p:spPr>
      </p:pic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62200" y="3733800"/>
            <a:ext cx="4226944" cy="1066800"/>
          </a:xfrm>
          <a:prstGeom prst="rect">
            <a:avLst/>
          </a:prstGeom>
          <a:noFill/>
        </p:spPr>
      </p:pic>
      <p:pic>
        <p:nvPicPr>
          <p:cNvPr id="134147" name="Picture 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400" y="4648200"/>
            <a:ext cx="8746672" cy="1375880"/>
          </a:xfrm>
          <a:prstGeom prst="rect">
            <a:avLst/>
          </a:prstGeom>
          <a:noFill/>
        </p:spPr>
      </p:pic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4151" name="Rectangle 7"/>
          <p:cNvSpPr>
            <a:spLocks noChangeArrowheads="1"/>
          </p:cNvSpPr>
          <p:nvPr/>
        </p:nvSpPr>
        <p:spPr bwMode="auto">
          <a:xfrm>
            <a:off x="0" y="781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0" y="17430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dirty="0" smtClean="0"/>
              <a:t>One can easily verify that Z(</a:t>
            </a:r>
            <a:r>
              <a:rPr lang="en-US" dirty="0" err="1" smtClean="0"/>
              <a:t>ap</a:t>
            </a:r>
            <a:r>
              <a:rPr lang="en-US" dirty="0" smtClean="0"/>
              <a:t>), Z(g) and Z(</a:t>
            </a:r>
            <a:r>
              <a:rPr lang="en-US" dirty="0" err="1" smtClean="0"/>
              <a:t>az</a:t>
            </a:r>
            <a:r>
              <a:rPr lang="en-US" dirty="0" smtClean="0"/>
              <a:t>) are all standard normal random variables, with 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Corr</a:t>
            </a:r>
            <a:r>
              <a:rPr lang="en-US" dirty="0" smtClean="0"/>
              <a:t>(Z(</a:t>
            </a:r>
            <a:r>
              <a:rPr lang="en-US" dirty="0" err="1" smtClean="0"/>
              <a:t>ap</a:t>
            </a:r>
            <a:r>
              <a:rPr lang="en-US" dirty="0" smtClean="0"/>
              <a:t>), Z(g)) = 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Corr</a:t>
            </a:r>
            <a:r>
              <a:rPr lang="en-US" dirty="0" smtClean="0"/>
              <a:t>(Z(g), Z(</a:t>
            </a:r>
            <a:r>
              <a:rPr lang="en-US" dirty="0" err="1" smtClean="0"/>
              <a:t>az</a:t>
            </a:r>
            <a:r>
              <a:rPr lang="en-US" dirty="0" smtClean="0"/>
              <a:t>)) =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Corr</a:t>
            </a:r>
            <a:r>
              <a:rPr lang="en-US" dirty="0" smtClean="0"/>
              <a:t>(Z(</a:t>
            </a:r>
            <a:r>
              <a:rPr lang="en-US" dirty="0" err="1" smtClean="0"/>
              <a:t>ap</a:t>
            </a:r>
            <a:r>
              <a:rPr lang="en-US" dirty="0" smtClean="0"/>
              <a:t>), Z(</a:t>
            </a:r>
            <a:r>
              <a:rPr lang="en-US" dirty="0" err="1" smtClean="0"/>
              <a:t>az</a:t>
            </a:r>
            <a:r>
              <a:rPr lang="en-US" dirty="0" smtClean="0"/>
              <a:t>)) =</a:t>
            </a:r>
            <a:endParaRPr lang="en-US" dirty="0"/>
          </a:p>
        </p:txBody>
      </p:sp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233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38600" y="2362200"/>
            <a:ext cx="914400" cy="914400"/>
          </a:xfrm>
          <a:prstGeom prst="rect">
            <a:avLst/>
          </a:prstGeom>
          <a:noFill/>
        </p:spPr>
      </p:pic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2339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14800" y="2819400"/>
            <a:ext cx="838200" cy="973394"/>
          </a:xfrm>
          <a:prstGeom prst="rect">
            <a:avLst/>
          </a:prstGeom>
          <a:noFill/>
        </p:spPr>
      </p:pic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2341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91000" y="3505200"/>
            <a:ext cx="914400" cy="889686"/>
          </a:xfrm>
          <a:prstGeom prst="rect">
            <a:avLst/>
          </a:prstGeom>
          <a:noFill/>
        </p:spPr>
      </p:pic>
      <p:pic>
        <p:nvPicPr>
          <p:cNvPr id="142344" name="Picture 8" descr="C:\Users\Stew\AppData\Local\Microsoft\Windows\Temporary Internet Files\Content.IE5\SPMHA3YZ\MC900199839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77000" y="4419600"/>
            <a:ext cx="1437299" cy="1498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The Simulation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We now have all the information necessary to run our simulation. The procedure can roughly be described as follows: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Simulate the future stock price for each of the companies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Compute the option’s payoff for the simulated future stock prices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Repeat steps 1 and 2 until you have reached the desired number of trials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Compute the sample mean of the option payoff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Discount at the risk free rate to determine our estimate for the value of the option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 smtClean="0"/>
              <a:t>As before, this can be done using VBA in Excel: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43362" name="Object 2"/>
          <p:cNvGraphicFramePr>
            <a:graphicFrameLocks noChangeAspect="1"/>
          </p:cNvGraphicFramePr>
          <p:nvPr/>
        </p:nvGraphicFramePr>
        <p:xfrm>
          <a:off x="334482" y="1371600"/>
          <a:ext cx="8809518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63" name="Document" r:id="rId5" imgW="5942845" imgH="3341904" progId="Word.Document.12">
                  <p:embed/>
                </p:oleObj>
              </mc:Choice>
              <mc:Fallback>
                <p:oleObj name="Document" r:id="rId5" imgW="5942845" imgH="334190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82" y="1371600"/>
                        <a:ext cx="8809518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364" name="Picture 4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29400" y="4800600"/>
            <a:ext cx="1606550" cy="158579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Analyzing the results: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As in our pi example, the results are much more meaningful if we have some idea of their accuracy</a:t>
            </a:r>
          </a:p>
          <a:p>
            <a:r>
              <a:rPr lang="en-US" dirty="0" smtClean="0"/>
              <a:t>Define V as the value of the option for a single trial.  Then, our estimate is given by      </a:t>
            </a:r>
          </a:p>
          <a:p>
            <a:r>
              <a:rPr lang="en-US" dirty="0" smtClean="0"/>
              <a:t>CLT </a:t>
            </a:r>
            <a:r>
              <a:rPr lang="en-US" dirty="0" smtClean="0">
                <a:sym typeface="Wingdings" pitchFamily="2" charset="2"/>
              </a:rPr>
              <a:t>       is approximately normal</a:t>
            </a:r>
          </a:p>
          <a:p>
            <a:r>
              <a:rPr lang="en-US" dirty="0" smtClean="0">
                <a:sym typeface="Wingdings" pitchFamily="2" charset="2"/>
              </a:rPr>
              <a:t>Also,</a:t>
            </a:r>
          </a:p>
          <a:p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How do we calculate </a:t>
            </a:r>
            <a:r>
              <a:rPr lang="en-US" dirty="0" err="1" smtClean="0">
                <a:sym typeface="Wingdings" pitchFamily="2" charset="2"/>
              </a:rPr>
              <a:t>Var</a:t>
            </a:r>
            <a:r>
              <a:rPr lang="en-US" dirty="0" smtClean="0">
                <a:sym typeface="Wingdings" pitchFamily="2" charset="2"/>
              </a:rPr>
              <a:t>(V)? </a:t>
            </a:r>
            <a:endParaRPr lang="en-US" dirty="0"/>
          </a:p>
        </p:txBody>
      </p:sp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540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0" y="3124200"/>
            <a:ext cx="326572" cy="1143000"/>
          </a:xfrm>
          <a:prstGeom prst="rect">
            <a:avLst/>
          </a:prstGeom>
          <a:noFill/>
        </p:spPr>
      </p:pic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600" y="3657600"/>
            <a:ext cx="304800" cy="1066800"/>
          </a:xfrm>
          <a:prstGeom prst="rect">
            <a:avLst/>
          </a:prstGeom>
          <a:noFill/>
        </p:spPr>
      </p:pic>
      <p:sp>
        <p:nvSpPr>
          <p:cNvPr id="14541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541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43200" y="4267200"/>
            <a:ext cx="2330823" cy="10613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dirty="0" smtClean="0"/>
              <a:t>Recall how we previously retrospectively determined the sample variance</a:t>
            </a:r>
          </a:p>
          <a:p>
            <a:pPr lvl="1"/>
            <a:r>
              <a:rPr lang="en-US" dirty="0" smtClean="0"/>
              <a:t>Since X was Bernoulli, we could recover the values of X and estimate S</a:t>
            </a:r>
            <a:r>
              <a:rPr lang="en-US" baseline="30000" dirty="0" smtClean="0"/>
              <a:t>2</a:t>
            </a:r>
            <a:r>
              <a:rPr lang="en-US" dirty="0" smtClean="0"/>
              <a:t>(X)</a:t>
            </a:r>
          </a:p>
          <a:p>
            <a:pPr lvl="1"/>
            <a:r>
              <a:rPr lang="en-US" dirty="0" smtClean="0"/>
              <a:t>That approach does not work here, since V is certainly not Bernoulli.  Need to store each V as we go, and calculate S</a:t>
            </a:r>
            <a:r>
              <a:rPr lang="en-US" baseline="30000" dirty="0" smtClean="0"/>
              <a:t>2</a:t>
            </a:r>
            <a:r>
              <a:rPr lang="en-US" dirty="0" smtClean="0"/>
              <a:t>(V) last</a:t>
            </a:r>
          </a:p>
          <a:p>
            <a:r>
              <a:rPr lang="en-US" dirty="0" smtClean="0"/>
              <a:t>My solution:  Estimate S</a:t>
            </a:r>
            <a:r>
              <a:rPr lang="en-US" baseline="30000" dirty="0" smtClean="0"/>
              <a:t>2</a:t>
            </a:r>
            <a:r>
              <a:rPr lang="en-US" dirty="0" smtClean="0"/>
              <a:t>(V) using 1,000,000 trials with n = 1, and use to compute sample variance for simulations with n&gt;1</a:t>
            </a:r>
          </a:p>
          <a:p>
            <a:r>
              <a:rPr lang="en-US" dirty="0" smtClean="0"/>
              <a:t>Estimated S</a:t>
            </a:r>
            <a:r>
              <a:rPr lang="en-US" baseline="30000" dirty="0" smtClean="0"/>
              <a:t>2</a:t>
            </a:r>
            <a:r>
              <a:rPr lang="en-US" dirty="0" smtClean="0"/>
              <a:t>(V) = 2293.63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With n = 1,000,000 we are about 95% sure that the actual value is within $0.10 of $29.99</a:t>
            </a:r>
          </a:p>
          <a:p>
            <a:pPr lvl="1"/>
            <a:r>
              <a:rPr lang="en-US" dirty="0" smtClean="0"/>
              <a:t>Probably accurate enough for most practical purposes</a:t>
            </a:r>
            <a:endParaRPr lang="en-US" dirty="0"/>
          </a:p>
        </p:txBody>
      </p:sp>
      <p:graphicFrame>
        <p:nvGraphicFramePr>
          <p:cNvPr id="150532" name="Object 4"/>
          <p:cNvGraphicFramePr>
            <a:graphicFrameLocks noChangeAspect="1"/>
          </p:cNvGraphicFramePr>
          <p:nvPr/>
        </p:nvGraphicFramePr>
        <p:xfrm>
          <a:off x="304800" y="1371600"/>
          <a:ext cx="8839200" cy="2535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33" name="Document" r:id="rId5" imgW="6099065" imgH="1749388" progId="Word.Document.12">
                  <p:embed/>
                </p:oleObj>
              </mc:Choice>
              <mc:Fallback>
                <p:oleObj name="Document" r:id="rId5" imgW="6099065" imgH="1749388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71600"/>
                        <a:ext cx="8839200" cy="2535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Monte Carlo provides a numerical method to obtain an estimate for a solution that needs to be close, but not necessarily exact</a:t>
            </a:r>
          </a:p>
          <a:p>
            <a:r>
              <a:rPr lang="en-US" dirty="0" smtClean="0"/>
              <a:t>We showed two specific examples, but the applications of Monte Carlo are very diverse</a:t>
            </a:r>
          </a:p>
          <a:p>
            <a:r>
              <a:rPr lang="en-US" dirty="0" smtClean="0"/>
              <a:t>Questions???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 err="1" smtClean="0"/>
              <a:t>Bodie</a:t>
            </a:r>
            <a:r>
              <a:rPr lang="en-US" sz="1400" dirty="0" smtClean="0"/>
              <a:t>, </a:t>
            </a:r>
            <a:r>
              <a:rPr lang="en-US" sz="1400" dirty="0" err="1" smtClean="0"/>
              <a:t>Zvi</a:t>
            </a:r>
            <a:r>
              <a:rPr lang="en-US" sz="1400" dirty="0" smtClean="0"/>
              <a:t>, Alex Kane, and Alan Marcus. </a:t>
            </a:r>
            <a:r>
              <a:rPr lang="en-US" sz="1400" i="1" dirty="0" smtClean="0"/>
              <a:t>Essentials of Investments</a:t>
            </a:r>
            <a:r>
              <a:rPr lang="en-US" sz="1400" dirty="0" smtClean="0"/>
              <a:t>. Eighth Edition. New York: </a:t>
            </a:r>
            <a:r>
              <a:rPr lang="en-US" sz="1400" dirty="0" err="1" smtClean="0"/>
              <a:t>Mcgraw</a:t>
            </a:r>
            <a:r>
              <a:rPr lang="en-US" sz="1400" dirty="0" smtClean="0"/>
              <a:t>-Hill, 2010.</a:t>
            </a:r>
          </a:p>
          <a:p>
            <a:r>
              <a:rPr lang="en-US" sz="1400" dirty="0" err="1" smtClean="0"/>
              <a:t>Kalos</a:t>
            </a:r>
            <a:r>
              <a:rPr lang="en-US" sz="1400" dirty="0" smtClean="0"/>
              <a:t>, </a:t>
            </a:r>
            <a:r>
              <a:rPr lang="en-US" sz="1400" dirty="0" err="1" smtClean="0"/>
              <a:t>Malvin</a:t>
            </a:r>
            <a:r>
              <a:rPr lang="en-US" sz="1400" dirty="0" smtClean="0"/>
              <a:t> H., and Paula A. Whitlock. </a:t>
            </a:r>
            <a:r>
              <a:rPr lang="en-US" sz="1400" i="1" dirty="0" smtClean="0"/>
              <a:t>Monte Carlo Methods Volume 1: Basics</a:t>
            </a:r>
            <a:r>
              <a:rPr lang="en-US" sz="1400" dirty="0" smtClean="0"/>
              <a:t>. New York: John Wiley &amp; Sons, 1986.</a:t>
            </a:r>
          </a:p>
          <a:p>
            <a:r>
              <a:rPr lang="en-US" sz="1400" dirty="0" smtClean="0"/>
              <a:t>McDonald, Robert </a:t>
            </a:r>
            <a:r>
              <a:rPr lang="en-US" sz="1400" dirty="0" err="1" smtClean="0"/>
              <a:t>obert</a:t>
            </a:r>
            <a:r>
              <a:rPr lang="en-US" sz="1400" dirty="0" smtClean="0"/>
              <a:t> Lynch. </a:t>
            </a:r>
            <a:r>
              <a:rPr lang="en-US" sz="1400" i="1" dirty="0" smtClean="0"/>
              <a:t>Derivatives Markets</a:t>
            </a:r>
            <a:r>
              <a:rPr lang="en-US" sz="1400" dirty="0" smtClean="0"/>
              <a:t>. 2nd. Boston: Pearson Education Inc., 2006. Print.</a:t>
            </a:r>
          </a:p>
          <a:p>
            <a:r>
              <a:rPr lang="en-US" sz="1400" dirty="0" err="1" smtClean="0"/>
              <a:t>Sobol</a:t>
            </a:r>
            <a:r>
              <a:rPr lang="en-US" sz="1400" dirty="0" smtClean="0"/>
              <a:t>, </a:t>
            </a:r>
            <a:r>
              <a:rPr lang="en-US" sz="1400" dirty="0" err="1" smtClean="0"/>
              <a:t>IIya</a:t>
            </a:r>
            <a:r>
              <a:rPr lang="en-US" sz="1400" dirty="0" smtClean="0"/>
              <a:t>. </a:t>
            </a:r>
            <a:r>
              <a:rPr lang="en-US" sz="1400" i="1" dirty="0" smtClean="0"/>
              <a:t>A Primer for the Monte Carlo Method</a:t>
            </a:r>
            <a:r>
              <a:rPr lang="en-US" sz="1400" dirty="0" smtClean="0"/>
              <a:t>. Boca Raton: CRC Press, 1994.</a:t>
            </a:r>
          </a:p>
          <a:p>
            <a:pPr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2067</Words>
  <Application>Microsoft Office PowerPoint</Application>
  <PresentationFormat>On-screen Show (4:3)</PresentationFormat>
  <Paragraphs>234</Paragraphs>
  <Slides>40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Wingdings</vt:lpstr>
      <vt:lpstr>Office Theme</vt:lpstr>
      <vt:lpstr>Document</vt:lpstr>
      <vt:lpstr>Monte Carlo Simulation</vt:lpstr>
      <vt:lpstr>Monte Carlo In A Nutshell</vt:lpstr>
      <vt:lpstr>A Brief History</vt:lpstr>
      <vt:lpstr>Modern Monte Carlo Method</vt:lpstr>
      <vt:lpstr>Onset of Computers</vt:lpstr>
      <vt:lpstr>Random Numbers</vt:lpstr>
      <vt:lpstr>A Simple Example</vt:lpstr>
      <vt:lpstr>PowerPoint Presentation</vt:lpstr>
      <vt:lpstr>PowerPoint Presentation</vt:lpstr>
      <vt:lpstr>The Simulation:</vt:lpstr>
      <vt:lpstr>VBA Code:</vt:lpstr>
      <vt:lpstr>How accurate is this method?</vt:lpstr>
      <vt:lpstr>Sample Variance of X</vt:lpstr>
      <vt:lpstr>Confidence Intervals</vt:lpstr>
      <vt:lpstr>A note on variance</vt:lpstr>
      <vt:lpstr>Results</vt:lpstr>
      <vt:lpstr>Hypothetically…</vt:lpstr>
      <vt:lpstr>PowerPoint Presentation</vt:lpstr>
      <vt:lpstr>A Real World Example:  Valuing a Financial Option</vt:lpstr>
      <vt:lpstr>Example</vt:lpstr>
      <vt:lpstr>PowerPoint Presentation</vt:lpstr>
      <vt:lpstr>Specifically, we say</vt:lpstr>
      <vt:lpstr>PowerPoint Presentation</vt:lpstr>
      <vt:lpstr>The Black-Scholes Equation</vt:lpstr>
      <vt:lpstr>A rough description</vt:lpstr>
      <vt:lpstr>PowerPoint Presentation</vt:lpstr>
      <vt:lpstr>Enter…. Monte Carlo!</vt:lpstr>
      <vt:lpstr>PowerPoint Presentation</vt:lpstr>
      <vt:lpstr>Parameters</vt:lpstr>
      <vt:lpstr>Standard Normal</vt:lpstr>
      <vt:lpstr>Another Issue</vt:lpstr>
      <vt:lpstr>How do we generate correlated R.V.’s?</vt:lpstr>
      <vt:lpstr>PowerPoint Presentation</vt:lpstr>
      <vt:lpstr>The Simulation</vt:lpstr>
      <vt:lpstr>PowerPoint Presentation</vt:lpstr>
      <vt:lpstr>Analyzing the results:</vt:lpstr>
      <vt:lpstr>PowerPoint Presentation</vt:lpstr>
      <vt:lpstr>Results</vt:lpstr>
      <vt:lpstr>Conclusion</vt:lpstr>
      <vt:lpstr>Sources: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 Carlo Simulation</dc:title>
  <dc:creator>Stew</dc:creator>
  <cp:lastModifiedBy>Sidsurfacepro</cp:lastModifiedBy>
  <cp:revision>118</cp:revision>
  <dcterms:created xsi:type="dcterms:W3CDTF">2011-11-10T22:29:42Z</dcterms:created>
  <dcterms:modified xsi:type="dcterms:W3CDTF">2022-10-29T13:44:11Z</dcterms:modified>
</cp:coreProperties>
</file>