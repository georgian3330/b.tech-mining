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xls" ContentType="application/vnd.ms-excel"/>
  <Default Extension="m4a" ContentType="audio/mp4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1.xml" ContentType="application/vnd.openxmlformats-officedocument.drawingml.chart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charts/chart2.xml" ContentType="application/vnd.openxmlformats-officedocument.drawingml.chart+xml"/>
  <Override PartName="/ppt/tags/tag32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rts/chart6.xml" ContentType="application/vnd.openxmlformats-officedocument.drawingml.chart+xml"/>
  <Override PartName="/ppt/drawings/drawing1.xml" ContentType="application/vnd.openxmlformats-officedocument.drawingml.chartshape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8" r:id="rId3"/>
  </p:sldMasterIdLst>
  <p:handoutMasterIdLst>
    <p:handoutMasterId r:id="rId77"/>
  </p:handoutMasterIdLst>
  <p:sldIdLst>
    <p:sldId id="307" r:id="rId4"/>
    <p:sldId id="328" r:id="rId5"/>
    <p:sldId id="308" r:id="rId6"/>
    <p:sldId id="309" r:id="rId7"/>
    <p:sldId id="310" r:id="rId8"/>
    <p:sldId id="311" r:id="rId9"/>
    <p:sldId id="312" r:id="rId10"/>
    <p:sldId id="329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279" r:id="rId27"/>
    <p:sldId id="257" r:id="rId28"/>
    <p:sldId id="258" r:id="rId29"/>
    <p:sldId id="259" r:id="rId30"/>
    <p:sldId id="280" r:id="rId31"/>
    <p:sldId id="281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A949"/>
    <a:srgbClr val="EEBD44"/>
    <a:srgbClr val="FFDC6D"/>
    <a:srgbClr val="FFD54F"/>
    <a:srgbClr val="FFD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7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364"/>
    </p:cViewPr>
  </p:sorterViewPr>
  <p:notesViewPr>
    <p:cSldViewPr snapToGrid="0">
      <p:cViewPr varScale="1">
        <p:scale>
          <a:sx n="84" d="100"/>
          <a:sy n="84" d="100"/>
        </p:scale>
        <p:origin x="3786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eiland\Documents\LAPTOP\Susan_probhisto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reiland\Documents\LAPTOP\Susan_probhisto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Population,</a:t>
            </a:r>
            <a:r>
              <a:rPr lang="en-US" baseline="0"/>
              <a:t> p = .65</a:t>
            </a:r>
            <a:endParaRPr lang="en-US"/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668285214348206E-2"/>
          <c:y val="0.21157407407407408"/>
          <c:w val="0.88887270341207347"/>
          <c:h val="0.701797535724701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Sheet1!$V$3:$V$4</c:f>
              <c:strCache>
                <c:ptCount val="1"/>
                <c:pt idx="0">
                  <c:v>0 1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0.10949074074074074"/>
                </c:manualLayout>
              </c:layout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chemeClr val="tx1"/>
                        </a:solidFill>
                      </a:rPr>
                      <a:t>0.35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chemeClr val="tx1"/>
                        </a:solidFill>
                      </a:rPr>
                      <a:t>0.65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ln w="19050">
                <a:solidFill>
                  <a:schemeClr val="tx1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Sheet1!$V$3:$V$4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cat>
          <c:val>
            <c:numRef>
              <c:f>Sheet1!$W$3:$W$4</c:f>
              <c:numCache>
                <c:formatCode>General</c:formatCode>
                <c:ptCount val="2"/>
                <c:pt idx="0">
                  <c:v>0.35</c:v>
                </c:pt>
                <c:pt idx="1">
                  <c:v>0.65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16268288"/>
        <c:axId val="516263936"/>
      </c:barChart>
      <c:catAx>
        <c:axId val="516268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516263936"/>
        <c:crosses val="autoZero"/>
        <c:auto val="1"/>
        <c:lblAlgn val="ctr"/>
        <c:lblOffset val="100"/>
        <c:noMultiLvlLbl val="0"/>
      </c:catAx>
      <c:valAx>
        <c:axId val="5162639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51626828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2069970845481049E-2"/>
          <c:y val="6.4705882352941183E-2"/>
          <c:w val="0.94169096209912539"/>
          <c:h val="0.88235294117647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9999FF"/>
            </a:solidFill>
            <a:ln w="16739">
              <a:solidFill>
                <a:srgbClr val="000000"/>
              </a:solidFill>
              <a:prstDash val="solid"/>
            </a:ln>
          </c:spPr>
          <c:invertIfNegative val="0"/>
          <c:val>
            <c:numRef>
              <c:f>Sheet1!$E$15:$E$25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710649856"/>
        <c:axId val="710650944"/>
      </c:barChart>
      <c:catAx>
        <c:axId val="710649856"/>
        <c:scaling>
          <c:orientation val="minMax"/>
        </c:scaling>
        <c:delete val="1"/>
        <c:axPos val="b"/>
        <c:majorTickMark val="out"/>
        <c:minorTickMark val="none"/>
        <c:tickLblPos val="nextTo"/>
        <c:crossAx val="710650944"/>
        <c:crosses val="autoZero"/>
        <c:auto val="1"/>
        <c:lblAlgn val="ctr"/>
        <c:lblOffset val="100"/>
        <c:noMultiLvlLbl val="0"/>
      </c:catAx>
      <c:valAx>
        <c:axId val="710650944"/>
        <c:scaling>
          <c:orientation val="minMax"/>
        </c:scaling>
        <c:delete val="1"/>
        <c:axPos val="l"/>
        <c:majorGridlines>
          <c:spPr>
            <a:ln w="4185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crossAx val="710649856"/>
        <c:crosses val="autoZero"/>
        <c:crossBetween val="between"/>
      </c:valAx>
      <c:spPr>
        <a:solidFill>
          <a:srgbClr val="C0C0C0"/>
        </a:solidFill>
        <a:ln w="16739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4185">
      <a:solidFill>
        <a:srgbClr val="000000"/>
      </a:solidFill>
      <a:prstDash val="solid"/>
    </a:ln>
  </c:spPr>
  <c:txPr>
    <a:bodyPr/>
    <a:lstStyle/>
    <a:p>
      <a:pPr>
        <a:defRPr sz="1219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729729729729731E-2"/>
          <c:y val="6.0109289617486336E-2"/>
          <c:w val="0.94594594594594594"/>
          <c:h val="0.89071038251366119"/>
        </c:manualLayout>
      </c:layout>
      <c:lineChart>
        <c:grouping val="standard"/>
        <c:varyColors val="0"/>
        <c:ser>
          <c:idx val="0"/>
          <c:order val="0"/>
          <c:spPr>
            <a:ln w="8419">
              <a:solidFill>
                <a:srgbClr val="000080"/>
              </a:solidFill>
              <a:prstDash val="solid"/>
            </a:ln>
          </c:spPr>
          <c:marker>
            <c:symbol val="none"/>
          </c:marker>
          <c:val>
            <c:numRef>
              <c:f>Sheet1!$B$1:$B$51</c:f>
              <c:numCache>
                <c:formatCode>General</c:formatCode>
                <c:ptCount val="51"/>
                <c:pt idx="0">
                  <c:v>7.0168714404655031E-5</c:v>
                </c:pt>
                <c:pt idx="1">
                  <c:v>1.4416880078261905E-4</c:v>
                </c:pt>
                <c:pt idx="2">
                  <c:v>2.8763031280855785E-4</c:v>
                </c:pt>
                <c:pt idx="3">
                  <c:v>5.5722888731692382E-4</c:v>
                </c:pt>
                <c:pt idx="4">
                  <c:v>1.0482580181162143E-3</c:v>
                </c:pt>
                <c:pt idx="5">
                  <c:v>1.9148658977477886E-3</c:v>
                </c:pt>
                <c:pt idx="6">
                  <c:v>3.3965979091269047E-3</c:v>
                </c:pt>
                <c:pt idx="7">
                  <c:v>5.8503993538831182E-3</c:v>
                </c:pt>
                <c:pt idx="8">
                  <c:v>9.7850373642991584E-3</c:v>
                </c:pt>
                <c:pt idx="9">
                  <c:v>1.5891872264754792E-2</c:v>
                </c:pt>
                <c:pt idx="10">
                  <c:v>2.5062433885188719E-2</c:v>
                </c:pt>
                <c:pt idx="11">
                  <c:v>3.8380181512840873E-2</c:v>
                </c:pt>
                <c:pt idx="12">
                  <c:v>5.7072435471524907E-2</c:v>
                </c:pt>
                <c:pt idx="13">
                  <c:v>8.2410279774749032E-2</c:v>
                </c:pt>
                <c:pt idx="14">
                  <c:v>0.11555053821614537</c:v>
                </c:pt>
                <c:pt idx="15">
                  <c:v>0.15732515135627584</c:v>
                </c:pt>
                <c:pt idx="16">
                  <c:v>0.20799837650027447</c:v>
                </c:pt>
                <c:pt idx="17">
                  <c:v>0.26702832617154665</c:v>
                </c:pt>
                <c:pt idx="18">
                  <c:v>0.33288200845666049</c:v>
                </c:pt>
                <c:pt idx="19">
                  <c:v>0.4029571944947169</c:v>
                </c:pt>
                <c:pt idx="20">
                  <c:v>0.47365606929378445</c:v>
                </c:pt>
                <c:pt idx="21">
                  <c:v>0.54063343456708057</c:v>
                </c:pt>
                <c:pt idx="22">
                  <c:v>0.59920895561403364</c:v>
                </c:pt>
                <c:pt idx="23">
                  <c:v>0.64489541929326255</c:v>
                </c:pt>
                <c:pt idx="24">
                  <c:v>0.67396274439400139</c:v>
                </c:pt>
                <c:pt idx="25">
                  <c:v>0.68394013441013657</c:v>
                </c:pt>
                <c:pt idx="26">
                  <c:v>0.6739627443940005</c:v>
                </c:pt>
                <c:pt idx="27">
                  <c:v>0.64489541929326089</c:v>
                </c:pt>
                <c:pt idx="28">
                  <c:v>0.5992089556140312</c:v>
                </c:pt>
                <c:pt idx="29">
                  <c:v>0.5406334345670778</c:v>
                </c:pt>
                <c:pt idx="30">
                  <c:v>0.4736560692937814</c:v>
                </c:pt>
                <c:pt idx="31">
                  <c:v>0.40295719449471407</c:v>
                </c:pt>
                <c:pt idx="32">
                  <c:v>0.33288200845665811</c:v>
                </c:pt>
                <c:pt idx="33">
                  <c:v>0.26702832617154465</c:v>
                </c:pt>
                <c:pt idx="34">
                  <c:v>0.20799837650027303</c:v>
                </c:pt>
                <c:pt idx="35">
                  <c:v>0.15732515135627481</c:v>
                </c:pt>
                <c:pt idx="36">
                  <c:v>0.11555053821614474</c:v>
                </c:pt>
                <c:pt idx="37">
                  <c:v>8.2410279774748629E-2</c:v>
                </c:pt>
                <c:pt idx="38">
                  <c:v>5.7072435471524706E-2</c:v>
                </c:pt>
                <c:pt idx="39">
                  <c:v>3.8380181512840811E-2</c:v>
                </c:pt>
                <c:pt idx="40">
                  <c:v>2.5062433885188719E-2</c:v>
                </c:pt>
                <c:pt idx="41">
                  <c:v>1.5891872264754817E-2</c:v>
                </c:pt>
                <c:pt idx="42">
                  <c:v>9.7850373642992036E-3</c:v>
                </c:pt>
                <c:pt idx="43">
                  <c:v>5.8503993538831537E-3</c:v>
                </c:pt>
                <c:pt idx="44">
                  <c:v>3.3965979091269377E-3</c:v>
                </c:pt>
                <c:pt idx="45">
                  <c:v>1.914865897747814E-3</c:v>
                </c:pt>
                <c:pt idx="46">
                  <c:v>1.0482580181162312E-3</c:v>
                </c:pt>
                <c:pt idx="47">
                  <c:v>5.572288873169352E-4</c:v>
                </c:pt>
                <c:pt idx="48">
                  <c:v>2.8763031280856473E-4</c:v>
                </c:pt>
                <c:pt idx="49">
                  <c:v>1.4416880078262315E-4</c:v>
                </c:pt>
                <c:pt idx="50">
                  <c:v>7.0168714404657268E-5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10651488"/>
        <c:axId val="710648224"/>
      </c:lineChart>
      <c:catAx>
        <c:axId val="710651488"/>
        <c:scaling>
          <c:orientation val="minMax"/>
        </c:scaling>
        <c:delete val="1"/>
        <c:axPos val="b"/>
        <c:majorTickMark val="out"/>
        <c:minorTickMark val="none"/>
        <c:tickLblPos val="nextTo"/>
        <c:crossAx val="710648224"/>
        <c:crosses val="autoZero"/>
        <c:auto val="1"/>
        <c:lblAlgn val="ctr"/>
        <c:lblOffset val="100"/>
        <c:noMultiLvlLbl val="0"/>
      </c:catAx>
      <c:valAx>
        <c:axId val="7106482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10651488"/>
        <c:crosses val="autoZero"/>
        <c:crossBetween val="between"/>
      </c:valAx>
      <c:spPr>
        <a:solidFill>
          <a:srgbClr val="C0C0C0"/>
        </a:solidFill>
        <a:ln w="8419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2105">
      <a:solidFill>
        <a:srgbClr val="000000"/>
      </a:solidFill>
      <a:prstDash val="solid"/>
    </a:ln>
  </c:spPr>
  <c:txPr>
    <a:bodyPr/>
    <a:lstStyle/>
    <a:p>
      <a:pPr>
        <a:defRPr sz="613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729729729729731E-2"/>
          <c:y val="6.0109289617486336E-2"/>
          <c:w val="0.94594594594594594"/>
          <c:h val="0.89071038251366119"/>
        </c:manualLayout>
      </c:layout>
      <c:lineChart>
        <c:grouping val="standard"/>
        <c:varyColors val="0"/>
        <c:ser>
          <c:idx val="0"/>
          <c:order val="0"/>
          <c:spPr>
            <a:ln w="10192">
              <a:solidFill>
                <a:srgbClr val="000080"/>
              </a:solidFill>
              <a:prstDash val="solid"/>
            </a:ln>
          </c:spPr>
          <c:marker>
            <c:symbol val="none"/>
          </c:marker>
          <c:val>
            <c:numRef>
              <c:f>Sheet1!$C$1:$C$51</c:f>
              <c:numCache>
                <c:formatCode>General</c:formatCode>
                <c:ptCount val="51"/>
                <c:pt idx="0">
                  <c:v>1.5344216603374772E-16</c:v>
                </c:pt>
                <c:pt idx="1">
                  <c:v>2.7316621652389802E-15</c:v>
                </c:pt>
                <c:pt idx="2">
                  <c:v>4.3238354913406196E-14</c:v>
                </c:pt>
                <c:pt idx="3">
                  <c:v>6.0851493815160317E-13</c:v>
                </c:pt>
                <c:pt idx="4">
                  <c:v>7.6143569741178334E-12</c:v>
                </c:pt>
                <c:pt idx="5">
                  <c:v>8.4713988631500142E-11</c:v>
                </c:pt>
                <c:pt idx="6">
                  <c:v>8.3798633119839302E-10</c:v>
                </c:pt>
                <c:pt idx="7">
                  <c:v>7.3701893658184064E-9</c:v>
                </c:pt>
                <c:pt idx="8">
                  <c:v>5.7634199548456446E-8</c:v>
                </c:pt>
                <c:pt idx="9">
                  <c:v>4.0072071410953412E-7</c:v>
                </c:pt>
                <c:pt idx="10">
                  <c:v>2.4772122950865181E-6</c:v>
                </c:pt>
                <c:pt idx="11">
                  <c:v>1.3615844050950172E-5</c:v>
                </c:pt>
                <c:pt idx="12">
                  <c:v>6.6540462895610348E-5</c:v>
                </c:pt>
                <c:pt idx="13">
                  <c:v>2.8912588451489996E-4</c:v>
                </c:pt>
                <c:pt idx="14">
                  <c:v>1.1169867939677814E-3</c:v>
                </c:pt>
                <c:pt idx="15">
                  <c:v>3.8367986632246052E-3</c:v>
                </c:pt>
                <c:pt idx="16">
                  <c:v>1.1717902744563564E-2</c:v>
                </c:pt>
                <c:pt idx="17">
                  <c:v>3.181930398623059E-2</c:v>
                </c:pt>
                <c:pt idx="18">
                  <c:v>7.6823018920207403E-2</c:v>
                </c:pt>
                <c:pt idx="19">
                  <c:v>0.16491189080053822</c:v>
                </c:pt>
                <c:pt idx="20">
                  <c:v>0.31475488569774174</c:v>
                </c:pt>
                <c:pt idx="21">
                  <c:v>0.53413728728674781</c:v>
                </c:pt>
                <c:pt idx="22">
                  <c:v>0.80592238790310788</c:v>
                </c:pt>
                <c:pt idx="23">
                  <c:v>1.0811686684304123</c:v>
                </c:pt>
                <c:pt idx="24">
                  <c:v>1.2895957417853903</c:v>
                </c:pt>
                <c:pt idx="25">
                  <c:v>1.3676458018561284</c:v>
                </c:pt>
                <c:pt idx="26">
                  <c:v>1.2895957417853836</c:v>
                </c:pt>
                <c:pt idx="27">
                  <c:v>1.0811686684304009</c:v>
                </c:pt>
                <c:pt idx="28">
                  <c:v>0.80592238790309534</c:v>
                </c:pt>
                <c:pt idx="29">
                  <c:v>0.53413728728673671</c:v>
                </c:pt>
                <c:pt idx="30">
                  <c:v>0.31475488569773352</c:v>
                </c:pt>
                <c:pt idx="31">
                  <c:v>0.16491189080053362</c:v>
                </c:pt>
                <c:pt idx="32">
                  <c:v>7.6823018920205141E-2</c:v>
                </c:pt>
                <c:pt idx="33">
                  <c:v>3.1819303986229661E-2</c:v>
                </c:pt>
                <c:pt idx="34">
                  <c:v>1.1717902744563233E-2</c:v>
                </c:pt>
                <c:pt idx="35">
                  <c:v>3.8367986632245029E-3</c:v>
                </c:pt>
                <c:pt idx="36">
                  <c:v>1.1169867939677567E-3</c:v>
                </c:pt>
                <c:pt idx="37">
                  <c:v>2.8912588451489481E-4</c:v>
                </c:pt>
                <c:pt idx="38">
                  <c:v>6.6540462895609399E-5</c:v>
                </c:pt>
                <c:pt idx="39">
                  <c:v>1.3615844050950099E-5</c:v>
                </c:pt>
                <c:pt idx="40">
                  <c:v>2.4772122950865181E-6</c:v>
                </c:pt>
                <c:pt idx="41">
                  <c:v>4.0072071410953698E-7</c:v>
                </c:pt>
                <c:pt idx="42">
                  <c:v>5.7634199548457459E-8</c:v>
                </c:pt>
                <c:pt idx="43">
                  <c:v>7.3701893658185901E-9</c:v>
                </c:pt>
                <c:pt idx="44">
                  <c:v>8.379863311984259E-10</c:v>
                </c:pt>
                <c:pt idx="45">
                  <c:v>8.4713988631504653E-11</c:v>
                </c:pt>
                <c:pt idx="46">
                  <c:v>7.6143569741183197E-12</c:v>
                </c:pt>
                <c:pt idx="47">
                  <c:v>6.0851493815165517E-13</c:v>
                </c:pt>
                <c:pt idx="48">
                  <c:v>4.3238354913410336E-14</c:v>
                </c:pt>
                <c:pt idx="49">
                  <c:v>2.7316621652393103E-15</c:v>
                </c:pt>
                <c:pt idx="50">
                  <c:v>1.5344216603376843E-16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10646592"/>
        <c:axId val="710646048"/>
      </c:lineChart>
      <c:catAx>
        <c:axId val="710646592"/>
        <c:scaling>
          <c:orientation val="minMax"/>
        </c:scaling>
        <c:delete val="1"/>
        <c:axPos val="b"/>
        <c:majorTickMark val="out"/>
        <c:minorTickMark val="none"/>
        <c:tickLblPos val="nextTo"/>
        <c:crossAx val="710646048"/>
        <c:crosses val="autoZero"/>
        <c:auto val="1"/>
        <c:lblAlgn val="ctr"/>
        <c:lblOffset val="100"/>
        <c:noMultiLvlLbl val="0"/>
      </c:catAx>
      <c:valAx>
        <c:axId val="710646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10646592"/>
        <c:crosses val="autoZero"/>
        <c:crossBetween val="between"/>
      </c:valAx>
      <c:spPr>
        <a:solidFill>
          <a:srgbClr val="C0C0C0"/>
        </a:solidFill>
        <a:ln w="10192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2548">
      <a:solidFill>
        <a:srgbClr val="000000"/>
      </a:solidFill>
      <a:prstDash val="solid"/>
    </a:ln>
  </c:spPr>
  <c:txPr>
    <a:bodyPr/>
    <a:lstStyle/>
    <a:p>
      <a:pPr>
        <a:defRPr sz="742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9729729729729731E-2"/>
          <c:y val="6.0109289617486336E-2"/>
          <c:w val="0.94594594594594594"/>
          <c:h val="0.89071038251366119"/>
        </c:manualLayout>
      </c:layout>
      <c:lineChart>
        <c:grouping val="standard"/>
        <c:varyColors val="0"/>
        <c:ser>
          <c:idx val="0"/>
          <c:order val="0"/>
          <c:spPr>
            <a:ln w="12745">
              <a:solidFill>
                <a:srgbClr val="000080"/>
              </a:solidFill>
              <a:prstDash val="solid"/>
            </a:ln>
          </c:spPr>
          <c:marker>
            <c:symbol val="none"/>
          </c:marker>
          <c:val>
            <c:numRef>
              <c:f>Sheet1!$D$1:$D$101</c:f>
              <c:numCache>
                <c:formatCode>General</c:formatCode>
                <c:ptCount val="101"/>
                <c:pt idx="0">
                  <c:v>7.5914445896329784E-100</c:v>
                </c:pt>
                <c:pt idx="1">
                  <c:v>5.1787175481041752E-33</c:v>
                </c:pt>
                <c:pt idx="2">
                  <c:v>1.0731918678315453E-31</c:v>
                </c:pt>
                <c:pt idx="3">
                  <c:v>2.0892437722714115E-30</c:v>
                </c:pt>
                <c:pt idx="4">
                  <c:v>3.8208277057937098E-29</c:v>
                </c:pt>
                <c:pt idx="5">
                  <c:v>6.564208803077106E-28</c:v>
                </c:pt>
                <c:pt idx="6">
                  <c:v>1.0594096267546993E-26</c:v>
                </c:pt>
                <c:pt idx="7">
                  <c:v>1.6062089358107769E-25</c:v>
                </c:pt>
                <c:pt idx="8">
                  <c:v>2.2876877952604674E-24</c:v>
                </c:pt>
                <c:pt idx="9">
                  <c:v>3.0608924326236036E-23</c:v>
                </c:pt>
                <c:pt idx="10">
                  <c:v>3.8472993133533188E-22</c:v>
                </c:pt>
                <c:pt idx="11">
                  <c:v>4.5427671559884939E-21</c:v>
                </c:pt>
                <c:pt idx="12">
                  <c:v>5.0389676971501828E-20</c:v>
                </c:pt>
                <c:pt idx="13">
                  <c:v>5.2507249149853707E-19</c:v>
                </c:pt>
                <c:pt idx="14">
                  <c:v>5.1398867858346389E-18</c:v>
                </c:pt>
                <c:pt idx="15">
                  <c:v>4.7265519409515932E-17</c:v>
                </c:pt>
                <c:pt idx="16">
                  <c:v>4.0831178158349193E-16</c:v>
                </c:pt>
                <c:pt idx="17">
                  <c:v>3.3135687279844929E-15</c:v>
                </c:pt>
                <c:pt idx="18">
                  <c:v>2.5261355417685447E-14</c:v>
                </c:pt>
                <c:pt idx="19">
                  <c:v>1.8091472255563356E-13</c:v>
                </c:pt>
                <c:pt idx="20">
                  <c:v>1.2171602665145523E-12</c:v>
                </c:pt>
                <c:pt idx="21">
                  <c:v>7.6926897528066205E-12</c:v>
                </c:pt>
                <c:pt idx="22">
                  <c:v>4.5673602041824101E-11</c:v>
                </c:pt>
                <c:pt idx="23">
                  <c:v>2.5474689794218776E-10</c:v>
                </c:pt>
                <c:pt idx="24">
                  <c:v>1.33477830738144E-9</c:v>
                </c:pt>
                <c:pt idx="25">
                  <c:v>6.5700090907794416E-9</c:v>
                </c:pt>
                <c:pt idx="26">
                  <c:v>3.0379414249116423E-8</c:v>
                </c:pt>
                <c:pt idx="27">
                  <c:v>1.319621601785277E-7</c:v>
                </c:pt>
                <c:pt idx="28">
                  <c:v>5.3848800212715797E-7</c:v>
                </c:pt>
                <c:pt idx="29">
                  <c:v>2.0642354943149619E-6</c:v>
                </c:pt>
                <c:pt idx="30">
                  <c:v>7.4335975736713421E-6</c:v>
                </c:pt>
                <c:pt idx="31">
                  <c:v>2.5147536442961641E-5</c:v>
                </c:pt>
                <c:pt idx="32">
                  <c:v>7.9918705534525228E-5</c:v>
                </c:pt>
                <c:pt idx="33">
                  <c:v>2.385931827060179E-4</c:v>
                </c:pt>
                <c:pt idx="34">
                  <c:v>6.6915112882440643E-4</c:v>
                </c:pt>
                <c:pt idx="35">
                  <c:v>1.7629784118371702E-3</c:v>
                </c:pt>
                <c:pt idx="36">
                  <c:v>4.3634134752286559E-3</c:v>
                </c:pt>
                <c:pt idx="37">
                  <c:v>1.0145240286498495E-2</c:v>
                </c:pt>
                <c:pt idx="38">
                  <c:v>2.2159242059689284E-2</c:v>
                </c:pt>
                <c:pt idx="39">
                  <c:v>4.5467812507953745E-2</c:v>
                </c:pt>
                <c:pt idx="40">
                  <c:v>8.7641502467839791E-2</c:v>
                </c:pt>
                <c:pt idx="41">
                  <c:v>0.15869825917833205</c:v>
                </c:pt>
                <c:pt idx="42">
                  <c:v>0.26995483256593222</c:v>
                </c:pt>
                <c:pt idx="43">
                  <c:v>0.4313865941325456</c:v>
                </c:pt>
                <c:pt idx="44">
                  <c:v>0.64758797832944226</c:v>
                </c:pt>
                <c:pt idx="45">
                  <c:v>0.91324542694508937</c:v>
                </c:pt>
                <c:pt idx="46">
                  <c:v>1.2098536225956942</c:v>
                </c:pt>
                <c:pt idx="47">
                  <c:v>1.5056871607739999</c:v>
                </c:pt>
                <c:pt idx="48">
                  <c:v>1.7603266338214791</c:v>
                </c:pt>
                <c:pt idx="49">
                  <c:v>1.9333405840142353</c:v>
                </c:pt>
                <c:pt idx="50">
                  <c:v>1.9947114020071632</c:v>
                </c:pt>
                <c:pt idx="51">
                  <c:v>1.933340584014257</c:v>
                </c:pt>
                <c:pt idx="52">
                  <c:v>1.7603266338215182</c:v>
                </c:pt>
                <c:pt idx="53">
                  <c:v>1.5056871607740501</c:v>
                </c:pt>
                <c:pt idx="54">
                  <c:v>1.2098536225957477</c:v>
                </c:pt>
                <c:pt idx="55">
                  <c:v>0.91324542694513999</c:v>
                </c:pt>
                <c:pt idx="56">
                  <c:v>0.64758797832948545</c:v>
                </c:pt>
                <c:pt idx="57">
                  <c:v>0.43138659413257918</c:v>
                </c:pt>
                <c:pt idx="58">
                  <c:v>0.2699548325659562</c:v>
                </c:pt>
                <c:pt idx="59">
                  <c:v>0.1586982591783479</c:v>
                </c:pt>
                <c:pt idx="60">
                  <c:v>8.7641502467849519E-2</c:v>
                </c:pt>
                <c:pt idx="61">
                  <c:v>4.5467812507959296E-2</c:v>
                </c:pt>
                <c:pt idx="62">
                  <c:v>2.2159242059692236E-2</c:v>
                </c:pt>
                <c:pt idx="63">
                  <c:v>1.0145240286499964E-2</c:v>
                </c:pt>
                <c:pt idx="64">
                  <c:v>4.3634134752293342E-3</c:v>
                </c:pt>
                <c:pt idx="65">
                  <c:v>1.7629784118374646E-3</c:v>
                </c:pt>
                <c:pt idx="66">
                  <c:v>6.6915112882452537E-4</c:v>
                </c:pt>
                <c:pt idx="67">
                  <c:v>2.3859318270606328E-4</c:v>
                </c:pt>
                <c:pt idx="68">
                  <c:v>7.9918705534541275E-5</c:v>
                </c:pt>
                <c:pt idx="69">
                  <c:v>2.5147536442966913E-5</c:v>
                </c:pt>
                <c:pt idx="70">
                  <c:v>7.4335975736729921E-6</c:v>
                </c:pt>
                <c:pt idx="71">
                  <c:v>2.0642354943154459E-6</c:v>
                </c:pt>
                <c:pt idx="72">
                  <c:v>5.3848800212729E-7</c:v>
                </c:pt>
                <c:pt idx="73">
                  <c:v>1.3196216017856148E-7</c:v>
                </c:pt>
                <c:pt idx="74">
                  <c:v>3.0379414249124516E-8</c:v>
                </c:pt>
                <c:pt idx="75">
                  <c:v>6.570009090781263E-9</c:v>
                </c:pt>
                <c:pt idx="76">
                  <c:v>1.3347783073818242E-9</c:v>
                </c:pt>
                <c:pt idx="77">
                  <c:v>2.5474689794226469E-10</c:v>
                </c:pt>
                <c:pt idx="78">
                  <c:v>4.5673602041838215E-11</c:v>
                </c:pt>
                <c:pt idx="79">
                  <c:v>7.6926897528091068E-12</c:v>
                </c:pt>
                <c:pt idx="80">
                  <c:v>1.217160266514959E-12</c:v>
                </c:pt>
                <c:pt idx="81">
                  <c:v>1.8091472255569655E-13</c:v>
                </c:pt>
                <c:pt idx="82">
                  <c:v>2.5261355417694866E-14</c:v>
                </c:pt>
                <c:pt idx="83">
                  <c:v>3.3135687279858115E-15</c:v>
                </c:pt>
                <c:pt idx="84">
                  <c:v>4.0831178158366316E-16</c:v>
                </c:pt>
                <c:pt idx="85">
                  <c:v>4.7265519409536757E-17</c:v>
                </c:pt>
                <c:pt idx="86">
                  <c:v>5.139886785836977E-18</c:v>
                </c:pt>
                <c:pt idx="87">
                  <c:v>5.2507249149878696E-19</c:v>
                </c:pt>
                <c:pt idx="88">
                  <c:v>5.038967697152725E-20</c:v>
                </c:pt>
                <c:pt idx="89">
                  <c:v>4.5427671559908817E-21</c:v>
                </c:pt>
                <c:pt idx="90">
                  <c:v>3.847299313355478E-22</c:v>
                </c:pt>
                <c:pt idx="91">
                  <c:v>3.0608924326254309E-23</c:v>
                </c:pt>
                <c:pt idx="92">
                  <c:v>2.287687795261849E-24</c:v>
                </c:pt>
                <c:pt idx="93">
                  <c:v>1.6062089358117811E-25</c:v>
                </c:pt>
                <c:pt idx="94">
                  <c:v>1.0594096267554068E-26</c:v>
                </c:pt>
                <c:pt idx="95">
                  <c:v>6.5642088030816771E-28</c:v>
                </c:pt>
                <c:pt idx="96">
                  <c:v>3.8208277057964249E-29</c:v>
                </c:pt>
                <c:pt idx="97">
                  <c:v>2.0892437722729256E-30</c:v>
                </c:pt>
                <c:pt idx="98">
                  <c:v>1.0731918678323841E-31</c:v>
                </c:pt>
                <c:pt idx="99">
                  <c:v>5.178717548108442E-33</c:v>
                </c:pt>
                <c:pt idx="100">
                  <c:v>2.3475976789895741E-34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10650400"/>
        <c:axId val="712773472"/>
      </c:lineChart>
      <c:catAx>
        <c:axId val="710650400"/>
        <c:scaling>
          <c:orientation val="minMax"/>
        </c:scaling>
        <c:delete val="1"/>
        <c:axPos val="b"/>
        <c:majorTickMark val="out"/>
        <c:minorTickMark val="none"/>
        <c:tickLblPos val="nextTo"/>
        <c:crossAx val="712773472"/>
        <c:crosses val="autoZero"/>
        <c:auto val="1"/>
        <c:lblAlgn val="ctr"/>
        <c:lblOffset val="100"/>
        <c:noMultiLvlLbl val="0"/>
      </c:catAx>
      <c:valAx>
        <c:axId val="7127734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10650400"/>
        <c:crosses val="autoZero"/>
        <c:crossBetween val="between"/>
      </c:valAx>
      <c:spPr>
        <a:solidFill>
          <a:srgbClr val="C0C0C0"/>
        </a:solidFill>
        <a:ln w="12745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86">
      <a:solidFill>
        <a:srgbClr val="000000"/>
      </a:solidFill>
      <a:prstDash val="solid"/>
    </a:ln>
  </c:spPr>
  <c:txPr>
    <a:bodyPr/>
    <a:lstStyle/>
    <a:p>
      <a:pPr>
        <a:defRPr sz="928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/>
              <a:t>Population, "success" proportion = 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Sheet1!$V$3:$V$4</c:f>
              <c:strCache>
                <c:ptCount val="1"/>
                <c:pt idx="0">
                  <c:v>0 1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0.10949074074074074"/>
                </c:manualLayout>
              </c:layout>
              <c:tx>
                <c:rich>
                  <a:bodyPr/>
                  <a:lstStyle/>
                  <a:p>
                    <a:pPr>
                      <a:defRPr sz="1200" b="1" i="0" u="none" strike="noStrike" baseline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defRPr>
                    </a:pPr>
                    <a:r>
                      <a:rPr lang="en-US" sz="1400"/>
                      <a:t>1-p</a:t>
                    </a:r>
                  </a:p>
                </c:rich>
              </c:tx>
              <c:spPr>
                <a:ln w="19050">
                  <a:solidFill>
                    <a:schemeClr val="tx1"/>
                  </a:solidFill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200" b="1" i="0" u="none" strike="noStrike" baseline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defRPr>
                    </a:pPr>
                    <a:r>
                      <a:rPr lang="en-US" sz="1400"/>
                      <a:t>p</a:t>
                    </a:r>
                  </a:p>
                </c:rich>
              </c:tx>
              <c:spPr>
                <a:ln w="19050">
                  <a:solidFill>
                    <a:schemeClr val="tx1"/>
                  </a:solidFill>
                </a:ln>
              </c:sp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ln w="19050">
                <a:solidFill>
                  <a:schemeClr val="tx1"/>
                </a:solidFill>
              </a:ln>
            </c:spPr>
            <c:txPr>
              <a:bodyPr/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Sheet1!$V$3:$V$4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cat>
          <c:val>
            <c:numRef>
              <c:f>Sheet1!$W$3:$W$4</c:f>
              <c:numCache>
                <c:formatCode>General</c:formatCode>
                <c:ptCount val="2"/>
                <c:pt idx="0">
                  <c:v>0.35</c:v>
                </c:pt>
                <c:pt idx="1">
                  <c:v>0.65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16257952"/>
        <c:axId val="516259040"/>
      </c:barChart>
      <c:catAx>
        <c:axId val="516257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516259040"/>
        <c:crosses val="autoZero"/>
        <c:auto val="1"/>
        <c:lblAlgn val="ctr"/>
        <c:lblOffset val="100"/>
        <c:noMultiLvlLbl val="0"/>
      </c:catAx>
      <c:valAx>
        <c:axId val="5162590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516257952"/>
        <c:crosses val="autoZero"/>
        <c:crossBetween val="between"/>
      </c:valAx>
    </c:plotArea>
    <c:plotVisOnly val="1"/>
    <c:dispBlanksAs val="gap"/>
    <c:showDLblsOverMax val="0"/>
  </c:chart>
  <c:spPr>
    <a:solidFill>
      <a:srgbClr val="FFDD61"/>
    </a:solidFill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  <c:userShapes r:id="rId2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39.wmf"/><Relationship Id="rId1" Type="http://schemas.openxmlformats.org/officeDocument/2006/relationships/image" Target="../media/image4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39.wmf"/><Relationship Id="rId4" Type="http://schemas.openxmlformats.org/officeDocument/2006/relationships/image" Target="../media/image4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png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0.00417</cdr:x>
      <cdr:y>0.16319</cdr:y>
    </cdr:from>
    <cdr:to>
      <cdr:x>0.05625</cdr:x>
      <cdr:y>0.28819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9050" y="447676"/>
          <a:ext cx="238125" cy="3429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/>
            <a:t>p</a:t>
          </a:r>
        </a:p>
      </cdr:txBody>
    </cdr:sp>
  </cdr:relSizeAnchor>
  <cdr:relSizeAnchor xmlns:cdr="http://schemas.openxmlformats.org/drawingml/2006/chartDrawing">
    <cdr:from>
      <cdr:x>0.04375</cdr:x>
      <cdr:y>0.17708</cdr:y>
    </cdr:from>
    <cdr:to>
      <cdr:x>0.14375</cdr:x>
      <cdr:y>0.26736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00025" y="485775"/>
          <a:ext cx="457200" cy="2476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/>
            <a:t>__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BE574CCD-C5E5-4419-ACDC-72686FD2D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9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07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388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0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6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58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93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77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5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5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99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30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39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4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3956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25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890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08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049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70360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13477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905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68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137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497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0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10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2075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21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701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258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2688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27877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800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309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980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898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416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9"/>
          <p:cNvGrpSpPr>
            <a:grpSpLocks/>
          </p:cNvGrpSpPr>
          <p:nvPr/>
        </p:nvGrpSpPr>
        <p:grpSpPr bwMode="auto">
          <a:xfrm>
            <a:off x="0" y="1"/>
            <a:ext cx="11051117" cy="3402013"/>
            <a:chOff x="0" y="0"/>
            <a:chExt cx="5221" cy="2143"/>
          </a:xfrm>
        </p:grpSpPr>
        <p:sp>
          <p:nvSpPr>
            <p:cNvPr id="1029" name="Freeform 2"/>
            <p:cNvSpPr>
              <a:spLocks/>
            </p:cNvSpPr>
            <p:nvPr/>
          </p:nvSpPr>
          <p:spPr bwMode="auto">
            <a:xfrm>
              <a:off x="1716" y="0"/>
              <a:ext cx="3505" cy="1469"/>
            </a:xfrm>
            <a:custGeom>
              <a:avLst/>
              <a:gdLst>
                <a:gd name="T0" fmla="*/ 420 w 3505"/>
                <a:gd name="T1" fmla="*/ 932 h 1469"/>
                <a:gd name="T2" fmla="*/ 390 w 3505"/>
                <a:gd name="T3" fmla="*/ 969 h 1469"/>
                <a:gd name="T4" fmla="*/ 360 w 3505"/>
                <a:gd name="T5" fmla="*/ 1014 h 1469"/>
                <a:gd name="T6" fmla="*/ 342 w 3505"/>
                <a:gd name="T7" fmla="*/ 1056 h 1469"/>
                <a:gd name="T8" fmla="*/ 336 w 3505"/>
                <a:gd name="T9" fmla="*/ 1106 h 1469"/>
                <a:gd name="T10" fmla="*/ 336 w 3505"/>
                <a:gd name="T11" fmla="*/ 1155 h 1469"/>
                <a:gd name="T12" fmla="*/ 348 w 3505"/>
                <a:gd name="T13" fmla="*/ 1219 h 1469"/>
                <a:gd name="T14" fmla="*/ 378 w 3505"/>
                <a:gd name="T15" fmla="*/ 1263 h 1469"/>
                <a:gd name="T16" fmla="*/ 420 w 3505"/>
                <a:gd name="T17" fmla="*/ 1311 h 1469"/>
                <a:gd name="T18" fmla="*/ 504 w 3505"/>
                <a:gd name="T19" fmla="*/ 1388 h 1469"/>
                <a:gd name="T20" fmla="*/ 582 w 3505"/>
                <a:gd name="T21" fmla="*/ 1422 h 1469"/>
                <a:gd name="T22" fmla="*/ 666 w 3505"/>
                <a:gd name="T23" fmla="*/ 1445 h 1469"/>
                <a:gd name="T24" fmla="*/ 735 w 3505"/>
                <a:gd name="T25" fmla="*/ 1458 h 1469"/>
                <a:gd name="T26" fmla="*/ 822 w 3505"/>
                <a:gd name="T27" fmla="*/ 1466 h 1469"/>
                <a:gd name="T28" fmla="*/ 918 w 3505"/>
                <a:gd name="T29" fmla="*/ 1468 h 1469"/>
                <a:gd name="T30" fmla="*/ 1029 w 3505"/>
                <a:gd name="T31" fmla="*/ 1465 h 1469"/>
                <a:gd name="T32" fmla="*/ 1116 w 3505"/>
                <a:gd name="T33" fmla="*/ 1455 h 1469"/>
                <a:gd name="T34" fmla="*/ 1215 w 3505"/>
                <a:gd name="T35" fmla="*/ 1435 h 1469"/>
                <a:gd name="T36" fmla="*/ 1308 w 3505"/>
                <a:gd name="T37" fmla="*/ 1404 h 1469"/>
                <a:gd name="T38" fmla="*/ 1395 w 3505"/>
                <a:gd name="T39" fmla="*/ 1366 h 1469"/>
                <a:gd name="T40" fmla="*/ 1500 w 3505"/>
                <a:gd name="T41" fmla="*/ 1301 h 1469"/>
                <a:gd name="T42" fmla="*/ 1560 w 3505"/>
                <a:gd name="T43" fmla="*/ 1260 h 1469"/>
                <a:gd name="T44" fmla="*/ 1620 w 3505"/>
                <a:gd name="T45" fmla="*/ 1219 h 1469"/>
                <a:gd name="T46" fmla="*/ 1680 w 3505"/>
                <a:gd name="T47" fmla="*/ 1164 h 1469"/>
                <a:gd name="T48" fmla="*/ 1728 w 3505"/>
                <a:gd name="T49" fmla="*/ 1117 h 1469"/>
                <a:gd name="T50" fmla="*/ 1770 w 3505"/>
                <a:gd name="T51" fmla="*/ 1065 h 1469"/>
                <a:gd name="T52" fmla="*/ 1821 w 3505"/>
                <a:gd name="T53" fmla="*/ 1014 h 1469"/>
                <a:gd name="T54" fmla="*/ 1875 w 3505"/>
                <a:gd name="T55" fmla="*/ 972 h 1469"/>
                <a:gd name="T56" fmla="*/ 1932 w 3505"/>
                <a:gd name="T57" fmla="*/ 934 h 1469"/>
                <a:gd name="T58" fmla="*/ 2004 w 3505"/>
                <a:gd name="T59" fmla="*/ 894 h 1469"/>
                <a:gd name="T60" fmla="*/ 2088 w 3505"/>
                <a:gd name="T61" fmla="*/ 861 h 1469"/>
                <a:gd name="T62" fmla="*/ 2181 w 3505"/>
                <a:gd name="T63" fmla="*/ 834 h 1469"/>
                <a:gd name="T64" fmla="*/ 2271 w 3505"/>
                <a:gd name="T65" fmla="*/ 812 h 1469"/>
                <a:gd name="T66" fmla="*/ 2358 w 3505"/>
                <a:gd name="T67" fmla="*/ 795 h 1469"/>
                <a:gd name="T68" fmla="*/ 2463 w 3505"/>
                <a:gd name="T69" fmla="*/ 782 h 1469"/>
                <a:gd name="T70" fmla="*/ 2568 w 3505"/>
                <a:gd name="T71" fmla="*/ 780 h 1469"/>
                <a:gd name="T72" fmla="*/ 2676 w 3505"/>
                <a:gd name="T73" fmla="*/ 779 h 1469"/>
                <a:gd name="T74" fmla="*/ 2952 w 3505"/>
                <a:gd name="T75" fmla="*/ 789 h 1469"/>
                <a:gd name="T76" fmla="*/ 3240 w 3505"/>
                <a:gd name="T77" fmla="*/ 820 h 1469"/>
                <a:gd name="T78" fmla="*/ 3504 w 3505"/>
                <a:gd name="T79" fmla="*/ 871 h 1469"/>
                <a:gd name="T80" fmla="*/ 2460 w 3505"/>
                <a:gd name="T81" fmla="*/ 0 h 1469"/>
                <a:gd name="T82" fmla="*/ 0 w 3505"/>
                <a:gd name="T83" fmla="*/ 0 h 1469"/>
                <a:gd name="T84" fmla="*/ 420 w 3505"/>
                <a:gd name="T85" fmla="*/ 932 h 146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505" h="1469">
                  <a:moveTo>
                    <a:pt x="420" y="932"/>
                  </a:moveTo>
                  <a:lnTo>
                    <a:pt x="390" y="969"/>
                  </a:lnTo>
                  <a:lnTo>
                    <a:pt x="360" y="1014"/>
                  </a:lnTo>
                  <a:lnTo>
                    <a:pt x="342" y="1056"/>
                  </a:lnTo>
                  <a:lnTo>
                    <a:pt x="336" y="1106"/>
                  </a:lnTo>
                  <a:lnTo>
                    <a:pt x="336" y="1155"/>
                  </a:lnTo>
                  <a:lnTo>
                    <a:pt x="348" y="1219"/>
                  </a:lnTo>
                  <a:lnTo>
                    <a:pt x="378" y="1263"/>
                  </a:lnTo>
                  <a:lnTo>
                    <a:pt x="420" y="1311"/>
                  </a:lnTo>
                  <a:lnTo>
                    <a:pt x="504" y="1388"/>
                  </a:lnTo>
                  <a:lnTo>
                    <a:pt x="582" y="1422"/>
                  </a:lnTo>
                  <a:lnTo>
                    <a:pt x="666" y="1445"/>
                  </a:lnTo>
                  <a:lnTo>
                    <a:pt x="735" y="1458"/>
                  </a:lnTo>
                  <a:lnTo>
                    <a:pt x="822" y="1466"/>
                  </a:lnTo>
                  <a:lnTo>
                    <a:pt x="918" y="1468"/>
                  </a:lnTo>
                  <a:lnTo>
                    <a:pt x="1029" y="1465"/>
                  </a:lnTo>
                  <a:lnTo>
                    <a:pt x="1116" y="1455"/>
                  </a:lnTo>
                  <a:lnTo>
                    <a:pt x="1215" y="1435"/>
                  </a:lnTo>
                  <a:lnTo>
                    <a:pt x="1308" y="1404"/>
                  </a:lnTo>
                  <a:lnTo>
                    <a:pt x="1395" y="1366"/>
                  </a:lnTo>
                  <a:lnTo>
                    <a:pt x="1500" y="1301"/>
                  </a:lnTo>
                  <a:lnTo>
                    <a:pt x="1560" y="1260"/>
                  </a:lnTo>
                  <a:lnTo>
                    <a:pt x="1620" y="1219"/>
                  </a:lnTo>
                  <a:lnTo>
                    <a:pt x="1680" y="1164"/>
                  </a:lnTo>
                  <a:lnTo>
                    <a:pt x="1728" y="1117"/>
                  </a:lnTo>
                  <a:lnTo>
                    <a:pt x="1770" y="1065"/>
                  </a:lnTo>
                  <a:lnTo>
                    <a:pt x="1821" y="1014"/>
                  </a:lnTo>
                  <a:lnTo>
                    <a:pt x="1875" y="972"/>
                  </a:lnTo>
                  <a:lnTo>
                    <a:pt x="1932" y="934"/>
                  </a:lnTo>
                  <a:lnTo>
                    <a:pt x="2004" y="894"/>
                  </a:lnTo>
                  <a:lnTo>
                    <a:pt x="2088" y="861"/>
                  </a:lnTo>
                  <a:lnTo>
                    <a:pt x="2181" y="834"/>
                  </a:lnTo>
                  <a:lnTo>
                    <a:pt x="2271" y="812"/>
                  </a:lnTo>
                  <a:lnTo>
                    <a:pt x="2358" y="795"/>
                  </a:lnTo>
                  <a:lnTo>
                    <a:pt x="2463" y="782"/>
                  </a:lnTo>
                  <a:lnTo>
                    <a:pt x="2568" y="780"/>
                  </a:lnTo>
                  <a:lnTo>
                    <a:pt x="2676" y="779"/>
                  </a:lnTo>
                  <a:lnTo>
                    <a:pt x="2952" y="789"/>
                  </a:lnTo>
                  <a:lnTo>
                    <a:pt x="3240" y="820"/>
                  </a:lnTo>
                  <a:lnTo>
                    <a:pt x="3504" y="871"/>
                  </a:lnTo>
                  <a:lnTo>
                    <a:pt x="2460" y="0"/>
                  </a:lnTo>
                  <a:lnTo>
                    <a:pt x="0" y="0"/>
                  </a:lnTo>
                  <a:lnTo>
                    <a:pt x="420" y="932"/>
                  </a:lnTo>
                </a:path>
              </a:pathLst>
            </a:custGeom>
            <a:gradFill rotWithShape="0">
              <a:gsLst>
                <a:gs pos="0">
                  <a:srgbClr val="C9C9C9"/>
                </a:gs>
                <a:gs pos="100000">
                  <a:srgbClr val="E0E0E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54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1030" name="Freeform 3"/>
            <p:cNvSpPr>
              <a:spLocks/>
            </p:cNvSpPr>
            <p:nvPr/>
          </p:nvSpPr>
          <p:spPr bwMode="auto">
            <a:xfrm>
              <a:off x="2004" y="877"/>
              <a:ext cx="877" cy="492"/>
            </a:xfrm>
            <a:custGeom>
              <a:avLst/>
              <a:gdLst>
                <a:gd name="T0" fmla="*/ 876 w 877"/>
                <a:gd name="T1" fmla="*/ 159 h 492"/>
                <a:gd name="T2" fmla="*/ 864 w 877"/>
                <a:gd name="T3" fmla="*/ 197 h 492"/>
                <a:gd name="T4" fmla="*/ 843 w 877"/>
                <a:gd name="T5" fmla="*/ 221 h 492"/>
                <a:gd name="T6" fmla="*/ 804 w 877"/>
                <a:gd name="T7" fmla="*/ 237 h 492"/>
                <a:gd name="T8" fmla="*/ 759 w 877"/>
                <a:gd name="T9" fmla="*/ 248 h 492"/>
                <a:gd name="T10" fmla="*/ 696 w 877"/>
                <a:gd name="T11" fmla="*/ 253 h 492"/>
                <a:gd name="T12" fmla="*/ 612 w 877"/>
                <a:gd name="T13" fmla="*/ 251 h 492"/>
                <a:gd name="T14" fmla="*/ 513 w 877"/>
                <a:gd name="T15" fmla="*/ 248 h 492"/>
                <a:gd name="T16" fmla="*/ 435 w 877"/>
                <a:gd name="T17" fmla="*/ 253 h 492"/>
                <a:gd name="T18" fmla="*/ 369 w 877"/>
                <a:gd name="T19" fmla="*/ 260 h 492"/>
                <a:gd name="T20" fmla="*/ 318 w 877"/>
                <a:gd name="T21" fmla="*/ 272 h 492"/>
                <a:gd name="T22" fmla="*/ 275 w 877"/>
                <a:gd name="T23" fmla="*/ 283 h 492"/>
                <a:gd name="T24" fmla="*/ 234 w 877"/>
                <a:gd name="T25" fmla="*/ 305 h 492"/>
                <a:gd name="T26" fmla="*/ 207 w 877"/>
                <a:gd name="T27" fmla="*/ 327 h 492"/>
                <a:gd name="T28" fmla="*/ 180 w 877"/>
                <a:gd name="T29" fmla="*/ 366 h 492"/>
                <a:gd name="T30" fmla="*/ 171 w 877"/>
                <a:gd name="T31" fmla="*/ 401 h 492"/>
                <a:gd name="T32" fmla="*/ 174 w 877"/>
                <a:gd name="T33" fmla="*/ 437 h 492"/>
                <a:gd name="T34" fmla="*/ 191 w 877"/>
                <a:gd name="T35" fmla="*/ 491 h 492"/>
                <a:gd name="T36" fmla="*/ 135 w 877"/>
                <a:gd name="T37" fmla="*/ 440 h 492"/>
                <a:gd name="T38" fmla="*/ 93 w 877"/>
                <a:gd name="T39" fmla="*/ 394 h 492"/>
                <a:gd name="T40" fmla="*/ 60 w 877"/>
                <a:gd name="T41" fmla="*/ 350 h 492"/>
                <a:gd name="T42" fmla="*/ 29 w 877"/>
                <a:gd name="T43" fmla="*/ 288 h 492"/>
                <a:gd name="T44" fmla="*/ 15 w 877"/>
                <a:gd name="T45" fmla="*/ 236 h 492"/>
                <a:gd name="T46" fmla="*/ 2 w 877"/>
                <a:gd name="T47" fmla="*/ 179 h 492"/>
                <a:gd name="T48" fmla="*/ 0 w 877"/>
                <a:gd name="T49" fmla="*/ 125 h 492"/>
                <a:gd name="T50" fmla="*/ 3 w 877"/>
                <a:gd name="T51" fmla="*/ 80 h 492"/>
                <a:gd name="T52" fmla="*/ 43 w 877"/>
                <a:gd name="T53" fmla="*/ 65 h 492"/>
                <a:gd name="T54" fmla="*/ 109 w 877"/>
                <a:gd name="T55" fmla="*/ 48 h 492"/>
                <a:gd name="T56" fmla="*/ 189 w 877"/>
                <a:gd name="T57" fmla="*/ 30 h 492"/>
                <a:gd name="T58" fmla="*/ 276 w 877"/>
                <a:gd name="T59" fmla="*/ 12 h 492"/>
                <a:gd name="T60" fmla="*/ 363 w 877"/>
                <a:gd name="T61" fmla="*/ 0 h 492"/>
                <a:gd name="T62" fmla="*/ 462 w 877"/>
                <a:gd name="T63" fmla="*/ 0 h 492"/>
                <a:gd name="T64" fmla="*/ 549 w 877"/>
                <a:gd name="T65" fmla="*/ 5 h 492"/>
                <a:gd name="T66" fmla="*/ 642 w 877"/>
                <a:gd name="T67" fmla="*/ 20 h 492"/>
                <a:gd name="T68" fmla="*/ 717 w 877"/>
                <a:gd name="T69" fmla="*/ 38 h 492"/>
                <a:gd name="T70" fmla="*/ 759 w 877"/>
                <a:gd name="T71" fmla="*/ 54 h 492"/>
                <a:gd name="T72" fmla="*/ 807 w 877"/>
                <a:gd name="T73" fmla="*/ 86 h 492"/>
                <a:gd name="T74" fmla="*/ 846 w 877"/>
                <a:gd name="T75" fmla="*/ 125 h 492"/>
                <a:gd name="T76" fmla="*/ 876 w 877"/>
                <a:gd name="T77" fmla="*/ 159 h 49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77" h="492">
                  <a:moveTo>
                    <a:pt x="876" y="159"/>
                  </a:moveTo>
                  <a:lnTo>
                    <a:pt x="864" y="197"/>
                  </a:lnTo>
                  <a:lnTo>
                    <a:pt x="843" y="221"/>
                  </a:lnTo>
                  <a:lnTo>
                    <a:pt x="804" y="237"/>
                  </a:lnTo>
                  <a:lnTo>
                    <a:pt x="759" y="248"/>
                  </a:lnTo>
                  <a:lnTo>
                    <a:pt x="696" y="253"/>
                  </a:lnTo>
                  <a:lnTo>
                    <a:pt x="612" y="251"/>
                  </a:lnTo>
                  <a:lnTo>
                    <a:pt x="513" y="248"/>
                  </a:lnTo>
                  <a:lnTo>
                    <a:pt x="435" y="253"/>
                  </a:lnTo>
                  <a:lnTo>
                    <a:pt x="369" y="260"/>
                  </a:lnTo>
                  <a:lnTo>
                    <a:pt x="318" y="272"/>
                  </a:lnTo>
                  <a:lnTo>
                    <a:pt x="275" y="283"/>
                  </a:lnTo>
                  <a:lnTo>
                    <a:pt x="234" y="305"/>
                  </a:lnTo>
                  <a:lnTo>
                    <a:pt x="207" y="327"/>
                  </a:lnTo>
                  <a:lnTo>
                    <a:pt x="180" y="366"/>
                  </a:lnTo>
                  <a:lnTo>
                    <a:pt x="171" y="401"/>
                  </a:lnTo>
                  <a:lnTo>
                    <a:pt x="174" y="437"/>
                  </a:lnTo>
                  <a:lnTo>
                    <a:pt x="191" y="491"/>
                  </a:lnTo>
                  <a:lnTo>
                    <a:pt x="135" y="440"/>
                  </a:lnTo>
                  <a:lnTo>
                    <a:pt x="93" y="394"/>
                  </a:lnTo>
                  <a:lnTo>
                    <a:pt x="60" y="350"/>
                  </a:lnTo>
                  <a:lnTo>
                    <a:pt x="29" y="288"/>
                  </a:lnTo>
                  <a:lnTo>
                    <a:pt x="15" y="236"/>
                  </a:lnTo>
                  <a:lnTo>
                    <a:pt x="2" y="179"/>
                  </a:lnTo>
                  <a:lnTo>
                    <a:pt x="0" y="125"/>
                  </a:lnTo>
                  <a:lnTo>
                    <a:pt x="3" y="80"/>
                  </a:lnTo>
                  <a:lnTo>
                    <a:pt x="43" y="65"/>
                  </a:lnTo>
                  <a:lnTo>
                    <a:pt x="109" y="48"/>
                  </a:lnTo>
                  <a:lnTo>
                    <a:pt x="189" y="30"/>
                  </a:lnTo>
                  <a:lnTo>
                    <a:pt x="276" y="12"/>
                  </a:lnTo>
                  <a:lnTo>
                    <a:pt x="363" y="0"/>
                  </a:lnTo>
                  <a:lnTo>
                    <a:pt x="462" y="0"/>
                  </a:lnTo>
                  <a:lnTo>
                    <a:pt x="549" y="5"/>
                  </a:lnTo>
                  <a:lnTo>
                    <a:pt x="642" y="20"/>
                  </a:lnTo>
                  <a:lnTo>
                    <a:pt x="717" y="38"/>
                  </a:lnTo>
                  <a:lnTo>
                    <a:pt x="759" y="54"/>
                  </a:lnTo>
                  <a:lnTo>
                    <a:pt x="807" y="86"/>
                  </a:lnTo>
                  <a:lnTo>
                    <a:pt x="846" y="125"/>
                  </a:lnTo>
                  <a:lnTo>
                    <a:pt x="876" y="159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1031" name="Freeform 4"/>
            <p:cNvSpPr>
              <a:spLocks/>
            </p:cNvSpPr>
            <p:nvPr/>
          </p:nvSpPr>
          <p:spPr bwMode="auto">
            <a:xfrm>
              <a:off x="0" y="0"/>
              <a:ext cx="2881" cy="2143"/>
            </a:xfrm>
            <a:custGeom>
              <a:avLst/>
              <a:gdLst>
                <a:gd name="T0" fmla="*/ 0 w 2881"/>
                <a:gd name="T1" fmla="*/ 2142 h 2143"/>
                <a:gd name="T2" fmla="*/ 81 w 2881"/>
                <a:gd name="T3" fmla="*/ 2032 h 2143"/>
                <a:gd name="T4" fmla="*/ 183 w 2881"/>
                <a:gd name="T5" fmla="*/ 1928 h 2143"/>
                <a:gd name="T6" fmla="*/ 276 w 2881"/>
                <a:gd name="T7" fmla="*/ 1833 h 2143"/>
                <a:gd name="T8" fmla="*/ 370 w 2881"/>
                <a:gd name="T9" fmla="*/ 1736 h 2143"/>
                <a:gd name="T10" fmla="*/ 468 w 2881"/>
                <a:gd name="T11" fmla="*/ 1653 h 2143"/>
                <a:gd name="T12" fmla="*/ 571 w 2881"/>
                <a:gd name="T13" fmla="*/ 1572 h 2143"/>
                <a:gd name="T14" fmla="*/ 712 w 2881"/>
                <a:gd name="T15" fmla="*/ 1480 h 2143"/>
                <a:gd name="T16" fmla="*/ 824 w 2881"/>
                <a:gd name="T17" fmla="*/ 1410 h 2143"/>
                <a:gd name="T18" fmla="*/ 1064 w 2881"/>
                <a:gd name="T19" fmla="*/ 1285 h 2143"/>
                <a:gd name="T20" fmla="*/ 1303 w 2881"/>
                <a:gd name="T21" fmla="*/ 1182 h 2143"/>
                <a:gd name="T22" fmla="*/ 1536 w 2881"/>
                <a:gd name="T23" fmla="*/ 1103 h 2143"/>
                <a:gd name="T24" fmla="*/ 1757 w 2881"/>
                <a:gd name="T25" fmla="*/ 1029 h 2143"/>
                <a:gd name="T26" fmla="*/ 2001 w 2881"/>
                <a:gd name="T27" fmla="*/ 958 h 2143"/>
                <a:gd name="T28" fmla="*/ 2097 w 2881"/>
                <a:gd name="T29" fmla="*/ 930 h 2143"/>
                <a:gd name="T30" fmla="*/ 2202 w 2881"/>
                <a:gd name="T31" fmla="*/ 904 h 2143"/>
                <a:gd name="T32" fmla="*/ 2289 w 2881"/>
                <a:gd name="T33" fmla="*/ 884 h 2143"/>
                <a:gd name="T34" fmla="*/ 2385 w 2881"/>
                <a:gd name="T35" fmla="*/ 876 h 2143"/>
                <a:gd name="T36" fmla="*/ 2469 w 2881"/>
                <a:gd name="T37" fmla="*/ 873 h 2143"/>
                <a:gd name="T38" fmla="*/ 2559 w 2881"/>
                <a:gd name="T39" fmla="*/ 881 h 2143"/>
                <a:gd name="T40" fmla="*/ 2634 w 2881"/>
                <a:gd name="T41" fmla="*/ 893 h 2143"/>
                <a:gd name="T42" fmla="*/ 2703 w 2881"/>
                <a:gd name="T43" fmla="*/ 912 h 2143"/>
                <a:gd name="T44" fmla="*/ 2769 w 2881"/>
                <a:gd name="T45" fmla="*/ 939 h 2143"/>
                <a:gd name="T46" fmla="*/ 2829 w 2881"/>
                <a:gd name="T47" fmla="*/ 979 h 2143"/>
                <a:gd name="T48" fmla="*/ 2880 w 2881"/>
                <a:gd name="T49" fmla="*/ 1035 h 2143"/>
                <a:gd name="T50" fmla="*/ 2877 w 2881"/>
                <a:gd name="T51" fmla="*/ 981 h 2143"/>
                <a:gd name="T52" fmla="*/ 2868 w 2881"/>
                <a:gd name="T53" fmla="*/ 943 h 2143"/>
                <a:gd name="T54" fmla="*/ 2847 w 2881"/>
                <a:gd name="T55" fmla="*/ 894 h 2143"/>
                <a:gd name="T56" fmla="*/ 2817 w 2881"/>
                <a:gd name="T57" fmla="*/ 853 h 2143"/>
                <a:gd name="T58" fmla="*/ 2781 w 2881"/>
                <a:gd name="T59" fmla="*/ 816 h 2143"/>
                <a:gd name="T60" fmla="*/ 2742 w 2881"/>
                <a:gd name="T61" fmla="*/ 779 h 2143"/>
                <a:gd name="T62" fmla="*/ 1884 w 2881"/>
                <a:gd name="T63" fmla="*/ 0 h 2143"/>
                <a:gd name="T64" fmla="*/ 0 w 2881"/>
                <a:gd name="T65" fmla="*/ 0 h 2143"/>
                <a:gd name="T66" fmla="*/ 0 w 2881"/>
                <a:gd name="T67" fmla="*/ 2142 h 21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881" h="2143">
                  <a:moveTo>
                    <a:pt x="0" y="2142"/>
                  </a:moveTo>
                  <a:lnTo>
                    <a:pt x="81" y="2032"/>
                  </a:lnTo>
                  <a:lnTo>
                    <a:pt x="183" y="1928"/>
                  </a:lnTo>
                  <a:lnTo>
                    <a:pt x="276" y="1833"/>
                  </a:lnTo>
                  <a:lnTo>
                    <a:pt x="370" y="1736"/>
                  </a:lnTo>
                  <a:lnTo>
                    <a:pt x="468" y="1653"/>
                  </a:lnTo>
                  <a:lnTo>
                    <a:pt x="571" y="1572"/>
                  </a:lnTo>
                  <a:lnTo>
                    <a:pt x="712" y="1480"/>
                  </a:lnTo>
                  <a:lnTo>
                    <a:pt x="824" y="1410"/>
                  </a:lnTo>
                  <a:lnTo>
                    <a:pt x="1064" y="1285"/>
                  </a:lnTo>
                  <a:lnTo>
                    <a:pt x="1303" y="1182"/>
                  </a:lnTo>
                  <a:lnTo>
                    <a:pt x="1536" y="1103"/>
                  </a:lnTo>
                  <a:lnTo>
                    <a:pt x="1757" y="1029"/>
                  </a:lnTo>
                  <a:lnTo>
                    <a:pt x="2001" y="958"/>
                  </a:lnTo>
                  <a:lnTo>
                    <a:pt x="2097" y="930"/>
                  </a:lnTo>
                  <a:lnTo>
                    <a:pt x="2202" y="904"/>
                  </a:lnTo>
                  <a:lnTo>
                    <a:pt x="2289" y="884"/>
                  </a:lnTo>
                  <a:lnTo>
                    <a:pt x="2385" y="876"/>
                  </a:lnTo>
                  <a:lnTo>
                    <a:pt x="2469" y="873"/>
                  </a:lnTo>
                  <a:lnTo>
                    <a:pt x="2559" y="881"/>
                  </a:lnTo>
                  <a:lnTo>
                    <a:pt x="2634" y="893"/>
                  </a:lnTo>
                  <a:lnTo>
                    <a:pt x="2703" y="912"/>
                  </a:lnTo>
                  <a:lnTo>
                    <a:pt x="2769" y="939"/>
                  </a:lnTo>
                  <a:lnTo>
                    <a:pt x="2829" y="979"/>
                  </a:lnTo>
                  <a:lnTo>
                    <a:pt x="2880" y="1035"/>
                  </a:lnTo>
                  <a:lnTo>
                    <a:pt x="2877" y="981"/>
                  </a:lnTo>
                  <a:lnTo>
                    <a:pt x="2868" y="943"/>
                  </a:lnTo>
                  <a:lnTo>
                    <a:pt x="2847" y="894"/>
                  </a:lnTo>
                  <a:lnTo>
                    <a:pt x="2817" y="853"/>
                  </a:lnTo>
                  <a:lnTo>
                    <a:pt x="2781" y="816"/>
                  </a:lnTo>
                  <a:lnTo>
                    <a:pt x="2742" y="779"/>
                  </a:lnTo>
                  <a:lnTo>
                    <a:pt x="1884" y="0"/>
                  </a:lnTo>
                  <a:lnTo>
                    <a:pt x="0" y="0"/>
                  </a:lnTo>
                  <a:lnTo>
                    <a:pt x="0" y="2142"/>
                  </a:lnTo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949494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grpSp>
          <p:nvGrpSpPr>
            <p:cNvPr id="1032" name="Group 8"/>
            <p:cNvGrpSpPr>
              <a:grpSpLocks/>
            </p:cNvGrpSpPr>
            <p:nvPr/>
          </p:nvGrpSpPr>
          <p:grpSpPr bwMode="auto">
            <a:xfrm>
              <a:off x="0" y="0"/>
              <a:ext cx="2769" cy="1807"/>
              <a:chOff x="0" y="0"/>
              <a:chExt cx="2769" cy="1807"/>
            </a:xfrm>
          </p:grpSpPr>
          <p:sp>
            <p:nvSpPr>
              <p:cNvPr id="1033" name="Freeform 5"/>
              <p:cNvSpPr>
                <a:spLocks/>
              </p:cNvSpPr>
              <p:nvPr/>
            </p:nvSpPr>
            <p:spPr bwMode="auto">
              <a:xfrm>
                <a:off x="0" y="0"/>
                <a:ext cx="1993" cy="625"/>
              </a:xfrm>
              <a:custGeom>
                <a:avLst/>
                <a:gdLst>
                  <a:gd name="T0" fmla="*/ 0 w 1993"/>
                  <a:gd name="T1" fmla="*/ 402 h 625"/>
                  <a:gd name="T2" fmla="*/ 108 w 1993"/>
                  <a:gd name="T3" fmla="*/ 351 h 625"/>
                  <a:gd name="T4" fmla="*/ 225 w 1993"/>
                  <a:gd name="T5" fmla="*/ 298 h 625"/>
                  <a:gd name="T6" fmla="*/ 367 w 1993"/>
                  <a:gd name="T7" fmla="*/ 237 h 625"/>
                  <a:gd name="T8" fmla="*/ 494 w 1993"/>
                  <a:gd name="T9" fmla="*/ 190 h 625"/>
                  <a:gd name="T10" fmla="*/ 637 w 1993"/>
                  <a:gd name="T11" fmla="*/ 144 h 625"/>
                  <a:gd name="T12" fmla="*/ 765 w 1993"/>
                  <a:gd name="T13" fmla="*/ 108 h 625"/>
                  <a:gd name="T14" fmla="*/ 931 w 1993"/>
                  <a:gd name="T15" fmla="*/ 68 h 625"/>
                  <a:gd name="T16" fmla="*/ 1057 w 1993"/>
                  <a:gd name="T17" fmla="*/ 39 h 625"/>
                  <a:gd name="T18" fmla="*/ 1162 w 1993"/>
                  <a:gd name="T19" fmla="*/ 21 h 625"/>
                  <a:gd name="T20" fmla="*/ 1258 w 1993"/>
                  <a:gd name="T21" fmla="*/ 7 h 625"/>
                  <a:gd name="T22" fmla="*/ 1390 w 1993"/>
                  <a:gd name="T23" fmla="*/ 3 h 625"/>
                  <a:gd name="T24" fmla="*/ 1884 w 1993"/>
                  <a:gd name="T25" fmla="*/ 0 h 625"/>
                  <a:gd name="T26" fmla="*/ 1992 w 1993"/>
                  <a:gd name="T27" fmla="*/ 96 h 625"/>
                  <a:gd name="T28" fmla="*/ 1846 w 1993"/>
                  <a:gd name="T29" fmla="*/ 96 h 625"/>
                  <a:gd name="T30" fmla="*/ 1707 w 1993"/>
                  <a:gd name="T31" fmla="*/ 102 h 625"/>
                  <a:gd name="T32" fmla="*/ 1558 w 1993"/>
                  <a:gd name="T33" fmla="*/ 114 h 625"/>
                  <a:gd name="T34" fmla="*/ 1437 w 1993"/>
                  <a:gd name="T35" fmla="*/ 129 h 625"/>
                  <a:gd name="T36" fmla="*/ 1302 w 1993"/>
                  <a:gd name="T37" fmla="*/ 152 h 625"/>
                  <a:gd name="T38" fmla="*/ 1187 w 1993"/>
                  <a:gd name="T39" fmla="*/ 174 h 625"/>
                  <a:gd name="T40" fmla="*/ 1065 w 1993"/>
                  <a:gd name="T41" fmla="*/ 202 h 625"/>
                  <a:gd name="T42" fmla="*/ 957 w 1993"/>
                  <a:gd name="T43" fmla="*/ 232 h 625"/>
                  <a:gd name="T44" fmla="*/ 885 w 1993"/>
                  <a:gd name="T45" fmla="*/ 252 h 625"/>
                  <a:gd name="T46" fmla="*/ 731 w 1993"/>
                  <a:gd name="T47" fmla="*/ 294 h 625"/>
                  <a:gd name="T48" fmla="*/ 560 w 1993"/>
                  <a:gd name="T49" fmla="*/ 348 h 625"/>
                  <a:gd name="T50" fmla="*/ 405 w 1993"/>
                  <a:gd name="T51" fmla="*/ 408 h 625"/>
                  <a:gd name="T52" fmla="*/ 229 w 1993"/>
                  <a:gd name="T53" fmla="*/ 486 h 625"/>
                  <a:gd name="T54" fmla="*/ 130 w 1993"/>
                  <a:gd name="T55" fmla="*/ 534 h 625"/>
                  <a:gd name="T56" fmla="*/ 54 w 1993"/>
                  <a:gd name="T57" fmla="*/ 582 h 625"/>
                  <a:gd name="T58" fmla="*/ 0 w 1993"/>
                  <a:gd name="T59" fmla="*/ 624 h 625"/>
                  <a:gd name="T60" fmla="*/ 0 w 1993"/>
                  <a:gd name="T61" fmla="*/ 402 h 62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993" h="625">
                    <a:moveTo>
                      <a:pt x="0" y="402"/>
                    </a:moveTo>
                    <a:lnTo>
                      <a:pt x="108" y="351"/>
                    </a:lnTo>
                    <a:lnTo>
                      <a:pt x="225" y="298"/>
                    </a:lnTo>
                    <a:lnTo>
                      <a:pt x="367" y="237"/>
                    </a:lnTo>
                    <a:lnTo>
                      <a:pt x="494" y="190"/>
                    </a:lnTo>
                    <a:lnTo>
                      <a:pt x="637" y="144"/>
                    </a:lnTo>
                    <a:lnTo>
                      <a:pt x="765" y="108"/>
                    </a:lnTo>
                    <a:lnTo>
                      <a:pt x="931" y="68"/>
                    </a:lnTo>
                    <a:lnTo>
                      <a:pt x="1057" y="39"/>
                    </a:lnTo>
                    <a:lnTo>
                      <a:pt x="1162" y="21"/>
                    </a:lnTo>
                    <a:lnTo>
                      <a:pt x="1258" y="7"/>
                    </a:lnTo>
                    <a:lnTo>
                      <a:pt x="1390" y="3"/>
                    </a:lnTo>
                    <a:lnTo>
                      <a:pt x="1884" y="0"/>
                    </a:lnTo>
                    <a:lnTo>
                      <a:pt x="1992" y="96"/>
                    </a:lnTo>
                    <a:lnTo>
                      <a:pt x="1846" y="96"/>
                    </a:lnTo>
                    <a:lnTo>
                      <a:pt x="1707" y="102"/>
                    </a:lnTo>
                    <a:lnTo>
                      <a:pt x="1558" y="114"/>
                    </a:lnTo>
                    <a:lnTo>
                      <a:pt x="1437" y="129"/>
                    </a:lnTo>
                    <a:lnTo>
                      <a:pt x="1302" y="152"/>
                    </a:lnTo>
                    <a:lnTo>
                      <a:pt x="1187" y="174"/>
                    </a:lnTo>
                    <a:lnTo>
                      <a:pt x="1065" y="202"/>
                    </a:lnTo>
                    <a:lnTo>
                      <a:pt x="957" y="232"/>
                    </a:lnTo>
                    <a:lnTo>
                      <a:pt x="885" y="252"/>
                    </a:lnTo>
                    <a:lnTo>
                      <a:pt x="731" y="294"/>
                    </a:lnTo>
                    <a:lnTo>
                      <a:pt x="560" y="348"/>
                    </a:lnTo>
                    <a:lnTo>
                      <a:pt x="405" y="408"/>
                    </a:lnTo>
                    <a:lnTo>
                      <a:pt x="229" y="486"/>
                    </a:lnTo>
                    <a:lnTo>
                      <a:pt x="130" y="534"/>
                    </a:lnTo>
                    <a:lnTo>
                      <a:pt x="54" y="582"/>
                    </a:lnTo>
                    <a:lnTo>
                      <a:pt x="0" y="624"/>
                    </a:lnTo>
                    <a:lnTo>
                      <a:pt x="0" y="402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034" name="Freeform 6"/>
              <p:cNvSpPr>
                <a:spLocks/>
              </p:cNvSpPr>
              <p:nvPr/>
            </p:nvSpPr>
            <p:spPr bwMode="auto">
              <a:xfrm>
                <a:off x="0" y="207"/>
                <a:ext cx="2435" cy="1123"/>
              </a:xfrm>
              <a:custGeom>
                <a:avLst/>
                <a:gdLst>
                  <a:gd name="T0" fmla="*/ 0 w 2435"/>
                  <a:gd name="T1" fmla="*/ 627 h 1123"/>
                  <a:gd name="T2" fmla="*/ 123 w 2435"/>
                  <a:gd name="T3" fmla="*/ 540 h 1123"/>
                  <a:gd name="T4" fmla="*/ 267 w 2435"/>
                  <a:gd name="T5" fmla="*/ 447 h 1123"/>
                  <a:gd name="T6" fmla="*/ 400 w 2435"/>
                  <a:gd name="T7" fmla="*/ 381 h 1123"/>
                  <a:gd name="T8" fmla="*/ 555 w 2435"/>
                  <a:gd name="T9" fmla="*/ 315 h 1123"/>
                  <a:gd name="T10" fmla="*/ 709 w 2435"/>
                  <a:gd name="T11" fmla="*/ 255 h 1123"/>
                  <a:gd name="T12" fmla="*/ 885 w 2435"/>
                  <a:gd name="T13" fmla="*/ 201 h 1123"/>
                  <a:gd name="T14" fmla="*/ 1061 w 2435"/>
                  <a:gd name="T15" fmla="*/ 147 h 1123"/>
                  <a:gd name="T16" fmla="*/ 1232 w 2435"/>
                  <a:gd name="T17" fmla="*/ 105 h 1123"/>
                  <a:gd name="T18" fmla="*/ 1397 w 2435"/>
                  <a:gd name="T19" fmla="*/ 75 h 1123"/>
                  <a:gd name="T20" fmla="*/ 1552 w 2435"/>
                  <a:gd name="T21" fmla="*/ 45 h 1123"/>
                  <a:gd name="T22" fmla="*/ 1680 w 2435"/>
                  <a:gd name="T23" fmla="*/ 21 h 1123"/>
                  <a:gd name="T24" fmla="*/ 1829 w 2435"/>
                  <a:gd name="T25" fmla="*/ 3 h 1123"/>
                  <a:gd name="T26" fmla="*/ 1949 w 2435"/>
                  <a:gd name="T27" fmla="*/ 0 h 1123"/>
                  <a:gd name="T28" fmla="*/ 2059 w 2435"/>
                  <a:gd name="T29" fmla="*/ 1 h 1123"/>
                  <a:gd name="T30" fmla="*/ 2116 w 2435"/>
                  <a:gd name="T31" fmla="*/ 3 h 1123"/>
                  <a:gd name="T32" fmla="*/ 2434 w 2435"/>
                  <a:gd name="T33" fmla="*/ 293 h 1123"/>
                  <a:gd name="T34" fmla="*/ 2353 w 2435"/>
                  <a:gd name="T35" fmla="*/ 280 h 1123"/>
                  <a:gd name="T36" fmla="*/ 2250 w 2435"/>
                  <a:gd name="T37" fmla="*/ 273 h 1123"/>
                  <a:gd name="T38" fmla="*/ 2155 w 2435"/>
                  <a:gd name="T39" fmla="*/ 273 h 1123"/>
                  <a:gd name="T40" fmla="*/ 2039 w 2435"/>
                  <a:gd name="T41" fmla="*/ 282 h 1123"/>
                  <a:gd name="T42" fmla="*/ 1888 w 2435"/>
                  <a:gd name="T43" fmla="*/ 303 h 1123"/>
                  <a:gd name="T44" fmla="*/ 1792 w 2435"/>
                  <a:gd name="T45" fmla="*/ 319 h 1123"/>
                  <a:gd name="T46" fmla="*/ 1696 w 2435"/>
                  <a:gd name="T47" fmla="*/ 339 h 1123"/>
                  <a:gd name="T48" fmla="*/ 1477 w 2435"/>
                  <a:gd name="T49" fmla="*/ 387 h 1123"/>
                  <a:gd name="T50" fmla="*/ 1258 w 2435"/>
                  <a:gd name="T51" fmla="*/ 444 h 1123"/>
                  <a:gd name="T52" fmla="*/ 1093 w 2435"/>
                  <a:gd name="T53" fmla="*/ 498 h 1123"/>
                  <a:gd name="T54" fmla="*/ 937 w 2435"/>
                  <a:gd name="T55" fmla="*/ 546 h 1123"/>
                  <a:gd name="T56" fmla="*/ 763 w 2435"/>
                  <a:gd name="T57" fmla="*/ 621 h 1123"/>
                  <a:gd name="T58" fmla="*/ 576 w 2435"/>
                  <a:gd name="T59" fmla="*/ 705 h 1123"/>
                  <a:gd name="T60" fmla="*/ 411 w 2435"/>
                  <a:gd name="T61" fmla="*/ 795 h 1123"/>
                  <a:gd name="T62" fmla="*/ 299 w 2435"/>
                  <a:gd name="T63" fmla="*/ 862 h 1123"/>
                  <a:gd name="T64" fmla="*/ 200 w 2435"/>
                  <a:gd name="T65" fmla="*/ 934 h 1123"/>
                  <a:gd name="T66" fmla="*/ 115 w 2435"/>
                  <a:gd name="T67" fmla="*/ 1005 h 1123"/>
                  <a:gd name="T68" fmla="*/ 0 w 2435"/>
                  <a:gd name="T69" fmla="*/ 1122 h 1123"/>
                  <a:gd name="T70" fmla="*/ 0 w 2435"/>
                  <a:gd name="T71" fmla="*/ 627 h 112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435" h="1123">
                    <a:moveTo>
                      <a:pt x="0" y="627"/>
                    </a:moveTo>
                    <a:lnTo>
                      <a:pt x="123" y="540"/>
                    </a:lnTo>
                    <a:lnTo>
                      <a:pt x="267" y="447"/>
                    </a:lnTo>
                    <a:lnTo>
                      <a:pt x="400" y="381"/>
                    </a:lnTo>
                    <a:lnTo>
                      <a:pt x="555" y="315"/>
                    </a:lnTo>
                    <a:lnTo>
                      <a:pt x="709" y="255"/>
                    </a:lnTo>
                    <a:lnTo>
                      <a:pt x="885" y="201"/>
                    </a:lnTo>
                    <a:lnTo>
                      <a:pt x="1061" y="147"/>
                    </a:lnTo>
                    <a:lnTo>
                      <a:pt x="1232" y="105"/>
                    </a:lnTo>
                    <a:lnTo>
                      <a:pt x="1397" y="75"/>
                    </a:lnTo>
                    <a:lnTo>
                      <a:pt x="1552" y="45"/>
                    </a:lnTo>
                    <a:lnTo>
                      <a:pt x="1680" y="21"/>
                    </a:lnTo>
                    <a:lnTo>
                      <a:pt x="1829" y="3"/>
                    </a:lnTo>
                    <a:lnTo>
                      <a:pt x="1949" y="0"/>
                    </a:lnTo>
                    <a:lnTo>
                      <a:pt x="2059" y="1"/>
                    </a:lnTo>
                    <a:lnTo>
                      <a:pt x="2116" y="3"/>
                    </a:lnTo>
                    <a:lnTo>
                      <a:pt x="2434" y="293"/>
                    </a:lnTo>
                    <a:lnTo>
                      <a:pt x="2353" y="280"/>
                    </a:lnTo>
                    <a:lnTo>
                      <a:pt x="2250" y="273"/>
                    </a:lnTo>
                    <a:lnTo>
                      <a:pt x="2155" y="273"/>
                    </a:lnTo>
                    <a:lnTo>
                      <a:pt x="2039" y="282"/>
                    </a:lnTo>
                    <a:lnTo>
                      <a:pt x="1888" y="303"/>
                    </a:lnTo>
                    <a:lnTo>
                      <a:pt x="1792" y="319"/>
                    </a:lnTo>
                    <a:lnTo>
                      <a:pt x="1696" y="339"/>
                    </a:lnTo>
                    <a:lnTo>
                      <a:pt x="1477" y="387"/>
                    </a:lnTo>
                    <a:lnTo>
                      <a:pt x="1258" y="444"/>
                    </a:lnTo>
                    <a:lnTo>
                      <a:pt x="1093" y="498"/>
                    </a:lnTo>
                    <a:lnTo>
                      <a:pt x="937" y="546"/>
                    </a:lnTo>
                    <a:lnTo>
                      <a:pt x="763" y="621"/>
                    </a:lnTo>
                    <a:lnTo>
                      <a:pt x="576" y="705"/>
                    </a:lnTo>
                    <a:lnTo>
                      <a:pt x="411" y="795"/>
                    </a:lnTo>
                    <a:lnTo>
                      <a:pt x="299" y="862"/>
                    </a:lnTo>
                    <a:lnTo>
                      <a:pt x="200" y="934"/>
                    </a:lnTo>
                    <a:lnTo>
                      <a:pt x="115" y="1005"/>
                    </a:lnTo>
                    <a:lnTo>
                      <a:pt x="0" y="1122"/>
                    </a:lnTo>
                    <a:lnTo>
                      <a:pt x="0" y="627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035" name="Freeform 7"/>
              <p:cNvSpPr>
                <a:spLocks/>
              </p:cNvSpPr>
              <p:nvPr/>
            </p:nvSpPr>
            <p:spPr bwMode="auto">
              <a:xfrm>
                <a:off x="0" y="600"/>
                <a:ext cx="2769" cy="1207"/>
              </a:xfrm>
              <a:custGeom>
                <a:avLst/>
                <a:gdLst>
                  <a:gd name="T0" fmla="*/ 0 w 2769"/>
                  <a:gd name="T1" fmla="*/ 966 h 1207"/>
                  <a:gd name="T2" fmla="*/ 64 w 2769"/>
                  <a:gd name="T3" fmla="*/ 900 h 1207"/>
                  <a:gd name="T4" fmla="*/ 171 w 2769"/>
                  <a:gd name="T5" fmla="*/ 799 h 1207"/>
                  <a:gd name="T6" fmla="*/ 277 w 2769"/>
                  <a:gd name="T7" fmla="*/ 716 h 1207"/>
                  <a:gd name="T8" fmla="*/ 367 w 2769"/>
                  <a:gd name="T9" fmla="*/ 649 h 1207"/>
                  <a:gd name="T10" fmla="*/ 432 w 2769"/>
                  <a:gd name="T11" fmla="*/ 601 h 1207"/>
                  <a:gd name="T12" fmla="*/ 507 w 2769"/>
                  <a:gd name="T13" fmla="*/ 555 h 1207"/>
                  <a:gd name="T14" fmla="*/ 592 w 2769"/>
                  <a:gd name="T15" fmla="*/ 504 h 1207"/>
                  <a:gd name="T16" fmla="*/ 725 w 2769"/>
                  <a:gd name="T17" fmla="*/ 438 h 1207"/>
                  <a:gd name="T18" fmla="*/ 875 w 2769"/>
                  <a:gd name="T19" fmla="*/ 366 h 1207"/>
                  <a:gd name="T20" fmla="*/ 1056 w 2769"/>
                  <a:gd name="T21" fmla="*/ 294 h 1207"/>
                  <a:gd name="T22" fmla="*/ 1232 w 2769"/>
                  <a:gd name="T23" fmla="*/ 228 h 1207"/>
                  <a:gd name="T24" fmla="*/ 1392 w 2769"/>
                  <a:gd name="T25" fmla="*/ 180 h 1207"/>
                  <a:gd name="T26" fmla="*/ 1568 w 2769"/>
                  <a:gd name="T27" fmla="*/ 132 h 1207"/>
                  <a:gd name="T28" fmla="*/ 1738 w 2769"/>
                  <a:gd name="T29" fmla="*/ 90 h 1207"/>
                  <a:gd name="T30" fmla="*/ 1914 w 2769"/>
                  <a:gd name="T31" fmla="*/ 54 h 1207"/>
                  <a:gd name="T32" fmla="*/ 2090 w 2769"/>
                  <a:gd name="T33" fmla="*/ 27 h 1207"/>
                  <a:gd name="T34" fmla="*/ 2218 w 2769"/>
                  <a:gd name="T35" fmla="*/ 12 h 1207"/>
                  <a:gd name="T36" fmla="*/ 2353 w 2769"/>
                  <a:gd name="T37" fmla="*/ 1 h 1207"/>
                  <a:gd name="T38" fmla="*/ 2458 w 2769"/>
                  <a:gd name="T39" fmla="*/ 0 h 1207"/>
                  <a:gd name="T40" fmla="*/ 2554 w 2769"/>
                  <a:gd name="T41" fmla="*/ 7 h 1207"/>
                  <a:gd name="T42" fmla="*/ 2768 w 2769"/>
                  <a:gd name="T43" fmla="*/ 197 h 1207"/>
                  <a:gd name="T44" fmla="*/ 2677 w 2769"/>
                  <a:gd name="T45" fmla="*/ 150 h 1207"/>
                  <a:gd name="T46" fmla="*/ 2598 w 2769"/>
                  <a:gd name="T47" fmla="*/ 126 h 1207"/>
                  <a:gd name="T48" fmla="*/ 2515 w 2769"/>
                  <a:gd name="T49" fmla="*/ 118 h 1207"/>
                  <a:gd name="T50" fmla="*/ 2442 w 2769"/>
                  <a:gd name="T51" fmla="*/ 120 h 1207"/>
                  <a:gd name="T52" fmla="*/ 2362 w 2769"/>
                  <a:gd name="T53" fmla="*/ 124 h 1207"/>
                  <a:gd name="T54" fmla="*/ 2277 w 2769"/>
                  <a:gd name="T55" fmla="*/ 132 h 1207"/>
                  <a:gd name="T56" fmla="*/ 2175 w 2769"/>
                  <a:gd name="T57" fmla="*/ 147 h 1207"/>
                  <a:gd name="T58" fmla="*/ 2085 w 2769"/>
                  <a:gd name="T59" fmla="*/ 162 h 1207"/>
                  <a:gd name="T60" fmla="*/ 1877 w 2769"/>
                  <a:gd name="T61" fmla="*/ 204 h 1207"/>
                  <a:gd name="T62" fmla="*/ 1642 w 2769"/>
                  <a:gd name="T63" fmla="*/ 258 h 1207"/>
                  <a:gd name="T64" fmla="*/ 1477 w 2769"/>
                  <a:gd name="T65" fmla="*/ 306 h 1207"/>
                  <a:gd name="T66" fmla="*/ 1312 w 2769"/>
                  <a:gd name="T67" fmla="*/ 360 h 1207"/>
                  <a:gd name="T68" fmla="*/ 1120 w 2769"/>
                  <a:gd name="T69" fmla="*/ 432 h 1207"/>
                  <a:gd name="T70" fmla="*/ 939 w 2769"/>
                  <a:gd name="T71" fmla="*/ 510 h 1207"/>
                  <a:gd name="T72" fmla="*/ 752 w 2769"/>
                  <a:gd name="T73" fmla="*/ 600 h 1207"/>
                  <a:gd name="T74" fmla="*/ 658 w 2769"/>
                  <a:gd name="T75" fmla="*/ 654 h 1207"/>
                  <a:gd name="T76" fmla="*/ 571 w 2769"/>
                  <a:gd name="T77" fmla="*/ 708 h 1207"/>
                  <a:gd name="T78" fmla="*/ 421 w 2769"/>
                  <a:gd name="T79" fmla="*/ 810 h 1207"/>
                  <a:gd name="T80" fmla="*/ 309 w 2769"/>
                  <a:gd name="T81" fmla="*/ 906 h 1207"/>
                  <a:gd name="T82" fmla="*/ 203 w 2769"/>
                  <a:gd name="T83" fmla="*/ 1002 h 1207"/>
                  <a:gd name="T84" fmla="*/ 93 w 2769"/>
                  <a:gd name="T85" fmla="*/ 1107 h 1207"/>
                  <a:gd name="T86" fmla="*/ 0 w 2769"/>
                  <a:gd name="T87" fmla="*/ 1206 h 1207"/>
                  <a:gd name="T88" fmla="*/ 0 w 2769"/>
                  <a:gd name="T89" fmla="*/ 966 h 120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769" h="1207">
                    <a:moveTo>
                      <a:pt x="0" y="966"/>
                    </a:moveTo>
                    <a:lnTo>
                      <a:pt x="64" y="900"/>
                    </a:lnTo>
                    <a:lnTo>
                      <a:pt x="171" y="799"/>
                    </a:lnTo>
                    <a:lnTo>
                      <a:pt x="277" y="716"/>
                    </a:lnTo>
                    <a:lnTo>
                      <a:pt x="367" y="649"/>
                    </a:lnTo>
                    <a:lnTo>
                      <a:pt x="432" y="601"/>
                    </a:lnTo>
                    <a:lnTo>
                      <a:pt x="507" y="555"/>
                    </a:lnTo>
                    <a:lnTo>
                      <a:pt x="592" y="504"/>
                    </a:lnTo>
                    <a:lnTo>
                      <a:pt x="725" y="438"/>
                    </a:lnTo>
                    <a:lnTo>
                      <a:pt x="875" y="366"/>
                    </a:lnTo>
                    <a:lnTo>
                      <a:pt x="1056" y="294"/>
                    </a:lnTo>
                    <a:lnTo>
                      <a:pt x="1232" y="228"/>
                    </a:lnTo>
                    <a:lnTo>
                      <a:pt x="1392" y="180"/>
                    </a:lnTo>
                    <a:lnTo>
                      <a:pt x="1568" y="132"/>
                    </a:lnTo>
                    <a:lnTo>
                      <a:pt x="1738" y="90"/>
                    </a:lnTo>
                    <a:lnTo>
                      <a:pt x="1914" y="54"/>
                    </a:lnTo>
                    <a:lnTo>
                      <a:pt x="2090" y="27"/>
                    </a:lnTo>
                    <a:lnTo>
                      <a:pt x="2218" y="12"/>
                    </a:lnTo>
                    <a:lnTo>
                      <a:pt x="2353" y="1"/>
                    </a:lnTo>
                    <a:lnTo>
                      <a:pt x="2458" y="0"/>
                    </a:lnTo>
                    <a:lnTo>
                      <a:pt x="2554" y="7"/>
                    </a:lnTo>
                    <a:lnTo>
                      <a:pt x="2768" y="197"/>
                    </a:lnTo>
                    <a:lnTo>
                      <a:pt x="2677" y="150"/>
                    </a:lnTo>
                    <a:lnTo>
                      <a:pt x="2598" y="126"/>
                    </a:lnTo>
                    <a:lnTo>
                      <a:pt x="2515" y="118"/>
                    </a:lnTo>
                    <a:lnTo>
                      <a:pt x="2442" y="120"/>
                    </a:lnTo>
                    <a:lnTo>
                      <a:pt x="2362" y="124"/>
                    </a:lnTo>
                    <a:lnTo>
                      <a:pt x="2277" y="132"/>
                    </a:lnTo>
                    <a:lnTo>
                      <a:pt x="2175" y="147"/>
                    </a:lnTo>
                    <a:lnTo>
                      <a:pt x="2085" y="162"/>
                    </a:lnTo>
                    <a:lnTo>
                      <a:pt x="1877" y="204"/>
                    </a:lnTo>
                    <a:lnTo>
                      <a:pt x="1642" y="258"/>
                    </a:lnTo>
                    <a:lnTo>
                      <a:pt x="1477" y="306"/>
                    </a:lnTo>
                    <a:lnTo>
                      <a:pt x="1312" y="360"/>
                    </a:lnTo>
                    <a:lnTo>
                      <a:pt x="1120" y="432"/>
                    </a:lnTo>
                    <a:lnTo>
                      <a:pt x="939" y="510"/>
                    </a:lnTo>
                    <a:lnTo>
                      <a:pt x="752" y="600"/>
                    </a:lnTo>
                    <a:lnTo>
                      <a:pt x="658" y="654"/>
                    </a:lnTo>
                    <a:lnTo>
                      <a:pt x="571" y="708"/>
                    </a:lnTo>
                    <a:lnTo>
                      <a:pt x="421" y="810"/>
                    </a:lnTo>
                    <a:lnTo>
                      <a:pt x="309" y="906"/>
                    </a:lnTo>
                    <a:lnTo>
                      <a:pt x="203" y="1002"/>
                    </a:lnTo>
                    <a:lnTo>
                      <a:pt x="93" y="1107"/>
                    </a:lnTo>
                    <a:lnTo>
                      <a:pt x="0" y="1206"/>
                    </a:lnTo>
                    <a:lnTo>
                      <a:pt x="0" y="966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27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673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n"/>
        <a:defRPr sz="3200" 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800" i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F"/>
        <a:defRPr sz="2400"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 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9"/>
          <p:cNvGrpSpPr>
            <a:grpSpLocks/>
          </p:cNvGrpSpPr>
          <p:nvPr/>
        </p:nvGrpSpPr>
        <p:grpSpPr bwMode="auto">
          <a:xfrm>
            <a:off x="0" y="1"/>
            <a:ext cx="11051117" cy="3402013"/>
            <a:chOff x="0" y="0"/>
            <a:chExt cx="5221" cy="2143"/>
          </a:xfrm>
        </p:grpSpPr>
        <p:sp>
          <p:nvSpPr>
            <p:cNvPr id="1029" name="Freeform 2"/>
            <p:cNvSpPr>
              <a:spLocks/>
            </p:cNvSpPr>
            <p:nvPr/>
          </p:nvSpPr>
          <p:spPr bwMode="auto">
            <a:xfrm>
              <a:off x="1716" y="0"/>
              <a:ext cx="3505" cy="1469"/>
            </a:xfrm>
            <a:custGeom>
              <a:avLst/>
              <a:gdLst>
                <a:gd name="T0" fmla="*/ 420 w 3505"/>
                <a:gd name="T1" fmla="*/ 932 h 1469"/>
                <a:gd name="T2" fmla="*/ 390 w 3505"/>
                <a:gd name="T3" fmla="*/ 969 h 1469"/>
                <a:gd name="T4" fmla="*/ 360 w 3505"/>
                <a:gd name="T5" fmla="*/ 1014 h 1469"/>
                <a:gd name="T6" fmla="*/ 342 w 3505"/>
                <a:gd name="T7" fmla="*/ 1056 h 1469"/>
                <a:gd name="T8" fmla="*/ 336 w 3505"/>
                <a:gd name="T9" fmla="*/ 1106 h 1469"/>
                <a:gd name="T10" fmla="*/ 336 w 3505"/>
                <a:gd name="T11" fmla="*/ 1155 h 1469"/>
                <a:gd name="T12" fmla="*/ 348 w 3505"/>
                <a:gd name="T13" fmla="*/ 1219 h 1469"/>
                <a:gd name="T14" fmla="*/ 378 w 3505"/>
                <a:gd name="T15" fmla="*/ 1263 h 1469"/>
                <a:gd name="T16" fmla="*/ 420 w 3505"/>
                <a:gd name="T17" fmla="*/ 1311 h 1469"/>
                <a:gd name="T18" fmla="*/ 504 w 3505"/>
                <a:gd name="T19" fmla="*/ 1388 h 1469"/>
                <a:gd name="T20" fmla="*/ 582 w 3505"/>
                <a:gd name="T21" fmla="*/ 1422 h 1469"/>
                <a:gd name="T22" fmla="*/ 666 w 3505"/>
                <a:gd name="T23" fmla="*/ 1445 h 1469"/>
                <a:gd name="T24" fmla="*/ 735 w 3505"/>
                <a:gd name="T25" fmla="*/ 1458 h 1469"/>
                <a:gd name="T26" fmla="*/ 822 w 3505"/>
                <a:gd name="T27" fmla="*/ 1466 h 1469"/>
                <a:gd name="T28" fmla="*/ 918 w 3505"/>
                <a:gd name="T29" fmla="*/ 1468 h 1469"/>
                <a:gd name="T30" fmla="*/ 1029 w 3505"/>
                <a:gd name="T31" fmla="*/ 1465 h 1469"/>
                <a:gd name="T32" fmla="*/ 1116 w 3505"/>
                <a:gd name="T33" fmla="*/ 1455 h 1469"/>
                <a:gd name="T34" fmla="*/ 1215 w 3505"/>
                <a:gd name="T35" fmla="*/ 1435 h 1469"/>
                <a:gd name="T36" fmla="*/ 1308 w 3505"/>
                <a:gd name="T37" fmla="*/ 1404 h 1469"/>
                <a:gd name="T38" fmla="*/ 1395 w 3505"/>
                <a:gd name="T39" fmla="*/ 1366 h 1469"/>
                <a:gd name="T40" fmla="*/ 1500 w 3505"/>
                <a:gd name="T41" fmla="*/ 1301 h 1469"/>
                <a:gd name="T42" fmla="*/ 1560 w 3505"/>
                <a:gd name="T43" fmla="*/ 1260 h 1469"/>
                <a:gd name="T44" fmla="*/ 1620 w 3505"/>
                <a:gd name="T45" fmla="*/ 1219 h 1469"/>
                <a:gd name="T46" fmla="*/ 1680 w 3505"/>
                <a:gd name="T47" fmla="*/ 1164 h 1469"/>
                <a:gd name="T48" fmla="*/ 1728 w 3505"/>
                <a:gd name="T49" fmla="*/ 1117 h 1469"/>
                <a:gd name="T50" fmla="*/ 1770 w 3505"/>
                <a:gd name="T51" fmla="*/ 1065 h 1469"/>
                <a:gd name="T52" fmla="*/ 1821 w 3505"/>
                <a:gd name="T53" fmla="*/ 1014 h 1469"/>
                <a:gd name="T54" fmla="*/ 1875 w 3505"/>
                <a:gd name="T55" fmla="*/ 972 h 1469"/>
                <a:gd name="T56" fmla="*/ 1932 w 3505"/>
                <a:gd name="T57" fmla="*/ 934 h 1469"/>
                <a:gd name="T58" fmla="*/ 2004 w 3505"/>
                <a:gd name="T59" fmla="*/ 894 h 1469"/>
                <a:gd name="T60" fmla="*/ 2088 w 3505"/>
                <a:gd name="T61" fmla="*/ 861 h 1469"/>
                <a:gd name="T62" fmla="*/ 2181 w 3505"/>
                <a:gd name="T63" fmla="*/ 834 h 1469"/>
                <a:gd name="T64" fmla="*/ 2271 w 3505"/>
                <a:gd name="T65" fmla="*/ 812 h 1469"/>
                <a:gd name="T66" fmla="*/ 2358 w 3505"/>
                <a:gd name="T67" fmla="*/ 795 h 1469"/>
                <a:gd name="T68" fmla="*/ 2463 w 3505"/>
                <a:gd name="T69" fmla="*/ 782 h 1469"/>
                <a:gd name="T70" fmla="*/ 2568 w 3505"/>
                <a:gd name="T71" fmla="*/ 780 h 1469"/>
                <a:gd name="T72" fmla="*/ 2676 w 3505"/>
                <a:gd name="T73" fmla="*/ 779 h 1469"/>
                <a:gd name="T74" fmla="*/ 2952 w 3505"/>
                <a:gd name="T75" fmla="*/ 789 h 1469"/>
                <a:gd name="T76" fmla="*/ 3240 w 3505"/>
                <a:gd name="T77" fmla="*/ 820 h 1469"/>
                <a:gd name="T78" fmla="*/ 3504 w 3505"/>
                <a:gd name="T79" fmla="*/ 871 h 1469"/>
                <a:gd name="T80" fmla="*/ 2460 w 3505"/>
                <a:gd name="T81" fmla="*/ 0 h 1469"/>
                <a:gd name="T82" fmla="*/ 0 w 3505"/>
                <a:gd name="T83" fmla="*/ 0 h 1469"/>
                <a:gd name="T84" fmla="*/ 420 w 3505"/>
                <a:gd name="T85" fmla="*/ 932 h 146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505" h="1469">
                  <a:moveTo>
                    <a:pt x="420" y="932"/>
                  </a:moveTo>
                  <a:lnTo>
                    <a:pt x="390" y="969"/>
                  </a:lnTo>
                  <a:lnTo>
                    <a:pt x="360" y="1014"/>
                  </a:lnTo>
                  <a:lnTo>
                    <a:pt x="342" y="1056"/>
                  </a:lnTo>
                  <a:lnTo>
                    <a:pt x="336" y="1106"/>
                  </a:lnTo>
                  <a:lnTo>
                    <a:pt x="336" y="1155"/>
                  </a:lnTo>
                  <a:lnTo>
                    <a:pt x="348" y="1219"/>
                  </a:lnTo>
                  <a:lnTo>
                    <a:pt x="378" y="1263"/>
                  </a:lnTo>
                  <a:lnTo>
                    <a:pt x="420" y="1311"/>
                  </a:lnTo>
                  <a:lnTo>
                    <a:pt x="504" y="1388"/>
                  </a:lnTo>
                  <a:lnTo>
                    <a:pt x="582" y="1422"/>
                  </a:lnTo>
                  <a:lnTo>
                    <a:pt x="666" y="1445"/>
                  </a:lnTo>
                  <a:lnTo>
                    <a:pt x="735" y="1458"/>
                  </a:lnTo>
                  <a:lnTo>
                    <a:pt x="822" y="1466"/>
                  </a:lnTo>
                  <a:lnTo>
                    <a:pt x="918" y="1468"/>
                  </a:lnTo>
                  <a:lnTo>
                    <a:pt x="1029" y="1465"/>
                  </a:lnTo>
                  <a:lnTo>
                    <a:pt x="1116" y="1455"/>
                  </a:lnTo>
                  <a:lnTo>
                    <a:pt x="1215" y="1435"/>
                  </a:lnTo>
                  <a:lnTo>
                    <a:pt x="1308" y="1404"/>
                  </a:lnTo>
                  <a:lnTo>
                    <a:pt x="1395" y="1366"/>
                  </a:lnTo>
                  <a:lnTo>
                    <a:pt x="1500" y="1301"/>
                  </a:lnTo>
                  <a:lnTo>
                    <a:pt x="1560" y="1260"/>
                  </a:lnTo>
                  <a:lnTo>
                    <a:pt x="1620" y="1219"/>
                  </a:lnTo>
                  <a:lnTo>
                    <a:pt x="1680" y="1164"/>
                  </a:lnTo>
                  <a:lnTo>
                    <a:pt x="1728" y="1117"/>
                  </a:lnTo>
                  <a:lnTo>
                    <a:pt x="1770" y="1065"/>
                  </a:lnTo>
                  <a:lnTo>
                    <a:pt x="1821" y="1014"/>
                  </a:lnTo>
                  <a:lnTo>
                    <a:pt x="1875" y="972"/>
                  </a:lnTo>
                  <a:lnTo>
                    <a:pt x="1932" y="934"/>
                  </a:lnTo>
                  <a:lnTo>
                    <a:pt x="2004" y="894"/>
                  </a:lnTo>
                  <a:lnTo>
                    <a:pt x="2088" y="861"/>
                  </a:lnTo>
                  <a:lnTo>
                    <a:pt x="2181" y="834"/>
                  </a:lnTo>
                  <a:lnTo>
                    <a:pt x="2271" y="812"/>
                  </a:lnTo>
                  <a:lnTo>
                    <a:pt x="2358" y="795"/>
                  </a:lnTo>
                  <a:lnTo>
                    <a:pt x="2463" y="782"/>
                  </a:lnTo>
                  <a:lnTo>
                    <a:pt x="2568" y="780"/>
                  </a:lnTo>
                  <a:lnTo>
                    <a:pt x="2676" y="779"/>
                  </a:lnTo>
                  <a:lnTo>
                    <a:pt x="2952" y="789"/>
                  </a:lnTo>
                  <a:lnTo>
                    <a:pt x="3240" y="820"/>
                  </a:lnTo>
                  <a:lnTo>
                    <a:pt x="3504" y="871"/>
                  </a:lnTo>
                  <a:lnTo>
                    <a:pt x="2460" y="0"/>
                  </a:lnTo>
                  <a:lnTo>
                    <a:pt x="0" y="0"/>
                  </a:lnTo>
                  <a:lnTo>
                    <a:pt x="420" y="932"/>
                  </a:lnTo>
                </a:path>
              </a:pathLst>
            </a:custGeom>
            <a:gradFill rotWithShape="0">
              <a:gsLst>
                <a:gs pos="0">
                  <a:srgbClr val="C9C9C9"/>
                </a:gs>
                <a:gs pos="100000">
                  <a:srgbClr val="E0E0E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54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1030" name="Freeform 3"/>
            <p:cNvSpPr>
              <a:spLocks/>
            </p:cNvSpPr>
            <p:nvPr/>
          </p:nvSpPr>
          <p:spPr bwMode="auto">
            <a:xfrm>
              <a:off x="2004" y="877"/>
              <a:ext cx="877" cy="492"/>
            </a:xfrm>
            <a:custGeom>
              <a:avLst/>
              <a:gdLst>
                <a:gd name="T0" fmla="*/ 876 w 877"/>
                <a:gd name="T1" fmla="*/ 159 h 492"/>
                <a:gd name="T2" fmla="*/ 864 w 877"/>
                <a:gd name="T3" fmla="*/ 197 h 492"/>
                <a:gd name="T4" fmla="*/ 843 w 877"/>
                <a:gd name="T5" fmla="*/ 221 h 492"/>
                <a:gd name="T6" fmla="*/ 804 w 877"/>
                <a:gd name="T7" fmla="*/ 237 h 492"/>
                <a:gd name="T8" fmla="*/ 759 w 877"/>
                <a:gd name="T9" fmla="*/ 248 h 492"/>
                <a:gd name="T10" fmla="*/ 696 w 877"/>
                <a:gd name="T11" fmla="*/ 253 h 492"/>
                <a:gd name="T12" fmla="*/ 612 w 877"/>
                <a:gd name="T13" fmla="*/ 251 h 492"/>
                <a:gd name="T14" fmla="*/ 513 w 877"/>
                <a:gd name="T15" fmla="*/ 248 h 492"/>
                <a:gd name="T16" fmla="*/ 435 w 877"/>
                <a:gd name="T17" fmla="*/ 253 h 492"/>
                <a:gd name="T18" fmla="*/ 369 w 877"/>
                <a:gd name="T19" fmla="*/ 260 h 492"/>
                <a:gd name="T20" fmla="*/ 318 w 877"/>
                <a:gd name="T21" fmla="*/ 272 h 492"/>
                <a:gd name="T22" fmla="*/ 275 w 877"/>
                <a:gd name="T23" fmla="*/ 283 h 492"/>
                <a:gd name="T24" fmla="*/ 234 w 877"/>
                <a:gd name="T25" fmla="*/ 305 h 492"/>
                <a:gd name="T26" fmla="*/ 207 w 877"/>
                <a:gd name="T27" fmla="*/ 327 h 492"/>
                <a:gd name="T28" fmla="*/ 180 w 877"/>
                <a:gd name="T29" fmla="*/ 366 h 492"/>
                <a:gd name="T30" fmla="*/ 171 w 877"/>
                <a:gd name="T31" fmla="*/ 401 h 492"/>
                <a:gd name="T32" fmla="*/ 174 w 877"/>
                <a:gd name="T33" fmla="*/ 437 h 492"/>
                <a:gd name="T34" fmla="*/ 191 w 877"/>
                <a:gd name="T35" fmla="*/ 491 h 492"/>
                <a:gd name="T36" fmla="*/ 135 w 877"/>
                <a:gd name="T37" fmla="*/ 440 h 492"/>
                <a:gd name="T38" fmla="*/ 93 w 877"/>
                <a:gd name="T39" fmla="*/ 394 h 492"/>
                <a:gd name="T40" fmla="*/ 60 w 877"/>
                <a:gd name="T41" fmla="*/ 350 h 492"/>
                <a:gd name="T42" fmla="*/ 29 w 877"/>
                <a:gd name="T43" fmla="*/ 288 h 492"/>
                <a:gd name="T44" fmla="*/ 15 w 877"/>
                <a:gd name="T45" fmla="*/ 236 h 492"/>
                <a:gd name="T46" fmla="*/ 2 w 877"/>
                <a:gd name="T47" fmla="*/ 179 h 492"/>
                <a:gd name="T48" fmla="*/ 0 w 877"/>
                <a:gd name="T49" fmla="*/ 125 h 492"/>
                <a:gd name="T50" fmla="*/ 3 w 877"/>
                <a:gd name="T51" fmla="*/ 80 h 492"/>
                <a:gd name="T52" fmla="*/ 43 w 877"/>
                <a:gd name="T53" fmla="*/ 65 h 492"/>
                <a:gd name="T54" fmla="*/ 109 w 877"/>
                <a:gd name="T55" fmla="*/ 48 h 492"/>
                <a:gd name="T56" fmla="*/ 189 w 877"/>
                <a:gd name="T57" fmla="*/ 30 h 492"/>
                <a:gd name="T58" fmla="*/ 276 w 877"/>
                <a:gd name="T59" fmla="*/ 12 h 492"/>
                <a:gd name="T60" fmla="*/ 363 w 877"/>
                <a:gd name="T61" fmla="*/ 0 h 492"/>
                <a:gd name="T62" fmla="*/ 462 w 877"/>
                <a:gd name="T63" fmla="*/ 0 h 492"/>
                <a:gd name="T64" fmla="*/ 549 w 877"/>
                <a:gd name="T65" fmla="*/ 5 h 492"/>
                <a:gd name="T66" fmla="*/ 642 w 877"/>
                <a:gd name="T67" fmla="*/ 20 h 492"/>
                <a:gd name="T68" fmla="*/ 717 w 877"/>
                <a:gd name="T69" fmla="*/ 38 h 492"/>
                <a:gd name="T70" fmla="*/ 759 w 877"/>
                <a:gd name="T71" fmla="*/ 54 h 492"/>
                <a:gd name="T72" fmla="*/ 807 w 877"/>
                <a:gd name="T73" fmla="*/ 86 h 492"/>
                <a:gd name="T74" fmla="*/ 846 w 877"/>
                <a:gd name="T75" fmla="*/ 125 h 492"/>
                <a:gd name="T76" fmla="*/ 876 w 877"/>
                <a:gd name="T77" fmla="*/ 159 h 49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77" h="492">
                  <a:moveTo>
                    <a:pt x="876" y="159"/>
                  </a:moveTo>
                  <a:lnTo>
                    <a:pt x="864" y="197"/>
                  </a:lnTo>
                  <a:lnTo>
                    <a:pt x="843" y="221"/>
                  </a:lnTo>
                  <a:lnTo>
                    <a:pt x="804" y="237"/>
                  </a:lnTo>
                  <a:lnTo>
                    <a:pt x="759" y="248"/>
                  </a:lnTo>
                  <a:lnTo>
                    <a:pt x="696" y="253"/>
                  </a:lnTo>
                  <a:lnTo>
                    <a:pt x="612" y="251"/>
                  </a:lnTo>
                  <a:lnTo>
                    <a:pt x="513" y="248"/>
                  </a:lnTo>
                  <a:lnTo>
                    <a:pt x="435" y="253"/>
                  </a:lnTo>
                  <a:lnTo>
                    <a:pt x="369" y="260"/>
                  </a:lnTo>
                  <a:lnTo>
                    <a:pt x="318" y="272"/>
                  </a:lnTo>
                  <a:lnTo>
                    <a:pt x="275" y="283"/>
                  </a:lnTo>
                  <a:lnTo>
                    <a:pt x="234" y="305"/>
                  </a:lnTo>
                  <a:lnTo>
                    <a:pt x="207" y="327"/>
                  </a:lnTo>
                  <a:lnTo>
                    <a:pt x="180" y="366"/>
                  </a:lnTo>
                  <a:lnTo>
                    <a:pt x="171" y="401"/>
                  </a:lnTo>
                  <a:lnTo>
                    <a:pt x="174" y="437"/>
                  </a:lnTo>
                  <a:lnTo>
                    <a:pt x="191" y="491"/>
                  </a:lnTo>
                  <a:lnTo>
                    <a:pt x="135" y="440"/>
                  </a:lnTo>
                  <a:lnTo>
                    <a:pt x="93" y="394"/>
                  </a:lnTo>
                  <a:lnTo>
                    <a:pt x="60" y="350"/>
                  </a:lnTo>
                  <a:lnTo>
                    <a:pt x="29" y="288"/>
                  </a:lnTo>
                  <a:lnTo>
                    <a:pt x="15" y="236"/>
                  </a:lnTo>
                  <a:lnTo>
                    <a:pt x="2" y="179"/>
                  </a:lnTo>
                  <a:lnTo>
                    <a:pt x="0" y="125"/>
                  </a:lnTo>
                  <a:lnTo>
                    <a:pt x="3" y="80"/>
                  </a:lnTo>
                  <a:lnTo>
                    <a:pt x="43" y="65"/>
                  </a:lnTo>
                  <a:lnTo>
                    <a:pt x="109" y="48"/>
                  </a:lnTo>
                  <a:lnTo>
                    <a:pt x="189" y="30"/>
                  </a:lnTo>
                  <a:lnTo>
                    <a:pt x="276" y="12"/>
                  </a:lnTo>
                  <a:lnTo>
                    <a:pt x="363" y="0"/>
                  </a:lnTo>
                  <a:lnTo>
                    <a:pt x="462" y="0"/>
                  </a:lnTo>
                  <a:lnTo>
                    <a:pt x="549" y="5"/>
                  </a:lnTo>
                  <a:lnTo>
                    <a:pt x="642" y="20"/>
                  </a:lnTo>
                  <a:lnTo>
                    <a:pt x="717" y="38"/>
                  </a:lnTo>
                  <a:lnTo>
                    <a:pt x="759" y="54"/>
                  </a:lnTo>
                  <a:lnTo>
                    <a:pt x="807" y="86"/>
                  </a:lnTo>
                  <a:lnTo>
                    <a:pt x="846" y="125"/>
                  </a:lnTo>
                  <a:lnTo>
                    <a:pt x="876" y="159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1031" name="Freeform 4"/>
            <p:cNvSpPr>
              <a:spLocks/>
            </p:cNvSpPr>
            <p:nvPr/>
          </p:nvSpPr>
          <p:spPr bwMode="auto">
            <a:xfrm>
              <a:off x="0" y="0"/>
              <a:ext cx="2881" cy="2143"/>
            </a:xfrm>
            <a:custGeom>
              <a:avLst/>
              <a:gdLst>
                <a:gd name="T0" fmla="*/ 0 w 2881"/>
                <a:gd name="T1" fmla="*/ 2142 h 2143"/>
                <a:gd name="T2" fmla="*/ 81 w 2881"/>
                <a:gd name="T3" fmla="*/ 2032 h 2143"/>
                <a:gd name="T4" fmla="*/ 183 w 2881"/>
                <a:gd name="T5" fmla="*/ 1928 h 2143"/>
                <a:gd name="T6" fmla="*/ 276 w 2881"/>
                <a:gd name="T7" fmla="*/ 1833 h 2143"/>
                <a:gd name="T8" fmla="*/ 370 w 2881"/>
                <a:gd name="T9" fmla="*/ 1736 h 2143"/>
                <a:gd name="T10" fmla="*/ 468 w 2881"/>
                <a:gd name="T11" fmla="*/ 1653 h 2143"/>
                <a:gd name="T12" fmla="*/ 571 w 2881"/>
                <a:gd name="T13" fmla="*/ 1572 h 2143"/>
                <a:gd name="T14" fmla="*/ 712 w 2881"/>
                <a:gd name="T15" fmla="*/ 1480 h 2143"/>
                <a:gd name="T16" fmla="*/ 824 w 2881"/>
                <a:gd name="T17" fmla="*/ 1410 h 2143"/>
                <a:gd name="T18" fmla="*/ 1064 w 2881"/>
                <a:gd name="T19" fmla="*/ 1285 h 2143"/>
                <a:gd name="T20" fmla="*/ 1303 w 2881"/>
                <a:gd name="T21" fmla="*/ 1182 h 2143"/>
                <a:gd name="T22" fmla="*/ 1536 w 2881"/>
                <a:gd name="T23" fmla="*/ 1103 h 2143"/>
                <a:gd name="T24" fmla="*/ 1757 w 2881"/>
                <a:gd name="T25" fmla="*/ 1029 h 2143"/>
                <a:gd name="T26" fmla="*/ 2001 w 2881"/>
                <a:gd name="T27" fmla="*/ 958 h 2143"/>
                <a:gd name="T28" fmla="*/ 2097 w 2881"/>
                <a:gd name="T29" fmla="*/ 930 h 2143"/>
                <a:gd name="T30" fmla="*/ 2202 w 2881"/>
                <a:gd name="T31" fmla="*/ 904 h 2143"/>
                <a:gd name="T32" fmla="*/ 2289 w 2881"/>
                <a:gd name="T33" fmla="*/ 884 h 2143"/>
                <a:gd name="T34" fmla="*/ 2385 w 2881"/>
                <a:gd name="T35" fmla="*/ 876 h 2143"/>
                <a:gd name="T36" fmla="*/ 2469 w 2881"/>
                <a:gd name="T37" fmla="*/ 873 h 2143"/>
                <a:gd name="T38" fmla="*/ 2559 w 2881"/>
                <a:gd name="T39" fmla="*/ 881 h 2143"/>
                <a:gd name="T40" fmla="*/ 2634 w 2881"/>
                <a:gd name="T41" fmla="*/ 893 h 2143"/>
                <a:gd name="T42" fmla="*/ 2703 w 2881"/>
                <a:gd name="T43" fmla="*/ 912 h 2143"/>
                <a:gd name="T44" fmla="*/ 2769 w 2881"/>
                <a:gd name="T45" fmla="*/ 939 h 2143"/>
                <a:gd name="T46" fmla="*/ 2829 w 2881"/>
                <a:gd name="T47" fmla="*/ 979 h 2143"/>
                <a:gd name="T48" fmla="*/ 2880 w 2881"/>
                <a:gd name="T49" fmla="*/ 1035 h 2143"/>
                <a:gd name="T50" fmla="*/ 2877 w 2881"/>
                <a:gd name="T51" fmla="*/ 981 h 2143"/>
                <a:gd name="T52" fmla="*/ 2868 w 2881"/>
                <a:gd name="T53" fmla="*/ 943 h 2143"/>
                <a:gd name="T54" fmla="*/ 2847 w 2881"/>
                <a:gd name="T55" fmla="*/ 894 h 2143"/>
                <a:gd name="T56" fmla="*/ 2817 w 2881"/>
                <a:gd name="T57" fmla="*/ 853 h 2143"/>
                <a:gd name="T58" fmla="*/ 2781 w 2881"/>
                <a:gd name="T59" fmla="*/ 816 h 2143"/>
                <a:gd name="T60" fmla="*/ 2742 w 2881"/>
                <a:gd name="T61" fmla="*/ 779 h 2143"/>
                <a:gd name="T62" fmla="*/ 1884 w 2881"/>
                <a:gd name="T63" fmla="*/ 0 h 2143"/>
                <a:gd name="T64" fmla="*/ 0 w 2881"/>
                <a:gd name="T65" fmla="*/ 0 h 2143"/>
                <a:gd name="T66" fmla="*/ 0 w 2881"/>
                <a:gd name="T67" fmla="*/ 2142 h 21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881" h="2143">
                  <a:moveTo>
                    <a:pt x="0" y="2142"/>
                  </a:moveTo>
                  <a:lnTo>
                    <a:pt x="81" y="2032"/>
                  </a:lnTo>
                  <a:lnTo>
                    <a:pt x="183" y="1928"/>
                  </a:lnTo>
                  <a:lnTo>
                    <a:pt x="276" y="1833"/>
                  </a:lnTo>
                  <a:lnTo>
                    <a:pt x="370" y="1736"/>
                  </a:lnTo>
                  <a:lnTo>
                    <a:pt x="468" y="1653"/>
                  </a:lnTo>
                  <a:lnTo>
                    <a:pt x="571" y="1572"/>
                  </a:lnTo>
                  <a:lnTo>
                    <a:pt x="712" y="1480"/>
                  </a:lnTo>
                  <a:lnTo>
                    <a:pt x="824" y="1410"/>
                  </a:lnTo>
                  <a:lnTo>
                    <a:pt x="1064" y="1285"/>
                  </a:lnTo>
                  <a:lnTo>
                    <a:pt x="1303" y="1182"/>
                  </a:lnTo>
                  <a:lnTo>
                    <a:pt x="1536" y="1103"/>
                  </a:lnTo>
                  <a:lnTo>
                    <a:pt x="1757" y="1029"/>
                  </a:lnTo>
                  <a:lnTo>
                    <a:pt x="2001" y="958"/>
                  </a:lnTo>
                  <a:lnTo>
                    <a:pt x="2097" y="930"/>
                  </a:lnTo>
                  <a:lnTo>
                    <a:pt x="2202" y="904"/>
                  </a:lnTo>
                  <a:lnTo>
                    <a:pt x="2289" y="884"/>
                  </a:lnTo>
                  <a:lnTo>
                    <a:pt x="2385" y="876"/>
                  </a:lnTo>
                  <a:lnTo>
                    <a:pt x="2469" y="873"/>
                  </a:lnTo>
                  <a:lnTo>
                    <a:pt x="2559" y="881"/>
                  </a:lnTo>
                  <a:lnTo>
                    <a:pt x="2634" y="893"/>
                  </a:lnTo>
                  <a:lnTo>
                    <a:pt x="2703" y="912"/>
                  </a:lnTo>
                  <a:lnTo>
                    <a:pt x="2769" y="939"/>
                  </a:lnTo>
                  <a:lnTo>
                    <a:pt x="2829" y="979"/>
                  </a:lnTo>
                  <a:lnTo>
                    <a:pt x="2880" y="1035"/>
                  </a:lnTo>
                  <a:lnTo>
                    <a:pt x="2877" y="981"/>
                  </a:lnTo>
                  <a:lnTo>
                    <a:pt x="2868" y="943"/>
                  </a:lnTo>
                  <a:lnTo>
                    <a:pt x="2847" y="894"/>
                  </a:lnTo>
                  <a:lnTo>
                    <a:pt x="2817" y="853"/>
                  </a:lnTo>
                  <a:lnTo>
                    <a:pt x="2781" y="816"/>
                  </a:lnTo>
                  <a:lnTo>
                    <a:pt x="2742" y="779"/>
                  </a:lnTo>
                  <a:lnTo>
                    <a:pt x="1884" y="0"/>
                  </a:lnTo>
                  <a:lnTo>
                    <a:pt x="0" y="0"/>
                  </a:lnTo>
                  <a:lnTo>
                    <a:pt x="0" y="2142"/>
                  </a:lnTo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949494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grpSp>
          <p:nvGrpSpPr>
            <p:cNvPr id="1032" name="Group 8"/>
            <p:cNvGrpSpPr>
              <a:grpSpLocks/>
            </p:cNvGrpSpPr>
            <p:nvPr/>
          </p:nvGrpSpPr>
          <p:grpSpPr bwMode="auto">
            <a:xfrm>
              <a:off x="0" y="0"/>
              <a:ext cx="2769" cy="1807"/>
              <a:chOff x="0" y="0"/>
              <a:chExt cx="2769" cy="1807"/>
            </a:xfrm>
          </p:grpSpPr>
          <p:sp>
            <p:nvSpPr>
              <p:cNvPr id="1033" name="Freeform 5"/>
              <p:cNvSpPr>
                <a:spLocks/>
              </p:cNvSpPr>
              <p:nvPr/>
            </p:nvSpPr>
            <p:spPr bwMode="auto">
              <a:xfrm>
                <a:off x="0" y="0"/>
                <a:ext cx="1993" cy="625"/>
              </a:xfrm>
              <a:custGeom>
                <a:avLst/>
                <a:gdLst>
                  <a:gd name="T0" fmla="*/ 0 w 1993"/>
                  <a:gd name="T1" fmla="*/ 402 h 625"/>
                  <a:gd name="T2" fmla="*/ 108 w 1993"/>
                  <a:gd name="T3" fmla="*/ 351 h 625"/>
                  <a:gd name="T4" fmla="*/ 225 w 1993"/>
                  <a:gd name="T5" fmla="*/ 298 h 625"/>
                  <a:gd name="T6" fmla="*/ 367 w 1993"/>
                  <a:gd name="T7" fmla="*/ 237 h 625"/>
                  <a:gd name="T8" fmla="*/ 494 w 1993"/>
                  <a:gd name="T9" fmla="*/ 190 h 625"/>
                  <a:gd name="T10" fmla="*/ 637 w 1993"/>
                  <a:gd name="T11" fmla="*/ 144 h 625"/>
                  <a:gd name="T12" fmla="*/ 765 w 1993"/>
                  <a:gd name="T13" fmla="*/ 108 h 625"/>
                  <a:gd name="T14" fmla="*/ 931 w 1993"/>
                  <a:gd name="T15" fmla="*/ 68 h 625"/>
                  <a:gd name="T16" fmla="*/ 1057 w 1993"/>
                  <a:gd name="T17" fmla="*/ 39 h 625"/>
                  <a:gd name="T18" fmla="*/ 1162 w 1993"/>
                  <a:gd name="T19" fmla="*/ 21 h 625"/>
                  <a:gd name="T20" fmla="*/ 1258 w 1993"/>
                  <a:gd name="T21" fmla="*/ 7 h 625"/>
                  <a:gd name="T22" fmla="*/ 1390 w 1993"/>
                  <a:gd name="T23" fmla="*/ 3 h 625"/>
                  <a:gd name="T24" fmla="*/ 1884 w 1993"/>
                  <a:gd name="T25" fmla="*/ 0 h 625"/>
                  <a:gd name="T26" fmla="*/ 1992 w 1993"/>
                  <a:gd name="T27" fmla="*/ 96 h 625"/>
                  <a:gd name="T28" fmla="*/ 1846 w 1993"/>
                  <a:gd name="T29" fmla="*/ 96 h 625"/>
                  <a:gd name="T30" fmla="*/ 1707 w 1993"/>
                  <a:gd name="T31" fmla="*/ 102 h 625"/>
                  <a:gd name="T32" fmla="*/ 1558 w 1993"/>
                  <a:gd name="T33" fmla="*/ 114 h 625"/>
                  <a:gd name="T34" fmla="*/ 1437 w 1993"/>
                  <a:gd name="T35" fmla="*/ 129 h 625"/>
                  <a:gd name="T36" fmla="*/ 1302 w 1993"/>
                  <a:gd name="T37" fmla="*/ 152 h 625"/>
                  <a:gd name="T38" fmla="*/ 1187 w 1993"/>
                  <a:gd name="T39" fmla="*/ 174 h 625"/>
                  <a:gd name="T40" fmla="*/ 1065 w 1993"/>
                  <a:gd name="T41" fmla="*/ 202 h 625"/>
                  <a:gd name="T42" fmla="*/ 957 w 1993"/>
                  <a:gd name="T43" fmla="*/ 232 h 625"/>
                  <a:gd name="T44" fmla="*/ 885 w 1993"/>
                  <a:gd name="T45" fmla="*/ 252 h 625"/>
                  <a:gd name="T46" fmla="*/ 731 w 1993"/>
                  <a:gd name="T47" fmla="*/ 294 h 625"/>
                  <a:gd name="T48" fmla="*/ 560 w 1993"/>
                  <a:gd name="T49" fmla="*/ 348 h 625"/>
                  <a:gd name="T50" fmla="*/ 405 w 1993"/>
                  <a:gd name="T51" fmla="*/ 408 h 625"/>
                  <a:gd name="T52" fmla="*/ 229 w 1993"/>
                  <a:gd name="T53" fmla="*/ 486 h 625"/>
                  <a:gd name="T54" fmla="*/ 130 w 1993"/>
                  <a:gd name="T55" fmla="*/ 534 h 625"/>
                  <a:gd name="T56" fmla="*/ 54 w 1993"/>
                  <a:gd name="T57" fmla="*/ 582 h 625"/>
                  <a:gd name="T58" fmla="*/ 0 w 1993"/>
                  <a:gd name="T59" fmla="*/ 624 h 625"/>
                  <a:gd name="T60" fmla="*/ 0 w 1993"/>
                  <a:gd name="T61" fmla="*/ 402 h 62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993" h="625">
                    <a:moveTo>
                      <a:pt x="0" y="402"/>
                    </a:moveTo>
                    <a:lnTo>
                      <a:pt x="108" y="351"/>
                    </a:lnTo>
                    <a:lnTo>
                      <a:pt x="225" y="298"/>
                    </a:lnTo>
                    <a:lnTo>
                      <a:pt x="367" y="237"/>
                    </a:lnTo>
                    <a:lnTo>
                      <a:pt x="494" y="190"/>
                    </a:lnTo>
                    <a:lnTo>
                      <a:pt x="637" y="144"/>
                    </a:lnTo>
                    <a:lnTo>
                      <a:pt x="765" y="108"/>
                    </a:lnTo>
                    <a:lnTo>
                      <a:pt x="931" y="68"/>
                    </a:lnTo>
                    <a:lnTo>
                      <a:pt x="1057" y="39"/>
                    </a:lnTo>
                    <a:lnTo>
                      <a:pt x="1162" y="21"/>
                    </a:lnTo>
                    <a:lnTo>
                      <a:pt x="1258" y="7"/>
                    </a:lnTo>
                    <a:lnTo>
                      <a:pt x="1390" y="3"/>
                    </a:lnTo>
                    <a:lnTo>
                      <a:pt x="1884" y="0"/>
                    </a:lnTo>
                    <a:lnTo>
                      <a:pt x="1992" y="96"/>
                    </a:lnTo>
                    <a:lnTo>
                      <a:pt x="1846" y="96"/>
                    </a:lnTo>
                    <a:lnTo>
                      <a:pt x="1707" y="102"/>
                    </a:lnTo>
                    <a:lnTo>
                      <a:pt x="1558" y="114"/>
                    </a:lnTo>
                    <a:lnTo>
                      <a:pt x="1437" y="129"/>
                    </a:lnTo>
                    <a:lnTo>
                      <a:pt x="1302" y="152"/>
                    </a:lnTo>
                    <a:lnTo>
                      <a:pt x="1187" y="174"/>
                    </a:lnTo>
                    <a:lnTo>
                      <a:pt x="1065" y="202"/>
                    </a:lnTo>
                    <a:lnTo>
                      <a:pt x="957" y="232"/>
                    </a:lnTo>
                    <a:lnTo>
                      <a:pt x="885" y="252"/>
                    </a:lnTo>
                    <a:lnTo>
                      <a:pt x="731" y="294"/>
                    </a:lnTo>
                    <a:lnTo>
                      <a:pt x="560" y="348"/>
                    </a:lnTo>
                    <a:lnTo>
                      <a:pt x="405" y="408"/>
                    </a:lnTo>
                    <a:lnTo>
                      <a:pt x="229" y="486"/>
                    </a:lnTo>
                    <a:lnTo>
                      <a:pt x="130" y="534"/>
                    </a:lnTo>
                    <a:lnTo>
                      <a:pt x="54" y="582"/>
                    </a:lnTo>
                    <a:lnTo>
                      <a:pt x="0" y="624"/>
                    </a:lnTo>
                    <a:lnTo>
                      <a:pt x="0" y="402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034" name="Freeform 6"/>
              <p:cNvSpPr>
                <a:spLocks/>
              </p:cNvSpPr>
              <p:nvPr/>
            </p:nvSpPr>
            <p:spPr bwMode="auto">
              <a:xfrm>
                <a:off x="0" y="207"/>
                <a:ext cx="2435" cy="1123"/>
              </a:xfrm>
              <a:custGeom>
                <a:avLst/>
                <a:gdLst>
                  <a:gd name="T0" fmla="*/ 0 w 2435"/>
                  <a:gd name="T1" fmla="*/ 627 h 1123"/>
                  <a:gd name="T2" fmla="*/ 123 w 2435"/>
                  <a:gd name="T3" fmla="*/ 540 h 1123"/>
                  <a:gd name="T4" fmla="*/ 267 w 2435"/>
                  <a:gd name="T5" fmla="*/ 447 h 1123"/>
                  <a:gd name="T6" fmla="*/ 400 w 2435"/>
                  <a:gd name="T7" fmla="*/ 381 h 1123"/>
                  <a:gd name="T8" fmla="*/ 555 w 2435"/>
                  <a:gd name="T9" fmla="*/ 315 h 1123"/>
                  <a:gd name="T10" fmla="*/ 709 w 2435"/>
                  <a:gd name="T11" fmla="*/ 255 h 1123"/>
                  <a:gd name="T12" fmla="*/ 885 w 2435"/>
                  <a:gd name="T13" fmla="*/ 201 h 1123"/>
                  <a:gd name="T14" fmla="*/ 1061 w 2435"/>
                  <a:gd name="T15" fmla="*/ 147 h 1123"/>
                  <a:gd name="T16" fmla="*/ 1232 w 2435"/>
                  <a:gd name="T17" fmla="*/ 105 h 1123"/>
                  <a:gd name="T18" fmla="*/ 1397 w 2435"/>
                  <a:gd name="T19" fmla="*/ 75 h 1123"/>
                  <a:gd name="T20" fmla="*/ 1552 w 2435"/>
                  <a:gd name="T21" fmla="*/ 45 h 1123"/>
                  <a:gd name="T22" fmla="*/ 1680 w 2435"/>
                  <a:gd name="T23" fmla="*/ 21 h 1123"/>
                  <a:gd name="T24" fmla="*/ 1829 w 2435"/>
                  <a:gd name="T25" fmla="*/ 3 h 1123"/>
                  <a:gd name="T26" fmla="*/ 1949 w 2435"/>
                  <a:gd name="T27" fmla="*/ 0 h 1123"/>
                  <a:gd name="T28" fmla="*/ 2059 w 2435"/>
                  <a:gd name="T29" fmla="*/ 1 h 1123"/>
                  <a:gd name="T30" fmla="*/ 2116 w 2435"/>
                  <a:gd name="T31" fmla="*/ 3 h 1123"/>
                  <a:gd name="T32" fmla="*/ 2434 w 2435"/>
                  <a:gd name="T33" fmla="*/ 293 h 1123"/>
                  <a:gd name="T34" fmla="*/ 2353 w 2435"/>
                  <a:gd name="T35" fmla="*/ 280 h 1123"/>
                  <a:gd name="T36" fmla="*/ 2250 w 2435"/>
                  <a:gd name="T37" fmla="*/ 273 h 1123"/>
                  <a:gd name="T38" fmla="*/ 2155 w 2435"/>
                  <a:gd name="T39" fmla="*/ 273 h 1123"/>
                  <a:gd name="T40" fmla="*/ 2039 w 2435"/>
                  <a:gd name="T41" fmla="*/ 282 h 1123"/>
                  <a:gd name="T42" fmla="*/ 1888 w 2435"/>
                  <a:gd name="T43" fmla="*/ 303 h 1123"/>
                  <a:gd name="T44" fmla="*/ 1792 w 2435"/>
                  <a:gd name="T45" fmla="*/ 319 h 1123"/>
                  <a:gd name="T46" fmla="*/ 1696 w 2435"/>
                  <a:gd name="T47" fmla="*/ 339 h 1123"/>
                  <a:gd name="T48" fmla="*/ 1477 w 2435"/>
                  <a:gd name="T49" fmla="*/ 387 h 1123"/>
                  <a:gd name="T50" fmla="*/ 1258 w 2435"/>
                  <a:gd name="T51" fmla="*/ 444 h 1123"/>
                  <a:gd name="T52" fmla="*/ 1093 w 2435"/>
                  <a:gd name="T53" fmla="*/ 498 h 1123"/>
                  <a:gd name="T54" fmla="*/ 937 w 2435"/>
                  <a:gd name="T55" fmla="*/ 546 h 1123"/>
                  <a:gd name="T56" fmla="*/ 763 w 2435"/>
                  <a:gd name="T57" fmla="*/ 621 h 1123"/>
                  <a:gd name="T58" fmla="*/ 576 w 2435"/>
                  <a:gd name="T59" fmla="*/ 705 h 1123"/>
                  <a:gd name="T60" fmla="*/ 411 w 2435"/>
                  <a:gd name="T61" fmla="*/ 795 h 1123"/>
                  <a:gd name="T62" fmla="*/ 299 w 2435"/>
                  <a:gd name="T63" fmla="*/ 862 h 1123"/>
                  <a:gd name="T64" fmla="*/ 200 w 2435"/>
                  <a:gd name="T65" fmla="*/ 934 h 1123"/>
                  <a:gd name="T66" fmla="*/ 115 w 2435"/>
                  <a:gd name="T67" fmla="*/ 1005 h 1123"/>
                  <a:gd name="T68" fmla="*/ 0 w 2435"/>
                  <a:gd name="T69" fmla="*/ 1122 h 1123"/>
                  <a:gd name="T70" fmla="*/ 0 w 2435"/>
                  <a:gd name="T71" fmla="*/ 627 h 112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435" h="1123">
                    <a:moveTo>
                      <a:pt x="0" y="627"/>
                    </a:moveTo>
                    <a:lnTo>
                      <a:pt x="123" y="540"/>
                    </a:lnTo>
                    <a:lnTo>
                      <a:pt x="267" y="447"/>
                    </a:lnTo>
                    <a:lnTo>
                      <a:pt x="400" y="381"/>
                    </a:lnTo>
                    <a:lnTo>
                      <a:pt x="555" y="315"/>
                    </a:lnTo>
                    <a:lnTo>
                      <a:pt x="709" y="255"/>
                    </a:lnTo>
                    <a:lnTo>
                      <a:pt x="885" y="201"/>
                    </a:lnTo>
                    <a:lnTo>
                      <a:pt x="1061" y="147"/>
                    </a:lnTo>
                    <a:lnTo>
                      <a:pt x="1232" y="105"/>
                    </a:lnTo>
                    <a:lnTo>
                      <a:pt x="1397" y="75"/>
                    </a:lnTo>
                    <a:lnTo>
                      <a:pt x="1552" y="45"/>
                    </a:lnTo>
                    <a:lnTo>
                      <a:pt x="1680" y="21"/>
                    </a:lnTo>
                    <a:lnTo>
                      <a:pt x="1829" y="3"/>
                    </a:lnTo>
                    <a:lnTo>
                      <a:pt x="1949" y="0"/>
                    </a:lnTo>
                    <a:lnTo>
                      <a:pt x="2059" y="1"/>
                    </a:lnTo>
                    <a:lnTo>
                      <a:pt x="2116" y="3"/>
                    </a:lnTo>
                    <a:lnTo>
                      <a:pt x="2434" y="293"/>
                    </a:lnTo>
                    <a:lnTo>
                      <a:pt x="2353" y="280"/>
                    </a:lnTo>
                    <a:lnTo>
                      <a:pt x="2250" y="273"/>
                    </a:lnTo>
                    <a:lnTo>
                      <a:pt x="2155" y="273"/>
                    </a:lnTo>
                    <a:lnTo>
                      <a:pt x="2039" y="282"/>
                    </a:lnTo>
                    <a:lnTo>
                      <a:pt x="1888" y="303"/>
                    </a:lnTo>
                    <a:lnTo>
                      <a:pt x="1792" y="319"/>
                    </a:lnTo>
                    <a:lnTo>
                      <a:pt x="1696" y="339"/>
                    </a:lnTo>
                    <a:lnTo>
                      <a:pt x="1477" y="387"/>
                    </a:lnTo>
                    <a:lnTo>
                      <a:pt x="1258" y="444"/>
                    </a:lnTo>
                    <a:lnTo>
                      <a:pt x="1093" y="498"/>
                    </a:lnTo>
                    <a:lnTo>
                      <a:pt x="937" y="546"/>
                    </a:lnTo>
                    <a:lnTo>
                      <a:pt x="763" y="621"/>
                    </a:lnTo>
                    <a:lnTo>
                      <a:pt x="576" y="705"/>
                    </a:lnTo>
                    <a:lnTo>
                      <a:pt x="411" y="795"/>
                    </a:lnTo>
                    <a:lnTo>
                      <a:pt x="299" y="862"/>
                    </a:lnTo>
                    <a:lnTo>
                      <a:pt x="200" y="934"/>
                    </a:lnTo>
                    <a:lnTo>
                      <a:pt x="115" y="1005"/>
                    </a:lnTo>
                    <a:lnTo>
                      <a:pt x="0" y="1122"/>
                    </a:lnTo>
                    <a:lnTo>
                      <a:pt x="0" y="627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035" name="Freeform 7"/>
              <p:cNvSpPr>
                <a:spLocks/>
              </p:cNvSpPr>
              <p:nvPr/>
            </p:nvSpPr>
            <p:spPr bwMode="auto">
              <a:xfrm>
                <a:off x="0" y="600"/>
                <a:ext cx="2769" cy="1207"/>
              </a:xfrm>
              <a:custGeom>
                <a:avLst/>
                <a:gdLst>
                  <a:gd name="T0" fmla="*/ 0 w 2769"/>
                  <a:gd name="T1" fmla="*/ 966 h 1207"/>
                  <a:gd name="T2" fmla="*/ 64 w 2769"/>
                  <a:gd name="T3" fmla="*/ 900 h 1207"/>
                  <a:gd name="T4" fmla="*/ 171 w 2769"/>
                  <a:gd name="T5" fmla="*/ 799 h 1207"/>
                  <a:gd name="T6" fmla="*/ 277 w 2769"/>
                  <a:gd name="T7" fmla="*/ 716 h 1207"/>
                  <a:gd name="T8" fmla="*/ 367 w 2769"/>
                  <a:gd name="T9" fmla="*/ 649 h 1207"/>
                  <a:gd name="T10" fmla="*/ 432 w 2769"/>
                  <a:gd name="T11" fmla="*/ 601 h 1207"/>
                  <a:gd name="T12" fmla="*/ 507 w 2769"/>
                  <a:gd name="T13" fmla="*/ 555 h 1207"/>
                  <a:gd name="T14" fmla="*/ 592 w 2769"/>
                  <a:gd name="T15" fmla="*/ 504 h 1207"/>
                  <a:gd name="T16" fmla="*/ 725 w 2769"/>
                  <a:gd name="T17" fmla="*/ 438 h 1207"/>
                  <a:gd name="T18" fmla="*/ 875 w 2769"/>
                  <a:gd name="T19" fmla="*/ 366 h 1207"/>
                  <a:gd name="T20" fmla="*/ 1056 w 2769"/>
                  <a:gd name="T21" fmla="*/ 294 h 1207"/>
                  <a:gd name="T22" fmla="*/ 1232 w 2769"/>
                  <a:gd name="T23" fmla="*/ 228 h 1207"/>
                  <a:gd name="T24" fmla="*/ 1392 w 2769"/>
                  <a:gd name="T25" fmla="*/ 180 h 1207"/>
                  <a:gd name="T26" fmla="*/ 1568 w 2769"/>
                  <a:gd name="T27" fmla="*/ 132 h 1207"/>
                  <a:gd name="T28" fmla="*/ 1738 w 2769"/>
                  <a:gd name="T29" fmla="*/ 90 h 1207"/>
                  <a:gd name="T30" fmla="*/ 1914 w 2769"/>
                  <a:gd name="T31" fmla="*/ 54 h 1207"/>
                  <a:gd name="T32" fmla="*/ 2090 w 2769"/>
                  <a:gd name="T33" fmla="*/ 27 h 1207"/>
                  <a:gd name="T34" fmla="*/ 2218 w 2769"/>
                  <a:gd name="T35" fmla="*/ 12 h 1207"/>
                  <a:gd name="T36" fmla="*/ 2353 w 2769"/>
                  <a:gd name="T37" fmla="*/ 1 h 1207"/>
                  <a:gd name="T38" fmla="*/ 2458 w 2769"/>
                  <a:gd name="T39" fmla="*/ 0 h 1207"/>
                  <a:gd name="T40" fmla="*/ 2554 w 2769"/>
                  <a:gd name="T41" fmla="*/ 7 h 1207"/>
                  <a:gd name="T42" fmla="*/ 2768 w 2769"/>
                  <a:gd name="T43" fmla="*/ 197 h 1207"/>
                  <a:gd name="T44" fmla="*/ 2677 w 2769"/>
                  <a:gd name="T45" fmla="*/ 150 h 1207"/>
                  <a:gd name="T46" fmla="*/ 2598 w 2769"/>
                  <a:gd name="T47" fmla="*/ 126 h 1207"/>
                  <a:gd name="T48" fmla="*/ 2515 w 2769"/>
                  <a:gd name="T49" fmla="*/ 118 h 1207"/>
                  <a:gd name="T50" fmla="*/ 2442 w 2769"/>
                  <a:gd name="T51" fmla="*/ 120 h 1207"/>
                  <a:gd name="T52" fmla="*/ 2362 w 2769"/>
                  <a:gd name="T53" fmla="*/ 124 h 1207"/>
                  <a:gd name="T54" fmla="*/ 2277 w 2769"/>
                  <a:gd name="T55" fmla="*/ 132 h 1207"/>
                  <a:gd name="T56" fmla="*/ 2175 w 2769"/>
                  <a:gd name="T57" fmla="*/ 147 h 1207"/>
                  <a:gd name="T58" fmla="*/ 2085 w 2769"/>
                  <a:gd name="T59" fmla="*/ 162 h 1207"/>
                  <a:gd name="T60" fmla="*/ 1877 w 2769"/>
                  <a:gd name="T61" fmla="*/ 204 h 1207"/>
                  <a:gd name="T62" fmla="*/ 1642 w 2769"/>
                  <a:gd name="T63" fmla="*/ 258 h 1207"/>
                  <a:gd name="T64" fmla="*/ 1477 w 2769"/>
                  <a:gd name="T65" fmla="*/ 306 h 1207"/>
                  <a:gd name="T66" fmla="*/ 1312 w 2769"/>
                  <a:gd name="T67" fmla="*/ 360 h 1207"/>
                  <a:gd name="T68" fmla="*/ 1120 w 2769"/>
                  <a:gd name="T69" fmla="*/ 432 h 1207"/>
                  <a:gd name="T70" fmla="*/ 939 w 2769"/>
                  <a:gd name="T71" fmla="*/ 510 h 1207"/>
                  <a:gd name="T72" fmla="*/ 752 w 2769"/>
                  <a:gd name="T73" fmla="*/ 600 h 1207"/>
                  <a:gd name="T74" fmla="*/ 658 w 2769"/>
                  <a:gd name="T75" fmla="*/ 654 h 1207"/>
                  <a:gd name="T76" fmla="*/ 571 w 2769"/>
                  <a:gd name="T77" fmla="*/ 708 h 1207"/>
                  <a:gd name="T78" fmla="*/ 421 w 2769"/>
                  <a:gd name="T79" fmla="*/ 810 h 1207"/>
                  <a:gd name="T80" fmla="*/ 309 w 2769"/>
                  <a:gd name="T81" fmla="*/ 906 h 1207"/>
                  <a:gd name="T82" fmla="*/ 203 w 2769"/>
                  <a:gd name="T83" fmla="*/ 1002 h 1207"/>
                  <a:gd name="T84" fmla="*/ 93 w 2769"/>
                  <a:gd name="T85" fmla="*/ 1107 h 1207"/>
                  <a:gd name="T86" fmla="*/ 0 w 2769"/>
                  <a:gd name="T87" fmla="*/ 1206 h 1207"/>
                  <a:gd name="T88" fmla="*/ 0 w 2769"/>
                  <a:gd name="T89" fmla="*/ 966 h 120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769" h="1207">
                    <a:moveTo>
                      <a:pt x="0" y="966"/>
                    </a:moveTo>
                    <a:lnTo>
                      <a:pt x="64" y="900"/>
                    </a:lnTo>
                    <a:lnTo>
                      <a:pt x="171" y="799"/>
                    </a:lnTo>
                    <a:lnTo>
                      <a:pt x="277" y="716"/>
                    </a:lnTo>
                    <a:lnTo>
                      <a:pt x="367" y="649"/>
                    </a:lnTo>
                    <a:lnTo>
                      <a:pt x="432" y="601"/>
                    </a:lnTo>
                    <a:lnTo>
                      <a:pt x="507" y="555"/>
                    </a:lnTo>
                    <a:lnTo>
                      <a:pt x="592" y="504"/>
                    </a:lnTo>
                    <a:lnTo>
                      <a:pt x="725" y="438"/>
                    </a:lnTo>
                    <a:lnTo>
                      <a:pt x="875" y="366"/>
                    </a:lnTo>
                    <a:lnTo>
                      <a:pt x="1056" y="294"/>
                    </a:lnTo>
                    <a:lnTo>
                      <a:pt x="1232" y="228"/>
                    </a:lnTo>
                    <a:lnTo>
                      <a:pt x="1392" y="180"/>
                    </a:lnTo>
                    <a:lnTo>
                      <a:pt x="1568" y="132"/>
                    </a:lnTo>
                    <a:lnTo>
                      <a:pt x="1738" y="90"/>
                    </a:lnTo>
                    <a:lnTo>
                      <a:pt x="1914" y="54"/>
                    </a:lnTo>
                    <a:lnTo>
                      <a:pt x="2090" y="27"/>
                    </a:lnTo>
                    <a:lnTo>
                      <a:pt x="2218" y="12"/>
                    </a:lnTo>
                    <a:lnTo>
                      <a:pt x="2353" y="1"/>
                    </a:lnTo>
                    <a:lnTo>
                      <a:pt x="2458" y="0"/>
                    </a:lnTo>
                    <a:lnTo>
                      <a:pt x="2554" y="7"/>
                    </a:lnTo>
                    <a:lnTo>
                      <a:pt x="2768" y="197"/>
                    </a:lnTo>
                    <a:lnTo>
                      <a:pt x="2677" y="150"/>
                    </a:lnTo>
                    <a:lnTo>
                      <a:pt x="2598" y="126"/>
                    </a:lnTo>
                    <a:lnTo>
                      <a:pt x="2515" y="118"/>
                    </a:lnTo>
                    <a:lnTo>
                      <a:pt x="2442" y="120"/>
                    </a:lnTo>
                    <a:lnTo>
                      <a:pt x="2362" y="124"/>
                    </a:lnTo>
                    <a:lnTo>
                      <a:pt x="2277" y="132"/>
                    </a:lnTo>
                    <a:lnTo>
                      <a:pt x="2175" y="147"/>
                    </a:lnTo>
                    <a:lnTo>
                      <a:pt x="2085" y="162"/>
                    </a:lnTo>
                    <a:lnTo>
                      <a:pt x="1877" y="204"/>
                    </a:lnTo>
                    <a:lnTo>
                      <a:pt x="1642" y="258"/>
                    </a:lnTo>
                    <a:lnTo>
                      <a:pt x="1477" y="306"/>
                    </a:lnTo>
                    <a:lnTo>
                      <a:pt x="1312" y="360"/>
                    </a:lnTo>
                    <a:lnTo>
                      <a:pt x="1120" y="432"/>
                    </a:lnTo>
                    <a:lnTo>
                      <a:pt x="939" y="510"/>
                    </a:lnTo>
                    <a:lnTo>
                      <a:pt x="752" y="600"/>
                    </a:lnTo>
                    <a:lnTo>
                      <a:pt x="658" y="654"/>
                    </a:lnTo>
                    <a:lnTo>
                      <a:pt x="571" y="708"/>
                    </a:lnTo>
                    <a:lnTo>
                      <a:pt x="421" y="810"/>
                    </a:lnTo>
                    <a:lnTo>
                      <a:pt x="309" y="906"/>
                    </a:lnTo>
                    <a:lnTo>
                      <a:pt x="203" y="1002"/>
                    </a:lnTo>
                    <a:lnTo>
                      <a:pt x="93" y="1107"/>
                    </a:lnTo>
                    <a:lnTo>
                      <a:pt x="0" y="1206"/>
                    </a:lnTo>
                    <a:lnTo>
                      <a:pt x="0" y="966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27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171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n"/>
        <a:defRPr sz="3200" 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800" i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F"/>
        <a:defRPr sz="2400"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 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9"/>
          <p:cNvGrpSpPr>
            <a:grpSpLocks/>
          </p:cNvGrpSpPr>
          <p:nvPr/>
        </p:nvGrpSpPr>
        <p:grpSpPr bwMode="auto">
          <a:xfrm>
            <a:off x="0" y="1"/>
            <a:ext cx="11051117" cy="3402013"/>
            <a:chOff x="0" y="0"/>
            <a:chExt cx="5221" cy="2143"/>
          </a:xfrm>
        </p:grpSpPr>
        <p:sp>
          <p:nvSpPr>
            <p:cNvPr id="1029" name="Freeform 2"/>
            <p:cNvSpPr>
              <a:spLocks/>
            </p:cNvSpPr>
            <p:nvPr/>
          </p:nvSpPr>
          <p:spPr bwMode="auto">
            <a:xfrm>
              <a:off x="1716" y="0"/>
              <a:ext cx="3505" cy="1469"/>
            </a:xfrm>
            <a:custGeom>
              <a:avLst/>
              <a:gdLst>
                <a:gd name="T0" fmla="*/ 420 w 3505"/>
                <a:gd name="T1" fmla="*/ 932 h 1469"/>
                <a:gd name="T2" fmla="*/ 390 w 3505"/>
                <a:gd name="T3" fmla="*/ 969 h 1469"/>
                <a:gd name="T4" fmla="*/ 360 w 3505"/>
                <a:gd name="T5" fmla="*/ 1014 h 1469"/>
                <a:gd name="T6" fmla="*/ 342 w 3505"/>
                <a:gd name="T7" fmla="*/ 1056 h 1469"/>
                <a:gd name="T8" fmla="*/ 336 w 3505"/>
                <a:gd name="T9" fmla="*/ 1106 h 1469"/>
                <a:gd name="T10" fmla="*/ 336 w 3505"/>
                <a:gd name="T11" fmla="*/ 1155 h 1469"/>
                <a:gd name="T12" fmla="*/ 348 w 3505"/>
                <a:gd name="T13" fmla="*/ 1219 h 1469"/>
                <a:gd name="T14" fmla="*/ 378 w 3505"/>
                <a:gd name="T15" fmla="*/ 1263 h 1469"/>
                <a:gd name="T16" fmla="*/ 420 w 3505"/>
                <a:gd name="T17" fmla="*/ 1311 h 1469"/>
                <a:gd name="T18" fmla="*/ 504 w 3505"/>
                <a:gd name="T19" fmla="*/ 1388 h 1469"/>
                <a:gd name="T20" fmla="*/ 582 w 3505"/>
                <a:gd name="T21" fmla="*/ 1422 h 1469"/>
                <a:gd name="T22" fmla="*/ 666 w 3505"/>
                <a:gd name="T23" fmla="*/ 1445 h 1469"/>
                <a:gd name="T24" fmla="*/ 735 w 3505"/>
                <a:gd name="T25" fmla="*/ 1458 h 1469"/>
                <a:gd name="T26" fmla="*/ 822 w 3505"/>
                <a:gd name="T27" fmla="*/ 1466 h 1469"/>
                <a:gd name="T28" fmla="*/ 918 w 3505"/>
                <a:gd name="T29" fmla="*/ 1468 h 1469"/>
                <a:gd name="T30" fmla="*/ 1029 w 3505"/>
                <a:gd name="T31" fmla="*/ 1465 h 1469"/>
                <a:gd name="T32" fmla="*/ 1116 w 3505"/>
                <a:gd name="T33" fmla="*/ 1455 h 1469"/>
                <a:gd name="T34" fmla="*/ 1215 w 3505"/>
                <a:gd name="T35" fmla="*/ 1435 h 1469"/>
                <a:gd name="T36" fmla="*/ 1308 w 3505"/>
                <a:gd name="T37" fmla="*/ 1404 h 1469"/>
                <a:gd name="T38" fmla="*/ 1395 w 3505"/>
                <a:gd name="T39" fmla="*/ 1366 h 1469"/>
                <a:gd name="T40" fmla="*/ 1500 w 3505"/>
                <a:gd name="T41" fmla="*/ 1301 h 1469"/>
                <a:gd name="T42" fmla="*/ 1560 w 3505"/>
                <a:gd name="T43" fmla="*/ 1260 h 1469"/>
                <a:gd name="T44" fmla="*/ 1620 w 3505"/>
                <a:gd name="T45" fmla="*/ 1219 h 1469"/>
                <a:gd name="T46" fmla="*/ 1680 w 3505"/>
                <a:gd name="T47" fmla="*/ 1164 h 1469"/>
                <a:gd name="T48" fmla="*/ 1728 w 3505"/>
                <a:gd name="T49" fmla="*/ 1117 h 1469"/>
                <a:gd name="T50" fmla="*/ 1770 w 3505"/>
                <a:gd name="T51" fmla="*/ 1065 h 1469"/>
                <a:gd name="T52" fmla="*/ 1821 w 3505"/>
                <a:gd name="T53" fmla="*/ 1014 h 1469"/>
                <a:gd name="T54" fmla="*/ 1875 w 3505"/>
                <a:gd name="T55" fmla="*/ 972 h 1469"/>
                <a:gd name="T56" fmla="*/ 1932 w 3505"/>
                <a:gd name="T57" fmla="*/ 934 h 1469"/>
                <a:gd name="T58" fmla="*/ 2004 w 3505"/>
                <a:gd name="T59" fmla="*/ 894 h 1469"/>
                <a:gd name="T60" fmla="*/ 2088 w 3505"/>
                <a:gd name="T61" fmla="*/ 861 h 1469"/>
                <a:gd name="T62" fmla="*/ 2181 w 3505"/>
                <a:gd name="T63" fmla="*/ 834 h 1469"/>
                <a:gd name="T64" fmla="*/ 2271 w 3505"/>
                <a:gd name="T65" fmla="*/ 812 h 1469"/>
                <a:gd name="T66" fmla="*/ 2358 w 3505"/>
                <a:gd name="T67" fmla="*/ 795 h 1469"/>
                <a:gd name="T68" fmla="*/ 2463 w 3505"/>
                <a:gd name="T69" fmla="*/ 782 h 1469"/>
                <a:gd name="T70" fmla="*/ 2568 w 3505"/>
                <a:gd name="T71" fmla="*/ 780 h 1469"/>
                <a:gd name="T72" fmla="*/ 2676 w 3505"/>
                <a:gd name="T73" fmla="*/ 779 h 1469"/>
                <a:gd name="T74" fmla="*/ 2952 w 3505"/>
                <a:gd name="T75" fmla="*/ 789 h 1469"/>
                <a:gd name="T76" fmla="*/ 3240 w 3505"/>
                <a:gd name="T77" fmla="*/ 820 h 1469"/>
                <a:gd name="T78" fmla="*/ 3504 w 3505"/>
                <a:gd name="T79" fmla="*/ 871 h 1469"/>
                <a:gd name="T80" fmla="*/ 2460 w 3505"/>
                <a:gd name="T81" fmla="*/ 0 h 1469"/>
                <a:gd name="T82" fmla="*/ 0 w 3505"/>
                <a:gd name="T83" fmla="*/ 0 h 1469"/>
                <a:gd name="T84" fmla="*/ 420 w 3505"/>
                <a:gd name="T85" fmla="*/ 932 h 146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3505" h="1469">
                  <a:moveTo>
                    <a:pt x="420" y="932"/>
                  </a:moveTo>
                  <a:lnTo>
                    <a:pt x="390" y="969"/>
                  </a:lnTo>
                  <a:lnTo>
                    <a:pt x="360" y="1014"/>
                  </a:lnTo>
                  <a:lnTo>
                    <a:pt x="342" y="1056"/>
                  </a:lnTo>
                  <a:lnTo>
                    <a:pt x="336" y="1106"/>
                  </a:lnTo>
                  <a:lnTo>
                    <a:pt x="336" y="1155"/>
                  </a:lnTo>
                  <a:lnTo>
                    <a:pt x="348" y="1219"/>
                  </a:lnTo>
                  <a:lnTo>
                    <a:pt x="378" y="1263"/>
                  </a:lnTo>
                  <a:lnTo>
                    <a:pt x="420" y="1311"/>
                  </a:lnTo>
                  <a:lnTo>
                    <a:pt x="504" y="1388"/>
                  </a:lnTo>
                  <a:lnTo>
                    <a:pt x="582" y="1422"/>
                  </a:lnTo>
                  <a:lnTo>
                    <a:pt x="666" y="1445"/>
                  </a:lnTo>
                  <a:lnTo>
                    <a:pt x="735" y="1458"/>
                  </a:lnTo>
                  <a:lnTo>
                    <a:pt x="822" y="1466"/>
                  </a:lnTo>
                  <a:lnTo>
                    <a:pt x="918" y="1468"/>
                  </a:lnTo>
                  <a:lnTo>
                    <a:pt x="1029" y="1465"/>
                  </a:lnTo>
                  <a:lnTo>
                    <a:pt x="1116" y="1455"/>
                  </a:lnTo>
                  <a:lnTo>
                    <a:pt x="1215" y="1435"/>
                  </a:lnTo>
                  <a:lnTo>
                    <a:pt x="1308" y="1404"/>
                  </a:lnTo>
                  <a:lnTo>
                    <a:pt x="1395" y="1366"/>
                  </a:lnTo>
                  <a:lnTo>
                    <a:pt x="1500" y="1301"/>
                  </a:lnTo>
                  <a:lnTo>
                    <a:pt x="1560" y="1260"/>
                  </a:lnTo>
                  <a:lnTo>
                    <a:pt x="1620" y="1219"/>
                  </a:lnTo>
                  <a:lnTo>
                    <a:pt x="1680" y="1164"/>
                  </a:lnTo>
                  <a:lnTo>
                    <a:pt x="1728" y="1117"/>
                  </a:lnTo>
                  <a:lnTo>
                    <a:pt x="1770" y="1065"/>
                  </a:lnTo>
                  <a:lnTo>
                    <a:pt x="1821" y="1014"/>
                  </a:lnTo>
                  <a:lnTo>
                    <a:pt x="1875" y="972"/>
                  </a:lnTo>
                  <a:lnTo>
                    <a:pt x="1932" y="934"/>
                  </a:lnTo>
                  <a:lnTo>
                    <a:pt x="2004" y="894"/>
                  </a:lnTo>
                  <a:lnTo>
                    <a:pt x="2088" y="861"/>
                  </a:lnTo>
                  <a:lnTo>
                    <a:pt x="2181" y="834"/>
                  </a:lnTo>
                  <a:lnTo>
                    <a:pt x="2271" y="812"/>
                  </a:lnTo>
                  <a:lnTo>
                    <a:pt x="2358" y="795"/>
                  </a:lnTo>
                  <a:lnTo>
                    <a:pt x="2463" y="782"/>
                  </a:lnTo>
                  <a:lnTo>
                    <a:pt x="2568" y="780"/>
                  </a:lnTo>
                  <a:lnTo>
                    <a:pt x="2676" y="779"/>
                  </a:lnTo>
                  <a:lnTo>
                    <a:pt x="2952" y="789"/>
                  </a:lnTo>
                  <a:lnTo>
                    <a:pt x="3240" y="820"/>
                  </a:lnTo>
                  <a:lnTo>
                    <a:pt x="3504" y="871"/>
                  </a:lnTo>
                  <a:lnTo>
                    <a:pt x="2460" y="0"/>
                  </a:lnTo>
                  <a:lnTo>
                    <a:pt x="0" y="0"/>
                  </a:lnTo>
                  <a:lnTo>
                    <a:pt x="420" y="932"/>
                  </a:lnTo>
                </a:path>
              </a:pathLst>
            </a:custGeom>
            <a:gradFill rotWithShape="0">
              <a:gsLst>
                <a:gs pos="0">
                  <a:srgbClr val="C9C9C9"/>
                </a:gs>
                <a:gs pos="100000">
                  <a:srgbClr val="E0E0E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54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30" name="Freeform 3"/>
            <p:cNvSpPr>
              <a:spLocks/>
            </p:cNvSpPr>
            <p:nvPr/>
          </p:nvSpPr>
          <p:spPr bwMode="auto">
            <a:xfrm>
              <a:off x="2004" y="877"/>
              <a:ext cx="877" cy="492"/>
            </a:xfrm>
            <a:custGeom>
              <a:avLst/>
              <a:gdLst>
                <a:gd name="T0" fmla="*/ 876 w 877"/>
                <a:gd name="T1" fmla="*/ 159 h 492"/>
                <a:gd name="T2" fmla="*/ 864 w 877"/>
                <a:gd name="T3" fmla="*/ 197 h 492"/>
                <a:gd name="T4" fmla="*/ 843 w 877"/>
                <a:gd name="T5" fmla="*/ 221 h 492"/>
                <a:gd name="T6" fmla="*/ 804 w 877"/>
                <a:gd name="T7" fmla="*/ 237 h 492"/>
                <a:gd name="T8" fmla="*/ 759 w 877"/>
                <a:gd name="T9" fmla="*/ 248 h 492"/>
                <a:gd name="T10" fmla="*/ 696 w 877"/>
                <a:gd name="T11" fmla="*/ 253 h 492"/>
                <a:gd name="T12" fmla="*/ 612 w 877"/>
                <a:gd name="T13" fmla="*/ 251 h 492"/>
                <a:gd name="T14" fmla="*/ 513 w 877"/>
                <a:gd name="T15" fmla="*/ 248 h 492"/>
                <a:gd name="T16" fmla="*/ 435 w 877"/>
                <a:gd name="T17" fmla="*/ 253 h 492"/>
                <a:gd name="T18" fmla="*/ 369 w 877"/>
                <a:gd name="T19" fmla="*/ 260 h 492"/>
                <a:gd name="T20" fmla="*/ 318 w 877"/>
                <a:gd name="T21" fmla="*/ 272 h 492"/>
                <a:gd name="T22" fmla="*/ 275 w 877"/>
                <a:gd name="T23" fmla="*/ 283 h 492"/>
                <a:gd name="T24" fmla="*/ 234 w 877"/>
                <a:gd name="T25" fmla="*/ 305 h 492"/>
                <a:gd name="T26" fmla="*/ 207 w 877"/>
                <a:gd name="T27" fmla="*/ 327 h 492"/>
                <a:gd name="T28" fmla="*/ 180 w 877"/>
                <a:gd name="T29" fmla="*/ 366 h 492"/>
                <a:gd name="T30" fmla="*/ 171 w 877"/>
                <a:gd name="T31" fmla="*/ 401 h 492"/>
                <a:gd name="T32" fmla="*/ 174 w 877"/>
                <a:gd name="T33" fmla="*/ 437 h 492"/>
                <a:gd name="T34" fmla="*/ 191 w 877"/>
                <a:gd name="T35" fmla="*/ 491 h 492"/>
                <a:gd name="T36" fmla="*/ 135 w 877"/>
                <a:gd name="T37" fmla="*/ 440 h 492"/>
                <a:gd name="T38" fmla="*/ 93 w 877"/>
                <a:gd name="T39" fmla="*/ 394 h 492"/>
                <a:gd name="T40" fmla="*/ 60 w 877"/>
                <a:gd name="T41" fmla="*/ 350 h 492"/>
                <a:gd name="T42" fmla="*/ 29 w 877"/>
                <a:gd name="T43" fmla="*/ 288 h 492"/>
                <a:gd name="T44" fmla="*/ 15 w 877"/>
                <a:gd name="T45" fmla="*/ 236 h 492"/>
                <a:gd name="T46" fmla="*/ 2 w 877"/>
                <a:gd name="T47" fmla="*/ 179 h 492"/>
                <a:gd name="T48" fmla="*/ 0 w 877"/>
                <a:gd name="T49" fmla="*/ 125 h 492"/>
                <a:gd name="T50" fmla="*/ 3 w 877"/>
                <a:gd name="T51" fmla="*/ 80 h 492"/>
                <a:gd name="T52" fmla="*/ 43 w 877"/>
                <a:gd name="T53" fmla="*/ 65 h 492"/>
                <a:gd name="T54" fmla="*/ 109 w 877"/>
                <a:gd name="T55" fmla="*/ 48 h 492"/>
                <a:gd name="T56" fmla="*/ 189 w 877"/>
                <a:gd name="T57" fmla="*/ 30 h 492"/>
                <a:gd name="T58" fmla="*/ 276 w 877"/>
                <a:gd name="T59" fmla="*/ 12 h 492"/>
                <a:gd name="T60" fmla="*/ 363 w 877"/>
                <a:gd name="T61" fmla="*/ 0 h 492"/>
                <a:gd name="T62" fmla="*/ 462 w 877"/>
                <a:gd name="T63" fmla="*/ 0 h 492"/>
                <a:gd name="T64" fmla="*/ 549 w 877"/>
                <a:gd name="T65" fmla="*/ 5 h 492"/>
                <a:gd name="T66" fmla="*/ 642 w 877"/>
                <a:gd name="T67" fmla="*/ 20 h 492"/>
                <a:gd name="T68" fmla="*/ 717 w 877"/>
                <a:gd name="T69" fmla="*/ 38 h 492"/>
                <a:gd name="T70" fmla="*/ 759 w 877"/>
                <a:gd name="T71" fmla="*/ 54 h 492"/>
                <a:gd name="T72" fmla="*/ 807 w 877"/>
                <a:gd name="T73" fmla="*/ 86 h 492"/>
                <a:gd name="T74" fmla="*/ 846 w 877"/>
                <a:gd name="T75" fmla="*/ 125 h 492"/>
                <a:gd name="T76" fmla="*/ 876 w 877"/>
                <a:gd name="T77" fmla="*/ 159 h 49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77" h="492">
                  <a:moveTo>
                    <a:pt x="876" y="159"/>
                  </a:moveTo>
                  <a:lnTo>
                    <a:pt x="864" y="197"/>
                  </a:lnTo>
                  <a:lnTo>
                    <a:pt x="843" y="221"/>
                  </a:lnTo>
                  <a:lnTo>
                    <a:pt x="804" y="237"/>
                  </a:lnTo>
                  <a:lnTo>
                    <a:pt x="759" y="248"/>
                  </a:lnTo>
                  <a:lnTo>
                    <a:pt x="696" y="253"/>
                  </a:lnTo>
                  <a:lnTo>
                    <a:pt x="612" y="251"/>
                  </a:lnTo>
                  <a:lnTo>
                    <a:pt x="513" y="248"/>
                  </a:lnTo>
                  <a:lnTo>
                    <a:pt x="435" y="253"/>
                  </a:lnTo>
                  <a:lnTo>
                    <a:pt x="369" y="260"/>
                  </a:lnTo>
                  <a:lnTo>
                    <a:pt x="318" y="272"/>
                  </a:lnTo>
                  <a:lnTo>
                    <a:pt x="275" y="283"/>
                  </a:lnTo>
                  <a:lnTo>
                    <a:pt x="234" y="305"/>
                  </a:lnTo>
                  <a:lnTo>
                    <a:pt x="207" y="327"/>
                  </a:lnTo>
                  <a:lnTo>
                    <a:pt x="180" y="366"/>
                  </a:lnTo>
                  <a:lnTo>
                    <a:pt x="171" y="401"/>
                  </a:lnTo>
                  <a:lnTo>
                    <a:pt x="174" y="437"/>
                  </a:lnTo>
                  <a:lnTo>
                    <a:pt x="191" y="491"/>
                  </a:lnTo>
                  <a:lnTo>
                    <a:pt x="135" y="440"/>
                  </a:lnTo>
                  <a:lnTo>
                    <a:pt x="93" y="394"/>
                  </a:lnTo>
                  <a:lnTo>
                    <a:pt x="60" y="350"/>
                  </a:lnTo>
                  <a:lnTo>
                    <a:pt x="29" y="288"/>
                  </a:lnTo>
                  <a:lnTo>
                    <a:pt x="15" y="236"/>
                  </a:lnTo>
                  <a:lnTo>
                    <a:pt x="2" y="179"/>
                  </a:lnTo>
                  <a:lnTo>
                    <a:pt x="0" y="125"/>
                  </a:lnTo>
                  <a:lnTo>
                    <a:pt x="3" y="80"/>
                  </a:lnTo>
                  <a:lnTo>
                    <a:pt x="43" y="65"/>
                  </a:lnTo>
                  <a:lnTo>
                    <a:pt x="109" y="48"/>
                  </a:lnTo>
                  <a:lnTo>
                    <a:pt x="189" y="30"/>
                  </a:lnTo>
                  <a:lnTo>
                    <a:pt x="276" y="12"/>
                  </a:lnTo>
                  <a:lnTo>
                    <a:pt x="363" y="0"/>
                  </a:lnTo>
                  <a:lnTo>
                    <a:pt x="462" y="0"/>
                  </a:lnTo>
                  <a:lnTo>
                    <a:pt x="549" y="5"/>
                  </a:lnTo>
                  <a:lnTo>
                    <a:pt x="642" y="20"/>
                  </a:lnTo>
                  <a:lnTo>
                    <a:pt x="717" y="38"/>
                  </a:lnTo>
                  <a:lnTo>
                    <a:pt x="759" y="54"/>
                  </a:lnTo>
                  <a:lnTo>
                    <a:pt x="807" y="86"/>
                  </a:lnTo>
                  <a:lnTo>
                    <a:pt x="846" y="125"/>
                  </a:lnTo>
                  <a:lnTo>
                    <a:pt x="876" y="159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31" name="Freeform 4"/>
            <p:cNvSpPr>
              <a:spLocks/>
            </p:cNvSpPr>
            <p:nvPr/>
          </p:nvSpPr>
          <p:spPr bwMode="auto">
            <a:xfrm>
              <a:off x="0" y="0"/>
              <a:ext cx="2881" cy="2143"/>
            </a:xfrm>
            <a:custGeom>
              <a:avLst/>
              <a:gdLst>
                <a:gd name="T0" fmla="*/ 0 w 2881"/>
                <a:gd name="T1" fmla="*/ 2142 h 2143"/>
                <a:gd name="T2" fmla="*/ 81 w 2881"/>
                <a:gd name="T3" fmla="*/ 2032 h 2143"/>
                <a:gd name="T4" fmla="*/ 183 w 2881"/>
                <a:gd name="T5" fmla="*/ 1928 h 2143"/>
                <a:gd name="T6" fmla="*/ 276 w 2881"/>
                <a:gd name="T7" fmla="*/ 1833 h 2143"/>
                <a:gd name="T8" fmla="*/ 370 w 2881"/>
                <a:gd name="T9" fmla="*/ 1736 h 2143"/>
                <a:gd name="T10" fmla="*/ 468 w 2881"/>
                <a:gd name="T11" fmla="*/ 1653 h 2143"/>
                <a:gd name="T12" fmla="*/ 571 w 2881"/>
                <a:gd name="T13" fmla="*/ 1572 h 2143"/>
                <a:gd name="T14" fmla="*/ 712 w 2881"/>
                <a:gd name="T15" fmla="*/ 1480 h 2143"/>
                <a:gd name="T16" fmla="*/ 824 w 2881"/>
                <a:gd name="T17" fmla="*/ 1410 h 2143"/>
                <a:gd name="T18" fmla="*/ 1064 w 2881"/>
                <a:gd name="T19" fmla="*/ 1285 h 2143"/>
                <a:gd name="T20" fmla="*/ 1303 w 2881"/>
                <a:gd name="T21" fmla="*/ 1182 h 2143"/>
                <a:gd name="T22" fmla="*/ 1536 w 2881"/>
                <a:gd name="T23" fmla="*/ 1103 h 2143"/>
                <a:gd name="T24" fmla="*/ 1757 w 2881"/>
                <a:gd name="T25" fmla="*/ 1029 h 2143"/>
                <a:gd name="T26" fmla="*/ 2001 w 2881"/>
                <a:gd name="T27" fmla="*/ 958 h 2143"/>
                <a:gd name="T28" fmla="*/ 2097 w 2881"/>
                <a:gd name="T29" fmla="*/ 930 h 2143"/>
                <a:gd name="T30" fmla="*/ 2202 w 2881"/>
                <a:gd name="T31" fmla="*/ 904 h 2143"/>
                <a:gd name="T32" fmla="*/ 2289 w 2881"/>
                <a:gd name="T33" fmla="*/ 884 h 2143"/>
                <a:gd name="T34" fmla="*/ 2385 w 2881"/>
                <a:gd name="T35" fmla="*/ 876 h 2143"/>
                <a:gd name="T36" fmla="*/ 2469 w 2881"/>
                <a:gd name="T37" fmla="*/ 873 h 2143"/>
                <a:gd name="T38" fmla="*/ 2559 w 2881"/>
                <a:gd name="T39" fmla="*/ 881 h 2143"/>
                <a:gd name="T40" fmla="*/ 2634 w 2881"/>
                <a:gd name="T41" fmla="*/ 893 h 2143"/>
                <a:gd name="T42" fmla="*/ 2703 w 2881"/>
                <a:gd name="T43" fmla="*/ 912 h 2143"/>
                <a:gd name="T44" fmla="*/ 2769 w 2881"/>
                <a:gd name="T45" fmla="*/ 939 h 2143"/>
                <a:gd name="T46" fmla="*/ 2829 w 2881"/>
                <a:gd name="T47" fmla="*/ 979 h 2143"/>
                <a:gd name="T48" fmla="*/ 2880 w 2881"/>
                <a:gd name="T49" fmla="*/ 1035 h 2143"/>
                <a:gd name="T50" fmla="*/ 2877 w 2881"/>
                <a:gd name="T51" fmla="*/ 981 h 2143"/>
                <a:gd name="T52" fmla="*/ 2868 w 2881"/>
                <a:gd name="T53" fmla="*/ 943 h 2143"/>
                <a:gd name="T54" fmla="*/ 2847 w 2881"/>
                <a:gd name="T55" fmla="*/ 894 h 2143"/>
                <a:gd name="T56" fmla="*/ 2817 w 2881"/>
                <a:gd name="T57" fmla="*/ 853 h 2143"/>
                <a:gd name="T58" fmla="*/ 2781 w 2881"/>
                <a:gd name="T59" fmla="*/ 816 h 2143"/>
                <a:gd name="T60" fmla="*/ 2742 w 2881"/>
                <a:gd name="T61" fmla="*/ 779 h 2143"/>
                <a:gd name="T62" fmla="*/ 1884 w 2881"/>
                <a:gd name="T63" fmla="*/ 0 h 2143"/>
                <a:gd name="T64" fmla="*/ 0 w 2881"/>
                <a:gd name="T65" fmla="*/ 0 h 2143"/>
                <a:gd name="T66" fmla="*/ 0 w 2881"/>
                <a:gd name="T67" fmla="*/ 2142 h 21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881" h="2143">
                  <a:moveTo>
                    <a:pt x="0" y="2142"/>
                  </a:moveTo>
                  <a:lnTo>
                    <a:pt x="81" y="2032"/>
                  </a:lnTo>
                  <a:lnTo>
                    <a:pt x="183" y="1928"/>
                  </a:lnTo>
                  <a:lnTo>
                    <a:pt x="276" y="1833"/>
                  </a:lnTo>
                  <a:lnTo>
                    <a:pt x="370" y="1736"/>
                  </a:lnTo>
                  <a:lnTo>
                    <a:pt x="468" y="1653"/>
                  </a:lnTo>
                  <a:lnTo>
                    <a:pt x="571" y="1572"/>
                  </a:lnTo>
                  <a:lnTo>
                    <a:pt x="712" y="1480"/>
                  </a:lnTo>
                  <a:lnTo>
                    <a:pt x="824" y="1410"/>
                  </a:lnTo>
                  <a:lnTo>
                    <a:pt x="1064" y="1285"/>
                  </a:lnTo>
                  <a:lnTo>
                    <a:pt x="1303" y="1182"/>
                  </a:lnTo>
                  <a:lnTo>
                    <a:pt x="1536" y="1103"/>
                  </a:lnTo>
                  <a:lnTo>
                    <a:pt x="1757" y="1029"/>
                  </a:lnTo>
                  <a:lnTo>
                    <a:pt x="2001" y="958"/>
                  </a:lnTo>
                  <a:lnTo>
                    <a:pt x="2097" y="930"/>
                  </a:lnTo>
                  <a:lnTo>
                    <a:pt x="2202" y="904"/>
                  </a:lnTo>
                  <a:lnTo>
                    <a:pt x="2289" y="884"/>
                  </a:lnTo>
                  <a:lnTo>
                    <a:pt x="2385" y="876"/>
                  </a:lnTo>
                  <a:lnTo>
                    <a:pt x="2469" y="873"/>
                  </a:lnTo>
                  <a:lnTo>
                    <a:pt x="2559" y="881"/>
                  </a:lnTo>
                  <a:lnTo>
                    <a:pt x="2634" y="893"/>
                  </a:lnTo>
                  <a:lnTo>
                    <a:pt x="2703" y="912"/>
                  </a:lnTo>
                  <a:lnTo>
                    <a:pt x="2769" y="939"/>
                  </a:lnTo>
                  <a:lnTo>
                    <a:pt x="2829" y="979"/>
                  </a:lnTo>
                  <a:lnTo>
                    <a:pt x="2880" y="1035"/>
                  </a:lnTo>
                  <a:lnTo>
                    <a:pt x="2877" y="981"/>
                  </a:lnTo>
                  <a:lnTo>
                    <a:pt x="2868" y="943"/>
                  </a:lnTo>
                  <a:lnTo>
                    <a:pt x="2847" y="894"/>
                  </a:lnTo>
                  <a:lnTo>
                    <a:pt x="2817" y="853"/>
                  </a:lnTo>
                  <a:lnTo>
                    <a:pt x="2781" y="816"/>
                  </a:lnTo>
                  <a:lnTo>
                    <a:pt x="2742" y="779"/>
                  </a:lnTo>
                  <a:lnTo>
                    <a:pt x="1884" y="0"/>
                  </a:lnTo>
                  <a:lnTo>
                    <a:pt x="0" y="0"/>
                  </a:lnTo>
                  <a:lnTo>
                    <a:pt x="0" y="2142"/>
                  </a:lnTo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949494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1032" name="Group 8"/>
            <p:cNvGrpSpPr>
              <a:grpSpLocks/>
            </p:cNvGrpSpPr>
            <p:nvPr/>
          </p:nvGrpSpPr>
          <p:grpSpPr bwMode="auto">
            <a:xfrm>
              <a:off x="0" y="0"/>
              <a:ext cx="2769" cy="1807"/>
              <a:chOff x="0" y="0"/>
              <a:chExt cx="2769" cy="1807"/>
            </a:xfrm>
          </p:grpSpPr>
          <p:sp>
            <p:nvSpPr>
              <p:cNvPr id="1033" name="Freeform 5"/>
              <p:cNvSpPr>
                <a:spLocks/>
              </p:cNvSpPr>
              <p:nvPr/>
            </p:nvSpPr>
            <p:spPr bwMode="auto">
              <a:xfrm>
                <a:off x="0" y="0"/>
                <a:ext cx="1993" cy="625"/>
              </a:xfrm>
              <a:custGeom>
                <a:avLst/>
                <a:gdLst>
                  <a:gd name="T0" fmla="*/ 0 w 1993"/>
                  <a:gd name="T1" fmla="*/ 402 h 625"/>
                  <a:gd name="T2" fmla="*/ 108 w 1993"/>
                  <a:gd name="T3" fmla="*/ 351 h 625"/>
                  <a:gd name="T4" fmla="*/ 225 w 1993"/>
                  <a:gd name="T5" fmla="*/ 298 h 625"/>
                  <a:gd name="T6" fmla="*/ 367 w 1993"/>
                  <a:gd name="T7" fmla="*/ 237 h 625"/>
                  <a:gd name="T8" fmla="*/ 494 w 1993"/>
                  <a:gd name="T9" fmla="*/ 190 h 625"/>
                  <a:gd name="T10" fmla="*/ 637 w 1993"/>
                  <a:gd name="T11" fmla="*/ 144 h 625"/>
                  <a:gd name="T12" fmla="*/ 765 w 1993"/>
                  <a:gd name="T13" fmla="*/ 108 h 625"/>
                  <a:gd name="T14" fmla="*/ 931 w 1993"/>
                  <a:gd name="T15" fmla="*/ 68 h 625"/>
                  <a:gd name="T16" fmla="*/ 1057 w 1993"/>
                  <a:gd name="T17" fmla="*/ 39 h 625"/>
                  <a:gd name="T18" fmla="*/ 1162 w 1993"/>
                  <a:gd name="T19" fmla="*/ 21 h 625"/>
                  <a:gd name="T20" fmla="*/ 1258 w 1993"/>
                  <a:gd name="T21" fmla="*/ 7 h 625"/>
                  <a:gd name="T22" fmla="*/ 1390 w 1993"/>
                  <a:gd name="T23" fmla="*/ 3 h 625"/>
                  <a:gd name="T24" fmla="*/ 1884 w 1993"/>
                  <a:gd name="T25" fmla="*/ 0 h 625"/>
                  <a:gd name="T26" fmla="*/ 1992 w 1993"/>
                  <a:gd name="T27" fmla="*/ 96 h 625"/>
                  <a:gd name="T28" fmla="*/ 1846 w 1993"/>
                  <a:gd name="T29" fmla="*/ 96 h 625"/>
                  <a:gd name="T30" fmla="*/ 1707 w 1993"/>
                  <a:gd name="T31" fmla="*/ 102 h 625"/>
                  <a:gd name="T32" fmla="*/ 1558 w 1993"/>
                  <a:gd name="T33" fmla="*/ 114 h 625"/>
                  <a:gd name="T34" fmla="*/ 1437 w 1993"/>
                  <a:gd name="T35" fmla="*/ 129 h 625"/>
                  <a:gd name="T36" fmla="*/ 1302 w 1993"/>
                  <a:gd name="T37" fmla="*/ 152 h 625"/>
                  <a:gd name="T38" fmla="*/ 1187 w 1993"/>
                  <a:gd name="T39" fmla="*/ 174 h 625"/>
                  <a:gd name="T40" fmla="*/ 1065 w 1993"/>
                  <a:gd name="T41" fmla="*/ 202 h 625"/>
                  <a:gd name="T42" fmla="*/ 957 w 1993"/>
                  <a:gd name="T43" fmla="*/ 232 h 625"/>
                  <a:gd name="T44" fmla="*/ 885 w 1993"/>
                  <a:gd name="T45" fmla="*/ 252 h 625"/>
                  <a:gd name="T46" fmla="*/ 731 w 1993"/>
                  <a:gd name="T47" fmla="*/ 294 h 625"/>
                  <a:gd name="T48" fmla="*/ 560 w 1993"/>
                  <a:gd name="T49" fmla="*/ 348 h 625"/>
                  <a:gd name="T50" fmla="*/ 405 w 1993"/>
                  <a:gd name="T51" fmla="*/ 408 h 625"/>
                  <a:gd name="T52" fmla="*/ 229 w 1993"/>
                  <a:gd name="T53" fmla="*/ 486 h 625"/>
                  <a:gd name="T54" fmla="*/ 130 w 1993"/>
                  <a:gd name="T55" fmla="*/ 534 h 625"/>
                  <a:gd name="T56" fmla="*/ 54 w 1993"/>
                  <a:gd name="T57" fmla="*/ 582 h 625"/>
                  <a:gd name="T58" fmla="*/ 0 w 1993"/>
                  <a:gd name="T59" fmla="*/ 624 h 625"/>
                  <a:gd name="T60" fmla="*/ 0 w 1993"/>
                  <a:gd name="T61" fmla="*/ 402 h 62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993" h="625">
                    <a:moveTo>
                      <a:pt x="0" y="402"/>
                    </a:moveTo>
                    <a:lnTo>
                      <a:pt x="108" y="351"/>
                    </a:lnTo>
                    <a:lnTo>
                      <a:pt x="225" y="298"/>
                    </a:lnTo>
                    <a:lnTo>
                      <a:pt x="367" y="237"/>
                    </a:lnTo>
                    <a:lnTo>
                      <a:pt x="494" y="190"/>
                    </a:lnTo>
                    <a:lnTo>
                      <a:pt x="637" y="144"/>
                    </a:lnTo>
                    <a:lnTo>
                      <a:pt x="765" y="108"/>
                    </a:lnTo>
                    <a:lnTo>
                      <a:pt x="931" y="68"/>
                    </a:lnTo>
                    <a:lnTo>
                      <a:pt x="1057" y="39"/>
                    </a:lnTo>
                    <a:lnTo>
                      <a:pt x="1162" y="21"/>
                    </a:lnTo>
                    <a:lnTo>
                      <a:pt x="1258" y="7"/>
                    </a:lnTo>
                    <a:lnTo>
                      <a:pt x="1390" y="3"/>
                    </a:lnTo>
                    <a:lnTo>
                      <a:pt x="1884" y="0"/>
                    </a:lnTo>
                    <a:lnTo>
                      <a:pt x="1992" y="96"/>
                    </a:lnTo>
                    <a:lnTo>
                      <a:pt x="1846" y="96"/>
                    </a:lnTo>
                    <a:lnTo>
                      <a:pt x="1707" y="102"/>
                    </a:lnTo>
                    <a:lnTo>
                      <a:pt x="1558" y="114"/>
                    </a:lnTo>
                    <a:lnTo>
                      <a:pt x="1437" y="129"/>
                    </a:lnTo>
                    <a:lnTo>
                      <a:pt x="1302" y="152"/>
                    </a:lnTo>
                    <a:lnTo>
                      <a:pt x="1187" y="174"/>
                    </a:lnTo>
                    <a:lnTo>
                      <a:pt x="1065" y="202"/>
                    </a:lnTo>
                    <a:lnTo>
                      <a:pt x="957" y="232"/>
                    </a:lnTo>
                    <a:lnTo>
                      <a:pt x="885" y="252"/>
                    </a:lnTo>
                    <a:lnTo>
                      <a:pt x="731" y="294"/>
                    </a:lnTo>
                    <a:lnTo>
                      <a:pt x="560" y="348"/>
                    </a:lnTo>
                    <a:lnTo>
                      <a:pt x="405" y="408"/>
                    </a:lnTo>
                    <a:lnTo>
                      <a:pt x="229" y="486"/>
                    </a:lnTo>
                    <a:lnTo>
                      <a:pt x="130" y="534"/>
                    </a:lnTo>
                    <a:lnTo>
                      <a:pt x="54" y="582"/>
                    </a:lnTo>
                    <a:lnTo>
                      <a:pt x="0" y="624"/>
                    </a:lnTo>
                    <a:lnTo>
                      <a:pt x="0" y="402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034" name="Freeform 6"/>
              <p:cNvSpPr>
                <a:spLocks/>
              </p:cNvSpPr>
              <p:nvPr/>
            </p:nvSpPr>
            <p:spPr bwMode="auto">
              <a:xfrm>
                <a:off x="0" y="207"/>
                <a:ext cx="2435" cy="1123"/>
              </a:xfrm>
              <a:custGeom>
                <a:avLst/>
                <a:gdLst>
                  <a:gd name="T0" fmla="*/ 0 w 2435"/>
                  <a:gd name="T1" fmla="*/ 627 h 1123"/>
                  <a:gd name="T2" fmla="*/ 123 w 2435"/>
                  <a:gd name="T3" fmla="*/ 540 h 1123"/>
                  <a:gd name="T4" fmla="*/ 267 w 2435"/>
                  <a:gd name="T5" fmla="*/ 447 h 1123"/>
                  <a:gd name="T6" fmla="*/ 400 w 2435"/>
                  <a:gd name="T7" fmla="*/ 381 h 1123"/>
                  <a:gd name="T8" fmla="*/ 555 w 2435"/>
                  <a:gd name="T9" fmla="*/ 315 h 1123"/>
                  <a:gd name="T10" fmla="*/ 709 w 2435"/>
                  <a:gd name="T11" fmla="*/ 255 h 1123"/>
                  <a:gd name="T12" fmla="*/ 885 w 2435"/>
                  <a:gd name="T13" fmla="*/ 201 h 1123"/>
                  <a:gd name="T14" fmla="*/ 1061 w 2435"/>
                  <a:gd name="T15" fmla="*/ 147 h 1123"/>
                  <a:gd name="T16" fmla="*/ 1232 w 2435"/>
                  <a:gd name="T17" fmla="*/ 105 h 1123"/>
                  <a:gd name="T18" fmla="*/ 1397 w 2435"/>
                  <a:gd name="T19" fmla="*/ 75 h 1123"/>
                  <a:gd name="T20" fmla="*/ 1552 w 2435"/>
                  <a:gd name="T21" fmla="*/ 45 h 1123"/>
                  <a:gd name="T22" fmla="*/ 1680 w 2435"/>
                  <a:gd name="T23" fmla="*/ 21 h 1123"/>
                  <a:gd name="T24" fmla="*/ 1829 w 2435"/>
                  <a:gd name="T25" fmla="*/ 3 h 1123"/>
                  <a:gd name="T26" fmla="*/ 1949 w 2435"/>
                  <a:gd name="T27" fmla="*/ 0 h 1123"/>
                  <a:gd name="T28" fmla="*/ 2059 w 2435"/>
                  <a:gd name="T29" fmla="*/ 1 h 1123"/>
                  <a:gd name="T30" fmla="*/ 2116 w 2435"/>
                  <a:gd name="T31" fmla="*/ 3 h 1123"/>
                  <a:gd name="T32" fmla="*/ 2434 w 2435"/>
                  <a:gd name="T33" fmla="*/ 293 h 1123"/>
                  <a:gd name="T34" fmla="*/ 2353 w 2435"/>
                  <a:gd name="T35" fmla="*/ 280 h 1123"/>
                  <a:gd name="T36" fmla="*/ 2250 w 2435"/>
                  <a:gd name="T37" fmla="*/ 273 h 1123"/>
                  <a:gd name="T38" fmla="*/ 2155 w 2435"/>
                  <a:gd name="T39" fmla="*/ 273 h 1123"/>
                  <a:gd name="T40" fmla="*/ 2039 w 2435"/>
                  <a:gd name="T41" fmla="*/ 282 h 1123"/>
                  <a:gd name="T42" fmla="*/ 1888 w 2435"/>
                  <a:gd name="T43" fmla="*/ 303 h 1123"/>
                  <a:gd name="T44" fmla="*/ 1792 w 2435"/>
                  <a:gd name="T45" fmla="*/ 319 h 1123"/>
                  <a:gd name="T46" fmla="*/ 1696 w 2435"/>
                  <a:gd name="T47" fmla="*/ 339 h 1123"/>
                  <a:gd name="T48" fmla="*/ 1477 w 2435"/>
                  <a:gd name="T49" fmla="*/ 387 h 1123"/>
                  <a:gd name="T50" fmla="*/ 1258 w 2435"/>
                  <a:gd name="T51" fmla="*/ 444 h 1123"/>
                  <a:gd name="T52" fmla="*/ 1093 w 2435"/>
                  <a:gd name="T53" fmla="*/ 498 h 1123"/>
                  <a:gd name="T54" fmla="*/ 937 w 2435"/>
                  <a:gd name="T55" fmla="*/ 546 h 1123"/>
                  <a:gd name="T56" fmla="*/ 763 w 2435"/>
                  <a:gd name="T57" fmla="*/ 621 h 1123"/>
                  <a:gd name="T58" fmla="*/ 576 w 2435"/>
                  <a:gd name="T59" fmla="*/ 705 h 1123"/>
                  <a:gd name="T60" fmla="*/ 411 w 2435"/>
                  <a:gd name="T61" fmla="*/ 795 h 1123"/>
                  <a:gd name="T62" fmla="*/ 299 w 2435"/>
                  <a:gd name="T63" fmla="*/ 862 h 1123"/>
                  <a:gd name="T64" fmla="*/ 200 w 2435"/>
                  <a:gd name="T65" fmla="*/ 934 h 1123"/>
                  <a:gd name="T66" fmla="*/ 115 w 2435"/>
                  <a:gd name="T67" fmla="*/ 1005 h 1123"/>
                  <a:gd name="T68" fmla="*/ 0 w 2435"/>
                  <a:gd name="T69" fmla="*/ 1122 h 1123"/>
                  <a:gd name="T70" fmla="*/ 0 w 2435"/>
                  <a:gd name="T71" fmla="*/ 627 h 112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435" h="1123">
                    <a:moveTo>
                      <a:pt x="0" y="627"/>
                    </a:moveTo>
                    <a:lnTo>
                      <a:pt x="123" y="540"/>
                    </a:lnTo>
                    <a:lnTo>
                      <a:pt x="267" y="447"/>
                    </a:lnTo>
                    <a:lnTo>
                      <a:pt x="400" y="381"/>
                    </a:lnTo>
                    <a:lnTo>
                      <a:pt x="555" y="315"/>
                    </a:lnTo>
                    <a:lnTo>
                      <a:pt x="709" y="255"/>
                    </a:lnTo>
                    <a:lnTo>
                      <a:pt x="885" y="201"/>
                    </a:lnTo>
                    <a:lnTo>
                      <a:pt x="1061" y="147"/>
                    </a:lnTo>
                    <a:lnTo>
                      <a:pt x="1232" y="105"/>
                    </a:lnTo>
                    <a:lnTo>
                      <a:pt x="1397" y="75"/>
                    </a:lnTo>
                    <a:lnTo>
                      <a:pt x="1552" y="45"/>
                    </a:lnTo>
                    <a:lnTo>
                      <a:pt x="1680" y="21"/>
                    </a:lnTo>
                    <a:lnTo>
                      <a:pt x="1829" y="3"/>
                    </a:lnTo>
                    <a:lnTo>
                      <a:pt x="1949" y="0"/>
                    </a:lnTo>
                    <a:lnTo>
                      <a:pt x="2059" y="1"/>
                    </a:lnTo>
                    <a:lnTo>
                      <a:pt x="2116" y="3"/>
                    </a:lnTo>
                    <a:lnTo>
                      <a:pt x="2434" y="293"/>
                    </a:lnTo>
                    <a:lnTo>
                      <a:pt x="2353" y="280"/>
                    </a:lnTo>
                    <a:lnTo>
                      <a:pt x="2250" y="273"/>
                    </a:lnTo>
                    <a:lnTo>
                      <a:pt x="2155" y="273"/>
                    </a:lnTo>
                    <a:lnTo>
                      <a:pt x="2039" y="282"/>
                    </a:lnTo>
                    <a:lnTo>
                      <a:pt x="1888" y="303"/>
                    </a:lnTo>
                    <a:lnTo>
                      <a:pt x="1792" y="319"/>
                    </a:lnTo>
                    <a:lnTo>
                      <a:pt x="1696" y="339"/>
                    </a:lnTo>
                    <a:lnTo>
                      <a:pt x="1477" y="387"/>
                    </a:lnTo>
                    <a:lnTo>
                      <a:pt x="1258" y="444"/>
                    </a:lnTo>
                    <a:lnTo>
                      <a:pt x="1093" y="498"/>
                    </a:lnTo>
                    <a:lnTo>
                      <a:pt x="937" y="546"/>
                    </a:lnTo>
                    <a:lnTo>
                      <a:pt x="763" y="621"/>
                    </a:lnTo>
                    <a:lnTo>
                      <a:pt x="576" y="705"/>
                    </a:lnTo>
                    <a:lnTo>
                      <a:pt x="411" y="795"/>
                    </a:lnTo>
                    <a:lnTo>
                      <a:pt x="299" y="862"/>
                    </a:lnTo>
                    <a:lnTo>
                      <a:pt x="200" y="934"/>
                    </a:lnTo>
                    <a:lnTo>
                      <a:pt x="115" y="1005"/>
                    </a:lnTo>
                    <a:lnTo>
                      <a:pt x="0" y="1122"/>
                    </a:lnTo>
                    <a:lnTo>
                      <a:pt x="0" y="627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035" name="Freeform 7"/>
              <p:cNvSpPr>
                <a:spLocks/>
              </p:cNvSpPr>
              <p:nvPr/>
            </p:nvSpPr>
            <p:spPr bwMode="auto">
              <a:xfrm>
                <a:off x="0" y="600"/>
                <a:ext cx="2769" cy="1207"/>
              </a:xfrm>
              <a:custGeom>
                <a:avLst/>
                <a:gdLst>
                  <a:gd name="T0" fmla="*/ 0 w 2769"/>
                  <a:gd name="T1" fmla="*/ 966 h 1207"/>
                  <a:gd name="T2" fmla="*/ 64 w 2769"/>
                  <a:gd name="T3" fmla="*/ 900 h 1207"/>
                  <a:gd name="T4" fmla="*/ 171 w 2769"/>
                  <a:gd name="T5" fmla="*/ 799 h 1207"/>
                  <a:gd name="T6" fmla="*/ 277 w 2769"/>
                  <a:gd name="T7" fmla="*/ 716 h 1207"/>
                  <a:gd name="T8" fmla="*/ 367 w 2769"/>
                  <a:gd name="T9" fmla="*/ 649 h 1207"/>
                  <a:gd name="T10" fmla="*/ 432 w 2769"/>
                  <a:gd name="T11" fmla="*/ 601 h 1207"/>
                  <a:gd name="T12" fmla="*/ 507 w 2769"/>
                  <a:gd name="T13" fmla="*/ 555 h 1207"/>
                  <a:gd name="T14" fmla="*/ 592 w 2769"/>
                  <a:gd name="T15" fmla="*/ 504 h 1207"/>
                  <a:gd name="T16" fmla="*/ 725 w 2769"/>
                  <a:gd name="T17" fmla="*/ 438 h 1207"/>
                  <a:gd name="T18" fmla="*/ 875 w 2769"/>
                  <a:gd name="T19" fmla="*/ 366 h 1207"/>
                  <a:gd name="T20" fmla="*/ 1056 w 2769"/>
                  <a:gd name="T21" fmla="*/ 294 h 1207"/>
                  <a:gd name="T22" fmla="*/ 1232 w 2769"/>
                  <a:gd name="T23" fmla="*/ 228 h 1207"/>
                  <a:gd name="T24" fmla="*/ 1392 w 2769"/>
                  <a:gd name="T25" fmla="*/ 180 h 1207"/>
                  <a:gd name="T26" fmla="*/ 1568 w 2769"/>
                  <a:gd name="T27" fmla="*/ 132 h 1207"/>
                  <a:gd name="T28" fmla="*/ 1738 w 2769"/>
                  <a:gd name="T29" fmla="*/ 90 h 1207"/>
                  <a:gd name="T30" fmla="*/ 1914 w 2769"/>
                  <a:gd name="T31" fmla="*/ 54 h 1207"/>
                  <a:gd name="T32" fmla="*/ 2090 w 2769"/>
                  <a:gd name="T33" fmla="*/ 27 h 1207"/>
                  <a:gd name="T34" fmla="*/ 2218 w 2769"/>
                  <a:gd name="T35" fmla="*/ 12 h 1207"/>
                  <a:gd name="T36" fmla="*/ 2353 w 2769"/>
                  <a:gd name="T37" fmla="*/ 1 h 1207"/>
                  <a:gd name="T38" fmla="*/ 2458 w 2769"/>
                  <a:gd name="T39" fmla="*/ 0 h 1207"/>
                  <a:gd name="T40" fmla="*/ 2554 w 2769"/>
                  <a:gd name="T41" fmla="*/ 7 h 1207"/>
                  <a:gd name="T42" fmla="*/ 2768 w 2769"/>
                  <a:gd name="T43" fmla="*/ 197 h 1207"/>
                  <a:gd name="T44" fmla="*/ 2677 w 2769"/>
                  <a:gd name="T45" fmla="*/ 150 h 1207"/>
                  <a:gd name="T46" fmla="*/ 2598 w 2769"/>
                  <a:gd name="T47" fmla="*/ 126 h 1207"/>
                  <a:gd name="T48" fmla="*/ 2515 w 2769"/>
                  <a:gd name="T49" fmla="*/ 118 h 1207"/>
                  <a:gd name="T50" fmla="*/ 2442 w 2769"/>
                  <a:gd name="T51" fmla="*/ 120 h 1207"/>
                  <a:gd name="T52" fmla="*/ 2362 w 2769"/>
                  <a:gd name="T53" fmla="*/ 124 h 1207"/>
                  <a:gd name="T54" fmla="*/ 2277 w 2769"/>
                  <a:gd name="T55" fmla="*/ 132 h 1207"/>
                  <a:gd name="T56" fmla="*/ 2175 w 2769"/>
                  <a:gd name="T57" fmla="*/ 147 h 1207"/>
                  <a:gd name="T58" fmla="*/ 2085 w 2769"/>
                  <a:gd name="T59" fmla="*/ 162 h 1207"/>
                  <a:gd name="T60" fmla="*/ 1877 w 2769"/>
                  <a:gd name="T61" fmla="*/ 204 h 1207"/>
                  <a:gd name="T62" fmla="*/ 1642 w 2769"/>
                  <a:gd name="T63" fmla="*/ 258 h 1207"/>
                  <a:gd name="T64" fmla="*/ 1477 w 2769"/>
                  <a:gd name="T65" fmla="*/ 306 h 1207"/>
                  <a:gd name="T66" fmla="*/ 1312 w 2769"/>
                  <a:gd name="T67" fmla="*/ 360 h 1207"/>
                  <a:gd name="T68" fmla="*/ 1120 w 2769"/>
                  <a:gd name="T69" fmla="*/ 432 h 1207"/>
                  <a:gd name="T70" fmla="*/ 939 w 2769"/>
                  <a:gd name="T71" fmla="*/ 510 h 1207"/>
                  <a:gd name="T72" fmla="*/ 752 w 2769"/>
                  <a:gd name="T73" fmla="*/ 600 h 1207"/>
                  <a:gd name="T74" fmla="*/ 658 w 2769"/>
                  <a:gd name="T75" fmla="*/ 654 h 1207"/>
                  <a:gd name="T76" fmla="*/ 571 w 2769"/>
                  <a:gd name="T77" fmla="*/ 708 h 1207"/>
                  <a:gd name="T78" fmla="*/ 421 w 2769"/>
                  <a:gd name="T79" fmla="*/ 810 h 1207"/>
                  <a:gd name="T80" fmla="*/ 309 w 2769"/>
                  <a:gd name="T81" fmla="*/ 906 h 1207"/>
                  <a:gd name="T82" fmla="*/ 203 w 2769"/>
                  <a:gd name="T83" fmla="*/ 1002 h 1207"/>
                  <a:gd name="T84" fmla="*/ 93 w 2769"/>
                  <a:gd name="T85" fmla="*/ 1107 h 1207"/>
                  <a:gd name="T86" fmla="*/ 0 w 2769"/>
                  <a:gd name="T87" fmla="*/ 1206 h 1207"/>
                  <a:gd name="T88" fmla="*/ 0 w 2769"/>
                  <a:gd name="T89" fmla="*/ 966 h 120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769" h="1207">
                    <a:moveTo>
                      <a:pt x="0" y="966"/>
                    </a:moveTo>
                    <a:lnTo>
                      <a:pt x="64" y="900"/>
                    </a:lnTo>
                    <a:lnTo>
                      <a:pt x="171" y="799"/>
                    </a:lnTo>
                    <a:lnTo>
                      <a:pt x="277" y="716"/>
                    </a:lnTo>
                    <a:lnTo>
                      <a:pt x="367" y="649"/>
                    </a:lnTo>
                    <a:lnTo>
                      <a:pt x="432" y="601"/>
                    </a:lnTo>
                    <a:lnTo>
                      <a:pt x="507" y="555"/>
                    </a:lnTo>
                    <a:lnTo>
                      <a:pt x="592" y="504"/>
                    </a:lnTo>
                    <a:lnTo>
                      <a:pt x="725" y="438"/>
                    </a:lnTo>
                    <a:lnTo>
                      <a:pt x="875" y="366"/>
                    </a:lnTo>
                    <a:lnTo>
                      <a:pt x="1056" y="294"/>
                    </a:lnTo>
                    <a:lnTo>
                      <a:pt x="1232" y="228"/>
                    </a:lnTo>
                    <a:lnTo>
                      <a:pt x="1392" y="180"/>
                    </a:lnTo>
                    <a:lnTo>
                      <a:pt x="1568" y="132"/>
                    </a:lnTo>
                    <a:lnTo>
                      <a:pt x="1738" y="90"/>
                    </a:lnTo>
                    <a:lnTo>
                      <a:pt x="1914" y="54"/>
                    </a:lnTo>
                    <a:lnTo>
                      <a:pt x="2090" y="27"/>
                    </a:lnTo>
                    <a:lnTo>
                      <a:pt x="2218" y="12"/>
                    </a:lnTo>
                    <a:lnTo>
                      <a:pt x="2353" y="1"/>
                    </a:lnTo>
                    <a:lnTo>
                      <a:pt x="2458" y="0"/>
                    </a:lnTo>
                    <a:lnTo>
                      <a:pt x="2554" y="7"/>
                    </a:lnTo>
                    <a:lnTo>
                      <a:pt x="2768" y="197"/>
                    </a:lnTo>
                    <a:lnTo>
                      <a:pt x="2677" y="150"/>
                    </a:lnTo>
                    <a:lnTo>
                      <a:pt x="2598" y="126"/>
                    </a:lnTo>
                    <a:lnTo>
                      <a:pt x="2515" y="118"/>
                    </a:lnTo>
                    <a:lnTo>
                      <a:pt x="2442" y="120"/>
                    </a:lnTo>
                    <a:lnTo>
                      <a:pt x="2362" y="124"/>
                    </a:lnTo>
                    <a:lnTo>
                      <a:pt x="2277" y="132"/>
                    </a:lnTo>
                    <a:lnTo>
                      <a:pt x="2175" y="147"/>
                    </a:lnTo>
                    <a:lnTo>
                      <a:pt x="2085" y="162"/>
                    </a:lnTo>
                    <a:lnTo>
                      <a:pt x="1877" y="204"/>
                    </a:lnTo>
                    <a:lnTo>
                      <a:pt x="1642" y="258"/>
                    </a:lnTo>
                    <a:lnTo>
                      <a:pt x="1477" y="306"/>
                    </a:lnTo>
                    <a:lnTo>
                      <a:pt x="1312" y="360"/>
                    </a:lnTo>
                    <a:lnTo>
                      <a:pt x="1120" y="432"/>
                    </a:lnTo>
                    <a:lnTo>
                      <a:pt x="939" y="510"/>
                    </a:lnTo>
                    <a:lnTo>
                      <a:pt x="752" y="600"/>
                    </a:lnTo>
                    <a:lnTo>
                      <a:pt x="658" y="654"/>
                    </a:lnTo>
                    <a:lnTo>
                      <a:pt x="571" y="708"/>
                    </a:lnTo>
                    <a:lnTo>
                      <a:pt x="421" y="810"/>
                    </a:lnTo>
                    <a:lnTo>
                      <a:pt x="309" y="906"/>
                    </a:lnTo>
                    <a:lnTo>
                      <a:pt x="203" y="1002"/>
                    </a:lnTo>
                    <a:lnTo>
                      <a:pt x="93" y="1107"/>
                    </a:lnTo>
                    <a:lnTo>
                      <a:pt x="0" y="1206"/>
                    </a:lnTo>
                    <a:lnTo>
                      <a:pt x="0" y="966"/>
                    </a:lnTo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</p:grpSp>
      <p:sp>
        <p:nvSpPr>
          <p:cNvPr id="1027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20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n"/>
        <a:defRPr sz="3200" 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800" i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F"/>
        <a:defRPr sz="2400"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 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 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0.wmf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9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16.wmf"/><Relationship Id="rId2" Type="http://schemas.openxmlformats.org/officeDocument/2006/relationships/tags" Target="../tags/tag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9.wmf"/><Relationship Id="rId2" Type="http://schemas.openxmlformats.org/officeDocument/2006/relationships/tags" Target="../tags/tag1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21.wmf"/><Relationship Id="rId2" Type="http://schemas.openxmlformats.org/officeDocument/2006/relationships/tags" Target="../tags/tag1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6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26.wmf"/><Relationship Id="rId2" Type="http://schemas.openxmlformats.org/officeDocument/2006/relationships/tags" Target="../tags/tag1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28.wmf"/><Relationship Id="rId2" Type="http://schemas.openxmlformats.org/officeDocument/2006/relationships/tags" Target="../tags/tag18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0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3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Excel_Worksheet1.xls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Excel_Worksheet2.xlsx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1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8.wmf"/><Relationship Id="rId2" Type="http://schemas.openxmlformats.org/officeDocument/2006/relationships/tags" Target="../tags/tag28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xcel_97-2003_Worksheet1.xls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3.bin"/><Relationship Id="rId2" Type="http://schemas.openxmlformats.org/officeDocument/2006/relationships/tags" Target="../tags/tag30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0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slideLayout" Target="../slideLayouts/slideLayout7.xml"/><Relationship Id="rId7" Type="http://schemas.openxmlformats.org/officeDocument/2006/relationships/chart" Target="../charts/chart2.xml"/><Relationship Id="rId12" Type="http://schemas.openxmlformats.org/officeDocument/2006/relationships/image" Target="../media/image41.wmf"/><Relationship Id="rId2" Type="http://schemas.openxmlformats.org/officeDocument/2006/relationships/tags" Target="../tags/tag3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Microsoft_Excel_97-2003_Worksheet2.xls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31.bin"/><Relationship Id="rId18" Type="http://schemas.openxmlformats.org/officeDocument/2006/relationships/oleObject" Target="../embeddings/oleObject33.bin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44.wmf"/><Relationship Id="rId17" Type="http://schemas.openxmlformats.org/officeDocument/2006/relationships/image" Target="../media/image46.wmf"/><Relationship Id="rId2" Type="http://schemas.openxmlformats.org/officeDocument/2006/relationships/tags" Target="../tags/tag32.xml"/><Relationship Id="rId16" Type="http://schemas.openxmlformats.org/officeDocument/2006/relationships/image" Target="../media/image39.wmf"/><Relationship Id="rId1" Type="http://schemas.openxmlformats.org/officeDocument/2006/relationships/vmlDrawing" Target="../drawings/vmlDrawing15.vml"/><Relationship Id="rId6" Type="http://schemas.openxmlformats.org/officeDocument/2006/relationships/chart" Target="../charts/chart5.xml"/><Relationship Id="rId11" Type="http://schemas.openxmlformats.org/officeDocument/2006/relationships/oleObject" Target="../embeddings/oleObject30.bin"/><Relationship Id="rId5" Type="http://schemas.openxmlformats.org/officeDocument/2006/relationships/chart" Target="../charts/chart4.xml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43.wmf"/><Relationship Id="rId4" Type="http://schemas.openxmlformats.org/officeDocument/2006/relationships/chart" Target="../charts/chart3.xml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45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4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8.emf"/><Relationship Id="rId4" Type="http://schemas.openxmlformats.org/officeDocument/2006/relationships/oleObject" Target="../embeddings/oleObject35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www.washingtonpost.com/news/answer-sheet/wp/2014/06/09/how-much-bill-gatess-disappointing-small-schools-effort-really-cost/" TargetMode="External"/><Relationship Id="rId2" Type="http://schemas.openxmlformats.org/officeDocument/2006/relationships/tags" Target="../tags/tag4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3.jpeg"/><Relationship Id="rId5" Type="http://schemas.openxmlformats.org/officeDocument/2006/relationships/image" Target="../media/image52.wmf"/><Relationship Id="rId4" Type="http://schemas.openxmlformats.org/officeDocument/2006/relationships/oleObject" Target="../embeddings/oleObject37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38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42.xml"/><Relationship Id="rId6" Type="http://schemas.openxmlformats.org/officeDocument/2006/relationships/image" Target="../media/image56.png"/><Relationship Id="rId5" Type="http://schemas.openxmlformats.org/officeDocument/2006/relationships/audio" Target="../media/audio1.wav"/><Relationship Id="rId4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tags" Target="../tags/tag43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57.png"/><Relationship Id="rId4" Type="http://schemas.openxmlformats.org/officeDocument/2006/relationships/oleObject" Target="../embeddings/oleObject39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6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slideLayout" Target="../slideLayouts/slideLayout38.xml"/><Relationship Id="rId7" Type="http://schemas.openxmlformats.org/officeDocument/2006/relationships/oleObject" Target="../embeddings/oleObject41.bin"/><Relationship Id="rId2" Type="http://schemas.openxmlformats.org/officeDocument/2006/relationships/tags" Target="../tags/tag4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1.emf"/><Relationship Id="rId5" Type="http://schemas.openxmlformats.org/officeDocument/2006/relationships/image" Target="../media/image59.wmf"/><Relationship Id="rId4" Type="http://schemas.openxmlformats.org/officeDocument/2006/relationships/oleObject" Target="../embeddings/oleObject40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8.xml"/><Relationship Id="rId4" Type="http://schemas.openxmlformats.org/officeDocument/2006/relationships/image" Target="../media/image58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tags" Target="../tags/tag50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3.png"/><Relationship Id="rId5" Type="http://schemas.openxmlformats.org/officeDocument/2006/relationships/image" Target="../media/image62.wmf"/><Relationship Id="rId4" Type="http://schemas.openxmlformats.org/officeDocument/2006/relationships/oleObject" Target="../embeddings/oleObject42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64.wmf"/><Relationship Id="rId2" Type="http://schemas.openxmlformats.org/officeDocument/2006/relationships/tags" Target="../tags/tag51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43.bin"/><Relationship Id="rId5" Type="http://schemas.openxmlformats.org/officeDocument/2006/relationships/chart" Target="../charts/chart6.xml"/><Relationship Id="rId4" Type="http://schemas.openxmlformats.org/officeDocument/2006/relationships/image" Target="../media/image6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66.wmf"/><Relationship Id="rId2" Type="http://schemas.openxmlformats.org/officeDocument/2006/relationships/tags" Target="../tags/tag5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44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3.pn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71.png"/><Relationship Id="rId12" Type="http://schemas.openxmlformats.org/officeDocument/2006/relationships/image" Target="../media/image69.wmf"/><Relationship Id="rId2" Type="http://schemas.openxmlformats.org/officeDocument/2006/relationships/tags" Target="../tags/tag5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70.png"/><Relationship Id="rId11" Type="http://schemas.openxmlformats.org/officeDocument/2006/relationships/oleObject" Target="../embeddings/oleObject48.bin"/><Relationship Id="rId5" Type="http://schemas.openxmlformats.org/officeDocument/2006/relationships/image" Target="../media/image67.wmf"/><Relationship Id="rId10" Type="http://schemas.openxmlformats.org/officeDocument/2006/relationships/image" Target="../media/image68.wmf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47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76.png"/><Relationship Id="rId2" Type="http://schemas.openxmlformats.org/officeDocument/2006/relationships/tags" Target="../tags/tag54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5.png"/><Relationship Id="rId5" Type="http://schemas.openxmlformats.org/officeDocument/2006/relationships/image" Target="../media/image74.wmf"/><Relationship Id="rId4" Type="http://schemas.openxmlformats.org/officeDocument/2006/relationships/oleObject" Target="../embeddings/oleObject49.bin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5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79.png"/><Relationship Id="rId2" Type="http://schemas.openxmlformats.org/officeDocument/2006/relationships/tags" Target="../tags/tag56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8.png"/><Relationship Id="rId5" Type="http://schemas.openxmlformats.org/officeDocument/2006/relationships/image" Target="../media/image77.wmf"/><Relationship Id="rId4" Type="http://schemas.openxmlformats.org/officeDocument/2006/relationships/oleObject" Target="../embeddings/oleObject50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82.png"/><Relationship Id="rId2" Type="http://schemas.openxmlformats.org/officeDocument/2006/relationships/tags" Target="../tags/tag5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81.png"/><Relationship Id="rId5" Type="http://schemas.openxmlformats.org/officeDocument/2006/relationships/image" Target="../media/image80.wmf"/><Relationship Id="rId10" Type="http://schemas.openxmlformats.org/officeDocument/2006/relationships/image" Target="../media/image85.png"/><Relationship Id="rId4" Type="http://schemas.openxmlformats.org/officeDocument/2006/relationships/oleObject" Target="../embeddings/oleObject51.bin"/><Relationship Id="rId9" Type="http://schemas.openxmlformats.org/officeDocument/2006/relationships/image" Target="../media/image8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5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tags" Target="../tags/tag59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86.wmf"/><Relationship Id="rId4" Type="http://schemas.openxmlformats.org/officeDocument/2006/relationships/oleObject" Target="../embeddings/oleObject52.bin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6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6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6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63.xml"/><Relationship Id="rId4" Type="http://schemas.openxmlformats.org/officeDocument/2006/relationships/image" Target="../media/image88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90.wmf"/><Relationship Id="rId2" Type="http://schemas.openxmlformats.org/officeDocument/2006/relationships/tags" Target="../tags/tag64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53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oleObject" Target="../embeddings/oleObject59.bin"/><Relationship Id="rId3" Type="http://schemas.openxmlformats.org/officeDocument/2006/relationships/oleObject" Target="../embeddings/oleObject55.bin"/><Relationship Id="rId7" Type="http://schemas.openxmlformats.org/officeDocument/2006/relationships/image" Target="../media/image92.wmf"/><Relationship Id="rId12" Type="http://schemas.openxmlformats.org/officeDocument/2006/relationships/image" Target="../media/image98.png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96.wmf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94.wmf"/><Relationship Id="rId5" Type="http://schemas.openxmlformats.org/officeDocument/2006/relationships/image" Target="../media/image97.png"/><Relationship Id="rId15" Type="http://schemas.openxmlformats.org/officeDocument/2006/relationships/oleObject" Target="../embeddings/oleObject60.bin"/><Relationship Id="rId10" Type="http://schemas.openxmlformats.org/officeDocument/2006/relationships/oleObject" Target="../embeddings/oleObject58.bin"/><Relationship Id="rId4" Type="http://schemas.openxmlformats.org/officeDocument/2006/relationships/image" Target="../media/image91.wmf"/><Relationship Id="rId9" Type="http://schemas.openxmlformats.org/officeDocument/2006/relationships/image" Target="../media/image93.wmf"/><Relationship Id="rId14" Type="http://schemas.openxmlformats.org/officeDocument/2006/relationships/image" Target="../media/image9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097740"/>
            <a:ext cx="7772400" cy="1788459"/>
          </a:xfrm>
          <a:solidFill>
            <a:srgbClr val="FFD54F"/>
          </a:solidFill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Sampling Distribution Models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and the Central Limit Theorem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pPr marL="342900" indent="-342900"/>
            <a:r>
              <a:rPr lang="en-US" smtClean="0"/>
              <a:t>Transition from Data Analysis and Probability to Statistics</a:t>
            </a:r>
          </a:p>
        </p:txBody>
      </p:sp>
      <p:pic>
        <p:nvPicPr>
          <p:cNvPr id="2052" name="Picture 5" descr="https://encrypted-tbn0.gstatic.com/images?q=tbn:ANd9GcQGurW3KvDoe269WmBPV4XKTBER6c4xnPZb6ba159Jgemm60Vl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724401"/>
            <a:ext cx="19558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7" descr="https://encrypted-tbn2.gstatic.com/images?q=tbn:ANd9GcSGt_cIhbhtxmB4QlRLo-pd_te2T3h-IQSvpoIwsZ20NmCAsw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1" y="50801"/>
            <a:ext cx="19907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8" descr="https://encrypted-tbn2.gstatic.com/images?q=tbn:ANd9GcSxFEDD6txvaEpbdQJ01mZNCjXmt_ncHBfpwGipZWWgOJ9aZ-M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50801"/>
            <a:ext cx="16065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 descr="https://encrypted-tbn1.gstatic.com/images?q=tbn:ANd9GcSzTvquSMlM14t_FEoMVydjZqjPkx8BVYnUlb93Ir3-0cF_QUJ_sQ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1" y="4838700"/>
            <a:ext cx="24114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4862911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00618" y="192741"/>
            <a:ext cx="7772400" cy="1788459"/>
          </a:xfrm>
          <a:prstGeom prst="rect">
            <a:avLst/>
          </a:prstGeom>
          <a:solidFill>
            <a:srgbClr val="FFD54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smtClean="0">
                <a:solidFill>
                  <a:srgbClr val="FF0000"/>
                </a:solidFill>
              </a:rPr>
              <a:t>Sampling Distribution Models</a:t>
            </a:r>
            <a:br>
              <a:rPr lang="en-US" kern="0" smtClean="0">
                <a:solidFill>
                  <a:srgbClr val="FF0000"/>
                </a:solidFill>
              </a:rPr>
            </a:br>
            <a:r>
              <a:rPr lang="en-US" kern="0" smtClean="0">
                <a:solidFill>
                  <a:srgbClr val="FF0000"/>
                </a:solidFill>
              </a:rPr>
              <a:t>and the Central Limit Theorem</a:t>
            </a:r>
            <a:endParaRPr lang="en-US" kern="0" dirty="0" smtClean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618" y="2209867"/>
            <a:ext cx="7772400" cy="4572000"/>
          </a:xfrm>
          <a:prstGeom prst="rect">
            <a:avLst/>
          </a:prstGeom>
          <a:solidFill>
            <a:srgbClr val="FFD54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 b="1" i="0" kern="0" dirty="0" smtClean="0">
                <a:solidFill>
                  <a:srgbClr val="FF0000"/>
                </a:solidFill>
              </a:rPr>
              <a:t>OBJECTIVES</a:t>
            </a:r>
          </a:p>
          <a:p>
            <a:pPr algn="ctr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 i="0" u="sng" kern="0" dirty="0" smtClean="0"/>
              <a:t>At the conclusion of this unit you should be able to:</a:t>
            </a:r>
          </a:p>
          <a:p>
            <a:pPr algn="ctr">
              <a:lnSpc>
                <a:spcPct val="90000"/>
              </a:lnSpc>
              <a:buFont typeface="Monotype Sorts" pitchFamily="2" charset="2"/>
              <a:buNone/>
            </a:pPr>
            <a:endParaRPr lang="en-US" altLang="en-US" sz="2400" i="0" u="sng" kern="0" dirty="0" smtClean="0"/>
          </a:p>
          <a:p>
            <a:pPr>
              <a:lnSpc>
                <a:spcPct val="90000"/>
              </a:lnSpc>
            </a:pPr>
            <a:r>
              <a:rPr lang="en-US" altLang="en-US" sz="2400" kern="0" dirty="0" smtClean="0"/>
              <a:t> 1)</a:t>
            </a:r>
            <a:r>
              <a:rPr lang="en-US" altLang="en-US" sz="2400" kern="0" dirty="0"/>
              <a:t>	</a:t>
            </a:r>
            <a:r>
              <a:rPr lang="en-US" altLang="en-US" sz="2400" kern="0" dirty="0" smtClean="0"/>
              <a:t>Derive </a:t>
            </a:r>
            <a:r>
              <a:rPr lang="en-US" altLang="en-US" sz="2400" kern="0" dirty="0"/>
              <a:t>the correct sampling distribution model when given the population </a:t>
            </a:r>
            <a:r>
              <a:rPr lang="en-US" altLang="en-US" sz="2400" kern="0" dirty="0" smtClean="0"/>
              <a:t>parameters</a:t>
            </a:r>
          </a:p>
          <a:p>
            <a:pPr>
              <a:lnSpc>
                <a:spcPct val="90000"/>
              </a:lnSpc>
            </a:pPr>
            <a:endParaRPr lang="en-US" altLang="en-US" sz="2400" kern="0" dirty="0" smtClean="0"/>
          </a:p>
          <a:p>
            <a:pPr>
              <a:lnSpc>
                <a:spcPct val="90000"/>
              </a:lnSpc>
            </a:pPr>
            <a:r>
              <a:rPr lang="en-US" altLang="en-US" sz="2400" kern="0" dirty="0" smtClean="0"/>
              <a:t> 2)</a:t>
            </a:r>
            <a:r>
              <a:rPr lang="en-US" altLang="en-US" sz="2400" kern="0" dirty="0"/>
              <a:t>	</a:t>
            </a:r>
            <a:r>
              <a:rPr lang="en-US" altLang="en-US" sz="2400" kern="0" dirty="0" smtClean="0"/>
              <a:t>Correctly apply </a:t>
            </a:r>
            <a:r>
              <a:rPr lang="en-US" altLang="en-US" sz="2400" kern="0" dirty="0"/>
              <a:t>the Central Limit Theorem to calculate probabilities associated with a sample proportion and sample mean</a:t>
            </a:r>
            <a:endParaRPr lang="en-US" altLang="en-US" sz="2400" kern="0" dirty="0" smtClean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sz="2400" kern="0" dirty="0" smtClean="0"/>
          </a:p>
          <a:p>
            <a:pPr>
              <a:lnSpc>
                <a:spcPct val="90000"/>
              </a:lnSpc>
            </a:pPr>
            <a:endParaRPr lang="en-US" altLang="en-US" sz="2400" kern="0" dirty="0" smtClean="0"/>
          </a:p>
          <a:p>
            <a:pPr>
              <a:lnSpc>
                <a:spcPct val="90000"/>
              </a:lnSpc>
            </a:pPr>
            <a:endParaRPr lang="en-US" altLang="en-US" sz="2400" kern="0" dirty="0" smtClean="0"/>
          </a:p>
        </p:txBody>
      </p:sp>
    </p:spTree>
    <p:extLst>
      <p:ext uri="{BB962C8B-B14F-4D97-AF65-F5344CB8AC3E}">
        <p14:creationId xmlns:p14="http://schemas.microsoft.com/office/powerpoint/2010/main" val="362633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111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905000" y="609600"/>
            <a:ext cx="4040188" cy="639762"/>
          </a:xfrm>
        </p:spPr>
        <p:txBody>
          <a:bodyPr/>
          <a:lstStyle/>
          <a:p>
            <a:r>
              <a:rPr lang="en-US" dirty="0" smtClean="0"/>
              <a:t>Probability: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905000" y="1295401"/>
            <a:ext cx="4040188" cy="981075"/>
          </a:xfrm>
        </p:spPr>
        <p:txBody>
          <a:bodyPr/>
          <a:lstStyle/>
          <a:p>
            <a:r>
              <a:rPr lang="en-US" dirty="0" smtClean="0"/>
              <a:t>From population to sample (deduction)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096001" y="609600"/>
            <a:ext cx="4041775" cy="639762"/>
          </a:xfrm>
        </p:spPr>
        <p:txBody>
          <a:bodyPr/>
          <a:lstStyle/>
          <a:p>
            <a:r>
              <a:rPr lang="en-US" dirty="0" smtClean="0"/>
              <a:t>Statistics: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096001" y="1206499"/>
            <a:ext cx="4041775" cy="989013"/>
          </a:xfrm>
        </p:spPr>
        <p:txBody>
          <a:bodyPr/>
          <a:lstStyle/>
          <a:p>
            <a:r>
              <a:rPr lang="en-US" dirty="0" smtClean="0"/>
              <a:t>From sample to the population (induction)</a:t>
            </a:r>
            <a:endParaRPr lang="en-US" dirty="0"/>
          </a:p>
        </p:txBody>
      </p:sp>
      <p:pic>
        <p:nvPicPr>
          <p:cNvPr id="68610" name="Picture 2" descr="C:\Users\reiland\Desktop\probability statistic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276475"/>
            <a:ext cx="4064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Bent Arrow 8"/>
          <p:cNvSpPr/>
          <p:nvPr/>
        </p:nvSpPr>
        <p:spPr bwMode="auto">
          <a:xfrm>
            <a:off x="2514600" y="2276476"/>
            <a:ext cx="609600" cy="2219325"/>
          </a:xfrm>
          <a:prstGeom prst="ben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5400000" lon="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Arial" charset="0"/>
            </a:endParaRPr>
          </a:p>
        </p:txBody>
      </p:sp>
      <p:sp>
        <p:nvSpPr>
          <p:cNvPr id="10" name="Bent Arrow 9"/>
          <p:cNvSpPr/>
          <p:nvPr/>
        </p:nvSpPr>
        <p:spPr bwMode="auto">
          <a:xfrm rot="10800000">
            <a:off x="2667000" y="2105025"/>
            <a:ext cx="914400" cy="2524125"/>
          </a:xfrm>
          <a:prstGeom prst="ben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stA="45000" endPos="0" dist="50800" dir="5400000" sy="-100000" algn="bl" rotWithShape="0"/>
          </a:effectLst>
          <a:scene3d>
            <a:camera prst="orthographicFront">
              <a:rot lat="0" lon="1080000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Arial" charset="0"/>
            </a:endParaRPr>
          </a:p>
        </p:txBody>
      </p:sp>
      <p:sp>
        <p:nvSpPr>
          <p:cNvPr id="11" name="Bent Arrow 10"/>
          <p:cNvSpPr/>
          <p:nvPr/>
        </p:nvSpPr>
        <p:spPr bwMode="auto">
          <a:xfrm>
            <a:off x="8229600" y="2019298"/>
            <a:ext cx="914400" cy="1347788"/>
          </a:xfrm>
          <a:prstGeom prst="ben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28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  <a:noFill/>
        </p:spPr>
        <p:txBody>
          <a:bodyPr/>
          <a:lstStyle/>
          <a:p>
            <a:r>
              <a:rPr lang="en-US" altLang="en-US" smtClean="0"/>
              <a:t>Sampling Distributions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799" y="1143000"/>
            <a:ext cx="7916839" cy="51816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u="sng" dirty="0"/>
              <a:t>Population parameter</a:t>
            </a:r>
            <a:r>
              <a:rPr lang="en-US" altLang="en-US" sz="2800" dirty="0"/>
              <a:t>: a numerical descriptive measure of a population.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 dirty="0"/>
              <a:t>(for example: </a:t>
            </a:r>
            <a:r>
              <a:rPr lang="en-US" altLang="en-US" sz="2800" dirty="0">
                <a:latin typeface="Symbol" pitchFamily="18" charset="2"/>
              </a:rPr>
              <a:t> , </a:t>
            </a:r>
            <a:r>
              <a:rPr lang="en-US" altLang="en-US" sz="2800" dirty="0"/>
              <a:t>p </a:t>
            </a:r>
            <a:r>
              <a:rPr lang="en-US" altLang="en-US" sz="2800" i="0" dirty="0"/>
              <a:t>(a population proportion)</a:t>
            </a:r>
            <a:r>
              <a:rPr lang="en-US" altLang="en-US" sz="2800" dirty="0"/>
              <a:t>; the numerical value of a population parameter is usually not known)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 u="sng" dirty="0" smtClean="0"/>
              <a:t>Examples</a:t>
            </a:r>
            <a:r>
              <a:rPr lang="en-US" altLang="en-US" sz="2800" dirty="0" smtClean="0"/>
              <a:t>: </a:t>
            </a:r>
            <a:r>
              <a:rPr lang="en-US" altLang="en-US" sz="2800" dirty="0">
                <a:latin typeface="Symbol" pitchFamily="18" charset="2"/>
              </a:rPr>
              <a:t> </a:t>
            </a:r>
            <a:r>
              <a:rPr lang="en-US" altLang="en-US" sz="2800" i="0" dirty="0">
                <a:latin typeface="Symbol" pitchFamily="18" charset="2"/>
              </a:rPr>
              <a:t>= </a:t>
            </a:r>
            <a:r>
              <a:rPr lang="en-US" altLang="en-US" sz="2800" dirty="0"/>
              <a:t>mean height of all NCSU students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 dirty="0"/>
              <a:t>p=proportion of Raleigh residents who favor stricter gun control laws</a:t>
            </a:r>
          </a:p>
          <a:p>
            <a:pPr>
              <a:lnSpc>
                <a:spcPct val="90000"/>
              </a:lnSpc>
            </a:pPr>
            <a:r>
              <a:rPr lang="en-US" altLang="en-US" sz="2800" u="sng" dirty="0"/>
              <a:t>Sample statistic</a:t>
            </a:r>
            <a:r>
              <a:rPr lang="en-US" altLang="en-US" sz="2800" dirty="0"/>
              <a:t>: a numerical descriptive measure calculated from sample data.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 dirty="0"/>
              <a:t>(</a:t>
            </a:r>
            <a:r>
              <a:rPr lang="en-US" altLang="en-US" sz="2800" dirty="0" err="1"/>
              <a:t>e.g</a:t>
            </a:r>
            <a:r>
              <a:rPr lang="en-US" altLang="en-US" sz="2800" dirty="0"/>
              <a:t>, x, s, p (sample proportion))</a:t>
            </a: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3048000" y="54864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Line 5"/>
          <p:cNvSpPr>
            <a:spLocks noChangeShapeType="1"/>
          </p:cNvSpPr>
          <p:nvPr/>
        </p:nvSpPr>
        <p:spPr bwMode="auto">
          <a:xfrm flipV="1">
            <a:off x="3886200" y="54102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Line 6"/>
          <p:cNvSpPr>
            <a:spLocks noChangeShapeType="1"/>
          </p:cNvSpPr>
          <p:nvPr/>
        </p:nvSpPr>
        <p:spPr bwMode="auto">
          <a:xfrm>
            <a:off x="4038601" y="5410200"/>
            <a:ext cx="87313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362152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 autoUpdateAnimBg="0"/>
      <p:bldP spid="3076" grpId="0" animBg="1"/>
      <p:bldP spid="3077" grpId="0" animBg="1"/>
      <p:bldP spid="307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5943600" cy="838200"/>
          </a:xfrm>
        </p:spPr>
        <p:txBody>
          <a:bodyPr/>
          <a:lstStyle/>
          <a:p>
            <a:r>
              <a:rPr lang="en-US" altLang="en-US" smtClean="0"/>
              <a:t>Parameters; Statistics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990600"/>
            <a:ext cx="77724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000" dirty="0"/>
              <a:t>In real life  parameters of populations are </a:t>
            </a:r>
            <a:r>
              <a:rPr lang="en-US" altLang="en-US" sz="3000" i="0" u="sng" dirty="0"/>
              <a:t>unknown</a:t>
            </a:r>
            <a:r>
              <a:rPr lang="en-US" altLang="en-US" sz="3000" dirty="0"/>
              <a:t> and </a:t>
            </a:r>
            <a:r>
              <a:rPr lang="en-US" altLang="en-US" sz="3000" u="sng" dirty="0"/>
              <a:t>unknowable</a:t>
            </a:r>
            <a:r>
              <a:rPr lang="en-US" altLang="en-US" sz="3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For example, the mean height of US adult (18+) men is unknown and unknowable</a:t>
            </a:r>
          </a:p>
          <a:p>
            <a:pPr>
              <a:lnSpc>
                <a:spcPct val="90000"/>
              </a:lnSpc>
            </a:pPr>
            <a:r>
              <a:rPr lang="en-US" altLang="en-US" sz="3000" dirty="0"/>
              <a:t>Rather than investigating the whole population, we take a sample, calculate a </a:t>
            </a:r>
            <a:r>
              <a:rPr lang="en-US" altLang="en-US" sz="3000" b="1" dirty="0"/>
              <a:t>statistic</a:t>
            </a:r>
            <a:r>
              <a:rPr lang="en-US" altLang="en-US" sz="3000" dirty="0"/>
              <a:t> related to the </a:t>
            </a:r>
            <a:r>
              <a:rPr lang="en-US" altLang="en-US" sz="3000" b="1" dirty="0"/>
              <a:t>parameter</a:t>
            </a:r>
            <a:r>
              <a:rPr lang="en-US" altLang="en-US" sz="3000" dirty="0"/>
              <a:t> of interest, and make an inference. </a:t>
            </a:r>
          </a:p>
          <a:p>
            <a:pPr>
              <a:lnSpc>
                <a:spcPct val="90000"/>
              </a:lnSpc>
            </a:pPr>
            <a:r>
              <a:rPr lang="en-US" altLang="en-US" sz="3000" dirty="0"/>
              <a:t>The </a:t>
            </a:r>
            <a:r>
              <a:rPr lang="en-US" altLang="en-US" sz="3000" b="1" dirty="0"/>
              <a:t>sampling distribution</a:t>
            </a:r>
            <a:r>
              <a:rPr lang="en-US" altLang="en-US" sz="3000" dirty="0"/>
              <a:t> of the </a:t>
            </a:r>
            <a:r>
              <a:rPr lang="en-US" altLang="en-US" sz="3000" b="1" dirty="0"/>
              <a:t>statistic</a:t>
            </a:r>
            <a:r>
              <a:rPr lang="en-US" altLang="en-US" sz="3000" dirty="0"/>
              <a:t> tells us how the value of the </a:t>
            </a:r>
            <a:r>
              <a:rPr lang="en-US" altLang="en-US" sz="3000" b="1" dirty="0"/>
              <a:t>statistic</a:t>
            </a:r>
            <a:r>
              <a:rPr lang="en-US" altLang="en-US" sz="3000" dirty="0"/>
              <a:t> varies from sample to sample.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637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8229600" cy="914400"/>
          </a:xfrm>
          <a:noFill/>
        </p:spPr>
        <p:txBody>
          <a:bodyPr/>
          <a:lstStyle/>
          <a:p>
            <a:pPr algn="l"/>
            <a:r>
              <a:rPr lang="en-US" sz="4000" dirty="0"/>
              <a:t>DEFINITION: Sampling Distribution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990600"/>
            <a:ext cx="7772400" cy="3048000"/>
          </a:xfrm>
          <a:solidFill>
            <a:srgbClr val="FFC000"/>
          </a:solidFill>
        </p:spPr>
        <p:txBody>
          <a:bodyPr/>
          <a:lstStyle/>
          <a:p>
            <a:r>
              <a:rPr lang="en-US" dirty="0" smtClean="0"/>
              <a:t>The </a:t>
            </a:r>
            <a:r>
              <a:rPr lang="en-US" u="sng" dirty="0" smtClean="0"/>
              <a:t>sampling distribution</a:t>
            </a:r>
            <a:r>
              <a:rPr lang="en-US" dirty="0" smtClean="0"/>
              <a:t> of a sample statistic calculated from a sample of n measurements is the </a:t>
            </a:r>
            <a:r>
              <a:rPr lang="en-US" b="1" dirty="0" smtClean="0"/>
              <a:t>probability distribution</a:t>
            </a:r>
            <a:r>
              <a:rPr lang="en-US" dirty="0" smtClean="0"/>
              <a:t> of values taken by the statistic in all possible samples of size n taken from the same population.</a:t>
            </a:r>
          </a:p>
        </p:txBody>
      </p:sp>
      <p:pic>
        <p:nvPicPr>
          <p:cNvPr id="71682" name="Picture 2" descr="https://encrypted-tbn0.gstatic.com/images?q=tbn:ANd9GcSzU00eZVSqg0-QV_xICz5OoDG5POy9lPxprZerZgViGqzYJVHZa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114800"/>
            <a:ext cx="4048072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400800" y="4343401"/>
            <a:ext cx="34290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Based </a:t>
            </a:r>
            <a:r>
              <a:rPr lang="en-US" u="sng" dirty="0"/>
              <a:t>on all</a:t>
            </a:r>
            <a:r>
              <a:rPr lang="en-US" dirty="0"/>
              <a:t> possible samples of size 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848042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altLang="en-US" dirty="0" smtClean="0"/>
              <a:t>Constructing a Sampling Distribution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3956" y="1905000"/>
            <a:ext cx="7772400" cy="3581400"/>
          </a:xfrm>
          <a:noFill/>
        </p:spPr>
        <p:txBody>
          <a:bodyPr/>
          <a:lstStyle/>
          <a:p>
            <a:r>
              <a:rPr lang="en-US" altLang="en-US" sz="2800" dirty="0"/>
              <a:t>In some cases the sampling distribution can be determined exactly.</a:t>
            </a:r>
          </a:p>
          <a:p>
            <a:r>
              <a:rPr lang="en-US" altLang="en-US" sz="2800" dirty="0"/>
              <a:t>In other cases it must be approximated by using a computer to draw </a:t>
            </a:r>
            <a:r>
              <a:rPr lang="en-US" altLang="en-US" sz="2800" u="sng" dirty="0"/>
              <a:t>some</a:t>
            </a:r>
            <a:r>
              <a:rPr lang="en-US" altLang="en-US" sz="2800" dirty="0"/>
              <a:t> of the possible samples of size n and drawing a histogram.</a:t>
            </a:r>
          </a:p>
          <a:p>
            <a:pPr>
              <a:buFont typeface="Monotype Sorts" pitchFamily="2" charset="2"/>
              <a:buNone/>
            </a:pPr>
            <a:endParaRPr lang="en-US" altLang="en-US" dirty="0" smtClean="0"/>
          </a:p>
          <a:p>
            <a:pPr lvl="4">
              <a:buFontTx/>
              <a:buNone/>
            </a:pPr>
            <a:endParaRPr lang="en-US" alt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14212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497540"/>
            <a:ext cx="7772400" cy="1893484"/>
          </a:xfrm>
          <a:solidFill>
            <a:srgbClr val="F1A949"/>
          </a:solidFill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Sampling Distribution Models of Sample Proportions</a:t>
            </a:r>
          </a:p>
        </p:txBody>
      </p:sp>
      <p:pic>
        <p:nvPicPr>
          <p:cNvPr id="2052" name="Picture 5" descr="https://encrypted-tbn0.gstatic.com/images?q=tbn:ANd9GcQGurW3KvDoe269WmBPV4XKTBER6c4xnPZb6ba159Jgemm60Vl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724401"/>
            <a:ext cx="19558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7" descr="https://encrypted-tbn2.gstatic.com/images?q=tbn:ANd9GcSGt_cIhbhtxmB4QlRLo-pd_te2T3h-IQSvpoIwsZ20NmCAsw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475" y="50800"/>
            <a:ext cx="19907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8" descr="https://encrypted-tbn2.gstatic.com/images?q=tbn:ANd9GcSxFEDD6txvaEpbdQJ01mZNCjXmt_ncHBfpwGipZWWgOJ9aZ-M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50801"/>
            <a:ext cx="16065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 descr="https://encrypted-tbn1.gstatic.com/images?q=tbn:ANd9GcSzTvquSMlM14t_FEoMVydjZqjPkx8BVYnUlb93Ir3-0cF_QUJ_sQ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1" y="4838700"/>
            <a:ext cx="24114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152366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7772400" cy="4572000"/>
          </a:xfrm>
        </p:spPr>
        <p:txBody>
          <a:bodyPr/>
          <a:lstStyle/>
          <a:p>
            <a:r>
              <a:rPr lang="en-US" altLang="en-US" sz="2800" dirty="0"/>
              <a:t>If a coin is fair the probability of a head on any toss of the coin is </a:t>
            </a:r>
            <a:r>
              <a:rPr lang="en-US" altLang="en-US" sz="2800" b="1" dirty="0">
                <a:solidFill>
                  <a:srgbClr val="FF0000"/>
                </a:solidFill>
              </a:rPr>
              <a:t>p = 0.5</a:t>
            </a:r>
            <a:r>
              <a:rPr lang="en-US" altLang="en-US" sz="2800" i="0" dirty="0"/>
              <a:t> (</a:t>
            </a:r>
            <a:r>
              <a:rPr lang="en-US" altLang="en-US" sz="2800" b="1" dirty="0">
                <a:solidFill>
                  <a:srgbClr val="FF0000"/>
                </a:solidFill>
              </a:rPr>
              <a:t>p </a:t>
            </a:r>
            <a:r>
              <a:rPr lang="en-US" altLang="en-US" sz="2800" i="0" dirty="0"/>
              <a:t>is the population parameter)</a:t>
            </a:r>
            <a:endParaRPr lang="en-US" altLang="en-US" sz="2800" dirty="0"/>
          </a:p>
          <a:p>
            <a:r>
              <a:rPr lang="en-US" altLang="en-US" sz="2800" dirty="0"/>
              <a:t>Imagine tossing this fair coin 4 times and calculating the proportion p of the 4 tosses that result in heads (note that p = x/4, where x is the number of heads in 4 tosses).</a:t>
            </a:r>
          </a:p>
          <a:p>
            <a:r>
              <a:rPr lang="en-US" altLang="en-US" sz="2800" b="1" dirty="0"/>
              <a:t>Objective</a:t>
            </a:r>
            <a:r>
              <a:rPr lang="en-US" altLang="en-US" sz="2800" dirty="0"/>
              <a:t>: determine the sampling distribution of p, the proportion of heads in 4 tosses of a fair coin.</a:t>
            </a:r>
            <a:endParaRPr lang="en-US" altLang="en-US" sz="2800" b="1" dirty="0"/>
          </a:p>
          <a:p>
            <a:endParaRPr lang="en-US" altLang="en-US" sz="2800" dirty="0"/>
          </a:p>
          <a:p>
            <a:endParaRPr lang="en-US" altLang="en-US" sz="2800" dirty="0"/>
          </a:p>
        </p:txBody>
      </p:sp>
      <p:sp>
        <p:nvSpPr>
          <p:cNvPr id="7171" name="Line 4"/>
          <p:cNvSpPr>
            <a:spLocks noChangeShapeType="1"/>
          </p:cNvSpPr>
          <p:nvPr/>
        </p:nvSpPr>
        <p:spPr bwMode="auto">
          <a:xfrm flipV="1">
            <a:off x="3352800" y="8001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Line 5"/>
          <p:cNvSpPr>
            <a:spLocks noChangeShapeType="1"/>
          </p:cNvSpPr>
          <p:nvPr/>
        </p:nvSpPr>
        <p:spPr bwMode="auto">
          <a:xfrm>
            <a:off x="3505200" y="8001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3" name="Line 6"/>
          <p:cNvSpPr>
            <a:spLocks noChangeShapeType="1"/>
          </p:cNvSpPr>
          <p:nvPr/>
        </p:nvSpPr>
        <p:spPr bwMode="auto">
          <a:xfrm flipV="1">
            <a:off x="6705600" y="33528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Line 7"/>
          <p:cNvSpPr>
            <a:spLocks noChangeShapeType="1"/>
          </p:cNvSpPr>
          <p:nvPr/>
        </p:nvSpPr>
        <p:spPr bwMode="auto">
          <a:xfrm>
            <a:off x="6858000" y="33528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Rectangle 10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altLang="en-US" sz="4000" dirty="0"/>
              <a:t>Example: sampling distribution of p, the sample proportion</a:t>
            </a:r>
          </a:p>
        </p:txBody>
      </p:sp>
      <p:sp>
        <p:nvSpPr>
          <p:cNvPr id="7175" name="Line 8"/>
          <p:cNvSpPr>
            <a:spLocks noChangeShapeType="1"/>
          </p:cNvSpPr>
          <p:nvPr/>
        </p:nvSpPr>
        <p:spPr bwMode="auto">
          <a:xfrm flipV="1">
            <a:off x="7315200" y="37338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Line 9"/>
          <p:cNvSpPr>
            <a:spLocks noChangeShapeType="1"/>
          </p:cNvSpPr>
          <p:nvPr/>
        </p:nvSpPr>
        <p:spPr bwMode="auto">
          <a:xfrm>
            <a:off x="7467600" y="37338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Line 11"/>
          <p:cNvSpPr>
            <a:spLocks noChangeShapeType="1"/>
          </p:cNvSpPr>
          <p:nvPr/>
        </p:nvSpPr>
        <p:spPr bwMode="auto">
          <a:xfrm flipV="1">
            <a:off x="4800600" y="51054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Line 12"/>
          <p:cNvSpPr>
            <a:spLocks noChangeShapeType="1"/>
          </p:cNvSpPr>
          <p:nvPr/>
        </p:nvSpPr>
        <p:spPr bwMode="auto">
          <a:xfrm>
            <a:off x="4953000" y="51054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636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  <p:bldP spid="7173" grpId="0" animBg="1"/>
      <p:bldP spid="7174" grpId="0" animBg="1"/>
      <p:bldP spid="7175" grpId="0" animBg="1"/>
      <p:bldP spid="7176" grpId="0" animBg="1"/>
      <p:bldP spid="7178" grpId="0" animBg="1"/>
      <p:bldP spid="71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235" y="144101"/>
            <a:ext cx="8534400" cy="696394"/>
          </a:xfrm>
        </p:spPr>
        <p:txBody>
          <a:bodyPr/>
          <a:lstStyle/>
          <a:p>
            <a:r>
              <a:rPr lang="en-US" altLang="en-US" sz="4000" dirty="0"/>
              <a:t>Example: Sampling distribution of 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1398942"/>
            <a:ext cx="8763000" cy="2797612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There are 2</a:t>
            </a:r>
            <a:r>
              <a:rPr lang="en-US" sz="2400" baseline="30000" dirty="0"/>
              <a:t>4</a:t>
            </a:r>
            <a:r>
              <a:rPr lang="en-US" sz="2400" dirty="0"/>
              <a:t> = 16 equally likely possible outcomes</a:t>
            </a:r>
          </a:p>
          <a:p>
            <a:pPr marL="0" indent="0" algn="ctr">
              <a:buNone/>
            </a:pPr>
            <a:r>
              <a:rPr lang="en-US" sz="2400" i="0" dirty="0"/>
              <a:t>(1 =head, 0 =tail)</a:t>
            </a:r>
          </a:p>
          <a:p>
            <a:pPr marL="0" indent="0" algn="ctr">
              <a:buNone/>
            </a:pPr>
            <a:r>
              <a:rPr lang="en-US" sz="2400" i="0" dirty="0"/>
              <a:t>(1,1,1,1)  (1,1,1,0)  (1,1,0,1)  (1,0,1,1)</a:t>
            </a:r>
          </a:p>
          <a:p>
            <a:pPr marL="0" indent="0" algn="ctr">
              <a:buNone/>
            </a:pPr>
            <a:r>
              <a:rPr lang="en-US" sz="2400" i="0" dirty="0"/>
              <a:t>(0,1,1,1)  (1,1,0,0)  (1,0,1,0)  (1,0,0,1)</a:t>
            </a:r>
          </a:p>
          <a:p>
            <a:pPr marL="0" indent="0" algn="ctr">
              <a:buNone/>
            </a:pPr>
            <a:r>
              <a:rPr lang="en-US" sz="2400" i="0" dirty="0"/>
              <a:t>(0,1,1,0)  (0,1,0,1)  (0,0,1,1)  (1,0,0,0)</a:t>
            </a:r>
          </a:p>
          <a:p>
            <a:pPr marL="0" indent="0" algn="ctr">
              <a:buNone/>
            </a:pPr>
            <a:r>
              <a:rPr lang="en-US" sz="2400" i="0" dirty="0"/>
              <a:t>(0,1,0,0)  (0,0,1,0)  (0,0,0,1)  (0,0,0,0)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9829800" y="2286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9982200" y="228600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en-US" dirty="0"/>
          </a:p>
        </p:txBody>
      </p:sp>
      <p:graphicFrame>
        <p:nvGraphicFramePr>
          <p:cNvPr id="6" name="Group 53"/>
          <p:cNvGraphicFramePr>
            <a:graphicFrameLocks/>
          </p:cNvGraphicFramePr>
          <p:nvPr>
            <p:extLst/>
          </p:nvPr>
        </p:nvGraphicFramePr>
        <p:xfrm>
          <a:off x="2743201" y="4518102"/>
          <a:ext cx="6848659" cy="1609344"/>
        </p:xfrm>
        <a:graphic>
          <a:graphicData uri="http://schemas.openxmlformats.org/drawingml/2006/table">
            <a:tbl>
              <a:tblPr/>
              <a:tblGrid>
                <a:gridCol w="914400"/>
                <a:gridCol w="1217847"/>
                <a:gridCol w="1066800"/>
                <a:gridCol w="1216152"/>
                <a:gridCol w="1216152"/>
                <a:gridCol w="1217308"/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(0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 head)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P(p)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0.375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2982362" y="4648200"/>
            <a:ext cx="304800" cy="152400"/>
            <a:chOff x="2880" y="1680"/>
            <a:chExt cx="192" cy="96"/>
          </a:xfrm>
        </p:grpSpPr>
        <p:sp>
          <p:nvSpPr>
            <p:cNvPr id="8" name="Line 38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39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9"/>
          <p:cNvGrpSpPr>
            <a:grpSpLocks/>
          </p:cNvGrpSpPr>
          <p:nvPr/>
        </p:nvGrpSpPr>
        <p:grpSpPr bwMode="auto">
          <a:xfrm>
            <a:off x="3048000" y="5486400"/>
            <a:ext cx="304800" cy="152400"/>
            <a:chOff x="2880" y="1680"/>
            <a:chExt cx="192" cy="96"/>
          </a:xfrm>
        </p:grpSpPr>
        <p:sp>
          <p:nvSpPr>
            <p:cNvPr id="11" name="Line 60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61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3" name="Object 12"/>
          <p:cNvGraphicFramePr>
            <a:graphicFrameLocks noChangeAspect="1"/>
          </p:cNvGraphicFramePr>
          <p:nvPr>
            <p:extLst/>
          </p:nvPr>
        </p:nvGraphicFramePr>
        <p:xfrm>
          <a:off x="3134763" y="828080"/>
          <a:ext cx="5193067" cy="583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Equation" r:id="rId3" imgW="3504960" imgH="393480" progId="Equation.DSMT4">
                  <p:embed/>
                </p:oleObj>
              </mc:Choice>
              <mc:Fallback>
                <p:oleObj name="Equation" r:id="rId3" imgW="3504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4763" y="828080"/>
                        <a:ext cx="5193067" cy="58327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076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929" y="266700"/>
            <a:ext cx="7772400" cy="1143000"/>
          </a:xfrm>
        </p:spPr>
        <p:txBody>
          <a:bodyPr/>
          <a:lstStyle/>
          <a:p>
            <a:r>
              <a:rPr lang="en-US" dirty="0" smtClean="0"/>
              <a:t>Sampling distribution of p</a:t>
            </a:r>
            <a:endParaRPr lang="en-US" dirty="0"/>
          </a:p>
        </p:txBody>
      </p:sp>
      <p:graphicFrame>
        <p:nvGraphicFramePr>
          <p:cNvPr id="4" name="Group 53"/>
          <p:cNvGraphicFramePr>
            <a:graphicFrameLocks/>
          </p:cNvGraphicFramePr>
          <p:nvPr>
            <p:extLst/>
          </p:nvPr>
        </p:nvGraphicFramePr>
        <p:xfrm>
          <a:off x="2590801" y="1752600"/>
          <a:ext cx="6848659" cy="1609344"/>
        </p:xfrm>
        <a:graphic>
          <a:graphicData uri="http://schemas.openxmlformats.org/drawingml/2006/table">
            <a:tbl>
              <a:tblPr/>
              <a:tblGrid>
                <a:gridCol w="914400"/>
                <a:gridCol w="1217847"/>
                <a:gridCol w="1066800"/>
                <a:gridCol w="1216152"/>
                <a:gridCol w="1216152"/>
                <a:gridCol w="1217308"/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(0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 head)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P(p)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0.375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2819400" y="1909572"/>
            <a:ext cx="304800" cy="152400"/>
            <a:chOff x="2880" y="1680"/>
            <a:chExt cx="192" cy="96"/>
          </a:xfrm>
        </p:grpSpPr>
        <p:sp>
          <p:nvSpPr>
            <p:cNvPr id="6" name="Line 38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39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2885038" y="2747772"/>
            <a:ext cx="304800" cy="152400"/>
            <a:chOff x="2880" y="1680"/>
            <a:chExt cx="192" cy="96"/>
          </a:xfrm>
        </p:grpSpPr>
        <p:sp>
          <p:nvSpPr>
            <p:cNvPr id="9" name="Line 60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61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40"/>
          <p:cNvGrpSpPr>
            <a:grpSpLocks/>
          </p:cNvGrpSpPr>
          <p:nvPr/>
        </p:nvGrpSpPr>
        <p:grpSpPr bwMode="auto">
          <a:xfrm>
            <a:off x="8839200" y="533400"/>
            <a:ext cx="304800" cy="152400"/>
            <a:chOff x="2880" y="1680"/>
            <a:chExt cx="192" cy="96"/>
          </a:xfrm>
        </p:grpSpPr>
        <p:sp>
          <p:nvSpPr>
            <p:cNvPr id="12" name="Line 38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39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120" y="3505200"/>
            <a:ext cx="5417080" cy="327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6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838200"/>
          </a:xfrm>
        </p:spPr>
        <p:txBody>
          <a:bodyPr/>
          <a:lstStyle/>
          <a:p>
            <a:r>
              <a:rPr lang="en-US" altLang="en-US" sz="4000"/>
              <a:t>Sampling distribution of p (cont.)</a:t>
            </a:r>
          </a:p>
        </p:txBody>
      </p:sp>
      <p:sp>
        <p:nvSpPr>
          <p:cNvPr id="23592" name="Rectangle 40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2501302"/>
            <a:ext cx="8001000" cy="4128098"/>
          </a:xfrm>
        </p:spPr>
        <p:txBody>
          <a:bodyPr/>
          <a:lstStyle/>
          <a:p>
            <a:r>
              <a:rPr lang="en-US" altLang="en-US" sz="2400" dirty="0">
                <a:solidFill>
                  <a:schemeClr val="hlink"/>
                </a:solidFill>
              </a:rPr>
              <a:t>E(p)</a:t>
            </a:r>
            <a:r>
              <a:rPr lang="en-US" altLang="en-US" sz="2400" dirty="0"/>
              <a:t> =0*.0625+ 0.25*0.25+ 0.50*0.375 +0.75*0.25+ 1.0*0.0625 = </a:t>
            </a:r>
            <a:r>
              <a:rPr lang="en-US" altLang="en-US" sz="2400" dirty="0">
                <a:solidFill>
                  <a:schemeClr val="hlink"/>
                </a:solidFill>
              </a:rPr>
              <a:t>0.5 = p (the </a:t>
            </a:r>
            <a:r>
              <a:rPr lang="en-US" altLang="en-US" sz="2400" dirty="0" err="1">
                <a:solidFill>
                  <a:schemeClr val="hlink"/>
                </a:solidFill>
              </a:rPr>
              <a:t>prob</a:t>
            </a:r>
            <a:r>
              <a:rPr lang="en-US" altLang="en-US" sz="2400" dirty="0">
                <a:solidFill>
                  <a:schemeClr val="hlink"/>
                </a:solidFill>
              </a:rPr>
              <a:t> of heads)</a:t>
            </a:r>
          </a:p>
          <a:p>
            <a:r>
              <a:rPr lang="en-US" altLang="en-US" sz="2400" i="0" dirty="0" err="1">
                <a:solidFill>
                  <a:schemeClr val="hlink"/>
                </a:solidFill>
              </a:rPr>
              <a:t>Var</a:t>
            </a:r>
            <a:r>
              <a:rPr lang="en-US" altLang="en-US" sz="2400" i="0" dirty="0">
                <a:solidFill>
                  <a:schemeClr val="hlink"/>
                </a:solidFill>
              </a:rPr>
              <a:t>(p) </a:t>
            </a:r>
            <a:r>
              <a:rPr lang="en-US" altLang="en-US" sz="2400" i="0" dirty="0"/>
              <a:t>=</a:t>
            </a:r>
          </a:p>
          <a:p>
            <a:pPr>
              <a:buFont typeface="Monotype Sorts" pitchFamily="2" charset="2"/>
              <a:buNone/>
            </a:pPr>
            <a:endParaRPr lang="en-US" altLang="en-US" sz="2800" i="0" dirty="0">
              <a:solidFill>
                <a:schemeClr val="hlink"/>
              </a:solidFill>
            </a:endParaRPr>
          </a:p>
          <a:p>
            <a:endParaRPr lang="en-US" altLang="en-US" sz="2800" i="0" dirty="0">
              <a:solidFill>
                <a:schemeClr val="hlink"/>
              </a:solidFill>
            </a:endParaRPr>
          </a:p>
          <a:p>
            <a:r>
              <a:rPr lang="en-US" altLang="en-US" sz="2800" i="0" dirty="0"/>
              <a:t> </a:t>
            </a:r>
          </a:p>
          <a:p>
            <a:r>
              <a:rPr lang="en-US" altLang="en-US" sz="2800" i="0" dirty="0"/>
              <a:t> </a:t>
            </a:r>
          </a:p>
        </p:txBody>
      </p:sp>
      <p:graphicFrame>
        <p:nvGraphicFramePr>
          <p:cNvPr id="23596" name="Object 4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54057852"/>
              </p:ext>
            </p:extLst>
          </p:nvPr>
        </p:nvGraphicFramePr>
        <p:xfrm>
          <a:off x="3741738" y="3328988"/>
          <a:ext cx="5314950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1" name="Equation" r:id="rId4" imgW="2844720" imgH="711000" progId="Equation.DSMT4">
                  <p:embed/>
                </p:oleObj>
              </mc:Choice>
              <mc:Fallback>
                <p:oleObj name="Equation" r:id="rId4" imgW="28447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738" y="3328988"/>
                        <a:ext cx="5314950" cy="132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7" name="Group 31"/>
          <p:cNvGrpSpPr>
            <a:grpSpLocks/>
          </p:cNvGrpSpPr>
          <p:nvPr/>
        </p:nvGrpSpPr>
        <p:grpSpPr bwMode="auto">
          <a:xfrm>
            <a:off x="2819400" y="1003708"/>
            <a:ext cx="304800" cy="152400"/>
            <a:chOff x="2880" y="1680"/>
            <a:chExt cx="192" cy="96"/>
          </a:xfrm>
        </p:grpSpPr>
        <p:sp>
          <p:nvSpPr>
            <p:cNvPr id="9267" name="Line 32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8" name="Line 33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48" name="Group 34"/>
          <p:cNvGrpSpPr>
            <a:grpSpLocks/>
          </p:cNvGrpSpPr>
          <p:nvPr/>
        </p:nvGrpSpPr>
        <p:grpSpPr bwMode="auto">
          <a:xfrm>
            <a:off x="2934975" y="1752505"/>
            <a:ext cx="304800" cy="152400"/>
            <a:chOff x="2880" y="1680"/>
            <a:chExt cx="192" cy="96"/>
          </a:xfrm>
        </p:grpSpPr>
        <p:sp>
          <p:nvSpPr>
            <p:cNvPr id="9265" name="Line 35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Line 36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49" name="Group 37"/>
          <p:cNvGrpSpPr>
            <a:grpSpLocks/>
          </p:cNvGrpSpPr>
          <p:nvPr/>
        </p:nvGrpSpPr>
        <p:grpSpPr bwMode="auto">
          <a:xfrm>
            <a:off x="7848600" y="228600"/>
            <a:ext cx="304800" cy="152400"/>
            <a:chOff x="2880" y="1680"/>
            <a:chExt cx="192" cy="96"/>
          </a:xfrm>
        </p:grpSpPr>
        <p:sp>
          <p:nvSpPr>
            <p:cNvPr id="9263" name="Line 38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Line 39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50" name="Group 41"/>
          <p:cNvGrpSpPr>
            <a:grpSpLocks/>
          </p:cNvGrpSpPr>
          <p:nvPr/>
        </p:nvGrpSpPr>
        <p:grpSpPr bwMode="auto">
          <a:xfrm>
            <a:off x="2590800" y="2209800"/>
            <a:ext cx="304800" cy="152400"/>
            <a:chOff x="2880" y="1680"/>
            <a:chExt cx="192" cy="96"/>
          </a:xfrm>
        </p:grpSpPr>
        <p:sp>
          <p:nvSpPr>
            <p:cNvPr id="9261" name="Line 42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Line 43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51" name="Group 46"/>
          <p:cNvGrpSpPr>
            <a:grpSpLocks/>
          </p:cNvGrpSpPr>
          <p:nvPr/>
        </p:nvGrpSpPr>
        <p:grpSpPr bwMode="auto">
          <a:xfrm>
            <a:off x="2514600" y="2514410"/>
            <a:ext cx="304800" cy="152400"/>
            <a:chOff x="2880" y="1680"/>
            <a:chExt cx="192" cy="96"/>
          </a:xfrm>
        </p:grpSpPr>
        <p:sp>
          <p:nvSpPr>
            <p:cNvPr id="9259" name="Line 47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Line 48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3604" name="Object 52"/>
          <p:cNvGraphicFramePr>
            <a:graphicFrameLocks noGrp="1" noChangeAspect="1"/>
          </p:cNvGraphicFramePr>
          <p:nvPr>
            <p:ph sz="quarter" idx="3"/>
            <p:extLst/>
          </p:nvPr>
        </p:nvGraphicFramePr>
        <p:xfrm>
          <a:off x="2286000" y="5275586"/>
          <a:ext cx="5203189" cy="740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2" name="Equation" r:id="rId6" imgW="3213000" imgH="457200" progId="Equation.DSMT4">
                  <p:embed/>
                </p:oleObj>
              </mc:Choice>
              <mc:Fallback>
                <p:oleObj name="Equation" r:id="rId6" imgW="3213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275586"/>
                        <a:ext cx="5203189" cy="740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Group 53"/>
          <p:cNvGraphicFramePr>
            <a:graphicFrameLocks/>
          </p:cNvGraphicFramePr>
          <p:nvPr>
            <p:extLst/>
          </p:nvPr>
        </p:nvGraphicFramePr>
        <p:xfrm>
          <a:off x="2625792" y="838390"/>
          <a:ext cx="7315200" cy="15240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280160"/>
                <a:gridCol w="1280160"/>
                <a:gridCol w="1280160"/>
                <a:gridCol w="128016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(0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 head)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 heads)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P(p)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0.375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1/16=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9" name="Group 49"/>
          <p:cNvGrpSpPr>
            <a:grpSpLocks/>
          </p:cNvGrpSpPr>
          <p:nvPr/>
        </p:nvGrpSpPr>
        <p:grpSpPr bwMode="auto">
          <a:xfrm>
            <a:off x="2765223" y="3310170"/>
            <a:ext cx="304800" cy="152400"/>
            <a:chOff x="2880" y="1680"/>
            <a:chExt cx="192" cy="96"/>
          </a:xfrm>
        </p:grpSpPr>
        <p:sp>
          <p:nvSpPr>
            <p:cNvPr id="30" name="Line 50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1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2286000" y="4808088"/>
          <a:ext cx="41497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3" name="Equation" r:id="rId8" imgW="2247840" imgH="253800" progId="Equation.DSMT4">
                  <p:embed/>
                </p:oleObj>
              </mc:Choice>
              <mc:Fallback>
                <p:oleObj name="Equation" r:id="rId8" imgW="2247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86000" y="4808088"/>
                        <a:ext cx="4149725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82015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Expected Value and Standard Deviation of the Sampling Distribution of p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981200"/>
            <a:ext cx="7315200" cy="4114800"/>
          </a:xfrm>
        </p:spPr>
        <p:txBody>
          <a:bodyPr/>
          <a:lstStyle/>
          <a:p>
            <a:r>
              <a:rPr lang="en-US" altLang="en-US" sz="2800"/>
              <a:t>E(p) = p</a:t>
            </a:r>
          </a:p>
          <a:p>
            <a:endParaRPr lang="en-US" altLang="en-US" sz="2800"/>
          </a:p>
          <a:p>
            <a:r>
              <a:rPr lang="en-US" altLang="en-US" sz="2800"/>
              <a:t>SD(p) = </a:t>
            </a:r>
          </a:p>
          <a:p>
            <a:endParaRPr lang="en-US" altLang="en-US" sz="2800"/>
          </a:p>
          <a:p>
            <a:pPr>
              <a:buFont typeface="Monotype Sorts" pitchFamily="2" charset="2"/>
              <a:buNone/>
            </a:pPr>
            <a:r>
              <a:rPr lang="en-US" altLang="en-US" sz="2800" i="0"/>
              <a:t>	where</a:t>
            </a:r>
            <a:r>
              <a:rPr lang="en-US" altLang="en-US" sz="2800"/>
              <a:t> p </a:t>
            </a:r>
            <a:r>
              <a:rPr lang="en-US" altLang="en-US" sz="2800" i="0"/>
              <a:t>is the “success” probability in the sampled population and</a:t>
            </a:r>
            <a:r>
              <a:rPr lang="en-US" altLang="en-US" sz="2800"/>
              <a:t> n </a:t>
            </a:r>
            <a:r>
              <a:rPr lang="en-US" altLang="en-US" sz="2800" i="0"/>
              <a:t>is the sample size</a:t>
            </a:r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2971800" y="1905000"/>
            <a:ext cx="304800" cy="152400"/>
            <a:chOff x="2880" y="1680"/>
            <a:chExt cx="192" cy="96"/>
          </a:xfrm>
        </p:grpSpPr>
        <p:sp>
          <p:nvSpPr>
            <p:cNvPr id="10252" name="Line 5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Line 6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45" name="Group 7"/>
          <p:cNvGrpSpPr>
            <a:grpSpLocks/>
          </p:cNvGrpSpPr>
          <p:nvPr/>
        </p:nvGrpSpPr>
        <p:grpSpPr bwMode="auto">
          <a:xfrm>
            <a:off x="7620000" y="1447800"/>
            <a:ext cx="304800" cy="152400"/>
            <a:chOff x="2880" y="1680"/>
            <a:chExt cx="192" cy="96"/>
          </a:xfrm>
        </p:grpSpPr>
        <p:sp>
          <p:nvSpPr>
            <p:cNvPr id="10250" name="Line 8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1" name="Line 9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46" name="Group 10"/>
          <p:cNvGrpSpPr>
            <a:grpSpLocks/>
          </p:cNvGrpSpPr>
          <p:nvPr/>
        </p:nvGrpSpPr>
        <p:grpSpPr bwMode="auto">
          <a:xfrm>
            <a:off x="3200400" y="2971800"/>
            <a:ext cx="304800" cy="152400"/>
            <a:chOff x="2880" y="1680"/>
            <a:chExt cx="192" cy="96"/>
          </a:xfrm>
        </p:grpSpPr>
        <p:sp>
          <p:nvSpPr>
            <p:cNvPr id="10248" name="Line 11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9" name="Line 12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8685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3962400" y="2801938"/>
          <a:ext cx="129540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Equation" r:id="rId4" imgW="672808" imgH="444307" progId="Equation.DSMT4">
                  <p:embed/>
                </p:oleObj>
              </mc:Choice>
              <mc:Fallback>
                <p:oleObj name="Equation" r:id="rId4" imgW="672808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801938"/>
                        <a:ext cx="1295400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07451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altLang="en-US" sz="4000" u="sng"/>
              <a:t>Shape</a:t>
            </a:r>
            <a:r>
              <a:rPr lang="en-US" altLang="en-US" sz="4000"/>
              <a:t> of Sampling Distribution of p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7772400" cy="4572000"/>
          </a:xfrm>
        </p:spPr>
        <p:txBody>
          <a:bodyPr/>
          <a:lstStyle/>
          <a:p>
            <a:r>
              <a:rPr lang="en-US" altLang="en-US" i="0" smtClean="0"/>
              <a:t>The sampling distribution of</a:t>
            </a:r>
            <a:r>
              <a:rPr lang="en-US" altLang="en-US" smtClean="0"/>
              <a:t> p </a:t>
            </a:r>
            <a:r>
              <a:rPr lang="en-US" altLang="en-US" i="0" smtClean="0"/>
              <a:t>is approximately </a:t>
            </a:r>
            <a:r>
              <a:rPr lang="en-US" altLang="en-US" b="1" i="0" smtClean="0">
                <a:solidFill>
                  <a:schemeClr val="hlink"/>
                </a:solidFill>
              </a:rPr>
              <a:t>normal </a:t>
            </a:r>
            <a:r>
              <a:rPr lang="en-US" altLang="en-US" i="0" smtClean="0"/>
              <a:t>when the sample size</a:t>
            </a:r>
            <a:r>
              <a:rPr lang="en-US" altLang="en-US" smtClean="0"/>
              <a:t> n </a:t>
            </a:r>
            <a:r>
              <a:rPr lang="en-US" altLang="en-US" i="0" smtClean="0"/>
              <a:t>is large enough</a:t>
            </a:r>
            <a:r>
              <a:rPr lang="en-US" altLang="en-US" smtClean="0"/>
              <a:t>.  n large enough means np </a:t>
            </a:r>
            <a:r>
              <a:rPr lang="en-US" altLang="en-US" smtClean="0">
                <a:sym typeface="Mathematica1" pitchFamily="2" charset="2"/>
              </a:rPr>
              <a:t>≥ </a:t>
            </a:r>
            <a:r>
              <a:rPr lang="en-US" altLang="en-US" smtClean="0"/>
              <a:t>10 and n(1-p)</a:t>
            </a:r>
            <a:r>
              <a:rPr lang="en-US" altLang="en-US" smtClean="0">
                <a:sym typeface="Mathematica1" pitchFamily="2" charset="2"/>
              </a:rPr>
              <a:t> ≥ </a:t>
            </a:r>
            <a:r>
              <a:rPr lang="en-US" altLang="en-US" smtClean="0"/>
              <a:t>10</a:t>
            </a:r>
          </a:p>
          <a:p>
            <a:endParaRPr lang="en-US" altLang="en-US" smtClean="0"/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5943600" y="838200"/>
            <a:ext cx="304800" cy="152400"/>
            <a:chOff x="2880" y="1680"/>
            <a:chExt cx="192" cy="96"/>
          </a:xfrm>
        </p:grpSpPr>
        <p:sp>
          <p:nvSpPr>
            <p:cNvPr id="11273" name="Line 5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Line 6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9" name="Group 7"/>
          <p:cNvGrpSpPr>
            <a:grpSpLocks/>
          </p:cNvGrpSpPr>
          <p:nvPr/>
        </p:nvGrpSpPr>
        <p:grpSpPr bwMode="auto">
          <a:xfrm>
            <a:off x="7696200" y="1524000"/>
            <a:ext cx="304800" cy="152400"/>
            <a:chOff x="2880" y="1680"/>
            <a:chExt cx="192" cy="96"/>
          </a:xfrm>
        </p:grpSpPr>
        <p:sp>
          <p:nvSpPr>
            <p:cNvPr id="11271" name="Line 8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Line 9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4" y="3587750"/>
            <a:ext cx="5260975" cy="266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525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Shape</a:t>
            </a:r>
            <a:r>
              <a:rPr lang="en-US" dirty="0"/>
              <a:t> of Sampling Distribution of 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Population Distribution, p=.65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Sampling distribution of p for samples of size n</a:t>
            </a:r>
            <a:endParaRPr 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6272212" y="914400"/>
            <a:ext cx="304800" cy="152400"/>
            <a:chOff x="2880" y="1680"/>
            <a:chExt cx="192" cy="96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0" name="Content Placeholder 9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1981200" y="2209800"/>
          <a:ext cx="4040188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1" name="Content Placeholder 10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2" y="2667000"/>
            <a:ext cx="4341262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9829800" y="1371600"/>
            <a:ext cx="304800" cy="152400"/>
            <a:chOff x="2880" y="1680"/>
            <a:chExt cx="192" cy="96"/>
          </a:xfrm>
        </p:grpSpPr>
        <p:sp>
          <p:nvSpPr>
            <p:cNvPr id="13" name="Line 5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866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r>
              <a:rPr lang="en-US" altLang="en-US" smtClean="0"/>
              <a:t>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990600"/>
            <a:ext cx="7772400" cy="5105400"/>
          </a:xfrm>
        </p:spPr>
        <p:txBody>
          <a:bodyPr/>
          <a:lstStyle/>
          <a:p>
            <a:r>
              <a:rPr lang="en-US" altLang="en-US" smtClean="0"/>
              <a:t>8% of American Caucasian male population is color blind.</a:t>
            </a:r>
          </a:p>
          <a:p>
            <a:r>
              <a:rPr lang="en-US" altLang="en-US" smtClean="0"/>
              <a:t>Use computer to simulate random samples of size n = 1000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40064"/>
            <a:ext cx="67056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43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2057400" y="685801"/>
            <a:ext cx="8229600" cy="587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The sampling distribution model for a sample proportion p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Provided that the sampled values are independent and the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sample size n is large enough, the sampling distribution of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 is modeled by a </a:t>
            </a:r>
            <a:r>
              <a:rPr lang="en-US" altLang="en-US" sz="2400" b="1" u="sng"/>
              <a:t>normal</a:t>
            </a:r>
            <a:r>
              <a:rPr lang="en-US" altLang="en-US" sz="2400"/>
              <a:t> distribution with E(p) = p and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standard deviation SD(p) =        , that is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where q = 1 – p and where n large enough means np&gt;=10 and nq&gt;=10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The Central Limit Theorem will be a formal statement of this fact.</a:t>
            </a:r>
          </a:p>
        </p:txBody>
      </p:sp>
      <p:grpSp>
        <p:nvGrpSpPr>
          <p:cNvPr id="13315" name="Group 5"/>
          <p:cNvGrpSpPr>
            <a:grpSpLocks/>
          </p:cNvGrpSpPr>
          <p:nvPr/>
        </p:nvGrpSpPr>
        <p:grpSpPr bwMode="auto">
          <a:xfrm>
            <a:off x="2133600" y="2743200"/>
            <a:ext cx="304800" cy="152400"/>
            <a:chOff x="2880" y="1680"/>
            <a:chExt cx="192" cy="96"/>
          </a:xfrm>
        </p:grpSpPr>
        <p:sp>
          <p:nvSpPr>
            <p:cNvPr id="13327" name="Line 6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7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6" name="Group 8"/>
          <p:cNvGrpSpPr>
            <a:grpSpLocks/>
          </p:cNvGrpSpPr>
          <p:nvPr/>
        </p:nvGrpSpPr>
        <p:grpSpPr bwMode="auto">
          <a:xfrm>
            <a:off x="8153400" y="2743200"/>
            <a:ext cx="304800" cy="152400"/>
            <a:chOff x="2880" y="1680"/>
            <a:chExt cx="192" cy="96"/>
          </a:xfrm>
        </p:grpSpPr>
        <p:sp>
          <p:nvSpPr>
            <p:cNvPr id="13325" name="Line 9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10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7" name="Group 11"/>
          <p:cNvGrpSpPr>
            <a:grpSpLocks/>
          </p:cNvGrpSpPr>
          <p:nvPr/>
        </p:nvGrpSpPr>
        <p:grpSpPr bwMode="auto">
          <a:xfrm>
            <a:off x="5257800" y="3429000"/>
            <a:ext cx="304800" cy="152400"/>
            <a:chOff x="2880" y="1680"/>
            <a:chExt cx="192" cy="96"/>
          </a:xfrm>
        </p:grpSpPr>
        <p:sp>
          <p:nvSpPr>
            <p:cNvPr id="13323" name="Line 12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Line 13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3318" name="Object 14"/>
          <p:cNvGraphicFramePr>
            <a:graphicFrameLocks noChangeAspect="1"/>
          </p:cNvGraphicFramePr>
          <p:nvPr/>
        </p:nvGraphicFramePr>
        <p:xfrm>
          <a:off x="5791201" y="3276600"/>
          <a:ext cx="5683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name="Equation" r:id="rId4" imgW="368140" imgH="444307" progId="Equation.DSMT4">
                  <p:embed/>
                </p:oleObj>
              </mc:Choice>
              <mc:Fallback>
                <p:oleObj name="Equation" r:id="rId4" imgW="368140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3276600"/>
                        <a:ext cx="5683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9" name="Group 15"/>
          <p:cNvGrpSpPr>
            <a:grpSpLocks/>
          </p:cNvGrpSpPr>
          <p:nvPr/>
        </p:nvGrpSpPr>
        <p:grpSpPr bwMode="auto">
          <a:xfrm>
            <a:off x="7696200" y="1219200"/>
            <a:ext cx="304800" cy="152400"/>
            <a:chOff x="2880" y="1680"/>
            <a:chExt cx="192" cy="96"/>
          </a:xfrm>
        </p:grpSpPr>
        <p:sp>
          <p:nvSpPr>
            <p:cNvPr id="13321" name="Line 16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Line 17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3320" name="Object 18"/>
          <p:cNvGraphicFramePr>
            <a:graphicFrameLocks noChangeAspect="1"/>
          </p:cNvGraphicFramePr>
          <p:nvPr/>
        </p:nvGraphicFramePr>
        <p:xfrm>
          <a:off x="4648200" y="4038601"/>
          <a:ext cx="19812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name="Equation" r:id="rId6" imgW="1002865" imgH="482391" progId="Equation.DSMT4">
                  <p:embed/>
                </p:oleObj>
              </mc:Choice>
              <mc:Fallback>
                <p:oleObj name="Equation" r:id="rId6" imgW="1002865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038601"/>
                        <a:ext cx="198120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68825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219200"/>
          </a:xfrm>
        </p:spPr>
        <p:txBody>
          <a:bodyPr/>
          <a:lstStyle/>
          <a:p>
            <a:r>
              <a:rPr lang="en-US" altLang="en-US" sz="4000"/>
              <a:t>Example: binge drinking by college students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5562600"/>
          </a:xfrm>
        </p:spPr>
        <p:txBody>
          <a:bodyPr/>
          <a:lstStyle/>
          <a:p>
            <a:r>
              <a:rPr lang="en-US" altLang="en-US" sz="2800" dirty="0"/>
              <a:t>Study by Harvard School of Public Health: 44% of college students binge drink.</a:t>
            </a:r>
          </a:p>
          <a:p>
            <a:r>
              <a:rPr lang="en-US" altLang="en-US" sz="2800" dirty="0" smtClean="0"/>
              <a:t>At a particular college 244 students were surveyed</a:t>
            </a:r>
            <a:r>
              <a:rPr lang="en-US" altLang="en-US" sz="2800" dirty="0"/>
              <a:t>; 36% admitted to binge drinking in the past week</a:t>
            </a:r>
          </a:p>
          <a:p>
            <a:r>
              <a:rPr lang="en-US" altLang="en-US" sz="2800" dirty="0"/>
              <a:t>Assume the value </a:t>
            </a:r>
            <a:r>
              <a:rPr lang="en-US" altLang="en-US" sz="2800" dirty="0">
                <a:solidFill>
                  <a:srgbClr val="FF0000"/>
                </a:solidFill>
              </a:rPr>
              <a:t>0.44</a:t>
            </a:r>
            <a:r>
              <a:rPr lang="en-US" altLang="en-US" sz="2800" dirty="0"/>
              <a:t> given in the </a:t>
            </a:r>
            <a:r>
              <a:rPr lang="en-US" altLang="en-US" sz="2800" dirty="0" smtClean="0"/>
              <a:t>Harvard study </a:t>
            </a:r>
            <a:r>
              <a:rPr lang="en-US" altLang="en-US" sz="2800" dirty="0"/>
              <a:t>is </a:t>
            </a:r>
            <a:r>
              <a:rPr lang="en-US" altLang="en-US" sz="2800" dirty="0" smtClean="0"/>
              <a:t>the </a:t>
            </a:r>
            <a:r>
              <a:rPr lang="en-US" altLang="en-US" sz="2800" dirty="0"/>
              <a:t>proportion p of college students that binge drink; that is </a:t>
            </a:r>
            <a:r>
              <a:rPr lang="en-US" altLang="en-US" sz="2800" dirty="0">
                <a:solidFill>
                  <a:srgbClr val="FF0000"/>
                </a:solidFill>
              </a:rPr>
              <a:t>0.44 is the population proportion p</a:t>
            </a:r>
            <a:r>
              <a:rPr lang="en-US" altLang="en-US" sz="2800" dirty="0"/>
              <a:t> </a:t>
            </a:r>
          </a:p>
          <a:p>
            <a:r>
              <a:rPr lang="en-US" altLang="en-US" sz="2800" u="sng" dirty="0"/>
              <a:t>Compute the probability that in a sample of 244 students, 36% or less have engaged in binge drinking</a:t>
            </a:r>
            <a:r>
              <a:rPr lang="en-US" altLang="en-US" sz="2800" dirty="0"/>
              <a:t>.</a:t>
            </a:r>
          </a:p>
          <a:p>
            <a:endParaRPr lang="en-US" altLang="en-US" dirty="0" smtClean="0"/>
          </a:p>
        </p:txBody>
      </p:sp>
      <p:pic>
        <p:nvPicPr>
          <p:cNvPr id="14340" name="Picture 7" descr="https://encrypted-tbn3.gstatic.com/images?q=tbn:ANd9GcQ4fSscVp3SQ8ryHzwR7hH9svhhLgf4iBcsXHrLkVo4R-ZeeL1xz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"/>
            <a:ext cx="1042988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968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371600"/>
          </a:xfrm>
        </p:spPr>
        <p:txBody>
          <a:bodyPr/>
          <a:lstStyle/>
          <a:p>
            <a:r>
              <a:rPr lang="en-US" altLang="en-US" sz="4000"/>
              <a:t>Example: binge drinking by college students (cont.)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676400"/>
            <a:ext cx="7772400" cy="4876800"/>
          </a:xfrm>
        </p:spPr>
        <p:txBody>
          <a:bodyPr/>
          <a:lstStyle/>
          <a:p>
            <a:r>
              <a:rPr lang="en-US" altLang="en-US" sz="2800" dirty="0"/>
              <a:t>Let p be the proportion in a sample of 244 that engage in binge drinking.</a:t>
            </a:r>
          </a:p>
          <a:p>
            <a:r>
              <a:rPr lang="en-US" altLang="en-US" sz="2800" dirty="0"/>
              <a:t>We want to compute </a:t>
            </a:r>
          </a:p>
          <a:p>
            <a:endParaRPr lang="en-US" altLang="en-US" sz="2800" dirty="0">
              <a:sym typeface="Symbol" pitchFamily="18" charset="2"/>
            </a:endParaRPr>
          </a:p>
          <a:p>
            <a:r>
              <a:rPr lang="en-US" altLang="en-US" sz="2800" dirty="0">
                <a:solidFill>
                  <a:srgbClr val="FF0000"/>
                </a:solidFill>
                <a:sym typeface="Symbol" pitchFamily="18" charset="2"/>
              </a:rPr>
              <a:t>E(p) = p = .44; SD(p) =</a:t>
            </a:r>
          </a:p>
          <a:p>
            <a:r>
              <a:rPr lang="en-US" altLang="en-US" sz="2800" dirty="0">
                <a:sym typeface="Symbol" pitchFamily="18" charset="2"/>
              </a:rPr>
              <a:t>Since np = 244*.44 = 107.36 and nq = 244*.56 = 136.64 are both greater than 10, we can model the sampling distribution of p with a normal distribution, so …</a:t>
            </a:r>
          </a:p>
          <a:p>
            <a:endParaRPr lang="en-US" altLang="en-US" sz="2800" dirty="0"/>
          </a:p>
        </p:txBody>
      </p:sp>
      <p:graphicFrame>
        <p:nvGraphicFramePr>
          <p:cNvPr id="153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943600" y="2667001"/>
          <a:ext cx="1600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Equation" r:id="rId4" imgW="634725" imgH="203112" progId="Equation.DSMT4">
                  <p:embed/>
                </p:oleObj>
              </mc:Choice>
              <mc:Fallback>
                <p:oleObj name="Equation" r:id="rId4" imgW="63472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667001"/>
                        <a:ext cx="1600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7"/>
          <p:cNvGraphicFramePr>
            <a:graphicFrameLocks noGrp="1" noChangeAspect="1"/>
          </p:cNvGraphicFramePr>
          <p:nvPr>
            <p:ph sz="quarter" idx="3"/>
            <p:extLst/>
          </p:nvPr>
        </p:nvGraphicFramePr>
        <p:xfrm>
          <a:off x="6324600" y="3352801"/>
          <a:ext cx="26670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Equation" r:id="rId6" imgW="1460160" imgH="444240" progId="Equation.DSMT4">
                  <p:embed/>
                </p:oleObj>
              </mc:Choice>
              <mc:Fallback>
                <p:oleObj name="Equation" r:id="rId6" imgW="1460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352801"/>
                        <a:ext cx="26670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6" name="Group 9"/>
          <p:cNvGrpSpPr>
            <a:grpSpLocks/>
          </p:cNvGrpSpPr>
          <p:nvPr/>
        </p:nvGrpSpPr>
        <p:grpSpPr bwMode="auto">
          <a:xfrm>
            <a:off x="3200400" y="1676400"/>
            <a:ext cx="304800" cy="152400"/>
            <a:chOff x="2880" y="1680"/>
            <a:chExt cx="192" cy="96"/>
          </a:xfrm>
        </p:grpSpPr>
        <p:sp>
          <p:nvSpPr>
            <p:cNvPr id="15376" name="Line 10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Line 11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7" name="Group 12"/>
          <p:cNvGrpSpPr>
            <a:grpSpLocks/>
          </p:cNvGrpSpPr>
          <p:nvPr/>
        </p:nvGrpSpPr>
        <p:grpSpPr bwMode="auto">
          <a:xfrm>
            <a:off x="2971800" y="3581400"/>
            <a:ext cx="304800" cy="152400"/>
            <a:chOff x="2880" y="1680"/>
            <a:chExt cx="192" cy="96"/>
          </a:xfrm>
        </p:grpSpPr>
        <p:sp>
          <p:nvSpPr>
            <p:cNvPr id="15374" name="Line 13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14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8" name="Group 15"/>
          <p:cNvGrpSpPr>
            <a:grpSpLocks/>
          </p:cNvGrpSpPr>
          <p:nvPr/>
        </p:nvGrpSpPr>
        <p:grpSpPr bwMode="auto">
          <a:xfrm>
            <a:off x="5562600" y="3581400"/>
            <a:ext cx="304800" cy="152400"/>
            <a:chOff x="2880" y="1680"/>
            <a:chExt cx="192" cy="96"/>
          </a:xfrm>
        </p:grpSpPr>
        <p:sp>
          <p:nvSpPr>
            <p:cNvPr id="15372" name="Line 16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Line 17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9" name="Group 18"/>
          <p:cNvGrpSpPr>
            <a:grpSpLocks/>
          </p:cNvGrpSpPr>
          <p:nvPr/>
        </p:nvGrpSpPr>
        <p:grpSpPr bwMode="auto">
          <a:xfrm>
            <a:off x="9220200" y="5029200"/>
            <a:ext cx="304800" cy="152400"/>
            <a:chOff x="2880" y="1680"/>
            <a:chExt cx="192" cy="96"/>
          </a:xfrm>
        </p:grpSpPr>
        <p:sp>
          <p:nvSpPr>
            <p:cNvPr id="15370" name="Line 19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Line 20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2635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581400" y="609600"/>
            <a:ext cx="6858000" cy="1143000"/>
          </a:xfrm>
        </p:spPr>
        <p:txBody>
          <a:bodyPr/>
          <a:lstStyle/>
          <a:p>
            <a:r>
              <a:rPr lang="en-US" altLang="en-US" sz="4000"/>
              <a:t>Example: binge drinking by college students (cont.)</a:t>
            </a:r>
          </a:p>
        </p:txBody>
      </p:sp>
      <p:graphicFrame>
        <p:nvGraphicFramePr>
          <p:cNvPr id="16387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4953000" y="2514600"/>
          <a:ext cx="36576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2" name="Equation" r:id="rId4" imgW="1016000" imgH="203200" progId="Equation.DSMT4">
                  <p:embed/>
                </p:oleObj>
              </mc:Choice>
              <mc:Fallback>
                <p:oleObj name="Equation" r:id="rId4" imgW="1016000" imgH="2032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514600"/>
                        <a:ext cx="365760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438400" y="4191000"/>
          <a:ext cx="6858000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3" name="Equation" r:id="rId6" imgW="2260600" imgH="660400" progId="Equation.DSMT4">
                  <p:embed/>
                </p:oleObj>
              </mc:Choice>
              <mc:Fallback>
                <p:oleObj name="Equation" r:id="rId6" imgW="2260600" imgH="6604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91000"/>
                        <a:ext cx="6858000" cy="186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9" name="Picture 9" descr="https://encrypted-tbn1.gstatic.com/images?q=tbn:ANd9GcR7ObBZXfAJz0bM2ahoIlYR3HjCDT6xqKhR4M7MLvrTXPam7sRIw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43000"/>
            <a:ext cx="23431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77151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057650" y="0"/>
            <a:ext cx="4876800" cy="1219200"/>
          </a:xfrm>
        </p:spPr>
        <p:txBody>
          <a:bodyPr/>
          <a:lstStyle/>
          <a:p>
            <a:r>
              <a:rPr lang="en-US" altLang="en-US" sz="4000" dirty="0"/>
              <a:t> Example: snapchat by college students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7772400" cy="4038600"/>
          </a:xfrm>
        </p:spPr>
        <p:txBody>
          <a:bodyPr/>
          <a:lstStyle/>
          <a:p>
            <a:r>
              <a:rPr lang="en-US" altLang="en-US" sz="2400" dirty="0"/>
              <a:t>recent scientifically valid survey : 77% of college students use snapchat.</a:t>
            </a:r>
          </a:p>
          <a:p>
            <a:r>
              <a:rPr lang="en-US" altLang="en-US" sz="2400" dirty="0"/>
              <a:t>1136 college students surveyed; 75% reported that they use snapchat.</a:t>
            </a:r>
          </a:p>
          <a:p>
            <a:r>
              <a:rPr lang="en-US" altLang="en-US" sz="2400" dirty="0"/>
              <a:t>Assume the value 0.77 given in the survey is the  proportion p of college students that use snapchat; that is </a:t>
            </a:r>
            <a:r>
              <a:rPr lang="en-US" altLang="en-US" sz="2400" b="1" dirty="0">
                <a:solidFill>
                  <a:srgbClr val="FF0000"/>
                </a:solidFill>
              </a:rPr>
              <a:t>0.77 is the population proportion p </a:t>
            </a:r>
          </a:p>
          <a:p>
            <a:r>
              <a:rPr lang="en-US" altLang="en-US" sz="2400" u="sng" dirty="0"/>
              <a:t>Compute the probability that in a sample of 1136 students, 75% or less use snapchat</a:t>
            </a:r>
            <a:r>
              <a:rPr lang="en-US" altLang="en-US" sz="2400" dirty="0"/>
              <a:t>.</a:t>
            </a:r>
          </a:p>
          <a:p>
            <a:endParaRPr lang="en-US" altLang="en-US" dirty="0" smtClean="0"/>
          </a:p>
        </p:txBody>
      </p:sp>
      <p:pic>
        <p:nvPicPr>
          <p:cNvPr id="17412" name="Picture 5" descr="https://encrypted-tbn1.gstatic.com/images?q=tbn:ANd9GcRp4bFba3dubVF_wSMsDw-63WqpuHCrciFuWxBK2EiM-BeE_-CgB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1"/>
            <a:ext cx="249555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152400"/>
            <a:ext cx="1333500" cy="133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796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371600"/>
          </a:xfrm>
        </p:spPr>
        <p:txBody>
          <a:bodyPr/>
          <a:lstStyle/>
          <a:p>
            <a:r>
              <a:rPr lang="en-US" altLang="en-US" sz="4000" dirty="0"/>
              <a:t>Example: snapchat by college students (cont.)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676400"/>
            <a:ext cx="7772400" cy="4876800"/>
          </a:xfrm>
        </p:spPr>
        <p:txBody>
          <a:bodyPr/>
          <a:lstStyle/>
          <a:p>
            <a:r>
              <a:rPr lang="en-US" altLang="en-US" sz="2800" dirty="0"/>
              <a:t>Let p be the proportion in a sample of 1136 that use snapchat.</a:t>
            </a:r>
          </a:p>
          <a:p>
            <a:r>
              <a:rPr lang="en-US" altLang="en-US" sz="2800" dirty="0"/>
              <a:t>We want to compute </a:t>
            </a:r>
          </a:p>
          <a:p>
            <a:endParaRPr lang="en-US" altLang="en-US" sz="2800" dirty="0">
              <a:sym typeface="Symbol" pitchFamily="18" charset="2"/>
            </a:endParaRPr>
          </a:p>
          <a:p>
            <a:r>
              <a:rPr lang="en-US" altLang="en-US" sz="2800" dirty="0">
                <a:sym typeface="Symbol" pitchFamily="18" charset="2"/>
              </a:rPr>
              <a:t>E(p) = p = .77; SD(p) =</a:t>
            </a:r>
          </a:p>
          <a:p>
            <a:r>
              <a:rPr lang="en-US" altLang="en-US" sz="2800" dirty="0">
                <a:sym typeface="Symbol" pitchFamily="18" charset="2"/>
              </a:rPr>
              <a:t>Since np = 1136*.77 = 874.72 and nq = 1136*.23 = 261.28 are both greater than 10, we can model the sampling distribution of p with a normal distribution, so …</a:t>
            </a:r>
          </a:p>
          <a:p>
            <a:endParaRPr lang="en-US" altLang="en-US" sz="2800" dirty="0"/>
          </a:p>
        </p:txBody>
      </p:sp>
      <p:graphicFrame>
        <p:nvGraphicFramePr>
          <p:cNvPr id="18436" name="Object 4"/>
          <p:cNvGraphicFramePr>
            <a:graphicFrameLocks noGrp="1" noChangeAspect="1"/>
          </p:cNvGraphicFramePr>
          <p:nvPr>
            <p:ph sz="quarter" idx="2"/>
            <p:extLst/>
          </p:nvPr>
        </p:nvGraphicFramePr>
        <p:xfrm>
          <a:off x="5961064" y="2667001"/>
          <a:ext cx="15652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6" name="Equation" r:id="rId4" imgW="622080" imgH="203040" progId="Equation.DSMT4">
                  <p:embed/>
                </p:oleObj>
              </mc:Choice>
              <mc:Fallback>
                <p:oleObj name="Equation" r:id="rId4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4" y="2667001"/>
                        <a:ext cx="15652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7"/>
          <p:cNvGraphicFramePr>
            <a:graphicFrameLocks noGrp="1" noChangeAspect="1"/>
          </p:cNvGraphicFramePr>
          <p:nvPr>
            <p:ph sz="quarter" idx="3"/>
            <p:extLst/>
          </p:nvPr>
        </p:nvGraphicFramePr>
        <p:xfrm>
          <a:off x="6324600" y="3368676"/>
          <a:ext cx="26670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name="Equation" r:id="rId6" imgW="1523880" imgH="444240" progId="Equation.DSMT4">
                  <p:embed/>
                </p:oleObj>
              </mc:Choice>
              <mc:Fallback>
                <p:oleObj name="Equation" r:id="rId6" imgW="1523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368676"/>
                        <a:ext cx="26670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8" name="Group 9"/>
          <p:cNvGrpSpPr>
            <a:grpSpLocks/>
          </p:cNvGrpSpPr>
          <p:nvPr/>
        </p:nvGrpSpPr>
        <p:grpSpPr bwMode="auto">
          <a:xfrm>
            <a:off x="3200400" y="1676400"/>
            <a:ext cx="304800" cy="152400"/>
            <a:chOff x="2880" y="1680"/>
            <a:chExt cx="192" cy="96"/>
          </a:xfrm>
        </p:grpSpPr>
        <p:sp>
          <p:nvSpPr>
            <p:cNvPr id="18448" name="Line 10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Line 11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9" name="Group 12"/>
          <p:cNvGrpSpPr>
            <a:grpSpLocks/>
          </p:cNvGrpSpPr>
          <p:nvPr/>
        </p:nvGrpSpPr>
        <p:grpSpPr bwMode="auto">
          <a:xfrm>
            <a:off x="2971800" y="3581400"/>
            <a:ext cx="304800" cy="152400"/>
            <a:chOff x="2880" y="1680"/>
            <a:chExt cx="192" cy="96"/>
          </a:xfrm>
        </p:grpSpPr>
        <p:sp>
          <p:nvSpPr>
            <p:cNvPr id="18446" name="Line 13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14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0" name="Group 15"/>
          <p:cNvGrpSpPr>
            <a:grpSpLocks/>
          </p:cNvGrpSpPr>
          <p:nvPr/>
        </p:nvGrpSpPr>
        <p:grpSpPr bwMode="auto">
          <a:xfrm>
            <a:off x="5562600" y="3581400"/>
            <a:ext cx="304800" cy="152400"/>
            <a:chOff x="2880" y="1680"/>
            <a:chExt cx="192" cy="96"/>
          </a:xfrm>
        </p:grpSpPr>
        <p:sp>
          <p:nvSpPr>
            <p:cNvPr id="18444" name="Line 16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Line 17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1" name="Group 18"/>
          <p:cNvGrpSpPr>
            <a:grpSpLocks/>
          </p:cNvGrpSpPr>
          <p:nvPr/>
        </p:nvGrpSpPr>
        <p:grpSpPr bwMode="auto">
          <a:xfrm>
            <a:off x="9220200" y="5029200"/>
            <a:ext cx="304800" cy="152400"/>
            <a:chOff x="2880" y="1680"/>
            <a:chExt cx="192" cy="96"/>
          </a:xfrm>
        </p:grpSpPr>
        <p:sp>
          <p:nvSpPr>
            <p:cNvPr id="18442" name="Line 19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Line 20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370237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Example: snapchat by college students (cont.)</a:t>
            </a:r>
          </a:p>
        </p:txBody>
      </p:sp>
      <p:graphicFrame>
        <p:nvGraphicFramePr>
          <p:cNvPr id="19459" name="Object 4"/>
          <p:cNvGraphicFramePr>
            <a:graphicFrameLocks noGrp="1" noChangeAspect="1"/>
          </p:cNvGraphicFramePr>
          <p:nvPr>
            <p:ph sz="half" idx="1"/>
            <p:extLst/>
          </p:nvPr>
        </p:nvGraphicFramePr>
        <p:xfrm>
          <a:off x="4114800" y="2103439"/>
          <a:ext cx="3657600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0" name="Equation" r:id="rId4" imgW="1091880" imgH="203040" progId="Equation.DSMT4">
                  <p:embed/>
                </p:oleObj>
              </mc:Choice>
              <mc:Fallback>
                <p:oleObj name="Equation" r:id="rId4" imgW="1091880" imgH="203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103439"/>
                        <a:ext cx="3657600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6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2611439" y="3200400"/>
          <a:ext cx="6359525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" name="Equation" r:id="rId6" imgW="2247840" imgH="660240" progId="Equation.DSMT4">
                  <p:embed/>
                </p:oleObj>
              </mc:Choice>
              <mc:Fallback>
                <p:oleObj name="Equation" r:id="rId6" imgW="2247840" imgH="6602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9" y="3200400"/>
                        <a:ext cx="6359525" cy="186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31" y="1296986"/>
            <a:ext cx="2619375" cy="1743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706" y="4613274"/>
            <a:ext cx="2619375" cy="1743075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03499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497540"/>
            <a:ext cx="7772400" cy="1893484"/>
          </a:xfrm>
          <a:solidFill>
            <a:srgbClr val="F1A949"/>
          </a:solidFill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Sampling Distribution Models of Sample Means</a:t>
            </a:r>
          </a:p>
        </p:txBody>
      </p:sp>
      <p:pic>
        <p:nvPicPr>
          <p:cNvPr id="2052" name="Picture 5" descr="https://encrypted-tbn0.gstatic.com/images?q=tbn:ANd9GcQGurW3KvDoe269WmBPV4XKTBER6c4xnPZb6ba159Jgemm60Vl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724401"/>
            <a:ext cx="19558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7" descr="https://encrypted-tbn2.gstatic.com/images?q=tbn:ANd9GcSGt_cIhbhtxmB4QlRLo-pd_te2T3h-IQSvpoIwsZ20NmCAsw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475" y="50800"/>
            <a:ext cx="19907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8" descr="https://encrypted-tbn2.gstatic.com/images?q=tbn:ANd9GcSxFEDD6txvaEpbdQJ01mZNCjXmt_ncHBfpwGipZWWgOJ9aZ-M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50801"/>
            <a:ext cx="16065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 descr="https://encrypted-tbn1.gstatic.com/images?q=tbn:ANd9GcSzTvquSMlM14t_FEoMVydjZqjPkx8BVYnUlb93Ir3-0cF_QUJ_sQ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1" y="4838700"/>
            <a:ext cx="24114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38289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Another Population Parameter of Frequent Interest: the Population Mean </a:t>
            </a:r>
            <a:r>
              <a:rPr lang="en-US" altLang="en-US" sz="4000">
                <a:cs typeface="Arial" charset="0"/>
              </a:rPr>
              <a:t>µ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286000"/>
            <a:ext cx="7772400" cy="4343400"/>
          </a:xfrm>
        </p:spPr>
        <p:txBody>
          <a:bodyPr/>
          <a:lstStyle/>
          <a:p>
            <a:r>
              <a:rPr lang="en-US" altLang="en-US" sz="3600"/>
              <a:t>To estimate the unknown value of </a:t>
            </a:r>
            <a:r>
              <a:rPr lang="en-US" altLang="en-US" sz="3600">
                <a:cs typeface="Arial" charset="0"/>
              </a:rPr>
              <a:t>µ, the sample mean x is often used.</a:t>
            </a:r>
            <a:endParaRPr lang="en-US" altLang="en-US" sz="3600"/>
          </a:p>
          <a:p>
            <a:r>
              <a:rPr lang="en-US" altLang="en-US" sz="3600"/>
              <a:t>We need to examine the Sampling Distribution of the Sample Mean x</a:t>
            </a:r>
          </a:p>
          <a:p>
            <a:pPr>
              <a:buFont typeface="Monotype Sorts" pitchFamily="2" charset="2"/>
              <a:buNone/>
            </a:pPr>
            <a:r>
              <a:rPr lang="en-US" altLang="en-US" sz="3600" i="0"/>
              <a:t>(the probability distribution of all possible values of x based on a sample of size n).</a:t>
            </a:r>
          </a:p>
        </p:txBody>
      </p:sp>
      <p:sp>
        <p:nvSpPr>
          <p:cNvPr id="20484" name="Line 6"/>
          <p:cNvSpPr>
            <a:spLocks noChangeShapeType="1"/>
          </p:cNvSpPr>
          <p:nvPr/>
        </p:nvSpPr>
        <p:spPr bwMode="auto">
          <a:xfrm>
            <a:off x="6781800" y="29718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0485" name="Line 7"/>
          <p:cNvSpPr>
            <a:spLocks noChangeShapeType="1"/>
          </p:cNvSpPr>
          <p:nvPr/>
        </p:nvSpPr>
        <p:spPr bwMode="auto">
          <a:xfrm>
            <a:off x="9220200" y="4191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0486" name="Line 8"/>
          <p:cNvSpPr>
            <a:spLocks noChangeShapeType="1"/>
          </p:cNvSpPr>
          <p:nvPr/>
        </p:nvSpPr>
        <p:spPr bwMode="auto">
          <a:xfrm>
            <a:off x="6324600" y="5410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679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609600"/>
          </a:xfrm>
        </p:spPr>
        <p:txBody>
          <a:bodyPr/>
          <a:lstStyle/>
          <a:p>
            <a:r>
              <a:rPr lang="en-US" altLang="en-US" smtClean="0"/>
              <a:t>Example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90800" y="1752600"/>
            <a:ext cx="7772400" cy="4876800"/>
          </a:xfrm>
        </p:spPr>
        <p:txBody>
          <a:bodyPr/>
          <a:lstStyle/>
          <a:p>
            <a:r>
              <a:rPr lang="en-US" altLang="en-US" sz="2800" dirty="0"/>
              <a:t>Professor Stickler has a large statistics class of over 300 students.  He asked them the ages of their cars and obtained the following probability distribution</a:t>
            </a:r>
            <a:r>
              <a:rPr lang="en-US" altLang="en-US" dirty="0" smtClean="0"/>
              <a:t>: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dirty="0"/>
              <a:t>x		2	3	4	5	6	7	8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dirty="0"/>
              <a:t>p(x)	1/14	1/14	2/14	2/14	2/14	3/14	3/14</a:t>
            </a:r>
          </a:p>
          <a:p>
            <a:r>
              <a:rPr lang="en-US" altLang="en-US" dirty="0" smtClean="0"/>
              <a:t>SRS n=2 is to be drawn from pop.</a:t>
            </a:r>
          </a:p>
          <a:p>
            <a:r>
              <a:rPr lang="en-US" altLang="en-US" dirty="0" smtClean="0"/>
              <a:t>Find the sampling distribution of the sample mean x for samples of size n = 2.</a:t>
            </a: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2667000" y="4114800"/>
            <a:ext cx="708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3429000" y="3663950"/>
            <a:ext cx="0" cy="90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5562600" y="5867400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pic>
        <p:nvPicPr>
          <p:cNvPr id="21511" name="Picture 2" descr="https://encrypted-tbn3.gstatic.com/images?q=tbn:ANd9GcTuEe6rCdS9dOS3H__lYZRJ6wSf_oqh7aTnfagny9d5K3iD_gl0N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6" y="0"/>
            <a:ext cx="244792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4" descr="https://encrypted-tbn3.gstatic.com/images?q=tbn:ANd9GcQaI5EZsQdcoHZZDeZkgWO23R3m6rtnhAf_oEA74CDhvJH6M_c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1" y="19050"/>
            <a:ext cx="24669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95934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  <p:bldP spid="215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Solution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8077200" cy="4114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7 possible ages (ages 2 through 8)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Total of 7</a:t>
            </a:r>
            <a:r>
              <a:rPr lang="en-US" baseline="30000" dirty="0" smtClean="0"/>
              <a:t>2</a:t>
            </a:r>
            <a:r>
              <a:rPr lang="en-US" dirty="0" smtClean="0"/>
              <a:t>=49 possible samples of size 2</a:t>
            </a:r>
          </a:p>
          <a:p>
            <a:pPr marL="0" indent="0"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All 49 possible samples with the corresponding sample means and probabilities are on the next slide</a:t>
            </a:r>
          </a:p>
        </p:txBody>
      </p:sp>
      <p:pic>
        <p:nvPicPr>
          <p:cNvPr id="22532" name="Picture 2" descr="https://encrypted-tbn1.gstatic.com/images?q=tbn:ANd9GcTerBHoPxcygb2pfK4oTva56JMI307jDAgnzLv_PGADjfHK_IN-J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52401"/>
            <a:ext cx="261937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4" descr="https://encrypted-tbn1.gstatic.com/images?q=tbn:ANd9GcQ2xsSgFr6fzK6ufEXBgPuHi_3T7DVDFcQoIrEnO0OpA438ZWLu7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"/>
            <a:ext cx="2438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048856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749082"/>
              </p:ext>
            </p:extLst>
          </p:nvPr>
        </p:nvGraphicFramePr>
        <p:xfrm>
          <a:off x="2145243" y="2749293"/>
          <a:ext cx="6745288" cy="3337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Worksheet" r:id="rId4" imgW="4600409" imgH="2276738" progId="Excel.Sheet.12">
                  <p:embed/>
                </p:oleObj>
              </mc:Choice>
              <mc:Fallback>
                <p:oleObj name="Worksheet" r:id="rId4" imgW="4600409" imgH="22767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5243" y="2749293"/>
                        <a:ext cx="6745288" cy="3337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1710267" y="1287741"/>
            <a:ext cx="81298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en-US" dirty="0"/>
              <a:t>x	</a:t>
            </a:r>
            <a:r>
              <a:rPr lang="en-US" altLang="en-US" dirty="0" smtClean="0"/>
              <a:t>2</a:t>
            </a:r>
            <a:r>
              <a:rPr lang="en-US" altLang="en-US" dirty="0"/>
              <a:t>	3	4	5	6	7	8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p(x)	1/14	1/14	2/14	2/14	2/14	3/14	3/14</a:t>
            </a: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710267" y="1610906"/>
            <a:ext cx="708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2472267" y="1160056"/>
            <a:ext cx="0" cy="90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2992968" y="1905517"/>
            <a:ext cx="321735" cy="13962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>
            <a:off x="3366439" y="1912479"/>
            <a:ext cx="1164165" cy="138232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H="1">
            <a:off x="7167034" y="1922736"/>
            <a:ext cx="313266" cy="37892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>
            <a:off x="7341600" y="1865089"/>
            <a:ext cx="1049866" cy="384483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1710267" y="50535"/>
            <a:ext cx="8134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2"/>
                </a:solidFill>
              </a:rPr>
              <a:t>All 49 possible samples of size n = 2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29700" y="1287741"/>
            <a:ext cx="2962275" cy="646331"/>
          </a:xfrm>
          <a:prstGeom prst="rect">
            <a:avLst/>
          </a:prstGeom>
          <a:solidFill>
            <a:srgbClr val="FFDC6D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Population: ages of cars and their distribution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58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06797"/>
              </p:ext>
            </p:extLst>
          </p:nvPr>
        </p:nvGraphicFramePr>
        <p:xfrm>
          <a:off x="2043112" y="1393879"/>
          <a:ext cx="6745288" cy="3337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3" name="Worksheet" r:id="rId4" imgW="4600409" imgH="2276738" progId="Excel.Sheet.12">
                  <p:embed/>
                </p:oleObj>
              </mc:Choice>
              <mc:Fallback>
                <p:oleObj name="Worksheet" r:id="rId4" imgW="4600409" imgH="22767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43112" y="1393879"/>
                        <a:ext cx="6745288" cy="3337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13510" y="5308106"/>
            <a:ext cx="1136468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en-US" sz="2000" dirty="0" smtClean="0"/>
              <a:t> x        2       2.5       3        3.5        4         4.5         5         5.5         6         6.5        7        7.5      8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 dirty="0" smtClean="0"/>
              <a:t>p(x)</a:t>
            </a:r>
            <a:r>
              <a:rPr lang="en-US" altLang="en-US" sz="3200" dirty="0" smtClean="0"/>
              <a:t> </a:t>
            </a:r>
            <a:r>
              <a:rPr lang="en-US" altLang="en-US" dirty="0" smtClean="0"/>
              <a:t>1/196  2/196    5/196   8/196   12/196   18/196   24/196   26/196   28/196  24/196  21/196  18/196  9/196</a:t>
            </a:r>
            <a:endParaRPr lang="en-US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10067"/>
            <a:ext cx="9897533" cy="1143000"/>
          </a:xfrm>
        </p:spPr>
        <p:txBody>
          <a:bodyPr/>
          <a:lstStyle/>
          <a:p>
            <a:r>
              <a:rPr lang="en-US" sz="4000" dirty="0" smtClean="0"/>
              <a:t>Probability Distribution of the Sample Mean Age of 2 Cars</a:t>
            </a:r>
            <a:endParaRPr lang="en-US" sz="4000" dirty="0"/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 flipV="1">
            <a:off x="313510" y="5720369"/>
            <a:ext cx="10895873" cy="2775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367212" y="5400283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545012" y="5835207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878114" y="5344831"/>
            <a:ext cx="1452" cy="75107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H="1">
            <a:off x="1349829" y="2325189"/>
            <a:ext cx="1550125" cy="342293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3659703" y="2349853"/>
            <a:ext cx="741427" cy="342763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>
            <a:off x="3605966" y="2349853"/>
            <a:ext cx="3518145" cy="335183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>
            <a:off x="3719240" y="3559045"/>
            <a:ext cx="3092423" cy="212738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3000725" y="3562554"/>
            <a:ext cx="6388925" cy="211427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>
            <a:off x="5166735" y="3519011"/>
            <a:ext cx="4222915" cy="22013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8334375" y="4757584"/>
            <a:ext cx="1059007" cy="8594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/>
          <p:cNvCxnSpPr/>
          <p:nvPr/>
        </p:nvCxnSpPr>
        <p:spPr bwMode="auto">
          <a:xfrm flipH="1">
            <a:off x="3697441" y="4750287"/>
            <a:ext cx="362377" cy="91841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2342" name="Picture 5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90500"/>
            <a:ext cx="2000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65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  <a:noFill/>
        </p:spPr>
        <p:txBody>
          <a:bodyPr/>
          <a:lstStyle/>
          <a:p>
            <a:r>
              <a:rPr lang="en-US" altLang="en-US" smtClean="0"/>
              <a:t>Solution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143000"/>
            <a:ext cx="9144000" cy="5181600"/>
          </a:xfrm>
          <a:noFill/>
        </p:spPr>
        <p:txBody>
          <a:bodyPr/>
          <a:lstStyle/>
          <a:p>
            <a:r>
              <a:rPr lang="en-US" altLang="en-US" dirty="0" smtClean="0"/>
              <a:t>Probability distribution of x: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dirty="0"/>
              <a:t>       x    </a:t>
            </a:r>
            <a:r>
              <a:rPr lang="en-US" altLang="en-US" sz="2000" dirty="0"/>
              <a:t>2     2.5     3     3.5    4       4.5      5       5.5     6      6.5      7      7.5    8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dirty="0"/>
              <a:t>   p(x) </a:t>
            </a:r>
            <a:r>
              <a:rPr lang="en-US" altLang="en-US" sz="1400" dirty="0"/>
              <a:t>1/196  2/196    5/196   8/196   12/196   18/196   24/196   26/196   28/196  24/196  21/196  18/196 1/196</a:t>
            </a:r>
          </a:p>
          <a:p>
            <a:pPr>
              <a:buFont typeface="Monotype Sorts" pitchFamily="2" charset="2"/>
              <a:buNone/>
            </a:pPr>
            <a:endParaRPr lang="en-US" altLang="en-US" sz="2400" dirty="0"/>
          </a:p>
          <a:p>
            <a:r>
              <a:rPr lang="en-US" altLang="en-US" dirty="0" smtClean="0"/>
              <a:t>This is the sampling distribution of x because it specifies the probability associated with each possible value of x</a:t>
            </a:r>
          </a:p>
          <a:p>
            <a:r>
              <a:rPr lang="en-US" altLang="en-US" dirty="0" smtClean="0"/>
              <a:t>From the sampling distribution above</a:t>
            </a:r>
          </a:p>
          <a:p>
            <a:pPr>
              <a:buFont typeface="Monotype Sorts" pitchFamily="2" charset="2"/>
              <a:buNone/>
            </a:pPr>
            <a:r>
              <a:rPr lang="en-US" altLang="en-US" i="0" dirty="0" smtClean="0"/>
              <a:t>P(4 </a:t>
            </a:r>
            <a:r>
              <a:rPr lang="en-US" altLang="en-US" i="0" dirty="0" smtClean="0">
                <a:sym typeface="Symbol" pitchFamily="18" charset="2"/>
              </a:rPr>
              <a:t></a:t>
            </a:r>
            <a:r>
              <a:rPr lang="en-US" altLang="en-US" i="0" dirty="0" smtClean="0"/>
              <a:t> </a:t>
            </a:r>
            <a:r>
              <a:rPr lang="en-US" altLang="en-US" dirty="0" smtClean="0"/>
              <a:t>x</a:t>
            </a:r>
            <a:r>
              <a:rPr lang="en-US" altLang="en-US" i="0" dirty="0" smtClean="0"/>
              <a:t> </a:t>
            </a:r>
            <a:r>
              <a:rPr lang="en-US" altLang="en-US" i="0" dirty="0" smtClean="0">
                <a:sym typeface="Symbol" pitchFamily="18" charset="2"/>
              </a:rPr>
              <a:t></a:t>
            </a:r>
            <a:r>
              <a:rPr lang="en-US" altLang="en-US" i="0" dirty="0" smtClean="0"/>
              <a:t> 6) = p(4)+p(4.5)+p(5)+p(5.5)+p(6)</a:t>
            </a:r>
          </a:p>
          <a:p>
            <a:pPr>
              <a:buFont typeface="Monotype Sorts" pitchFamily="2" charset="2"/>
              <a:buNone/>
            </a:pPr>
            <a:r>
              <a:rPr lang="en-US" altLang="en-US" i="0" dirty="0" smtClean="0"/>
              <a:t>        </a:t>
            </a:r>
            <a:r>
              <a:rPr lang="en-US" altLang="en-US" sz="2400" i="0" dirty="0"/>
              <a:t>= 12/196 + 18/196 + 24/196 + 26/196 + 28/196 = 108/196</a:t>
            </a: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6477000" y="1295400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2438400" y="1752600"/>
            <a:ext cx="0" cy="81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1828800" y="2133600"/>
            <a:ext cx="866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8229600" y="32004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2133600" y="1828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2133600" y="22098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5105400" y="4191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>
            <a:off x="2667000" y="5334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040125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 autoUpdateAnimBg="0"/>
      <p:bldP spid="23556" grpId="0" animBg="1"/>
      <p:bldP spid="23559" grpId="0" animBg="1"/>
      <p:bldP spid="23560" grpId="0" animBg="1"/>
      <p:bldP spid="23561" grpId="0" animBg="1"/>
      <p:bldP spid="23562" grpId="0" animBg="1"/>
      <p:bldP spid="2356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752600"/>
            <a:ext cx="7772400" cy="1676400"/>
          </a:xfrm>
          <a:noFill/>
        </p:spPr>
        <p:txBody>
          <a:bodyPr/>
          <a:lstStyle/>
          <a:p>
            <a:r>
              <a:rPr lang="en-US" altLang="en-US" smtClean="0"/>
              <a:t>Expected Value and Standard Deviation of the Sampling Distribution of x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/>
            <a:endParaRPr lang="en-US" altLang="en-US" smtClean="0"/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>
            <a:off x="7696200" y="30480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756654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990600"/>
          </a:xfrm>
          <a:noFill/>
        </p:spPr>
        <p:txBody>
          <a:bodyPr/>
          <a:lstStyle/>
          <a:p>
            <a:r>
              <a:rPr lang="en-US" altLang="en-US" smtClean="0"/>
              <a:t>Example (cont.)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990600"/>
            <a:ext cx="8915400" cy="5486400"/>
          </a:xfrm>
          <a:noFill/>
        </p:spPr>
        <p:txBody>
          <a:bodyPr/>
          <a:lstStyle/>
          <a:p>
            <a:r>
              <a:rPr lang="en-US" altLang="en-US" smtClean="0"/>
              <a:t>Population probability dist.</a:t>
            </a:r>
          </a:p>
          <a:p>
            <a:pPr>
              <a:buFont typeface="Monotype Sorts" pitchFamily="2" charset="2"/>
              <a:buNone/>
            </a:pPr>
            <a:r>
              <a:rPr lang="en-US" altLang="en-US" smtClean="0"/>
              <a:t> x		  2	  3	  4	  5	   6	   7	   8</a:t>
            </a:r>
          </a:p>
          <a:p>
            <a:pPr>
              <a:buFont typeface="Monotype Sorts" pitchFamily="2" charset="2"/>
              <a:buNone/>
            </a:pPr>
            <a:r>
              <a:rPr lang="en-US" altLang="en-US" smtClean="0"/>
              <a:t>p(x)	1/14	1/14	2/14	2/14	2/14	3/14	3/14</a:t>
            </a:r>
          </a:p>
          <a:p>
            <a:endParaRPr lang="en-US" altLang="en-US" smtClean="0"/>
          </a:p>
          <a:p>
            <a:r>
              <a:rPr lang="en-US" altLang="en-US" smtClean="0"/>
              <a:t>Sampling dist. of x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   x      2     2.5     3     3.5      4     4.5     5     5.5      6       6.5     7     7.5     8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p(x)</a:t>
            </a:r>
            <a:r>
              <a:rPr lang="en-US" altLang="en-US" sz="4000"/>
              <a:t> </a:t>
            </a:r>
            <a:r>
              <a:rPr lang="en-US" altLang="en-US" sz="1400"/>
              <a:t>1/196  2/196   5/196   8/196  12/196  18/196  24/196  26/196  28/196  24/196  21/196  18/196 1/196</a:t>
            </a:r>
            <a:endParaRPr lang="en-US" altLang="en-US" smtClean="0"/>
          </a:p>
          <a:p>
            <a:pPr>
              <a:buFont typeface="Monotype Sorts" pitchFamily="2" charset="2"/>
              <a:buNone/>
            </a:pPr>
            <a:endParaRPr lang="en-US" altLang="en-US" smtClean="0"/>
          </a:p>
          <a:p>
            <a:pPr>
              <a:buFont typeface="Monotype Sorts" pitchFamily="2" charset="2"/>
              <a:buNone/>
            </a:pPr>
            <a:endParaRPr lang="en-US" altLang="en-US" smtClean="0"/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1765300" y="2133600"/>
            <a:ext cx="7302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2590800" y="16891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1828800" y="4419600"/>
            <a:ext cx="866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2438400" y="39624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5608" name="Line 10"/>
          <p:cNvSpPr>
            <a:spLocks noChangeShapeType="1"/>
          </p:cNvSpPr>
          <p:nvPr/>
        </p:nvSpPr>
        <p:spPr bwMode="auto">
          <a:xfrm>
            <a:off x="1905000" y="39624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5609" name="Line 11"/>
          <p:cNvSpPr>
            <a:spLocks noChangeShapeType="1"/>
          </p:cNvSpPr>
          <p:nvPr/>
        </p:nvSpPr>
        <p:spPr bwMode="auto">
          <a:xfrm>
            <a:off x="2133600" y="4572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25610" name="Line 12"/>
          <p:cNvSpPr>
            <a:spLocks noChangeShapeType="1"/>
          </p:cNvSpPr>
          <p:nvPr/>
        </p:nvSpPr>
        <p:spPr bwMode="auto">
          <a:xfrm>
            <a:off x="5334000" y="3429000"/>
            <a:ext cx="21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7602122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0" y="304800"/>
            <a:ext cx="8763000" cy="63246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mtClean="0"/>
              <a:t>Population probability dist.</a:t>
            </a:r>
          </a:p>
          <a:p>
            <a:pPr>
              <a:buFont typeface="Monotype Sorts" pitchFamily="2" charset="2"/>
              <a:buNone/>
            </a:pPr>
            <a:r>
              <a:rPr lang="en-US" altLang="en-US" smtClean="0"/>
              <a:t>x		  2	  3	  4	  5	   6	   7	   8</a:t>
            </a:r>
          </a:p>
          <a:p>
            <a:pPr>
              <a:buFont typeface="Monotype Sorts" pitchFamily="2" charset="2"/>
              <a:buNone/>
            </a:pPr>
            <a:r>
              <a:rPr lang="en-US" altLang="en-US" smtClean="0"/>
              <a:t>p(x)	1/14	1/14	2/14	2/14	2/14	3/14	3/14</a:t>
            </a:r>
          </a:p>
          <a:p>
            <a:pPr>
              <a:buFont typeface="Monotype Sorts" pitchFamily="2" charset="2"/>
              <a:buNone/>
            </a:pPr>
            <a:endParaRPr lang="en-US" altLang="en-US" smtClean="0"/>
          </a:p>
          <a:p>
            <a:pPr>
              <a:buFont typeface="Monotype Sorts" pitchFamily="2" charset="2"/>
              <a:buNone/>
            </a:pPr>
            <a:r>
              <a:rPr lang="en-US" altLang="en-US" smtClean="0"/>
              <a:t>Sampling dist. of x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  x      </a:t>
            </a:r>
            <a:r>
              <a:rPr lang="en-US" altLang="en-US" sz="2000"/>
              <a:t>2     2.5     3     3.5      4     4.5     5     5.5      6       6.5     7     7.5     8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p(x)   </a:t>
            </a:r>
            <a:r>
              <a:rPr lang="en-US" altLang="en-US" sz="1400"/>
              <a:t>1/196  2/196   5/196   8/196  12/196  18/196  24/196  26/196  28/196  24/196  21/196  18/196 1/196</a:t>
            </a:r>
            <a:endParaRPr lang="en-US" altLang="en-US" sz="2400"/>
          </a:p>
          <a:p>
            <a:pPr>
              <a:buFont typeface="Monotype Sorts" pitchFamily="2" charset="2"/>
              <a:buNone/>
            </a:pPr>
            <a:endParaRPr lang="en-US" altLang="en-US" sz="24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5257800" y="2667001"/>
            <a:ext cx="5105400" cy="46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000000"/>
                </a:solidFill>
                <a:sym typeface="Symbol" pitchFamily="18" charset="2"/>
              </a:rPr>
              <a:t>Population mean E(X)= = 5.714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26629" name="Group 5"/>
          <p:cNvGrpSpPr>
            <a:grpSpLocks/>
          </p:cNvGrpSpPr>
          <p:nvPr/>
        </p:nvGrpSpPr>
        <p:grpSpPr bwMode="auto">
          <a:xfrm>
            <a:off x="1524000" y="914400"/>
            <a:ext cx="7239000" cy="1066800"/>
            <a:chOff x="432" y="1680"/>
            <a:chExt cx="4560" cy="672"/>
          </a:xfrm>
        </p:grpSpPr>
        <p:sp>
          <p:nvSpPr>
            <p:cNvPr id="26646" name="Line 6"/>
            <p:cNvSpPr>
              <a:spLocks noChangeShapeType="1"/>
            </p:cNvSpPr>
            <p:nvPr/>
          </p:nvSpPr>
          <p:spPr bwMode="auto">
            <a:xfrm>
              <a:off x="432" y="2016"/>
              <a:ext cx="45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6647" name="Line 7"/>
            <p:cNvSpPr>
              <a:spLocks noChangeShapeType="1"/>
            </p:cNvSpPr>
            <p:nvPr/>
          </p:nvSpPr>
          <p:spPr bwMode="auto">
            <a:xfrm>
              <a:off x="960" y="1680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</p:grpSp>
      <p:grpSp>
        <p:nvGrpSpPr>
          <p:cNvPr id="26630" name="Group 8"/>
          <p:cNvGrpSpPr>
            <a:grpSpLocks/>
          </p:cNvGrpSpPr>
          <p:nvPr/>
        </p:nvGrpSpPr>
        <p:grpSpPr bwMode="auto">
          <a:xfrm>
            <a:off x="1524000" y="3276600"/>
            <a:ext cx="8686800" cy="762000"/>
            <a:chOff x="0" y="2064"/>
            <a:chExt cx="5472" cy="480"/>
          </a:xfrm>
        </p:grpSpPr>
        <p:sp>
          <p:nvSpPr>
            <p:cNvPr id="26644" name="Line 9"/>
            <p:cNvSpPr>
              <a:spLocks noChangeShapeType="1"/>
            </p:cNvSpPr>
            <p:nvPr/>
          </p:nvSpPr>
          <p:spPr bwMode="auto">
            <a:xfrm>
              <a:off x="432" y="206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6645" name="Line 10"/>
            <p:cNvSpPr>
              <a:spLocks noChangeShapeType="1"/>
            </p:cNvSpPr>
            <p:nvPr/>
          </p:nvSpPr>
          <p:spPr bwMode="auto">
            <a:xfrm>
              <a:off x="0" y="2256"/>
              <a:ext cx="54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</p:grpSp>
      <p:grpSp>
        <p:nvGrpSpPr>
          <p:cNvPr id="26631" name="Group 11"/>
          <p:cNvGrpSpPr>
            <a:grpSpLocks/>
          </p:cNvGrpSpPr>
          <p:nvPr/>
        </p:nvGrpSpPr>
        <p:grpSpPr bwMode="auto">
          <a:xfrm>
            <a:off x="1752600" y="2819400"/>
            <a:ext cx="3276600" cy="1981200"/>
            <a:chOff x="144" y="1776"/>
            <a:chExt cx="2064" cy="1248"/>
          </a:xfrm>
        </p:grpSpPr>
        <p:sp>
          <p:nvSpPr>
            <p:cNvPr id="26640" name="Line 12"/>
            <p:cNvSpPr>
              <a:spLocks noChangeShapeType="1"/>
            </p:cNvSpPr>
            <p:nvPr/>
          </p:nvSpPr>
          <p:spPr bwMode="auto">
            <a:xfrm>
              <a:off x="192" y="3024"/>
              <a:ext cx="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6641" name="Line 13"/>
            <p:cNvSpPr>
              <a:spLocks noChangeShapeType="1"/>
            </p:cNvSpPr>
            <p:nvPr/>
          </p:nvSpPr>
          <p:spPr bwMode="auto">
            <a:xfrm>
              <a:off x="2016" y="177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6642" name="Line 14"/>
            <p:cNvSpPr>
              <a:spLocks noChangeShapeType="1"/>
            </p:cNvSpPr>
            <p:nvPr/>
          </p:nvSpPr>
          <p:spPr bwMode="auto">
            <a:xfrm>
              <a:off x="144" y="211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6643" name="Line 15"/>
            <p:cNvSpPr>
              <a:spLocks noChangeShapeType="1"/>
            </p:cNvSpPr>
            <p:nvPr/>
          </p:nvSpPr>
          <p:spPr bwMode="auto">
            <a:xfrm>
              <a:off x="240" y="235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</p:grpSp>
      <p:sp>
        <p:nvSpPr>
          <p:cNvPr id="44048" name="Text Box 16"/>
          <p:cNvSpPr txBox="1">
            <a:spLocks noChangeArrowheads="1"/>
          </p:cNvSpPr>
          <p:nvPr/>
        </p:nvSpPr>
        <p:spPr bwMode="auto">
          <a:xfrm>
            <a:off x="2209800" y="2057401"/>
            <a:ext cx="7848600" cy="523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800" b="1" i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E(X)=2(1/14)+3(1/14)+4(2/14)+ … +8(3/14)=5.714</a:t>
            </a:r>
            <a:endParaRPr lang="en-US" altLang="en-US" sz="2000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3801" name="Text Box 18"/>
          <p:cNvSpPr txBox="1">
            <a:spLocks noChangeArrowheads="1"/>
          </p:cNvSpPr>
          <p:nvPr/>
        </p:nvSpPr>
        <p:spPr bwMode="auto">
          <a:xfrm>
            <a:off x="1676400" y="4419601"/>
            <a:ext cx="8839200" cy="7080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i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E(X)=2(1/196)+2.5(2/196)+3(5/196)+3.5(8/196)+4(12/196)+4.5(18/196)+5(24/196)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i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+5.5(26/196)+6(28/196)+6.5(24/196)+7(21/196)+7.5(18/196)+8(1/196) = 5.714</a:t>
            </a:r>
            <a:endParaRPr lang="en-US" altLang="en-US" sz="2000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2133600" y="5715001"/>
            <a:ext cx="7315200" cy="461963"/>
            <a:chOff x="384" y="3600"/>
            <a:chExt cx="4394" cy="291"/>
          </a:xfrm>
        </p:grpSpPr>
        <p:sp>
          <p:nvSpPr>
            <p:cNvPr id="26638" name="Text Box 22"/>
            <p:cNvSpPr txBox="1">
              <a:spLocks noChangeArrowheads="1"/>
            </p:cNvSpPr>
            <p:nvPr/>
          </p:nvSpPr>
          <p:spPr bwMode="auto">
            <a:xfrm>
              <a:off x="384" y="3600"/>
              <a:ext cx="4394" cy="2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400" b="1" i="0">
                  <a:solidFill>
                    <a:srgbClr val="000000"/>
                  </a:solidFill>
                </a:rPr>
                <a:t>Mean of sampling distribution of x: E(X)</a:t>
              </a:r>
              <a:r>
                <a:rPr lang="en-US" altLang="en-US" sz="2400" b="1" i="0">
                  <a:solidFill>
                    <a:srgbClr val="000000"/>
                  </a:solidFill>
                  <a:sym typeface="Symbol" pitchFamily="18" charset="2"/>
                </a:rPr>
                <a:t> = 5.714</a:t>
              </a:r>
              <a:endParaRPr lang="en-US" altLang="en-US" sz="2400" i="0">
                <a:solidFill>
                  <a:srgbClr val="000000"/>
                </a:solidFill>
              </a:endParaRPr>
            </a:p>
          </p:txBody>
        </p:sp>
        <p:sp>
          <p:nvSpPr>
            <p:cNvPr id="26639" name="Line 24"/>
            <p:cNvSpPr>
              <a:spLocks noChangeShapeType="1"/>
            </p:cNvSpPr>
            <p:nvPr/>
          </p:nvSpPr>
          <p:spPr bwMode="auto">
            <a:xfrm>
              <a:off x="3313" y="364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</p:grpSp>
      <p:cxnSp>
        <p:nvCxnSpPr>
          <p:cNvPr id="26635" name="Straight Connector 25"/>
          <p:cNvCxnSpPr>
            <a:cxnSpLocks noChangeShapeType="1"/>
          </p:cNvCxnSpPr>
          <p:nvPr/>
        </p:nvCxnSpPr>
        <p:spPr bwMode="auto">
          <a:xfrm>
            <a:off x="1981200" y="4495800"/>
            <a:ext cx="228600" cy="158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6" name="Straight Connector 28"/>
          <p:cNvCxnSpPr>
            <a:cxnSpLocks noChangeShapeType="1"/>
          </p:cNvCxnSpPr>
          <p:nvPr/>
        </p:nvCxnSpPr>
        <p:spPr bwMode="auto">
          <a:xfrm>
            <a:off x="7620000" y="5791200"/>
            <a:ext cx="228600" cy="158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Curved Connector 23"/>
          <p:cNvCxnSpPr>
            <a:cxnSpLocks noChangeShapeType="1"/>
          </p:cNvCxnSpPr>
          <p:nvPr/>
        </p:nvCxnSpPr>
        <p:spPr bwMode="auto">
          <a:xfrm rot="5400000">
            <a:off x="7696200" y="3810000"/>
            <a:ext cx="2819400" cy="1143000"/>
          </a:xfrm>
          <a:prstGeom prst="curvedConnector3">
            <a:avLst>
              <a:gd name="adj1" fmla="val 50000"/>
            </a:avLst>
          </a:prstGeom>
          <a:noFill/>
          <a:ln w="22225" algn="ctr">
            <a:solidFill>
              <a:srgbClr val="FF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23967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nimBg="1" autoUpdateAnimBg="0"/>
      <p:bldP spid="44048" grpId="0" animBg="1" autoUpdateAnimBg="0"/>
      <p:bldP spid="3380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09600"/>
          </a:xfrm>
          <a:noFill/>
        </p:spPr>
        <p:txBody>
          <a:bodyPr/>
          <a:lstStyle/>
          <a:p>
            <a:r>
              <a:rPr lang="en-US" altLang="en-US" sz="4000"/>
              <a:t>Example (cont.)</a:t>
            </a:r>
          </a:p>
        </p:txBody>
      </p:sp>
      <p:graphicFrame>
        <p:nvGraphicFramePr>
          <p:cNvPr id="27651" name="Object 3">
            <a:hlinkClick r:id="" action="ppaction://ole?verb=0"/>
          </p:cNvPr>
          <p:cNvGraphicFramePr>
            <a:graphicFrameLocks noGrp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3895341916"/>
              </p:ext>
            </p:extLst>
          </p:nvPr>
        </p:nvGraphicFramePr>
        <p:xfrm>
          <a:off x="3359150" y="1406525"/>
          <a:ext cx="5830888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Equation" r:id="rId4" imgW="3746160" imgH="2590560" progId="Equation.DSMT4">
                  <p:embed/>
                </p:oleObj>
              </mc:Choice>
              <mc:Fallback>
                <p:oleObj name="Equation" r:id="rId4" imgW="3746160" imgH="25905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1406525"/>
                        <a:ext cx="5830888" cy="4032250"/>
                      </a:xfrm>
                      <a:prstGeom prst="rect">
                        <a:avLst/>
                      </a:prstGeom>
                      <a:solidFill>
                        <a:srgbClr val="FFDC6D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7376677" y="2133600"/>
            <a:ext cx="686667" cy="158634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82444730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77800"/>
            <a:ext cx="10363200" cy="621940"/>
          </a:xfrm>
          <a:noFill/>
        </p:spPr>
        <p:txBody>
          <a:bodyPr/>
          <a:lstStyle/>
          <a:p>
            <a:r>
              <a:rPr lang="en-US" altLang="en-US" dirty="0" smtClean="0"/>
              <a:t>IMPORTANT</a:t>
            </a:r>
          </a:p>
        </p:txBody>
      </p:sp>
      <p:graphicFrame>
        <p:nvGraphicFramePr>
          <p:cNvPr id="5" name="Object 3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618228"/>
              </p:ext>
            </p:extLst>
          </p:nvPr>
        </p:nvGraphicFramePr>
        <p:xfrm>
          <a:off x="2119745" y="2258292"/>
          <a:ext cx="8271163" cy="4599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Equation" r:id="rId4" imgW="4419360" imgH="2260440" progId="Equation.DSMT4">
                  <p:embed/>
                </p:oleObj>
              </mc:Choice>
              <mc:Fallback>
                <p:oleObj name="Equation" r:id="rId4" imgW="4419360" imgH="22604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745" y="2258292"/>
                        <a:ext cx="8271163" cy="4599708"/>
                      </a:xfrm>
                      <a:prstGeom prst="rect">
                        <a:avLst/>
                      </a:prstGeom>
                      <a:solidFill>
                        <a:srgbClr val="FFDC6D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197030"/>
              </p:ext>
            </p:extLst>
          </p:nvPr>
        </p:nvGraphicFramePr>
        <p:xfrm>
          <a:off x="2493963" y="822325"/>
          <a:ext cx="6389687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Equation" r:id="rId6" imgW="3860640" imgH="685800" progId="Equation.DSMT4">
                  <p:embed/>
                </p:oleObj>
              </mc:Choice>
              <mc:Fallback>
                <p:oleObj name="Equation" r:id="rId6" imgW="38606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93963" y="822325"/>
                        <a:ext cx="6389687" cy="1135063"/>
                      </a:xfrm>
                      <a:prstGeom prst="rect">
                        <a:avLst/>
                      </a:prstGeom>
                      <a:solidFill>
                        <a:srgbClr val="FFDC6D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9596449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8153400" cy="1143000"/>
          </a:xfrm>
        </p:spPr>
        <p:txBody>
          <a:bodyPr/>
          <a:lstStyle/>
          <a:p>
            <a:pPr>
              <a:tabLst>
                <a:tab pos="911225" algn="l"/>
              </a:tabLst>
            </a:pPr>
            <a:r>
              <a:rPr lang="en-US" altLang="en-US" smtClean="0"/>
              <a:t>Sampling Distribution of the Sample Mean X: Example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An example</a:t>
            </a:r>
          </a:p>
          <a:p>
            <a:pPr lvl="1"/>
            <a:r>
              <a:rPr lang="en-US" altLang="en-US" smtClean="0"/>
              <a:t>A fair 6-sided die is thrown; let X represent the number of dots showing on the upper face.</a:t>
            </a:r>
          </a:p>
          <a:p>
            <a:pPr lvl="1"/>
            <a:r>
              <a:rPr lang="en-US" altLang="en-US" smtClean="0"/>
              <a:t>The probability distribution</a:t>
            </a:r>
          </a:p>
          <a:p>
            <a:pPr lvl="1">
              <a:buFontTx/>
              <a:buNone/>
            </a:pPr>
            <a:r>
              <a:rPr lang="en-US" altLang="en-US" smtClean="0"/>
              <a:t>	of X is</a:t>
            </a:r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3429000" y="5029204"/>
            <a:ext cx="3498850" cy="830263"/>
            <a:chOff x="1248" y="2855"/>
            <a:chExt cx="2204" cy="523"/>
          </a:xfrm>
        </p:grpSpPr>
        <p:grpSp>
          <p:nvGrpSpPr>
            <p:cNvPr id="29703" name="Group 5"/>
            <p:cNvGrpSpPr>
              <a:grpSpLocks/>
            </p:cNvGrpSpPr>
            <p:nvPr/>
          </p:nvGrpSpPr>
          <p:grpSpPr bwMode="auto">
            <a:xfrm>
              <a:off x="1248" y="2855"/>
              <a:ext cx="2204" cy="523"/>
              <a:chOff x="1248" y="2855"/>
              <a:chExt cx="2204" cy="523"/>
            </a:xfrm>
          </p:grpSpPr>
          <p:sp>
            <p:nvSpPr>
              <p:cNvPr id="29710" name="Rectangle 6"/>
              <p:cNvSpPr>
                <a:spLocks noChangeArrowheads="1"/>
              </p:cNvSpPr>
              <p:nvPr/>
            </p:nvSpPr>
            <p:spPr bwMode="auto">
              <a:xfrm>
                <a:off x="1248" y="2928"/>
                <a:ext cx="2160" cy="43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711" name="Line 7"/>
              <p:cNvSpPr>
                <a:spLocks noChangeShapeType="1"/>
              </p:cNvSpPr>
              <p:nvPr/>
            </p:nvSpPr>
            <p:spPr bwMode="auto">
              <a:xfrm>
                <a:off x="1296" y="3120"/>
                <a:ext cx="21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9712" name="Text Box 8"/>
              <p:cNvSpPr txBox="1">
                <a:spLocks noChangeArrowheads="1"/>
              </p:cNvSpPr>
              <p:nvPr/>
            </p:nvSpPr>
            <p:spPr bwMode="auto">
              <a:xfrm>
                <a:off x="1296" y="2855"/>
                <a:ext cx="2156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000000"/>
                    </a:solidFill>
                    <a:latin typeface="Arial Narrow" pitchFamily="34" charset="0"/>
                  </a:rPr>
                  <a:t>x        </a:t>
                </a:r>
                <a:r>
                  <a:rPr lang="en-US" altLang="en-US" sz="2000" i="0">
                    <a:solidFill>
                      <a:srgbClr val="000000"/>
                    </a:solidFill>
                    <a:latin typeface="Arial Narrow" pitchFamily="34" charset="0"/>
                  </a:rPr>
                  <a:t>1      2      3      4      5      6</a:t>
                </a:r>
                <a:endParaRPr lang="en-US" altLang="en-US" sz="2400" i="0">
                  <a:solidFill>
                    <a:srgbClr val="000000"/>
                  </a:solidFill>
                  <a:latin typeface="Arial Narrow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400" i="0">
                    <a:solidFill>
                      <a:srgbClr val="000000"/>
                    </a:solidFill>
                    <a:latin typeface="Arial Narrow" pitchFamily="34" charset="0"/>
                  </a:rPr>
                  <a:t>p(x)   </a:t>
                </a:r>
                <a:r>
                  <a:rPr lang="en-US" altLang="en-US" sz="1800" i="0">
                    <a:solidFill>
                      <a:srgbClr val="000000"/>
                    </a:solidFill>
                    <a:latin typeface="Arial Narrow" pitchFamily="34" charset="0"/>
                  </a:rPr>
                  <a:t>1/6   1/6    1/6    1/6    1/6    1/6</a:t>
                </a:r>
                <a:endParaRPr lang="en-US" altLang="en-US" sz="2400" i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29704" name="Line 9"/>
            <p:cNvSpPr>
              <a:spLocks noChangeShapeType="1"/>
            </p:cNvSpPr>
            <p:nvPr/>
          </p:nvSpPr>
          <p:spPr bwMode="auto">
            <a:xfrm>
              <a:off x="1680" y="2928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9705" name="Line 10"/>
            <p:cNvSpPr>
              <a:spLocks noChangeShapeType="1"/>
            </p:cNvSpPr>
            <p:nvPr/>
          </p:nvSpPr>
          <p:spPr bwMode="auto">
            <a:xfrm>
              <a:off x="1968" y="292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9706" name="Line 11"/>
            <p:cNvSpPr>
              <a:spLocks noChangeShapeType="1"/>
            </p:cNvSpPr>
            <p:nvPr/>
          </p:nvSpPr>
          <p:spPr bwMode="auto">
            <a:xfrm>
              <a:off x="2256" y="292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9707" name="Line 12"/>
            <p:cNvSpPr>
              <a:spLocks noChangeShapeType="1"/>
            </p:cNvSpPr>
            <p:nvPr/>
          </p:nvSpPr>
          <p:spPr bwMode="auto">
            <a:xfrm>
              <a:off x="2544" y="292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9708" name="Line 13"/>
            <p:cNvSpPr>
              <a:spLocks noChangeShapeType="1"/>
            </p:cNvSpPr>
            <p:nvPr/>
          </p:nvSpPr>
          <p:spPr bwMode="auto">
            <a:xfrm>
              <a:off x="2832" y="292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29709" name="Line 14"/>
            <p:cNvSpPr>
              <a:spLocks noChangeShapeType="1"/>
            </p:cNvSpPr>
            <p:nvPr/>
          </p:nvSpPr>
          <p:spPr bwMode="auto">
            <a:xfrm>
              <a:off x="3120" y="292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</p:grpSp>
      <p:sp>
        <p:nvSpPr>
          <p:cNvPr id="48143" name="Text Box 15"/>
          <p:cNvSpPr txBox="1">
            <a:spLocks noChangeArrowheads="1"/>
          </p:cNvSpPr>
          <p:nvPr/>
        </p:nvSpPr>
        <p:spPr bwMode="auto">
          <a:xfrm>
            <a:off x="7391400" y="3621088"/>
            <a:ext cx="2971800" cy="26781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 u="sng">
                <a:solidFill>
                  <a:srgbClr val="000000"/>
                </a:solidFill>
                <a:latin typeface="Arial Narrow" pitchFamily="34" charset="0"/>
              </a:rPr>
              <a:t>Population mean </a:t>
            </a:r>
            <a:r>
              <a:rPr lang="en-US" altLang="en-US" sz="2400" b="1" i="0" u="sng">
                <a:solidFill>
                  <a:srgbClr val="000000"/>
                </a:solidFill>
                <a:latin typeface="Arial Narrow" pitchFamily="34" charset="0"/>
                <a:sym typeface="Symbol" pitchFamily="18" charset="2"/>
              </a:rPr>
              <a:t></a:t>
            </a: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  <a:sym typeface="Symbol" pitchFamily="18" charset="2"/>
              </a:rPr>
              <a:t>:</a:t>
            </a:r>
            <a:endParaRPr lang="en-US" altLang="en-US" sz="2400" b="1" i="0">
              <a:solidFill>
                <a:srgbClr val="000000"/>
              </a:solidFill>
              <a:latin typeface="Arial Narrow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</a:pP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  <a:sym typeface="Symbol" pitchFamily="18" charset="2"/>
              </a:rPr>
              <a:t> = </a:t>
            </a: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</a:rPr>
              <a:t>E(X) = 1(1/6) +2(1/6) + 3(1/6) +……… = 3.5.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</a:pPr>
            <a:r>
              <a:rPr lang="en-US" altLang="en-US" sz="2400" b="1" i="0" u="sng">
                <a:solidFill>
                  <a:srgbClr val="000000"/>
                </a:solidFill>
                <a:latin typeface="Arial Narrow" pitchFamily="34" charset="0"/>
              </a:rPr>
              <a:t>Population variance </a:t>
            </a:r>
            <a:r>
              <a:rPr lang="en-US" altLang="en-US" sz="2400" b="1" i="0" u="sng">
                <a:solidFill>
                  <a:srgbClr val="000000"/>
                </a:solidFill>
                <a:latin typeface="Arial Narrow" pitchFamily="34" charset="0"/>
                <a:sym typeface="Symbol" pitchFamily="18" charset="2"/>
              </a:rPr>
              <a:t></a:t>
            </a:r>
            <a:r>
              <a:rPr lang="en-US" altLang="en-US" sz="2400" b="1" i="0" u="sng" baseline="30000">
                <a:solidFill>
                  <a:srgbClr val="000000"/>
                </a:solidFill>
                <a:latin typeface="Arial Narrow" pitchFamily="34" charset="0"/>
                <a:sym typeface="Symbol" pitchFamily="18" charset="2"/>
              </a:rPr>
              <a:t>2</a:t>
            </a:r>
            <a:endParaRPr lang="en-US" altLang="en-US" sz="2400" b="1" i="0" u="sng">
              <a:solidFill>
                <a:srgbClr val="000000"/>
              </a:solidFill>
              <a:latin typeface="Arial Narrow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  <a:sym typeface="Symbol" pitchFamily="18" charset="2"/>
              </a:rPr>
              <a:t></a:t>
            </a:r>
            <a:r>
              <a:rPr lang="en-US" altLang="en-US" sz="2400" b="1" i="0" baseline="30000">
                <a:solidFill>
                  <a:srgbClr val="000000"/>
                </a:solidFill>
                <a:latin typeface="Arial Narrow" pitchFamily="34" charset="0"/>
                <a:sym typeface="Symbol" pitchFamily="18" charset="2"/>
              </a:rPr>
              <a:t>2 </a:t>
            </a: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  <a:sym typeface="Symbol" pitchFamily="18" charset="2"/>
              </a:rPr>
              <a:t>=</a:t>
            </a: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</a:rPr>
              <a:t>V(X) = (1-3.5)</a:t>
            </a:r>
            <a:r>
              <a:rPr lang="en-US" altLang="en-US" sz="2400" b="1" i="0" baseline="30000">
                <a:solidFill>
                  <a:srgbClr val="000000"/>
                </a:solidFill>
                <a:latin typeface="Arial Narrow" pitchFamily="34" charset="0"/>
              </a:rPr>
              <a:t>2</a:t>
            </a: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</a:rPr>
              <a:t>(1/6)+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</a:rPr>
              <a:t>(2-3.5)</a:t>
            </a:r>
            <a:r>
              <a:rPr lang="en-US" altLang="en-US" sz="2400" b="1" i="0" baseline="30000">
                <a:solidFill>
                  <a:srgbClr val="000000"/>
                </a:solidFill>
                <a:latin typeface="Arial Narrow" pitchFamily="34" charset="0"/>
              </a:rPr>
              <a:t>2</a:t>
            </a: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</a:rPr>
              <a:t>(1/6)+ ………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000000"/>
                </a:solidFill>
                <a:latin typeface="Arial Narrow" pitchFamily="34" charset="0"/>
              </a:rPr>
              <a:t> ………. = 2.92</a:t>
            </a:r>
            <a:r>
              <a:rPr lang="en-US" altLang="en-US" sz="2000" i="0">
                <a:solidFill>
                  <a:srgbClr val="000000"/>
                </a:solidFill>
                <a:latin typeface="Arial Narrow" pitchFamily="34" charset="0"/>
              </a:rPr>
              <a:t>        </a:t>
            </a:r>
          </a:p>
        </p:txBody>
      </p:sp>
      <p:sp>
        <p:nvSpPr>
          <p:cNvPr id="29702" name="Line 16"/>
          <p:cNvSpPr>
            <a:spLocks noChangeShapeType="1"/>
          </p:cNvSpPr>
          <p:nvPr/>
        </p:nvSpPr>
        <p:spPr bwMode="auto">
          <a:xfrm>
            <a:off x="6705600" y="12192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446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3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9800" y="533400"/>
            <a:ext cx="8001000" cy="1676400"/>
          </a:xfrm>
        </p:spPr>
        <p:txBody>
          <a:bodyPr/>
          <a:lstStyle/>
          <a:p>
            <a:r>
              <a:rPr lang="en-US" altLang="en-US" smtClean="0"/>
              <a:t>Suppose we want to estimate </a:t>
            </a:r>
            <a:r>
              <a:rPr lang="en-US" altLang="en-US" smtClean="0">
                <a:latin typeface="Symbol" pitchFamily="18" charset="2"/>
              </a:rPr>
              <a:t>m</a:t>
            </a:r>
            <a:r>
              <a:rPr lang="en-US" altLang="en-US" smtClean="0"/>
              <a:t> from the mean    of a sample of size n = 2.</a:t>
            </a:r>
          </a:p>
          <a:p>
            <a:r>
              <a:rPr lang="en-US" altLang="en-US" smtClean="0"/>
              <a:t>What is the sampling distribution of      in this situation?</a:t>
            </a:r>
          </a:p>
        </p:txBody>
      </p:sp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3733801" y="990600"/>
          <a:ext cx="4032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4" imgW="114151" imgH="152202" progId="Equation.DSMT4">
                  <p:embed/>
                </p:oleObj>
              </mc:Choice>
              <mc:Fallback>
                <p:oleObj name="Equation" r:id="rId4" imgW="114151" imgH="1522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990600"/>
                        <a:ext cx="4032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9067801" y="1600200"/>
          <a:ext cx="4032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Equation" r:id="rId6" imgW="114151" imgH="152202" progId="Equation.DSMT4">
                  <p:embed/>
                </p:oleObj>
              </mc:Choice>
              <mc:Fallback>
                <p:oleObj name="Equation" r:id="rId6" imgW="114151" imgH="1522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1600200"/>
                        <a:ext cx="4032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2286000" y="3124200"/>
          <a:ext cx="7766050" cy="358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Worksheet" r:id="rId8" imgW="10598400" imgH="4881600" progId="Excel.Sheet.8">
                  <p:embed/>
                </p:oleObj>
              </mc:Choice>
              <mc:Fallback>
                <p:oleObj name="Worksheet" r:id="rId8" imgW="10598400" imgH="48816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124200"/>
                        <a:ext cx="7766050" cy="35829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117088" dir="19163922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63174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2743200" y="457200"/>
          <a:ext cx="6553200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9" name="Worksheet" r:id="rId5" imgW="10598400" imgH="4881600" progId="Excel.Sheet.8">
                  <p:embed/>
                </p:oleObj>
              </mc:Choice>
              <mc:Fallback>
                <p:oleObj name="Worksheet" r:id="rId5" imgW="10598400" imgH="48816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7200"/>
                        <a:ext cx="6553200" cy="3022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117088" dir="19163922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717800" y="3492500"/>
          <a:ext cx="6604000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0180" name="Freeform 4"/>
          <p:cNvSpPr>
            <a:spLocks/>
          </p:cNvSpPr>
          <p:nvPr/>
        </p:nvSpPr>
        <p:spPr bwMode="auto">
          <a:xfrm>
            <a:off x="2070100" y="838200"/>
            <a:ext cx="2425700" cy="5257800"/>
          </a:xfrm>
          <a:custGeom>
            <a:avLst/>
            <a:gdLst>
              <a:gd name="T0" fmla="*/ 2147483647 w 1528"/>
              <a:gd name="T1" fmla="*/ 0 h 3312"/>
              <a:gd name="T2" fmla="*/ 2147483647 w 1528"/>
              <a:gd name="T3" fmla="*/ 2147483647 h 3312"/>
              <a:gd name="T4" fmla="*/ 2147483647 w 1528"/>
              <a:gd name="T5" fmla="*/ 2147483647 h 3312"/>
              <a:gd name="T6" fmla="*/ 0 60000 65536"/>
              <a:gd name="T7" fmla="*/ 0 60000 65536"/>
              <a:gd name="T8" fmla="*/ 0 60000 65536"/>
              <a:gd name="T9" fmla="*/ 0 w 1528"/>
              <a:gd name="T10" fmla="*/ 0 h 3312"/>
              <a:gd name="T11" fmla="*/ 1528 w 1528"/>
              <a:gd name="T12" fmla="*/ 3312 h 33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28" h="3312">
                <a:moveTo>
                  <a:pt x="1528" y="0"/>
                </a:moveTo>
                <a:cubicBezTo>
                  <a:pt x="900" y="36"/>
                  <a:pt x="272" y="72"/>
                  <a:pt x="136" y="624"/>
                </a:cubicBezTo>
                <a:cubicBezTo>
                  <a:pt x="0" y="1176"/>
                  <a:pt x="356" y="2244"/>
                  <a:pt x="712" y="33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403600" y="1143000"/>
            <a:ext cx="1943100" cy="4572000"/>
            <a:chOff x="1184" y="720"/>
            <a:chExt cx="1224" cy="2880"/>
          </a:xfrm>
        </p:grpSpPr>
        <p:sp>
          <p:nvSpPr>
            <p:cNvPr id="31765" name="Freeform 6"/>
            <p:cNvSpPr>
              <a:spLocks/>
            </p:cNvSpPr>
            <p:nvPr/>
          </p:nvSpPr>
          <p:spPr bwMode="auto">
            <a:xfrm>
              <a:off x="1184" y="720"/>
              <a:ext cx="640" cy="2880"/>
            </a:xfrm>
            <a:custGeom>
              <a:avLst/>
              <a:gdLst>
                <a:gd name="T0" fmla="*/ 640 w 640"/>
                <a:gd name="T1" fmla="*/ 0 h 2880"/>
                <a:gd name="T2" fmla="*/ 64 w 640"/>
                <a:gd name="T3" fmla="*/ 1008 h 2880"/>
                <a:gd name="T4" fmla="*/ 256 w 640"/>
                <a:gd name="T5" fmla="*/ 2880 h 2880"/>
                <a:gd name="T6" fmla="*/ 0 60000 65536"/>
                <a:gd name="T7" fmla="*/ 0 60000 65536"/>
                <a:gd name="T8" fmla="*/ 0 60000 65536"/>
                <a:gd name="T9" fmla="*/ 0 w 640"/>
                <a:gd name="T10" fmla="*/ 0 h 2880"/>
                <a:gd name="T11" fmla="*/ 640 w 640"/>
                <a:gd name="T12" fmla="*/ 2880 h 28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40" h="2880">
                  <a:moveTo>
                    <a:pt x="640" y="0"/>
                  </a:moveTo>
                  <a:cubicBezTo>
                    <a:pt x="384" y="264"/>
                    <a:pt x="128" y="528"/>
                    <a:pt x="64" y="1008"/>
                  </a:cubicBezTo>
                  <a:cubicBezTo>
                    <a:pt x="0" y="1488"/>
                    <a:pt x="128" y="2184"/>
                    <a:pt x="256" y="288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31766" name="Freeform 7"/>
            <p:cNvSpPr>
              <a:spLocks/>
            </p:cNvSpPr>
            <p:nvPr/>
          </p:nvSpPr>
          <p:spPr bwMode="auto">
            <a:xfrm>
              <a:off x="1488" y="1392"/>
              <a:ext cx="920" cy="2160"/>
            </a:xfrm>
            <a:custGeom>
              <a:avLst/>
              <a:gdLst>
                <a:gd name="T0" fmla="*/ 624 w 920"/>
                <a:gd name="T1" fmla="*/ 0 h 2160"/>
                <a:gd name="T2" fmla="*/ 816 w 920"/>
                <a:gd name="T3" fmla="*/ 1056 h 2160"/>
                <a:gd name="T4" fmla="*/ 0 w 920"/>
                <a:gd name="T5" fmla="*/ 2160 h 2160"/>
                <a:gd name="T6" fmla="*/ 0 60000 65536"/>
                <a:gd name="T7" fmla="*/ 0 60000 65536"/>
                <a:gd name="T8" fmla="*/ 0 60000 65536"/>
                <a:gd name="T9" fmla="*/ 0 w 920"/>
                <a:gd name="T10" fmla="*/ 0 h 2160"/>
                <a:gd name="T11" fmla="*/ 920 w 920"/>
                <a:gd name="T12" fmla="*/ 2160 h 2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0" h="2160">
                  <a:moveTo>
                    <a:pt x="624" y="0"/>
                  </a:moveTo>
                  <a:cubicBezTo>
                    <a:pt x="772" y="348"/>
                    <a:pt x="920" y="696"/>
                    <a:pt x="816" y="1056"/>
                  </a:cubicBezTo>
                  <a:cubicBezTo>
                    <a:pt x="712" y="1416"/>
                    <a:pt x="356" y="1788"/>
                    <a:pt x="0" y="216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800600" y="1219200"/>
            <a:ext cx="4267200" cy="3251200"/>
            <a:chOff x="2064" y="768"/>
            <a:chExt cx="2688" cy="2048"/>
          </a:xfrm>
        </p:grpSpPr>
        <p:sp>
          <p:nvSpPr>
            <p:cNvPr id="31759" name="Freeform 9"/>
            <p:cNvSpPr>
              <a:spLocks/>
            </p:cNvSpPr>
            <p:nvPr/>
          </p:nvSpPr>
          <p:spPr bwMode="auto">
            <a:xfrm>
              <a:off x="2064" y="1248"/>
              <a:ext cx="768" cy="1344"/>
            </a:xfrm>
            <a:custGeom>
              <a:avLst/>
              <a:gdLst>
                <a:gd name="T0" fmla="*/ 0 w 768"/>
                <a:gd name="T1" fmla="*/ 0 h 1344"/>
                <a:gd name="T2" fmla="*/ 576 w 768"/>
                <a:gd name="T3" fmla="*/ 384 h 1344"/>
                <a:gd name="T4" fmla="*/ 768 w 768"/>
                <a:gd name="T5" fmla="*/ 1344 h 1344"/>
                <a:gd name="T6" fmla="*/ 0 60000 65536"/>
                <a:gd name="T7" fmla="*/ 0 60000 65536"/>
                <a:gd name="T8" fmla="*/ 0 60000 65536"/>
                <a:gd name="T9" fmla="*/ 0 w 768"/>
                <a:gd name="T10" fmla="*/ 0 h 1344"/>
                <a:gd name="T11" fmla="*/ 768 w 768"/>
                <a:gd name="T12" fmla="*/ 1344 h 13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1344">
                  <a:moveTo>
                    <a:pt x="0" y="0"/>
                  </a:moveTo>
                  <a:cubicBezTo>
                    <a:pt x="224" y="80"/>
                    <a:pt x="448" y="160"/>
                    <a:pt x="576" y="384"/>
                  </a:cubicBezTo>
                  <a:cubicBezTo>
                    <a:pt x="704" y="608"/>
                    <a:pt x="736" y="976"/>
                    <a:pt x="768" y="13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31760" name="Freeform 10"/>
            <p:cNvSpPr>
              <a:spLocks/>
            </p:cNvSpPr>
            <p:nvPr/>
          </p:nvSpPr>
          <p:spPr bwMode="auto">
            <a:xfrm>
              <a:off x="2064" y="1968"/>
              <a:ext cx="720" cy="576"/>
            </a:xfrm>
            <a:custGeom>
              <a:avLst/>
              <a:gdLst>
                <a:gd name="T0" fmla="*/ 0 w 720"/>
                <a:gd name="T1" fmla="*/ 0 h 576"/>
                <a:gd name="T2" fmla="*/ 576 w 720"/>
                <a:gd name="T3" fmla="*/ 288 h 576"/>
                <a:gd name="T4" fmla="*/ 720 w 720"/>
                <a:gd name="T5" fmla="*/ 576 h 576"/>
                <a:gd name="T6" fmla="*/ 0 60000 65536"/>
                <a:gd name="T7" fmla="*/ 0 60000 65536"/>
                <a:gd name="T8" fmla="*/ 0 60000 65536"/>
                <a:gd name="T9" fmla="*/ 0 w 720"/>
                <a:gd name="T10" fmla="*/ 0 h 576"/>
                <a:gd name="T11" fmla="*/ 720 w 720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576">
                  <a:moveTo>
                    <a:pt x="0" y="0"/>
                  </a:moveTo>
                  <a:cubicBezTo>
                    <a:pt x="228" y="96"/>
                    <a:pt x="456" y="192"/>
                    <a:pt x="576" y="288"/>
                  </a:cubicBezTo>
                  <a:cubicBezTo>
                    <a:pt x="696" y="384"/>
                    <a:pt x="708" y="480"/>
                    <a:pt x="720" y="57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31761" name="Freeform 11"/>
            <p:cNvSpPr>
              <a:spLocks/>
            </p:cNvSpPr>
            <p:nvPr/>
          </p:nvSpPr>
          <p:spPr bwMode="auto">
            <a:xfrm>
              <a:off x="2880" y="1008"/>
              <a:ext cx="288" cy="1536"/>
            </a:xfrm>
            <a:custGeom>
              <a:avLst/>
              <a:gdLst>
                <a:gd name="T0" fmla="*/ 288 w 288"/>
                <a:gd name="T1" fmla="*/ 0 h 1536"/>
                <a:gd name="T2" fmla="*/ 0 w 288"/>
                <a:gd name="T3" fmla="*/ 1536 h 1536"/>
                <a:gd name="T4" fmla="*/ 0 60000 65536"/>
                <a:gd name="T5" fmla="*/ 0 60000 65536"/>
                <a:gd name="T6" fmla="*/ 0 w 288"/>
                <a:gd name="T7" fmla="*/ 0 h 1536"/>
                <a:gd name="T8" fmla="*/ 288 w 288"/>
                <a:gd name="T9" fmla="*/ 1536 h 1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8" h="1536">
                  <a:moveTo>
                    <a:pt x="288" y="0"/>
                  </a:moveTo>
                  <a:cubicBezTo>
                    <a:pt x="288" y="0"/>
                    <a:pt x="144" y="768"/>
                    <a:pt x="0" y="15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31762" name="Freeform 12"/>
            <p:cNvSpPr>
              <a:spLocks/>
            </p:cNvSpPr>
            <p:nvPr/>
          </p:nvSpPr>
          <p:spPr bwMode="auto">
            <a:xfrm>
              <a:off x="2928" y="1680"/>
              <a:ext cx="656" cy="864"/>
            </a:xfrm>
            <a:custGeom>
              <a:avLst/>
              <a:gdLst>
                <a:gd name="T0" fmla="*/ 480 w 656"/>
                <a:gd name="T1" fmla="*/ 0 h 864"/>
                <a:gd name="T2" fmla="*/ 576 w 656"/>
                <a:gd name="T3" fmla="*/ 576 h 864"/>
                <a:gd name="T4" fmla="*/ 0 w 656"/>
                <a:gd name="T5" fmla="*/ 864 h 864"/>
                <a:gd name="T6" fmla="*/ 0 60000 65536"/>
                <a:gd name="T7" fmla="*/ 0 60000 65536"/>
                <a:gd name="T8" fmla="*/ 0 60000 65536"/>
                <a:gd name="T9" fmla="*/ 0 w 656"/>
                <a:gd name="T10" fmla="*/ 0 h 864"/>
                <a:gd name="T11" fmla="*/ 656 w 656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6" h="864">
                  <a:moveTo>
                    <a:pt x="480" y="0"/>
                  </a:moveTo>
                  <a:cubicBezTo>
                    <a:pt x="568" y="216"/>
                    <a:pt x="656" y="432"/>
                    <a:pt x="576" y="576"/>
                  </a:cubicBezTo>
                  <a:cubicBezTo>
                    <a:pt x="496" y="720"/>
                    <a:pt x="248" y="792"/>
                    <a:pt x="0" y="8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31763" name="Freeform 13"/>
            <p:cNvSpPr>
              <a:spLocks/>
            </p:cNvSpPr>
            <p:nvPr/>
          </p:nvSpPr>
          <p:spPr bwMode="auto">
            <a:xfrm>
              <a:off x="2976" y="768"/>
              <a:ext cx="1680" cy="1872"/>
            </a:xfrm>
            <a:custGeom>
              <a:avLst/>
              <a:gdLst>
                <a:gd name="T0" fmla="*/ 1680 w 1680"/>
                <a:gd name="T1" fmla="*/ 0 h 1872"/>
                <a:gd name="T2" fmla="*/ 1344 w 1680"/>
                <a:gd name="T3" fmla="*/ 1536 h 1872"/>
                <a:gd name="T4" fmla="*/ 0 w 1680"/>
                <a:gd name="T5" fmla="*/ 1872 h 1872"/>
                <a:gd name="T6" fmla="*/ 0 60000 65536"/>
                <a:gd name="T7" fmla="*/ 0 60000 65536"/>
                <a:gd name="T8" fmla="*/ 0 60000 65536"/>
                <a:gd name="T9" fmla="*/ 0 w 1680"/>
                <a:gd name="T10" fmla="*/ 0 h 1872"/>
                <a:gd name="T11" fmla="*/ 1680 w 1680"/>
                <a:gd name="T12" fmla="*/ 1872 h 18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0" h="1872">
                  <a:moveTo>
                    <a:pt x="1680" y="0"/>
                  </a:moveTo>
                  <a:cubicBezTo>
                    <a:pt x="1652" y="612"/>
                    <a:pt x="1624" y="1224"/>
                    <a:pt x="1344" y="1536"/>
                  </a:cubicBezTo>
                  <a:cubicBezTo>
                    <a:pt x="1064" y="1848"/>
                    <a:pt x="532" y="1860"/>
                    <a:pt x="0" y="18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31764" name="Freeform 14"/>
            <p:cNvSpPr>
              <a:spLocks/>
            </p:cNvSpPr>
            <p:nvPr/>
          </p:nvSpPr>
          <p:spPr bwMode="auto">
            <a:xfrm>
              <a:off x="2976" y="1440"/>
              <a:ext cx="1776" cy="1376"/>
            </a:xfrm>
            <a:custGeom>
              <a:avLst/>
              <a:gdLst>
                <a:gd name="T0" fmla="*/ 1776 w 1776"/>
                <a:gd name="T1" fmla="*/ 0 h 1376"/>
                <a:gd name="T2" fmla="*/ 1344 w 1776"/>
                <a:gd name="T3" fmla="*/ 1152 h 1376"/>
                <a:gd name="T4" fmla="*/ 0 w 1776"/>
                <a:gd name="T5" fmla="*/ 1344 h 1376"/>
                <a:gd name="T6" fmla="*/ 0 60000 65536"/>
                <a:gd name="T7" fmla="*/ 0 60000 65536"/>
                <a:gd name="T8" fmla="*/ 0 60000 65536"/>
                <a:gd name="T9" fmla="*/ 0 w 1776"/>
                <a:gd name="T10" fmla="*/ 0 h 1376"/>
                <a:gd name="T11" fmla="*/ 1776 w 1776"/>
                <a:gd name="T12" fmla="*/ 1376 h 13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6" h="1376">
                  <a:moveTo>
                    <a:pt x="1776" y="0"/>
                  </a:moveTo>
                  <a:cubicBezTo>
                    <a:pt x="1708" y="464"/>
                    <a:pt x="1640" y="928"/>
                    <a:pt x="1344" y="1152"/>
                  </a:cubicBezTo>
                  <a:cubicBezTo>
                    <a:pt x="1048" y="1376"/>
                    <a:pt x="524" y="1360"/>
                    <a:pt x="0" y="13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</p:grpSp>
      <p:sp>
        <p:nvSpPr>
          <p:cNvPr id="31751" name="Text Box 15"/>
          <p:cNvSpPr txBox="1">
            <a:spLocks noChangeArrowheads="1"/>
          </p:cNvSpPr>
          <p:nvPr/>
        </p:nvSpPr>
        <p:spPr bwMode="auto">
          <a:xfrm>
            <a:off x="3032125" y="6248401"/>
            <a:ext cx="61039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0">
                <a:solidFill>
                  <a:srgbClr val="000000"/>
                </a:solidFill>
                <a:latin typeface="Arial Narrow" pitchFamily="34" charset="0"/>
              </a:rPr>
              <a:t>1       1.5     2.0     2.5     3.0     3.5     4.0     4.5     5.0     5.5    6.0</a:t>
            </a:r>
          </a:p>
        </p:txBody>
      </p:sp>
      <p:sp>
        <p:nvSpPr>
          <p:cNvPr id="31752" name="Text Box 16"/>
          <p:cNvSpPr txBox="1">
            <a:spLocks noChangeArrowheads="1"/>
          </p:cNvSpPr>
          <p:nvPr/>
        </p:nvSpPr>
        <p:spPr bwMode="auto">
          <a:xfrm>
            <a:off x="2209801" y="3360739"/>
            <a:ext cx="550863" cy="300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lnSpc>
                <a:spcPct val="3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6/36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5/36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4/36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3/36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2/36</a:t>
            </a:r>
          </a:p>
          <a:p>
            <a:pPr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1/36</a:t>
            </a:r>
          </a:p>
        </p:txBody>
      </p:sp>
      <p:graphicFrame>
        <p:nvGraphicFramePr>
          <p:cNvPr id="31753" name="Object 17"/>
          <p:cNvGraphicFramePr>
            <a:graphicFrameLocks noChangeAspect="1"/>
          </p:cNvGraphicFramePr>
          <p:nvPr/>
        </p:nvGraphicFramePr>
        <p:xfrm>
          <a:off x="9296401" y="6096000"/>
          <a:ext cx="4032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" name="Equation" r:id="rId8" imgW="114151" imgH="152202" progId="Equation.DSMT4">
                  <p:embed/>
                </p:oleObj>
              </mc:Choice>
              <mc:Fallback>
                <p:oleObj name="Equation" r:id="rId8" imgW="114151" imgH="1522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1" y="6096000"/>
                        <a:ext cx="4032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543800" y="3505200"/>
            <a:ext cx="2667000" cy="1701800"/>
            <a:chOff x="4310" y="2496"/>
            <a:chExt cx="1498" cy="1072"/>
          </a:xfrm>
        </p:grpSpPr>
        <p:sp>
          <p:nvSpPr>
            <p:cNvPr id="31757" name="Text Box 19"/>
            <p:cNvSpPr txBox="1">
              <a:spLocks noChangeArrowheads="1"/>
            </p:cNvSpPr>
            <p:nvPr/>
          </p:nvSpPr>
          <p:spPr bwMode="auto">
            <a:xfrm>
              <a:off x="4310" y="2544"/>
              <a:ext cx="1498" cy="10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i="0">
                  <a:solidFill>
                    <a:srgbClr val="000000"/>
                  </a:solidFill>
                  <a:latin typeface="Arial Narrow" pitchFamily="34" charset="0"/>
                </a:rPr>
                <a:t>E(    ) =1.0(1/36)+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i="0">
                  <a:solidFill>
                    <a:srgbClr val="000000"/>
                  </a:solidFill>
                  <a:latin typeface="Arial Narrow" pitchFamily="34" charset="0"/>
                </a:rPr>
                <a:t>1.5(2/36)+….=3.5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000" i="0">
                <a:solidFill>
                  <a:srgbClr val="000000"/>
                </a:solidFill>
                <a:latin typeface="Arial Narrow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i="0">
                  <a:solidFill>
                    <a:srgbClr val="000000"/>
                  </a:solidFill>
                  <a:latin typeface="Arial Narrow" pitchFamily="34" charset="0"/>
                </a:rPr>
                <a:t>V(X) = (1.0-3.5)</a:t>
              </a:r>
              <a:r>
                <a:rPr lang="en-US" altLang="en-US" sz="2000" i="0" baseline="30000">
                  <a:solidFill>
                    <a:srgbClr val="000000"/>
                  </a:solidFill>
                  <a:latin typeface="Arial Narrow" pitchFamily="34" charset="0"/>
                </a:rPr>
                <a:t>2</a:t>
              </a:r>
              <a:r>
                <a:rPr lang="en-US" altLang="en-US" sz="2000" i="0">
                  <a:solidFill>
                    <a:srgbClr val="000000"/>
                  </a:solidFill>
                  <a:latin typeface="Arial Narrow" pitchFamily="34" charset="0"/>
                </a:rPr>
                <a:t>(1/36)+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i="0">
                  <a:solidFill>
                    <a:srgbClr val="000000"/>
                  </a:solidFill>
                  <a:latin typeface="Arial Narrow" pitchFamily="34" charset="0"/>
                </a:rPr>
                <a:t>(1.5-3.5)</a:t>
              </a:r>
              <a:r>
                <a:rPr lang="en-US" altLang="en-US" sz="2000" i="0" baseline="30000">
                  <a:solidFill>
                    <a:srgbClr val="000000"/>
                  </a:solidFill>
                  <a:latin typeface="Arial Narrow" pitchFamily="34" charset="0"/>
                </a:rPr>
                <a:t>2</a:t>
              </a:r>
              <a:r>
                <a:rPr lang="en-US" altLang="en-US" sz="2000" i="0">
                  <a:solidFill>
                    <a:srgbClr val="000000"/>
                  </a:solidFill>
                  <a:latin typeface="Arial Narrow" pitchFamily="34" charset="0"/>
                </a:rPr>
                <a:t>(2/36)... = 1.46</a:t>
              </a:r>
            </a:p>
          </p:txBody>
        </p:sp>
        <p:graphicFrame>
          <p:nvGraphicFramePr>
            <p:cNvPr id="31758" name="Object 20"/>
            <p:cNvGraphicFramePr>
              <a:graphicFrameLocks noChangeAspect="1"/>
            </p:cNvGraphicFramePr>
            <p:nvPr/>
          </p:nvGraphicFramePr>
          <p:xfrm>
            <a:off x="4464" y="2496"/>
            <a:ext cx="21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61" name="Equation" r:id="rId10" imgW="114151" imgH="152202" progId="Equation.DSMT4">
                    <p:embed/>
                  </p:oleObj>
                </mc:Choice>
                <mc:Fallback>
                  <p:oleObj name="Equation" r:id="rId10" imgW="114151" imgH="1522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496"/>
                          <a:ext cx="21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1871663" y="1444625"/>
          <a:ext cx="8558212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2" name="Equation" r:id="rId11" imgW="2806700" imgH="393700" progId="Equation.DSMT4">
                  <p:embed/>
                </p:oleObj>
              </mc:Choice>
              <mc:Fallback>
                <p:oleObj name="Equation" r:id="rId11" imgW="28067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1444625"/>
                        <a:ext cx="8558212" cy="1201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Line 22"/>
          <p:cNvSpPr>
            <a:spLocks noChangeShapeType="1"/>
          </p:cNvSpPr>
          <p:nvPr/>
        </p:nvSpPr>
        <p:spPr bwMode="auto">
          <a:xfrm>
            <a:off x="7848600" y="4495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47614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1955800" y="2032000"/>
            <a:ext cx="2870200" cy="1244600"/>
            <a:chOff x="320" y="2480"/>
            <a:chExt cx="1808" cy="784"/>
          </a:xfrm>
        </p:grpSpPr>
        <p:graphicFrame>
          <p:nvGraphicFramePr>
            <p:cNvPr id="2" name="Object 3"/>
            <p:cNvGraphicFramePr>
              <a:graphicFrameLocks noChangeAspect="1"/>
            </p:cNvGraphicFramePr>
            <p:nvPr/>
          </p:nvGraphicFramePr>
          <p:xfrm>
            <a:off x="320" y="2480"/>
            <a:ext cx="1808" cy="7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32800" name="Group 4"/>
            <p:cNvGrpSpPr>
              <a:grpSpLocks/>
            </p:cNvGrpSpPr>
            <p:nvPr/>
          </p:nvGrpSpPr>
          <p:grpSpPr bwMode="auto">
            <a:xfrm>
              <a:off x="720" y="3120"/>
              <a:ext cx="1008" cy="144"/>
              <a:chOff x="720" y="3120"/>
              <a:chExt cx="1008" cy="144"/>
            </a:xfrm>
          </p:grpSpPr>
          <p:sp>
            <p:nvSpPr>
              <p:cNvPr id="32801" name="Line 5"/>
              <p:cNvSpPr>
                <a:spLocks noChangeShapeType="1"/>
              </p:cNvSpPr>
              <p:nvPr/>
            </p:nvSpPr>
            <p:spPr bwMode="auto">
              <a:xfrm>
                <a:off x="720" y="312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2802" name="Line 6"/>
              <p:cNvSpPr>
                <a:spLocks noChangeShapeType="1"/>
              </p:cNvSpPr>
              <p:nvPr/>
            </p:nvSpPr>
            <p:spPr bwMode="auto">
              <a:xfrm>
                <a:off x="1728" y="312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2771" name="Group 7"/>
          <p:cNvGrpSpPr>
            <a:grpSpLocks/>
          </p:cNvGrpSpPr>
          <p:nvPr/>
        </p:nvGrpSpPr>
        <p:grpSpPr bwMode="auto">
          <a:xfrm>
            <a:off x="4622800" y="2565400"/>
            <a:ext cx="2794000" cy="2387600"/>
            <a:chOff x="1952" y="1616"/>
            <a:chExt cx="1760" cy="1504"/>
          </a:xfrm>
        </p:grpSpPr>
        <p:graphicFrame>
          <p:nvGraphicFramePr>
            <p:cNvPr id="3" name="Object 8"/>
            <p:cNvGraphicFramePr>
              <a:graphicFrameLocks noChangeAspect="1"/>
            </p:cNvGraphicFramePr>
            <p:nvPr/>
          </p:nvGraphicFramePr>
          <p:xfrm>
            <a:off x="1952" y="1616"/>
            <a:ext cx="1760" cy="144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pSp>
          <p:nvGrpSpPr>
            <p:cNvPr id="32796" name="Group 9"/>
            <p:cNvGrpSpPr>
              <a:grpSpLocks/>
            </p:cNvGrpSpPr>
            <p:nvPr/>
          </p:nvGrpSpPr>
          <p:grpSpPr bwMode="auto">
            <a:xfrm>
              <a:off x="2328" y="2976"/>
              <a:ext cx="1008" cy="144"/>
              <a:chOff x="2304" y="2976"/>
              <a:chExt cx="1008" cy="144"/>
            </a:xfrm>
          </p:grpSpPr>
          <p:sp>
            <p:nvSpPr>
              <p:cNvPr id="32797" name="Line 10"/>
              <p:cNvSpPr>
                <a:spLocks noChangeShapeType="1"/>
              </p:cNvSpPr>
              <p:nvPr/>
            </p:nvSpPr>
            <p:spPr bwMode="auto">
              <a:xfrm>
                <a:off x="2304" y="297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2798" name="Line 11"/>
              <p:cNvSpPr>
                <a:spLocks noChangeShapeType="1"/>
              </p:cNvSpPr>
              <p:nvPr/>
            </p:nvSpPr>
            <p:spPr bwMode="auto">
              <a:xfrm>
                <a:off x="3312" y="297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2772" name="Group 12"/>
          <p:cNvGrpSpPr>
            <a:grpSpLocks/>
          </p:cNvGrpSpPr>
          <p:nvPr/>
        </p:nvGrpSpPr>
        <p:grpSpPr bwMode="auto">
          <a:xfrm>
            <a:off x="7097714" y="3297238"/>
            <a:ext cx="3519487" cy="3509962"/>
            <a:chOff x="3511" y="704"/>
            <a:chExt cx="2217" cy="2211"/>
          </a:xfrm>
        </p:grpSpPr>
        <p:graphicFrame>
          <p:nvGraphicFramePr>
            <p:cNvPr id="4" name="Object 13"/>
            <p:cNvGraphicFramePr>
              <a:graphicFrameLocks noChangeAspect="1"/>
            </p:cNvGraphicFramePr>
            <p:nvPr/>
          </p:nvGraphicFramePr>
          <p:xfrm>
            <a:off x="3511" y="704"/>
            <a:ext cx="2217" cy="22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pSp>
          <p:nvGrpSpPr>
            <p:cNvPr id="32792" name="Group 14"/>
            <p:cNvGrpSpPr>
              <a:grpSpLocks/>
            </p:cNvGrpSpPr>
            <p:nvPr/>
          </p:nvGrpSpPr>
          <p:grpSpPr bwMode="auto">
            <a:xfrm>
              <a:off x="4116" y="2736"/>
              <a:ext cx="1008" cy="144"/>
              <a:chOff x="4128" y="2736"/>
              <a:chExt cx="1008" cy="144"/>
            </a:xfrm>
          </p:grpSpPr>
          <p:sp>
            <p:nvSpPr>
              <p:cNvPr id="32793" name="Line 15"/>
              <p:cNvSpPr>
                <a:spLocks noChangeShapeType="1"/>
              </p:cNvSpPr>
              <p:nvPr/>
            </p:nvSpPr>
            <p:spPr bwMode="auto">
              <a:xfrm>
                <a:off x="4128" y="27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32794" name="Line 16"/>
              <p:cNvSpPr>
                <a:spLocks noChangeShapeType="1"/>
              </p:cNvSpPr>
              <p:nvPr/>
            </p:nvSpPr>
            <p:spPr bwMode="auto">
              <a:xfrm>
                <a:off x="5136" y="27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i="1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32773" name="Text Box 17"/>
          <p:cNvSpPr txBox="1">
            <a:spLocks noChangeArrowheads="1"/>
          </p:cNvSpPr>
          <p:nvPr/>
        </p:nvSpPr>
        <p:spPr bwMode="auto">
          <a:xfrm>
            <a:off x="2457451" y="3255963"/>
            <a:ext cx="288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1</a:t>
            </a:r>
          </a:p>
        </p:txBody>
      </p:sp>
      <p:sp>
        <p:nvSpPr>
          <p:cNvPr id="32774" name="Text Box 18"/>
          <p:cNvSpPr txBox="1">
            <a:spLocks noChangeArrowheads="1"/>
          </p:cNvSpPr>
          <p:nvPr/>
        </p:nvSpPr>
        <p:spPr bwMode="auto">
          <a:xfrm>
            <a:off x="5105401" y="4891088"/>
            <a:ext cx="288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1</a:t>
            </a:r>
          </a:p>
        </p:txBody>
      </p:sp>
      <p:sp>
        <p:nvSpPr>
          <p:cNvPr id="32775" name="Text Box 19"/>
          <p:cNvSpPr txBox="1">
            <a:spLocks noChangeArrowheads="1"/>
          </p:cNvSpPr>
          <p:nvPr/>
        </p:nvSpPr>
        <p:spPr bwMode="auto">
          <a:xfrm>
            <a:off x="7848601" y="6172201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1</a:t>
            </a:r>
          </a:p>
        </p:txBody>
      </p:sp>
      <p:sp>
        <p:nvSpPr>
          <p:cNvPr id="32776" name="Text Box 20"/>
          <p:cNvSpPr txBox="1">
            <a:spLocks noChangeArrowheads="1"/>
          </p:cNvSpPr>
          <p:nvPr/>
        </p:nvSpPr>
        <p:spPr bwMode="auto">
          <a:xfrm>
            <a:off x="4038601" y="3276601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6</a:t>
            </a:r>
          </a:p>
        </p:txBody>
      </p:sp>
      <p:sp>
        <p:nvSpPr>
          <p:cNvPr id="32777" name="Text Box 21"/>
          <p:cNvSpPr txBox="1">
            <a:spLocks noChangeArrowheads="1"/>
          </p:cNvSpPr>
          <p:nvPr/>
        </p:nvSpPr>
        <p:spPr bwMode="auto">
          <a:xfrm>
            <a:off x="6705601" y="4891088"/>
            <a:ext cx="288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6</a:t>
            </a:r>
          </a:p>
        </p:txBody>
      </p:sp>
      <p:sp>
        <p:nvSpPr>
          <p:cNvPr id="32778" name="Text Box 22"/>
          <p:cNvSpPr txBox="1">
            <a:spLocks noChangeArrowheads="1"/>
          </p:cNvSpPr>
          <p:nvPr/>
        </p:nvSpPr>
        <p:spPr bwMode="auto">
          <a:xfrm>
            <a:off x="9448801" y="6172201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6</a:t>
            </a:r>
          </a:p>
        </p:txBody>
      </p:sp>
      <p:graphicFrame>
        <p:nvGraphicFramePr>
          <p:cNvPr id="32779" name="Object 23"/>
          <p:cNvGraphicFramePr>
            <a:graphicFrameLocks noChangeAspect="1"/>
          </p:cNvGraphicFramePr>
          <p:nvPr/>
        </p:nvGraphicFramePr>
        <p:xfrm>
          <a:off x="1752601" y="457201"/>
          <a:ext cx="286861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0" name="Equation" r:id="rId7" imgW="1625600" imgH="838200" progId="Equation.DSMT4">
                  <p:embed/>
                </p:oleObj>
              </mc:Choice>
              <mc:Fallback>
                <p:oleObj name="Equation" r:id="rId7" imgW="16256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1" y="457201"/>
                        <a:ext cx="2868613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24"/>
          <p:cNvGraphicFramePr>
            <a:graphicFrameLocks noChangeAspect="1"/>
          </p:cNvGraphicFramePr>
          <p:nvPr/>
        </p:nvGraphicFramePr>
        <p:xfrm>
          <a:off x="4724400" y="1143001"/>
          <a:ext cx="2890838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" name="Equation" r:id="rId9" imgW="1638300" imgH="838200" progId="Equation.DSMT4">
                  <p:embed/>
                </p:oleObj>
              </mc:Choice>
              <mc:Fallback>
                <p:oleObj name="Equation" r:id="rId9" imgW="16383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143001"/>
                        <a:ext cx="2890838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25"/>
          <p:cNvGraphicFramePr>
            <a:graphicFrameLocks noChangeAspect="1"/>
          </p:cNvGraphicFramePr>
          <p:nvPr/>
        </p:nvGraphicFramePr>
        <p:xfrm>
          <a:off x="7620000" y="1828801"/>
          <a:ext cx="2814638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2" name="Equation" r:id="rId11" imgW="1638300" imgH="838200" progId="Equation.DSMT4">
                  <p:embed/>
                </p:oleObj>
              </mc:Choice>
              <mc:Fallback>
                <p:oleObj name="Equation" r:id="rId11" imgW="16383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828801"/>
                        <a:ext cx="2814638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1905001" y="4800601"/>
            <a:ext cx="3952875" cy="1789113"/>
            <a:chOff x="384" y="3242"/>
            <a:chExt cx="2230" cy="1127"/>
          </a:xfrm>
        </p:grpSpPr>
        <p:sp>
          <p:nvSpPr>
            <p:cNvPr id="11289" name="Text Box 27"/>
            <p:cNvSpPr txBox="1">
              <a:spLocks noChangeArrowheads="1"/>
            </p:cNvSpPr>
            <p:nvPr/>
          </p:nvSpPr>
          <p:spPr bwMode="auto">
            <a:xfrm>
              <a:off x="384" y="3264"/>
              <a:ext cx="2230" cy="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 dirty="0">
                  <a:solidFill>
                    <a:srgbClr val="000000"/>
                  </a:solidFill>
                  <a:latin typeface="Arial Narrow" pitchFamily="34" charset="0"/>
                </a:rPr>
                <a:t>Notice that                is smaller </a:t>
              </a: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 dirty="0">
                  <a:solidFill>
                    <a:srgbClr val="000000"/>
                  </a:solidFill>
                  <a:latin typeface="Arial Narrow" pitchFamily="34" charset="0"/>
                </a:rPr>
                <a:t>than   </a:t>
              </a:r>
              <a:r>
                <a:rPr lang="en-US" i="1" dirty="0" err="1">
                  <a:solidFill>
                    <a:srgbClr val="000000"/>
                  </a:solidFill>
                </a:rPr>
                <a:t>Var</a:t>
              </a:r>
              <a:r>
                <a:rPr lang="en-US" i="1" dirty="0">
                  <a:solidFill>
                    <a:srgbClr val="000000"/>
                  </a:solidFill>
                </a:rPr>
                <a:t>(X)</a:t>
              </a:r>
              <a:r>
                <a:rPr lang="en-US" b="1" dirty="0">
                  <a:solidFill>
                    <a:srgbClr val="000000"/>
                  </a:solidFill>
                  <a:latin typeface="Arial Narrow" pitchFamily="34" charset="0"/>
                </a:rPr>
                <a:t>.  The larger the sample</a:t>
              </a: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 dirty="0">
                  <a:solidFill>
                    <a:srgbClr val="000000"/>
                  </a:solidFill>
                  <a:latin typeface="Arial Narrow" pitchFamily="34" charset="0"/>
                </a:rPr>
                <a:t>size the smaller is                 .   Therefore,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 dirty="0">
                  <a:solidFill>
                    <a:srgbClr val="000000"/>
                  </a:solidFill>
                  <a:latin typeface="Arial Narrow" pitchFamily="34" charset="0"/>
                </a:rPr>
                <a:t>      tends to fall closer to</a:t>
              </a:r>
              <a:r>
                <a:rPr lang="en-US" b="1" dirty="0">
                  <a:solidFill>
                    <a:srgbClr val="000000"/>
                  </a:solidFill>
                  <a:latin typeface="Symbol" pitchFamily="18" charset="2"/>
                </a:rPr>
                <a:t> m</a:t>
              </a:r>
              <a:r>
                <a:rPr lang="en-US" b="1" dirty="0">
                  <a:solidFill>
                    <a:srgbClr val="000000"/>
                  </a:solidFill>
                  <a:latin typeface="Arial Narrow" pitchFamily="34" charset="0"/>
                </a:rPr>
                <a:t>, as the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 dirty="0">
                  <a:solidFill>
                    <a:srgbClr val="000000"/>
                  </a:solidFill>
                  <a:latin typeface="Arial Narrow" pitchFamily="34" charset="0"/>
                </a:rPr>
                <a:t>sample size increases.</a:t>
              </a:r>
              <a:endParaRPr lang="en-US" dirty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graphicFrame>
          <p:nvGraphicFramePr>
            <p:cNvPr id="32789" name="Object 5"/>
            <p:cNvGraphicFramePr>
              <a:graphicFrameLocks noChangeAspect="1"/>
            </p:cNvGraphicFramePr>
            <p:nvPr/>
          </p:nvGraphicFramePr>
          <p:xfrm>
            <a:off x="986" y="3242"/>
            <a:ext cx="47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3" name="Equation" r:id="rId13" imgW="469696" imgH="215806" progId="Equation.DSMT4">
                    <p:embed/>
                  </p:oleObj>
                </mc:Choice>
                <mc:Fallback>
                  <p:oleObj name="Equation" r:id="rId13" imgW="469696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6" y="3242"/>
                          <a:ext cx="47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0" name="Object 30"/>
            <p:cNvGraphicFramePr>
              <a:graphicFrameLocks noChangeAspect="1"/>
            </p:cNvGraphicFramePr>
            <p:nvPr/>
          </p:nvGraphicFramePr>
          <p:xfrm>
            <a:off x="427" y="3914"/>
            <a:ext cx="17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4" name="Equation" r:id="rId15" imgW="114151" imgH="152202" progId="Equation.DSMT4">
                    <p:embed/>
                  </p:oleObj>
                </mc:Choice>
                <mc:Fallback>
                  <p:oleObj name="Equation" r:id="rId15" imgW="114151" imgH="1522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" y="3914"/>
                          <a:ext cx="17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31" name="AutoShape 31"/>
          <p:cNvSpPr>
            <a:spLocks noChangeArrowheads="1"/>
          </p:cNvSpPr>
          <p:nvPr/>
        </p:nvSpPr>
        <p:spPr bwMode="auto">
          <a:xfrm rot="8326867">
            <a:off x="4381500" y="446088"/>
            <a:ext cx="152400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51232" name="AutoShape 32"/>
          <p:cNvSpPr>
            <a:spLocks noChangeArrowheads="1"/>
          </p:cNvSpPr>
          <p:nvPr/>
        </p:nvSpPr>
        <p:spPr bwMode="auto">
          <a:xfrm rot="8326867">
            <a:off x="9586913" y="1741489"/>
            <a:ext cx="1098550" cy="55562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51233" name="AutoShape 33"/>
          <p:cNvSpPr>
            <a:spLocks noChangeArrowheads="1"/>
          </p:cNvSpPr>
          <p:nvPr/>
        </p:nvSpPr>
        <p:spPr bwMode="auto">
          <a:xfrm rot="8326867">
            <a:off x="6972300" y="1055688"/>
            <a:ext cx="1524000" cy="4572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pic>
        <p:nvPicPr>
          <p:cNvPr id="51234" name="Picture 3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098550" cy="1143000"/>
          </a:xfrm>
          <a:prstGeom prst="rect">
            <a:avLst/>
          </a:prstGeom>
          <a:noFill/>
          <a:ln>
            <a:noFill/>
          </a:ln>
          <a:effectLst>
            <a:outerShdw dist="117088" dir="19163922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787" name="Object 28"/>
          <p:cNvGraphicFramePr>
            <a:graphicFrameLocks noChangeAspect="1"/>
          </p:cNvGraphicFramePr>
          <p:nvPr/>
        </p:nvGraphicFramePr>
        <p:xfrm>
          <a:off x="3657600" y="5562600"/>
          <a:ext cx="8397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5" name="Equation" r:id="rId18" imgW="469696" imgH="215806" progId="Equation.DSMT4">
                  <p:embed/>
                </p:oleObj>
              </mc:Choice>
              <mc:Fallback>
                <p:oleObj name="Equation" r:id="rId18" imgW="46969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562600"/>
                        <a:ext cx="8397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71113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1" grpId="0" animBg="1"/>
      <p:bldP spid="51232" grpId="0" animBg="1"/>
      <p:bldP spid="512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2400" b="1"/>
              <a:t>	    The variance of the sample mean is smaller </a:t>
            </a:r>
            <a:br>
              <a:rPr lang="en-US" altLang="en-US" sz="2400" b="1"/>
            </a:br>
            <a:r>
              <a:rPr lang="en-US" altLang="en-US" sz="2400" b="1"/>
              <a:t>	    than the variance of the population.</a:t>
            </a:r>
          </a:p>
        </p:txBody>
      </p:sp>
      <p:sp>
        <p:nvSpPr>
          <p:cNvPr id="52227" name="AutoShape 3"/>
          <p:cNvSpPr>
            <a:spLocks/>
          </p:cNvSpPr>
          <p:nvPr/>
        </p:nvSpPr>
        <p:spPr bwMode="auto">
          <a:xfrm rot="-5400000">
            <a:off x="6057900" y="495300"/>
            <a:ext cx="152400" cy="4495800"/>
          </a:xfrm>
          <a:prstGeom prst="leftBrace">
            <a:avLst>
              <a:gd name="adj1" fmla="val 245833"/>
              <a:gd name="adj2" fmla="val 50000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3796" name="Line 4"/>
          <p:cNvSpPr>
            <a:spLocks noChangeShapeType="1"/>
          </p:cNvSpPr>
          <p:nvPr/>
        </p:nvSpPr>
        <p:spPr bwMode="auto">
          <a:xfrm>
            <a:off x="3505200" y="2514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tx1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902076" y="2087563"/>
            <a:ext cx="288925" cy="36671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TopRight">
              <a:rot lat="0" lon="2129997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>
            <a:spAutoFit/>
            <a:flatTx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1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5924551" y="2087563"/>
            <a:ext cx="288925" cy="36671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TopRight">
              <a:rot lat="0" lon="2129997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>
            <a:spAutoFit/>
            <a:flatTx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8016876" y="2087563"/>
            <a:ext cx="288925" cy="366712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TopRight">
              <a:rot lat="0" lon="2129997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>
            <a:spAutoFit/>
            <a:flatTx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3</a:t>
            </a: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2895600" y="4725989"/>
            <a:ext cx="60308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i="0">
                <a:solidFill>
                  <a:srgbClr val="000000"/>
                </a:solidFill>
                <a:latin typeface="Arial Narrow" pitchFamily="34" charset="0"/>
              </a:rPr>
              <a:t>Also,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i="0">
                <a:solidFill>
                  <a:srgbClr val="000000"/>
                </a:solidFill>
                <a:latin typeface="Arial Narrow" pitchFamily="34" charset="0"/>
              </a:rPr>
              <a:t>Expected value of the population = (1 + 2 + 3)/3 =  2</a:t>
            </a: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4495800" y="1600201"/>
            <a:ext cx="1130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Mean = 1.5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6553200" y="1600201"/>
            <a:ext cx="1130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Mean = 2.5</a:t>
            </a: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5562601" y="1600201"/>
            <a:ext cx="1025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Mean = 2.</a:t>
            </a:r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3505200" y="43434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tx1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2057400" y="2057401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Population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886200" y="2057400"/>
            <a:ext cx="2362200" cy="381000"/>
            <a:chOff x="1440" y="1296"/>
            <a:chExt cx="1488" cy="240"/>
          </a:xfrm>
        </p:grpSpPr>
        <p:sp>
          <p:nvSpPr>
            <p:cNvPr id="33854" name="Rectangle 15"/>
            <p:cNvSpPr>
              <a:spLocks noChangeArrowheads="1"/>
            </p:cNvSpPr>
            <p:nvPr/>
          </p:nvSpPr>
          <p:spPr bwMode="auto">
            <a:xfrm>
              <a:off x="1440" y="1296"/>
              <a:ext cx="192" cy="240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3855" name="Rectangle 16"/>
            <p:cNvSpPr>
              <a:spLocks noChangeArrowheads="1"/>
            </p:cNvSpPr>
            <p:nvPr/>
          </p:nvSpPr>
          <p:spPr bwMode="auto">
            <a:xfrm>
              <a:off x="2736" y="1296"/>
              <a:ext cx="192" cy="240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886200" y="2057400"/>
            <a:ext cx="4419600" cy="381000"/>
            <a:chOff x="1488" y="1056"/>
            <a:chExt cx="2755" cy="240"/>
          </a:xfrm>
        </p:grpSpPr>
        <p:sp>
          <p:nvSpPr>
            <p:cNvPr id="33852" name="Rectangle 18"/>
            <p:cNvSpPr>
              <a:spLocks noChangeArrowheads="1"/>
            </p:cNvSpPr>
            <p:nvPr/>
          </p:nvSpPr>
          <p:spPr bwMode="auto">
            <a:xfrm>
              <a:off x="4051" y="1056"/>
              <a:ext cx="192" cy="240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3853" name="Rectangle 19"/>
            <p:cNvSpPr>
              <a:spLocks noChangeArrowheads="1"/>
            </p:cNvSpPr>
            <p:nvPr/>
          </p:nvSpPr>
          <p:spPr bwMode="auto">
            <a:xfrm>
              <a:off x="1488" y="1056"/>
              <a:ext cx="192" cy="240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913438" y="2057401"/>
            <a:ext cx="2392362" cy="390525"/>
            <a:chOff x="2832" y="1392"/>
            <a:chExt cx="1507" cy="246"/>
          </a:xfrm>
        </p:grpSpPr>
        <p:sp>
          <p:nvSpPr>
            <p:cNvPr id="33850" name="Rectangle 21"/>
            <p:cNvSpPr>
              <a:spLocks noChangeArrowheads="1"/>
            </p:cNvSpPr>
            <p:nvPr/>
          </p:nvSpPr>
          <p:spPr bwMode="auto">
            <a:xfrm>
              <a:off x="2832" y="1392"/>
              <a:ext cx="192" cy="240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3851" name="Rectangle 22"/>
            <p:cNvSpPr>
              <a:spLocks noChangeArrowheads="1"/>
            </p:cNvSpPr>
            <p:nvPr/>
          </p:nvSpPr>
          <p:spPr bwMode="auto">
            <a:xfrm>
              <a:off x="4147" y="1398"/>
              <a:ext cx="192" cy="240"/>
            </a:xfrm>
            <a:prstGeom prst="rect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4800600" y="1981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4800600" y="2133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4800600" y="22860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4800600" y="2438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1" name="Text Box 27"/>
          <p:cNvSpPr txBox="1">
            <a:spLocks noChangeArrowheads="1"/>
          </p:cNvSpPr>
          <p:nvPr/>
        </p:nvSpPr>
        <p:spPr bwMode="auto">
          <a:xfrm>
            <a:off x="4800600" y="25908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4800600" y="2743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4800600" y="2895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4" name="Text Box 30"/>
          <p:cNvSpPr txBox="1">
            <a:spLocks noChangeArrowheads="1"/>
          </p:cNvSpPr>
          <p:nvPr/>
        </p:nvSpPr>
        <p:spPr bwMode="auto">
          <a:xfrm>
            <a:off x="4800600" y="30480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5" name="Text Box 31"/>
          <p:cNvSpPr txBox="1">
            <a:spLocks noChangeArrowheads="1"/>
          </p:cNvSpPr>
          <p:nvPr/>
        </p:nvSpPr>
        <p:spPr bwMode="auto">
          <a:xfrm>
            <a:off x="4800600" y="3200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6" name="Text Box 32"/>
          <p:cNvSpPr txBox="1">
            <a:spLocks noChangeArrowheads="1"/>
          </p:cNvSpPr>
          <p:nvPr/>
        </p:nvSpPr>
        <p:spPr bwMode="auto">
          <a:xfrm>
            <a:off x="4800600" y="33528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7" name="Text Box 33"/>
          <p:cNvSpPr txBox="1">
            <a:spLocks noChangeArrowheads="1"/>
          </p:cNvSpPr>
          <p:nvPr/>
        </p:nvSpPr>
        <p:spPr bwMode="auto">
          <a:xfrm>
            <a:off x="4800600" y="3505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8" name="Text Box 34"/>
          <p:cNvSpPr txBox="1">
            <a:spLocks noChangeArrowheads="1"/>
          </p:cNvSpPr>
          <p:nvPr/>
        </p:nvSpPr>
        <p:spPr bwMode="auto">
          <a:xfrm>
            <a:off x="4800600" y="3657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59" name="Text Box 35"/>
          <p:cNvSpPr txBox="1">
            <a:spLocks noChangeArrowheads="1"/>
          </p:cNvSpPr>
          <p:nvPr/>
        </p:nvSpPr>
        <p:spPr bwMode="auto">
          <a:xfrm>
            <a:off x="4800600" y="38100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>
            <a:spAutoFit/>
            <a:flatTx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1.5</a:t>
            </a:r>
            <a:endParaRPr lang="en-US" altLang="en-US" sz="2400" i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6858000" y="1981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1" name="Text Box 37"/>
          <p:cNvSpPr txBox="1">
            <a:spLocks noChangeArrowheads="1"/>
          </p:cNvSpPr>
          <p:nvPr/>
        </p:nvSpPr>
        <p:spPr bwMode="auto">
          <a:xfrm>
            <a:off x="6858000" y="2133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2" name="Text Box 38"/>
          <p:cNvSpPr txBox="1">
            <a:spLocks noChangeArrowheads="1"/>
          </p:cNvSpPr>
          <p:nvPr/>
        </p:nvSpPr>
        <p:spPr bwMode="auto">
          <a:xfrm>
            <a:off x="6858000" y="22860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3" name="Text Box 39"/>
          <p:cNvSpPr txBox="1">
            <a:spLocks noChangeArrowheads="1"/>
          </p:cNvSpPr>
          <p:nvPr/>
        </p:nvSpPr>
        <p:spPr bwMode="auto">
          <a:xfrm>
            <a:off x="6858000" y="2438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6858000" y="25908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6858000" y="2743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6858000" y="2895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7" name="Text Box 43"/>
          <p:cNvSpPr txBox="1">
            <a:spLocks noChangeArrowheads="1"/>
          </p:cNvSpPr>
          <p:nvPr/>
        </p:nvSpPr>
        <p:spPr bwMode="auto">
          <a:xfrm>
            <a:off x="6858000" y="30480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8" name="Text Box 44"/>
          <p:cNvSpPr txBox="1">
            <a:spLocks noChangeArrowheads="1"/>
          </p:cNvSpPr>
          <p:nvPr/>
        </p:nvSpPr>
        <p:spPr bwMode="auto">
          <a:xfrm>
            <a:off x="6858000" y="3200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69" name="Text Box 45"/>
          <p:cNvSpPr txBox="1">
            <a:spLocks noChangeArrowheads="1"/>
          </p:cNvSpPr>
          <p:nvPr/>
        </p:nvSpPr>
        <p:spPr bwMode="auto">
          <a:xfrm>
            <a:off x="6858000" y="33528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70" name="Text Box 46"/>
          <p:cNvSpPr txBox="1">
            <a:spLocks noChangeArrowheads="1"/>
          </p:cNvSpPr>
          <p:nvPr/>
        </p:nvSpPr>
        <p:spPr bwMode="auto">
          <a:xfrm>
            <a:off x="6858000" y="3505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71" name="Text Box 47"/>
          <p:cNvSpPr txBox="1">
            <a:spLocks noChangeArrowheads="1"/>
          </p:cNvSpPr>
          <p:nvPr/>
        </p:nvSpPr>
        <p:spPr bwMode="auto">
          <a:xfrm>
            <a:off x="6858000" y="3657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72" name="Text Box 48"/>
          <p:cNvSpPr txBox="1">
            <a:spLocks noChangeArrowheads="1"/>
          </p:cNvSpPr>
          <p:nvPr/>
        </p:nvSpPr>
        <p:spPr bwMode="auto">
          <a:xfrm>
            <a:off x="6858000" y="38100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>
            <a:spAutoFit/>
            <a:flatTx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2.5</a:t>
            </a:r>
          </a:p>
        </p:txBody>
      </p:sp>
      <p:sp>
        <p:nvSpPr>
          <p:cNvPr id="52273" name="Text Box 49"/>
          <p:cNvSpPr txBox="1">
            <a:spLocks noChangeArrowheads="1"/>
          </p:cNvSpPr>
          <p:nvPr/>
        </p:nvSpPr>
        <p:spPr bwMode="auto">
          <a:xfrm>
            <a:off x="5924550" y="20574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74" name="Text Box 50"/>
          <p:cNvSpPr txBox="1">
            <a:spLocks noChangeArrowheads="1"/>
          </p:cNvSpPr>
          <p:nvPr/>
        </p:nvSpPr>
        <p:spPr bwMode="auto">
          <a:xfrm>
            <a:off x="5924550" y="22098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75" name="Text Box 51"/>
          <p:cNvSpPr txBox="1">
            <a:spLocks noChangeArrowheads="1"/>
          </p:cNvSpPr>
          <p:nvPr/>
        </p:nvSpPr>
        <p:spPr bwMode="auto">
          <a:xfrm>
            <a:off x="5924550" y="22860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76" name="Text Box 52"/>
          <p:cNvSpPr txBox="1">
            <a:spLocks noChangeArrowheads="1"/>
          </p:cNvSpPr>
          <p:nvPr/>
        </p:nvSpPr>
        <p:spPr bwMode="auto">
          <a:xfrm>
            <a:off x="5924550" y="24384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77" name="Text Box 53"/>
          <p:cNvSpPr txBox="1">
            <a:spLocks noChangeArrowheads="1"/>
          </p:cNvSpPr>
          <p:nvPr/>
        </p:nvSpPr>
        <p:spPr bwMode="auto">
          <a:xfrm>
            <a:off x="5924550" y="26670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78" name="Text Box 54"/>
          <p:cNvSpPr txBox="1">
            <a:spLocks noChangeArrowheads="1"/>
          </p:cNvSpPr>
          <p:nvPr/>
        </p:nvSpPr>
        <p:spPr bwMode="auto">
          <a:xfrm>
            <a:off x="5924550" y="28956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79" name="Text Box 55"/>
          <p:cNvSpPr txBox="1">
            <a:spLocks noChangeArrowheads="1"/>
          </p:cNvSpPr>
          <p:nvPr/>
        </p:nvSpPr>
        <p:spPr bwMode="auto">
          <a:xfrm>
            <a:off x="5924550" y="30480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80" name="Text Box 56"/>
          <p:cNvSpPr txBox="1">
            <a:spLocks noChangeArrowheads="1"/>
          </p:cNvSpPr>
          <p:nvPr/>
        </p:nvSpPr>
        <p:spPr bwMode="auto">
          <a:xfrm>
            <a:off x="5924550" y="32766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81" name="Text Box 57"/>
          <p:cNvSpPr txBox="1">
            <a:spLocks noChangeArrowheads="1"/>
          </p:cNvSpPr>
          <p:nvPr/>
        </p:nvSpPr>
        <p:spPr bwMode="auto">
          <a:xfrm>
            <a:off x="5924550" y="35052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82" name="Text Box 58"/>
          <p:cNvSpPr txBox="1">
            <a:spLocks noChangeArrowheads="1"/>
          </p:cNvSpPr>
          <p:nvPr/>
        </p:nvSpPr>
        <p:spPr bwMode="auto">
          <a:xfrm>
            <a:off x="5924550" y="3657600"/>
            <a:ext cx="323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83" name="Text Box 59"/>
          <p:cNvSpPr txBox="1">
            <a:spLocks noChangeArrowheads="1"/>
          </p:cNvSpPr>
          <p:nvPr/>
        </p:nvSpPr>
        <p:spPr bwMode="auto">
          <a:xfrm>
            <a:off x="5924550" y="3810000"/>
            <a:ext cx="323850" cy="457200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>
            <a:spAutoFit/>
            <a:flatTx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i="0">
                <a:solidFill>
                  <a:srgbClr val="FF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52284" name="Text Box 60"/>
          <p:cNvSpPr txBox="1">
            <a:spLocks noChangeArrowheads="1"/>
          </p:cNvSpPr>
          <p:nvPr/>
        </p:nvSpPr>
        <p:spPr bwMode="auto">
          <a:xfrm>
            <a:off x="2895600" y="5562600"/>
            <a:ext cx="666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i="0">
                <a:solidFill>
                  <a:srgbClr val="000000"/>
                </a:solidFill>
                <a:latin typeface="Arial Narrow" pitchFamily="34" charset="0"/>
              </a:rPr>
              <a:t>Expected value of the sample mean = (1.5 + 2 + 2.5)/3 = 2</a:t>
            </a:r>
          </a:p>
        </p:txBody>
      </p:sp>
      <p:sp>
        <p:nvSpPr>
          <p:cNvPr id="52285" name="Text Box 61"/>
          <p:cNvSpPr txBox="1">
            <a:spLocks noChangeArrowheads="1"/>
          </p:cNvSpPr>
          <p:nvPr/>
        </p:nvSpPr>
        <p:spPr bwMode="auto">
          <a:xfrm>
            <a:off x="3886200" y="2667001"/>
            <a:ext cx="47195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i="0">
                <a:solidFill>
                  <a:srgbClr val="000000"/>
                </a:solidFill>
                <a:latin typeface="Arial Narrow" pitchFamily="34" charset="0"/>
              </a:rPr>
              <a:t>Compare the variability of the population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i="0">
                <a:solidFill>
                  <a:srgbClr val="000000"/>
                </a:solidFill>
                <a:latin typeface="Arial Narrow" pitchFamily="34" charset="0"/>
              </a:rPr>
              <a:t>to the variability of the sample mean.</a:t>
            </a:r>
          </a:p>
        </p:txBody>
      </p:sp>
      <p:sp>
        <p:nvSpPr>
          <p:cNvPr id="52286" name="Text Box 62"/>
          <p:cNvSpPr txBox="1">
            <a:spLocks noChangeArrowheads="1"/>
          </p:cNvSpPr>
          <p:nvPr/>
        </p:nvSpPr>
        <p:spPr bwMode="auto">
          <a:xfrm>
            <a:off x="1965325" y="2854325"/>
            <a:ext cx="18557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Let us take samples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Arial Narrow" pitchFamily="34" charset="0"/>
              </a:rPr>
              <a:t>of two observations</a:t>
            </a:r>
          </a:p>
        </p:txBody>
      </p:sp>
      <p:sp>
        <p:nvSpPr>
          <p:cNvPr id="52287" name="AutoShape 63"/>
          <p:cNvSpPr>
            <a:spLocks/>
          </p:cNvSpPr>
          <p:nvPr/>
        </p:nvSpPr>
        <p:spPr bwMode="auto">
          <a:xfrm rot="5400000" flipV="1">
            <a:off x="5981700" y="2324100"/>
            <a:ext cx="228600" cy="2895600"/>
          </a:xfrm>
          <a:prstGeom prst="leftBrace">
            <a:avLst>
              <a:gd name="adj1" fmla="val 105556"/>
              <a:gd name="adj2" fmla="val 50000"/>
            </a:avLst>
          </a:prstGeom>
          <a:noFill/>
          <a:ln w="9525">
            <a:solidFill>
              <a:srgbClr val="FFFF00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265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2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3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3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4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4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5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7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7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7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7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8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8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8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9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17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12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2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6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129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3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3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7" dur="500"/>
                                        <p:tgtEl>
                                          <p:spTgt spid="5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2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2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animBg="1"/>
      <p:bldP spid="52232" grpId="0" autoUpdateAnimBg="0"/>
      <p:bldP spid="52233" grpId="0" autoUpdateAnimBg="0"/>
      <p:bldP spid="52234" grpId="0" autoUpdateAnimBg="0"/>
      <p:bldP spid="52235" grpId="0" autoUpdateAnimBg="0"/>
      <p:bldP spid="52247" grpId="0" animBg="1" autoUpdateAnimBg="0"/>
      <p:bldP spid="52248" grpId="0" animBg="1" autoUpdateAnimBg="0"/>
      <p:bldP spid="52249" grpId="0" animBg="1" autoUpdateAnimBg="0"/>
      <p:bldP spid="52250" grpId="0" animBg="1" autoUpdateAnimBg="0"/>
      <p:bldP spid="52251" grpId="0" animBg="1" autoUpdateAnimBg="0"/>
      <p:bldP spid="52252" grpId="0" animBg="1" autoUpdateAnimBg="0"/>
      <p:bldP spid="52253" grpId="0" animBg="1" autoUpdateAnimBg="0"/>
      <p:bldP spid="52254" grpId="0" animBg="1" autoUpdateAnimBg="0"/>
      <p:bldP spid="52255" grpId="0" animBg="1" autoUpdateAnimBg="0"/>
      <p:bldP spid="52256" grpId="0" animBg="1" autoUpdateAnimBg="0"/>
      <p:bldP spid="52257" grpId="0" animBg="1" autoUpdateAnimBg="0"/>
      <p:bldP spid="52258" grpId="0" animBg="1" autoUpdateAnimBg="0"/>
      <p:bldP spid="52259" grpId="0" animBg="1" autoUpdateAnimBg="0"/>
      <p:bldP spid="52260" grpId="0" animBg="1" autoUpdateAnimBg="0"/>
      <p:bldP spid="52261" grpId="0" animBg="1" autoUpdateAnimBg="0"/>
      <p:bldP spid="52262" grpId="0" animBg="1" autoUpdateAnimBg="0"/>
      <p:bldP spid="52263" grpId="0" animBg="1" autoUpdateAnimBg="0"/>
      <p:bldP spid="52264" grpId="0" animBg="1" autoUpdateAnimBg="0"/>
      <p:bldP spid="52265" grpId="0" animBg="1" autoUpdateAnimBg="0"/>
      <p:bldP spid="52266" grpId="0" animBg="1" autoUpdateAnimBg="0"/>
      <p:bldP spid="52267" grpId="0" animBg="1" autoUpdateAnimBg="0"/>
      <p:bldP spid="52268" grpId="0" animBg="1" autoUpdateAnimBg="0"/>
      <p:bldP spid="52269" grpId="0" animBg="1" autoUpdateAnimBg="0"/>
      <p:bldP spid="52270" grpId="0" animBg="1" autoUpdateAnimBg="0"/>
      <p:bldP spid="52271" grpId="0" animBg="1" autoUpdateAnimBg="0"/>
      <p:bldP spid="52272" grpId="0" animBg="1" autoUpdateAnimBg="0"/>
      <p:bldP spid="52273" grpId="0" animBg="1" autoUpdateAnimBg="0"/>
      <p:bldP spid="52274" grpId="0" animBg="1" autoUpdateAnimBg="0"/>
      <p:bldP spid="52275" grpId="0" animBg="1" autoUpdateAnimBg="0"/>
      <p:bldP spid="52276" grpId="0" animBg="1" autoUpdateAnimBg="0"/>
      <p:bldP spid="52277" grpId="0" animBg="1" autoUpdateAnimBg="0"/>
      <p:bldP spid="52278" grpId="0" animBg="1" autoUpdateAnimBg="0"/>
      <p:bldP spid="52279" grpId="0" animBg="1" autoUpdateAnimBg="0"/>
      <p:bldP spid="52280" grpId="0" animBg="1" autoUpdateAnimBg="0"/>
      <p:bldP spid="52281" grpId="0" animBg="1" autoUpdateAnimBg="0"/>
      <p:bldP spid="52282" grpId="0" animBg="1" autoUpdateAnimBg="0"/>
      <p:bldP spid="52283" grpId="0" animBg="1" autoUpdateAnimBg="0"/>
      <p:bldP spid="52284" grpId="0" autoUpdateAnimBg="0"/>
      <p:bldP spid="52285" grpId="0" autoUpdateAnimBg="0"/>
      <p:bldP spid="52286" grpId="0" autoUpdateAnimBg="0"/>
      <p:bldP spid="5228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Properties of the Sampling Distribution of x</a:t>
            </a:r>
          </a:p>
        </p:txBody>
      </p:sp>
      <p:graphicFrame>
        <p:nvGraphicFramePr>
          <p:cNvPr id="34819" name="Object 3">
            <a:hlinkClick r:id="" action="ppaction://ole?verb=0"/>
          </p:cNvPr>
          <p:cNvGraphicFramePr>
            <a:graphicFrameLocks noGrp="1"/>
          </p:cNvGraphicFramePr>
          <p:nvPr>
            <p:ph type="body" idx="1"/>
          </p:nvPr>
        </p:nvGraphicFramePr>
        <p:xfrm>
          <a:off x="3233739" y="2209800"/>
          <a:ext cx="6027737" cy="312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Equation" r:id="rId4" imgW="3429000" imgH="1778000" progId="Equation.DSMT4">
                  <p:embed/>
                </p:oleObj>
              </mc:Choice>
              <mc:Fallback>
                <p:oleObj name="Equation" r:id="rId4" imgW="3429000" imgH="17780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9" y="2209800"/>
                        <a:ext cx="6027737" cy="312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Line 4"/>
          <p:cNvSpPr>
            <a:spLocks noChangeShapeType="1"/>
          </p:cNvSpPr>
          <p:nvPr/>
        </p:nvSpPr>
        <p:spPr bwMode="auto">
          <a:xfrm>
            <a:off x="5861050" y="131445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1592544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grpSp>
        <p:nvGrpSpPr>
          <p:cNvPr id="35843" name="Group 3"/>
          <p:cNvGrpSpPr>
            <a:grpSpLocks/>
          </p:cNvGrpSpPr>
          <p:nvPr/>
        </p:nvGrpSpPr>
        <p:grpSpPr bwMode="auto">
          <a:xfrm>
            <a:off x="2971800" y="990600"/>
            <a:ext cx="6280150" cy="4991100"/>
            <a:chOff x="912" y="624"/>
            <a:chExt cx="3956" cy="3144"/>
          </a:xfrm>
        </p:grpSpPr>
        <p:sp>
          <p:nvSpPr>
            <p:cNvPr id="35936" name="Rectangle 4"/>
            <p:cNvSpPr>
              <a:spLocks noChangeArrowheads="1"/>
            </p:cNvSpPr>
            <p:nvPr/>
          </p:nvSpPr>
          <p:spPr bwMode="auto">
            <a:xfrm>
              <a:off x="912" y="624"/>
              <a:ext cx="41" cy="3144"/>
            </a:xfrm>
            <a:prstGeom prst="rect">
              <a:avLst/>
            </a:prstGeom>
            <a:solidFill>
              <a:srgbClr val="0000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37" name="Rectangle 5"/>
            <p:cNvSpPr>
              <a:spLocks noChangeArrowheads="1"/>
            </p:cNvSpPr>
            <p:nvPr/>
          </p:nvSpPr>
          <p:spPr bwMode="auto">
            <a:xfrm>
              <a:off x="953" y="624"/>
              <a:ext cx="41" cy="3144"/>
            </a:xfrm>
            <a:prstGeom prst="rect">
              <a:avLst/>
            </a:prstGeom>
            <a:solidFill>
              <a:srgbClr val="0000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38" name="Rectangle 6"/>
            <p:cNvSpPr>
              <a:spLocks noChangeArrowheads="1"/>
            </p:cNvSpPr>
            <p:nvPr/>
          </p:nvSpPr>
          <p:spPr bwMode="auto">
            <a:xfrm>
              <a:off x="994" y="624"/>
              <a:ext cx="42" cy="3144"/>
            </a:xfrm>
            <a:prstGeom prst="rect">
              <a:avLst/>
            </a:prstGeom>
            <a:solidFill>
              <a:srgbClr val="0000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39" name="Rectangle 7"/>
            <p:cNvSpPr>
              <a:spLocks noChangeArrowheads="1"/>
            </p:cNvSpPr>
            <p:nvPr/>
          </p:nvSpPr>
          <p:spPr bwMode="auto">
            <a:xfrm>
              <a:off x="1036" y="624"/>
              <a:ext cx="41" cy="3144"/>
            </a:xfrm>
            <a:prstGeom prst="rect">
              <a:avLst/>
            </a:prstGeom>
            <a:solidFill>
              <a:srgbClr val="0000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0" name="Rectangle 8"/>
            <p:cNvSpPr>
              <a:spLocks noChangeArrowheads="1"/>
            </p:cNvSpPr>
            <p:nvPr/>
          </p:nvSpPr>
          <p:spPr bwMode="auto">
            <a:xfrm>
              <a:off x="1077" y="624"/>
              <a:ext cx="41" cy="3144"/>
            </a:xfrm>
            <a:prstGeom prst="rect">
              <a:avLst/>
            </a:prstGeom>
            <a:solidFill>
              <a:srgbClr val="0000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1" name="Rectangle 9"/>
            <p:cNvSpPr>
              <a:spLocks noChangeArrowheads="1"/>
            </p:cNvSpPr>
            <p:nvPr/>
          </p:nvSpPr>
          <p:spPr bwMode="auto">
            <a:xfrm>
              <a:off x="1118" y="624"/>
              <a:ext cx="41" cy="3144"/>
            </a:xfrm>
            <a:prstGeom prst="rect">
              <a:avLst/>
            </a:prstGeom>
            <a:solidFill>
              <a:srgbClr val="0000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2" name="Rectangle 10"/>
            <p:cNvSpPr>
              <a:spLocks noChangeArrowheads="1"/>
            </p:cNvSpPr>
            <p:nvPr/>
          </p:nvSpPr>
          <p:spPr bwMode="auto">
            <a:xfrm>
              <a:off x="1159" y="624"/>
              <a:ext cx="41" cy="3144"/>
            </a:xfrm>
            <a:prstGeom prst="rect">
              <a:avLst/>
            </a:prstGeom>
            <a:solidFill>
              <a:srgbClr val="0000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3" name="Rectangle 11"/>
            <p:cNvSpPr>
              <a:spLocks noChangeArrowheads="1"/>
            </p:cNvSpPr>
            <p:nvPr/>
          </p:nvSpPr>
          <p:spPr bwMode="auto">
            <a:xfrm>
              <a:off x="1200" y="624"/>
              <a:ext cx="42" cy="3144"/>
            </a:xfrm>
            <a:prstGeom prst="rect">
              <a:avLst/>
            </a:prstGeom>
            <a:solidFill>
              <a:srgbClr val="0000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4" name="Rectangle 12"/>
            <p:cNvSpPr>
              <a:spLocks noChangeArrowheads="1"/>
            </p:cNvSpPr>
            <p:nvPr/>
          </p:nvSpPr>
          <p:spPr bwMode="auto">
            <a:xfrm>
              <a:off x="1242" y="624"/>
              <a:ext cx="41" cy="3144"/>
            </a:xfrm>
            <a:prstGeom prst="rect">
              <a:avLst/>
            </a:prstGeom>
            <a:solidFill>
              <a:srgbClr val="0000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5" name="Rectangle 13"/>
            <p:cNvSpPr>
              <a:spLocks noChangeArrowheads="1"/>
            </p:cNvSpPr>
            <p:nvPr/>
          </p:nvSpPr>
          <p:spPr bwMode="auto">
            <a:xfrm>
              <a:off x="1283" y="624"/>
              <a:ext cx="41" cy="3144"/>
            </a:xfrm>
            <a:prstGeom prst="rect">
              <a:avLst/>
            </a:prstGeom>
            <a:solidFill>
              <a:srgbClr val="0000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6" name="Rectangle 14"/>
            <p:cNvSpPr>
              <a:spLocks noChangeArrowheads="1"/>
            </p:cNvSpPr>
            <p:nvPr/>
          </p:nvSpPr>
          <p:spPr bwMode="auto">
            <a:xfrm>
              <a:off x="1324" y="624"/>
              <a:ext cx="41" cy="3144"/>
            </a:xfrm>
            <a:prstGeom prst="rect">
              <a:avLst/>
            </a:prstGeom>
            <a:solidFill>
              <a:srgbClr val="0000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7" name="Rectangle 15"/>
            <p:cNvSpPr>
              <a:spLocks noChangeArrowheads="1"/>
            </p:cNvSpPr>
            <p:nvPr/>
          </p:nvSpPr>
          <p:spPr bwMode="auto">
            <a:xfrm>
              <a:off x="1365" y="624"/>
              <a:ext cx="41" cy="3144"/>
            </a:xfrm>
            <a:prstGeom prst="rect">
              <a:avLst/>
            </a:prstGeom>
            <a:solidFill>
              <a:srgbClr val="000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8" name="Rectangle 16"/>
            <p:cNvSpPr>
              <a:spLocks noChangeArrowheads="1"/>
            </p:cNvSpPr>
            <p:nvPr/>
          </p:nvSpPr>
          <p:spPr bwMode="auto">
            <a:xfrm>
              <a:off x="1406" y="624"/>
              <a:ext cx="42" cy="3144"/>
            </a:xfrm>
            <a:prstGeom prst="rect">
              <a:avLst/>
            </a:prstGeom>
            <a:solidFill>
              <a:srgbClr val="000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49" name="Rectangle 17"/>
            <p:cNvSpPr>
              <a:spLocks noChangeArrowheads="1"/>
            </p:cNvSpPr>
            <p:nvPr/>
          </p:nvSpPr>
          <p:spPr bwMode="auto">
            <a:xfrm>
              <a:off x="1448" y="624"/>
              <a:ext cx="41" cy="3144"/>
            </a:xfrm>
            <a:prstGeom prst="rect">
              <a:avLst/>
            </a:prstGeom>
            <a:solidFill>
              <a:srgbClr val="0000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0" name="Rectangle 18"/>
            <p:cNvSpPr>
              <a:spLocks noChangeArrowheads="1"/>
            </p:cNvSpPr>
            <p:nvPr/>
          </p:nvSpPr>
          <p:spPr bwMode="auto">
            <a:xfrm>
              <a:off x="1489" y="624"/>
              <a:ext cx="41" cy="3144"/>
            </a:xfrm>
            <a:prstGeom prst="rect">
              <a:avLst/>
            </a:prstGeom>
            <a:solidFill>
              <a:srgbClr val="0000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1" name="Rectangle 19"/>
            <p:cNvSpPr>
              <a:spLocks noChangeArrowheads="1"/>
            </p:cNvSpPr>
            <p:nvPr/>
          </p:nvSpPr>
          <p:spPr bwMode="auto">
            <a:xfrm>
              <a:off x="1530" y="624"/>
              <a:ext cx="41" cy="3144"/>
            </a:xfrm>
            <a:prstGeom prst="rect">
              <a:avLst/>
            </a:prstGeom>
            <a:solidFill>
              <a:srgbClr val="0000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2" name="Rectangle 20"/>
            <p:cNvSpPr>
              <a:spLocks noChangeArrowheads="1"/>
            </p:cNvSpPr>
            <p:nvPr/>
          </p:nvSpPr>
          <p:spPr bwMode="auto">
            <a:xfrm>
              <a:off x="1571" y="624"/>
              <a:ext cx="41" cy="3144"/>
            </a:xfrm>
            <a:prstGeom prst="rect">
              <a:avLst/>
            </a:prstGeom>
            <a:solidFill>
              <a:srgbClr val="0000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3" name="Rectangle 21"/>
            <p:cNvSpPr>
              <a:spLocks noChangeArrowheads="1"/>
            </p:cNvSpPr>
            <p:nvPr/>
          </p:nvSpPr>
          <p:spPr bwMode="auto">
            <a:xfrm>
              <a:off x="1612" y="624"/>
              <a:ext cx="42" cy="3144"/>
            </a:xfrm>
            <a:prstGeom prst="rect">
              <a:avLst/>
            </a:prstGeom>
            <a:solidFill>
              <a:srgbClr val="0000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4" name="Rectangle 22"/>
            <p:cNvSpPr>
              <a:spLocks noChangeArrowheads="1"/>
            </p:cNvSpPr>
            <p:nvPr/>
          </p:nvSpPr>
          <p:spPr bwMode="auto">
            <a:xfrm>
              <a:off x="1654" y="624"/>
              <a:ext cx="41" cy="3144"/>
            </a:xfrm>
            <a:prstGeom prst="rect">
              <a:avLst/>
            </a:prstGeom>
            <a:solidFill>
              <a:srgbClr val="0000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5" name="Rectangle 23"/>
            <p:cNvSpPr>
              <a:spLocks noChangeArrowheads="1"/>
            </p:cNvSpPr>
            <p:nvPr/>
          </p:nvSpPr>
          <p:spPr bwMode="auto">
            <a:xfrm>
              <a:off x="1695" y="624"/>
              <a:ext cx="41" cy="3144"/>
            </a:xfrm>
            <a:prstGeom prst="rect">
              <a:avLst/>
            </a:prstGeom>
            <a:solidFill>
              <a:srgbClr val="000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6" name="Rectangle 24"/>
            <p:cNvSpPr>
              <a:spLocks noChangeArrowheads="1"/>
            </p:cNvSpPr>
            <p:nvPr/>
          </p:nvSpPr>
          <p:spPr bwMode="auto">
            <a:xfrm>
              <a:off x="1736" y="624"/>
              <a:ext cx="41" cy="3144"/>
            </a:xfrm>
            <a:prstGeom prst="rect">
              <a:avLst/>
            </a:prstGeom>
            <a:solidFill>
              <a:srgbClr val="0000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7" name="Rectangle 25"/>
            <p:cNvSpPr>
              <a:spLocks noChangeArrowheads="1"/>
            </p:cNvSpPr>
            <p:nvPr/>
          </p:nvSpPr>
          <p:spPr bwMode="auto">
            <a:xfrm>
              <a:off x="1777" y="624"/>
              <a:ext cx="42" cy="3144"/>
            </a:xfrm>
            <a:prstGeom prst="rect">
              <a:avLst/>
            </a:prstGeom>
            <a:solidFill>
              <a:srgbClr val="000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8" name="Rectangle 26"/>
            <p:cNvSpPr>
              <a:spLocks noChangeArrowheads="1"/>
            </p:cNvSpPr>
            <p:nvPr/>
          </p:nvSpPr>
          <p:spPr bwMode="auto">
            <a:xfrm>
              <a:off x="1819" y="624"/>
              <a:ext cx="41" cy="3144"/>
            </a:xfrm>
            <a:prstGeom prst="rect">
              <a:avLst/>
            </a:prstGeom>
            <a:solidFill>
              <a:srgbClr val="000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59" name="Rectangle 27"/>
            <p:cNvSpPr>
              <a:spLocks noChangeArrowheads="1"/>
            </p:cNvSpPr>
            <p:nvPr/>
          </p:nvSpPr>
          <p:spPr bwMode="auto">
            <a:xfrm>
              <a:off x="1860" y="624"/>
              <a:ext cx="41" cy="3144"/>
            </a:xfrm>
            <a:prstGeom prst="rect">
              <a:avLst/>
            </a:prstGeom>
            <a:solidFill>
              <a:srgbClr val="000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0" name="Rectangle 28"/>
            <p:cNvSpPr>
              <a:spLocks noChangeArrowheads="1"/>
            </p:cNvSpPr>
            <p:nvPr/>
          </p:nvSpPr>
          <p:spPr bwMode="auto">
            <a:xfrm>
              <a:off x="1901" y="624"/>
              <a:ext cx="41" cy="3144"/>
            </a:xfrm>
            <a:prstGeom prst="rect">
              <a:avLst/>
            </a:prstGeom>
            <a:solidFill>
              <a:srgbClr val="000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1" name="Rectangle 29"/>
            <p:cNvSpPr>
              <a:spLocks noChangeArrowheads="1"/>
            </p:cNvSpPr>
            <p:nvPr/>
          </p:nvSpPr>
          <p:spPr bwMode="auto">
            <a:xfrm>
              <a:off x="1942" y="624"/>
              <a:ext cx="41" cy="3144"/>
            </a:xfrm>
            <a:prstGeom prst="rect">
              <a:avLst/>
            </a:prstGeom>
            <a:solidFill>
              <a:srgbClr val="0000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2" name="Rectangle 30"/>
            <p:cNvSpPr>
              <a:spLocks noChangeArrowheads="1"/>
            </p:cNvSpPr>
            <p:nvPr/>
          </p:nvSpPr>
          <p:spPr bwMode="auto">
            <a:xfrm>
              <a:off x="1983" y="624"/>
              <a:ext cx="42" cy="3144"/>
            </a:xfrm>
            <a:prstGeom prst="rect">
              <a:avLst/>
            </a:prstGeom>
            <a:solidFill>
              <a:srgbClr val="0000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3" name="Rectangle 31"/>
            <p:cNvSpPr>
              <a:spLocks noChangeArrowheads="1"/>
            </p:cNvSpPr>
            <p:nvPr/>
          </p:nvSpPr>
          <p:spPr bwMode="auto">
            <a:xfrm>
              <a:off x="2025" y="624"/>
              <a:ext cx="41" cy="3144"/>
            </a:xfrm>
            <a:prstGeom prst="rect">
              <a:avLst/>
            </a:prstGeom>
            <a:solidFill>
              <a:srgbClr val="000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4" name="Rectangle 32"/>
            <p:cNvSpPr>
              <a:spLocks noChangeArrowheads="1"/>
            </p:cNvSpPr>
            <p:nvPr/>
          </p:nvSpPr>
          <p:spPr bwMode="auto">
            <a:xfrm>
              <a:off x="2066" y="624"/>
              <a:ext cx="41" cy="3144"/>
            </a:xfrm>
            <a:prstGeom prst="rect">
              <a:avLst/>
            </a:prstGeom>
            <a:solidFill>
              <a:srgbClr val="000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5" name="Rectangle 33"/>
            <p:cNvSpPr>
              <a:spLocks noChangeArrowheads="1"/>
            </p:cNvSpPr>
            <p:nvPr/>
          </p:nvSpPr>
          <p:spPr bwMode="auto">
            <a:xfrm>
              <a:off x="2107" y="624"/>
              <a:ext cx="41" cy="3144"/>
            </a:xfrm>
            <a:prstGeom prst="rect">
              <a:avLst/>
            </a:prstGeom>
            <a:solidFill>
              <a:srgbClr val="000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6" name="Rectangle 34"/>
            <p:cNvSpPr>
              <a:spLocks noChangeArrowheads="1"/>
            </p:cNvSpPr>
            <p:nvPr/>
          </p:nvSpPr>
          <p:spPr bwMode="auto">
            <a:xfrm>
              <a:off x="2148" y="624"/>
              <a:ext cx="41" cy="3144"/>
            </a:xfrm>
            <a:prstGeom prst="rect">
              <a:avLst/>
            </a:prstGeom>
            <a:solidFill>
              <a:srgbClr val="0000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7" name="Rectangle 35"/>
            <p:cNvSpPr>
              <a:spLocks noChangeArrowheads="1"/>
            </p:cNvSpPr>
            <p:nvPr/>
          </p:nvSpPr>
          <p:spPr bwMode="auto">
            <a:xfrm>
              <a:off x="2189" y="624"/>
              <a:ext cx="42" cy="3144"/>
            </a:xfrm>
            <a:prstGeom prst="rect">
              <a:avLst/>
            </a:prstGeom>
            <a:solidFill>
              <a:srgbClr val="000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8" name="Rectangle 36"/>
            <p:cNvSpPr>
              <a:spLocks noChangeArrowheads="1"/>
            </p:cNvSpPr>
            <p:nvPr/>
          </p:nvSpPr>
          <p:spPr bwMode="auto">
            <a:xfrm>
              <a:off x="2231" y="624"/>
              <a:ext cx="41" cy="3144"/>
            </a:xfrm>
            <a:prstGeom prst="rect">
              <a:avLst/>
            </a:prstGeom>
            <a:solidFill>
              <a:srgbClr val="000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69" name="Rectangle 37"/>
            <p:cNvSpPr>
              <a:spLocks noChangeArrowheads="1"/>
            </p:cNvSpPr>
            <p:nvPr/>
          </p:nvSpPr>
          <p:spPr bwMode="auto">
            <a:xfrm>
              <a:off x="2272" y="624"/>
              <a:ext cx="41" cy="3144"/>
            </a:xfrm>
            <a:prstGeom prst="rect">
              <a:avLst/>
            </a:prstGeom>
            <a:solidFill>
              <a:srgbClr val="000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0" name="Rectangle 38"/>
            <p:cNvSpPr>
              <a:spLocks noChangeArrowheads="1"/>
            </p:cNvSpPr>
            <p:nvPr/>
          </p:nvSpPr>
          <p:spPr bwMode="auto">
            <a:xfrm>
              <a:off x="2313" y="624"/>
              <a:ext cx="41" cy="3144"/>
            </a:xfrm>
            <a:prstGeom prst="rect">
              <a:avLst/>
            </a:prstGeom>
            <a:solidFill>
              <a:srgbClr val="000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1" name="Rectangle 39"/>
            <p:cNvSpPr>
              <a:spLocks noChangeArrowheads="1"/>
            </p:cNvSpPr>
            <p:nvPr/>
          </p:nvSpPr>
          <p:spPr bwMode="auto">
            <a:xfrm>
              <a:off x="2354" y="624"/>
              <a:ext cx="41" cy="3144"/>
            </a:xfrm>
            <a:prstGeom prst="rect">
              <a:avLst/>
            </a:prstGeom>
            <a:solidFill>
              <a:srgbClr val="000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2" name="Rectangle 40"/>
            <p:cNvSpPr>
              <a:spLocks noChangeArrowheads="1"/>
            </p:cNvSpPr>
            <p:nvPr/>
          </p:nvSpPr>
          <p:spPr bwMode="auto">
            <a:xfrm>
              <a:off x="2395" y="624"/>
              <a:ext cx="42" cy="3144"/>
            </a:xfrm>
            <a:prstGeom prst="rect">
              <a:avLst/>
            </a:prstGeom>
            <a:solidFill>
              <a:srgbClr val="000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3" name="Rectangle 41"/>
            <p:cNvSpPr>
              <a:spLocks noChangeArrowheads="1"/>
            </p:cNvSpPr>
            <p:nvPr/>
          </p:nvSpPr>
          <p:spPr bwMode="auto">
            <a:xfrm>
              <a:off x="2437" y="624"/>
              <a:ext cx="41" cy="3144"/>
            </a:xfrm>
            <a:prstGeom prst="rect">
              <a:avLst/>
            </a:prstGeom>
            <a:solidFill>
              <a:srgbClr val="0000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4" name="Rectangle 42"/>
            <p:cNvSpPr>
              <a:spLocks noChangeArrowheads="1"/>
            </p:cNvSpPr>
            <p:nvPr/>
          </p:nvSpPr>
          <p:spPr bwMode="auto">
            <a:xfrm>
              <a:off x="2478" y="624"/>
              <a:ext cx="41" cy="3144"/>
            </a:xfrm>
            <a:prstGeom prst="rect">
              <a:avLst/>
            </a:prstGeom>
            <a:solidFill>
              <a:srgbClr val="000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5" name="Rectangle 43"/>
            <p:cNvSpPr>
              <a:spLocks noChangeArrowheads="1"/>
            </p:cNvSpPr>
            <p:nvPr/>
          </p:nvSpPr>
          <p:spPr bwMode="auto">
            <a:xfrm>
              <a:off x="2519" y="624"/>
              <a:ext cx="41" cy="3144"/>
            </a:xfrm>
            <a:prstGeom prst="rect">
              <a:avLst/>
            </a:prstGeom>
            <a:solidFill>
              <a:srgbClr val="0000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6" name="Rectangle 44"/>
            <p:cNvSpPr>
              <a:spLocks noChangeArrowheads="1"/>
            </p:cNvSpPr>
            <p:nvPr/>
          </p:nvSpPr>
          <p:spPr bwMode="auto">
            <a:xfrm>
              <a:off x="2560" y="624"/>
              <a:ext cx="41" cy="3144"/>
            </a:xfrm>
            <a:prstGeom prst="rect">
              <a:avLst/>
            </a:prstGeom>
            <a:solidFill>
              <a:srgbClr val="000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7" name="Rectangle 45"/>
            <p:cNvSpPr>
              <a:spLocks noChangeArrowheads="1"/>
            </p:cNvSpPr>
            <p:nvPr/>
          </p:nvSpPr>
          <p:spPr bwMode="auto">
            <a:xfrm>
              <a:off x="2601" y="624"/>
              <a:ext cx="42" cy="3144"/>
            </a:xfrm>
            <a:prstGeom prst="rect">
              <a:avLst/>
            </a:prstGeom>
            <a:solidFill>
              <a:srgbClr val="0000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8" name="Rectangle 46"/>
            <p:cNvSpPr>
              <a:spLocks noChangeArrowheads="1"/>
            </p:cNvSpPr>
            <p:nvPr/>
          </p:nvSpPr>
          <p:spPr bwMode="auto">
            <a:xfrm>
              <a:off x="2643" y="624"/>
              <a:ext cx="41" cy="3144"/>
            </a:xfrm>
            <a:prstGeom prst="rect">
              <a:avLst/>
            </a:prstGeom>
            <a:solidFill>
              <a:srgbClr val="000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79" name="Rectangle 47"/>
            <p:cNvSpPr>
              <a:spLocks noChangeArrowheads="1"/>
            </p:cNvSpPr>
            <p:nvPr/>
          </p:nvSpPr>
          <p:spPr bwMode="auto">
            <a:xfrm>
              <a:off x="2684" y="624"/>
              <a:ext cx="41" cy="3144"/>
            </a:xfrm>
            <a:prstGeom prst="rect">
              <a:avLst/>
            </a:prstGeom>
            <a:solidFill>
              <a:srgbClr val="000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0" name="Rectangle 48"/>
            <p:cNvSpPr>
              <a:spLocks noChangeArrowheads="1"/>
            </p:cNvSpPr>
            <p:nvPr/>
          </p:nvSpPr>
          <p:spPr bwMode="auto">
            <a:xfrm>
              <a:off x="2725" y="624"/>
              <a:ext cx="41" cy="3144"/>
            </a:xfrm>
            <a:prstGeom prst="rect">
              <a:avLst/>
            </a:prstGeom>
            <a:solidFill>
              <a:srgbClr val="000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1" name="Rectangle 49"/>
            <p:cNvSpPr>
              <a:spLocks noChangeArrowheads="1"/>
            </p:cNvSpPr>
            <p:nvPr/>
          </p:nvSpPr>
          <p:spPr bwMode="auto">
            <a:xfrm>
              <a:off x="2766" y="624"/>
              <a:ext cx="41" cy="3144"/>
            </a:xfrm>
            <a:prstGeom prst="rect">
              <a:avLst/>
            </a:prstGeom>
            <a:solidFill>
              <a:srgbClr val="0000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2" name="Rectangle 50"/>
            <p:cNvSpPr>
              <a:spLocks noChangeArrowheads="1"/>
            </p:cNvSpPr>
            <p:nvPr/>
          </p:nvSpPr>
          <p:spPr bwMode="auto">
            <a:xfrm>
              <a:off x="2807" y="624"/>
              <a:ext cx="42" cy="3144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3" name="Rectangle 51"/>
            <p:cNvSpPr>
              <a:spLocks noChangeArrowheads="1"/>
            </p:cNvSpPr>
            <p:nvPr/>
          </p:nvSpPr>
          <p:spPr bwMode="auto">
            <a:xfrm>
              <a:off x="2849" y="624"/>
              <a:ext cx="41" cy="3144"/>
            </a:xfrm>
            <a:prstGeom prst="rect">
              <a:avLst/>
            </a:prstGeom>
            <a:solidFill>
              <a:srgbClr val="000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4" name="Rectangle 52"/>
            <p:cNvSpPr>
              <a:spLocks noChangeArrowheads="1"/>
            </p:cNvSpPr>
            <p:nvPr/>
          </p:nvSpPr>
          <p:spPr bwMode="auto">
            <a:xfrm>
              <a:off x="2890" y="624"/>
              <a:ext cx="41" cy="3144"/>
            </a:xfrm>
            <a:prstGeom prst="rect">
              <a:avLst/>
            </a:prstGeom>
            <a:solidFill>
              <a:srgbClr val="000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5" name="Rectangle 53"/>
            <p:cNvSpPr>
              <a:spLocks noChangeArrowheads="1"/>
            </p:cNvSpPr>
            <p:nvPr/>
          </p:nvSpPr>
          <p:spPr bwMode="auto">
            <a:xfrm>
              <a:off x="2931" y="624"/>
              <a:ext cx="41" cy="3144"/>
            </a:xfrm>
            <a:prstGeom prst="rect">
              <a:avLst/>
            </a:prstGeom>
            <a:solidFill>
              <a:srgbClr val="0000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6" name="Rectangle 54"/>
            <p:cNvSpPr>
              <a:spLocks noChangeArrowheads="1"/>
            </p:cNvSpPr>
            <p:nvPr/>
          </p:nvSpPr>
          <p:spPr bwMode="auto">
            <a:xfrm>
              <a:off x="2972" y="624"/>
              <a:ext cx="41" cy="3144"/>
            </a:xfrm>
            <a:prstGeom prst="rect">
              <a:avLst/>
            </a:prstGeom>
            <a:solidFill>
              <a:srgbClr val="000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7" name="Rectangle 55"/>
            <p:cNvSpPr>
              <a:spLocks noChangeArrowheads="1"/>
            </p:cNvSpPr>
            <p:nvPr/>
          </p:nvSpPr>
          <p:spPr bwMode="auto">
            <a:xfrm>
              <a:off x="3013" y="624"/>
              <a:ext cx="42" cy="3144"/>
            </a:xfrm>
            <a:prstGeom prst="rect">
              <a:avLst/>
            </a:prstGeom>
            <a:solidFill>
              <a:srgbClr val="000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8" name="Rectangle 56"/>
            <p:cNvSpPr>
              <a:spLocks noChangeArrowheads="1"/>
            </p:cNvSpPr>
            <p:nvPr/>
          </p:nvSpPr>
          <p:spPr bwMode="auto">
            <a:xfrm>
              <a:off x="3055" y="624"/>
              <a:ext cx="41" cy="3144"/>
            </a:xfrm>
            <a:prstGeom prst="rect">
              <a:avLst/>
            </a:prstGeom>
            <a:solidFill>
              <a:srgbClr val="0000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89" name="Rectangle 57"/>
            <p:cNvSpPr>
              <a:spLocks noChangeArrowheads="1"/>
            </p:cNvSpPr>
            <p:nvPr/>
          </p:nvSpPr>
          <p:spPr bwMode="auto">
            <a:xfrm>
              <a:off x="3096" y="624"/>
              <a:ext cx="41" cy="3144"/>
            </a:xfrm>
            <a:prstGeom prst="rect">
              <a:avLst/>
            </a:prstGeom>
            <a:solidFill>
              <a:srgbClr val="00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0" name="Rectangle 58"/>
            <p:cNvSpPr>
              <a:spLocks noChangeArrowheads="1"/>
            </p:cNvSpPr>
            <p:nvPr/>
          </p:nvSpPr>
          <p:spPr bwMode="auto">
            <a:xfrm>
              <a:off x="3137" y="624"/>
              <a:ext cx="41" cy="3144"/>
            </a:xfrm>
            <a:prstGeom prst="rect">
              <a:avLst/>
            </a:prstGeom>
            <a:solidFill>
              <a:srgbClr val="0000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1" name="Rectangle 59"/>
            <p:cNvSpPr>
              <a:spLocks noChangeArrowheads="1"/>
            </p:cNvSpPr>
            <p:nvPr/>
          </p:nvSpPr>
          <p:spPr bwMode="auto">
            <a:xfrm>
              <a:off x="3178" y="624"/>
              <a:ext cx="41" cy="3144"/>
            </a:xfrm>
            <a:prstGeom prst="rect">
              <a:avLst/>
            </a:prstGeom>
            <a:solidFill>
              <a:srgbClr val="0000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2" name="Rectangle 60"/>
            <p:cNvSpPr>
              <a:spLocks noChangeArrowheads="1"/>
            </p:cNvSpPr>
            <p:nvPr/>
          </p:nvSpPr>
          <p:spPr bwMode="auto">
            <a:xfrm>
              <a:off x="3219" y="624"/>
              <a:ext cx="42" cy="3144"/>
            </a:xfrm>
            <a:prstGeom prst="rect">
              <a:avLst/>
            </a:prstGeom>
            <a:solidFill>
              <a:srgbClr val="0000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3" name="Rectangle 61"/>
            <p:cNvSpPr>
              <a:spLocks noChangeArrowheads="1"/>
            </p:cNvSpPr>
            <p:nvPr/>
          </p:nvSpPr>
          <p:spPr bwMode="auto">
            <a:xfrm>
              <a:off x="3261" y="624"/>
              <a:ext cx="41" cy="3144"/>
            </a:xfrm>
            <a:prstGeom prst="rect">
              <a:avLst/>
            </a:prstGeom>
            <a:solidFill>
              <a:srgbClr val="000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4" name="Rectangle 62"/>
            <p:cNvSpPr>
              <a:spLocks noChangeArrowheads="1"/>
            </p:cNvSpPr>
            <p:nvPr/>
          </p:nvSpPr>
          <p:spPr bwMode="auto">
            <a:xfrm>
              <a:off x="3302" y="624"/>
              <a:ext cx="41" cy="3144"/>
            </a:xfrm>
            <a:prstGeom prst="rect">
              <a:avLst/>
            </a:prstGeom>
            <a:solidFill>
              <a:srgbClr val="0000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5" name="Rectangle 63"/>
            <p:cNvSpPr>
              <a:spLocks noChangeArrowheads="1"/>
            </p:cNvSpPr>
            <p:nvPr/>
          </p:nvSpPr>
          <p:spPr bwMode="auto">
            <a:xfrm>
              <a:off x="3343" y="624"/>
              <a:ext cx="41" cy="3144"/>
            </a:xfrm>
            <a:prstGeom prst="rect">
              <a:avLst/>
            </a:prstGeom>
            <a:solidFill>
              <a:srgbClr val="000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6" name="Rectangle 64"/>
            <p:cNvSpPr>
              <a:spLocks noChangeArrowheads="1"/>
            </p:cNvSpPr>
            <p:nvPr/>
          </p:nvSpPr>
          <p:spPr bwMode="auto">
            <a:xfrm>
              <a:off x="3384" y="624"/>
              <a:ext cx="41" cy="3144"/>
            </a:xfrm>
            <a:prstGeom prst="rect">
              <a:avLst/>
            </a:prstGeom>
            <a:solidFill>
              <a:srgbClr val="0000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7" name="Rectangle 65"/>
            <p:cNvSpPr>
              <a:spLocks noChangeArrowheads="1"/>
            </p:cNvSpPr>
            <p:nvPr/>
          </p:nvSpPr>
          <p:spPr bwMode="auto">
            <a:xfrm>
              <a:off x="3425" y="624"/>
              <a:ext cx="42" cy="3144"/>
            </a:xfrm>
            <a:prstGeom prst="rect">
              <a:avLst/>
            </a:prstGeom>
            <a:solidFill>
              <a:srgbClr val="000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8" name="Rectangle 66"/>
            <p:cNvSpPr>
              <a:spLocks noChangeArrowheads="1"/>
            </p:cNvSpPr>
            <p:nvPr/>
          </p:nvSpPr>
          <p:spPr bwMode="auto">
            <a:xfrm>
              <a:off x="3467" y="624"/>
              <a:ext cx="41" cy="3144"/>
            </a:xfrm>
            <a:prstGeom prst="rect">
              <a:avLst/>
            </a:prstGeom>
            <a:solidFill>
              <a:srgbClr val="0000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99" name="Rectangle 67"/>
            <p:cNvSpPr>
              <a:spLocks noChangeArrowheads="1"/>
            </p:cNvSpPr>
            <p:nvPr/>
          </p:nvSpPr>
          <p:spPr bwMode="auto">
            <a:xfrm>
              <a:off x="3508" y="624"/>
              <a:ext cx="41" cy="3144"/>
            </a:xfrm>
            <a:prstGeom prst="rect">
              <a:avLst/>
            </a:prstGeom>
            <a:solidFill>
              <a:srgbClr val="0000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0" name="Rectangle 68"/>
            <p:cNvSpPr>
              <a:spLocks noChangeArrowheads="1"/>
            </p:cNvSpPr>
            <p:nvPr/>
          </p:nvSpPr>
          <p:spPr bwMode="auto">
            <a:xfrm>
              <a:off x="3549" y="624"/>
              <a:ext cx="41" cy="3144"/>
            </a:xfrm>
            <a:prstGeom prst="rect">
              <a:avLst/>
            </a:prstGeom>
            <a:solidFill>
              <a:srgbClr val="0000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1" name="Rectangle 69"/>
            <p:cNvSpPr>
              <a:spLocks noChangeArrowheads="1"/>
            </p:cNvSpPr>
            <p:nvPr/>
          </p:nvSpPr>
          <p:spPr bwMode="auto">
            <a:xfrm>
              <a:off x="3590" y="624"/>
              <a:ext cx="41" cy="3144"/>
            </a:xfrm>
            <a:prstGeom prst="rect">
              <a:avLst/>
            </a:prstGeom>
            <a:solidFill>
              <a:srgbClr val="0000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2" name="Rectangle 70"/>
            <p:cNvSpPr>
              <a:spLocks noChangeArrowheads="1"/>
            </p:cNvSpPr>
            <p:nvPr/>
          </p:nvSpPr>
          <p:spPr bwMode="auto">
            <a:xfrm>
              <a:off x="3631" y="624"/>
              <a:ext cx="42" cy="3144"/>
            </a:xfrm>
            <a:prstGeom prst="rect">
              <a:avLst/>
            </a:prstGeom>
            <a:solidFill>
              <a:srgbClr val="000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3" name="Rectangle 71"/>
            <p:cNvSpPr>
              <a:spLocks noChangeArrowheads="1"/>
            </p:cNvSpPr>
            <p:nvPr/>
          </p:nvSpPr>
          <p:spPr bwMode="auto">
            <a:xfrm>
              <a:off x="3673" y="624"/>
              <a:ext cx="41" cy="3144"/>
            </a:xfrm>
            <a:prstGeom prst="rect">
              <a:avLst/>
            </a:prstGeom>
            <a:solidFill>
              <a:srgbClr val="0000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4" name="Rectangle 72"/>
            <p:cNvSpPr>
              <a:spLocks noChangeArrowheads="1"/>
            </p:cNvSpPr>
            <p:nvPr/>
          </p:nvSpPr>
          <p:spPr bwMode="auto">
            <a:xfrm>
              <a:off x="3714" y="624"/>
              <a:ext cx="41" cy="3144"/>
            </a:xfrm>
            <a:prstGeom prst="rect">
              <a:avLst/>
            </a:prstGeom>
            <a:solidFill>
              <a:srgbClr val="0000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5" name="Rectangle 73"/>
            <p:cNvSpPr>
              <a:spLocks noChangeArrowheads="1"/>
            </p:cNvSpPr>
            <p:nvPr/>
          </p:nvSpPr>
          <p:spPr bwMode="auto">
            <a:xfrm>
              <a:off x="3755" y="624"/>
              <a:ext cx="41" cy="3144"/>
            </a:xfrm>
            <a:prstGeom prst="rect">
              <a:avLst/>
            </a:prstGeom>
            <a:solidFill>
              <a:srgbClr val="000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6" name="Rectangle 74"/>
            <p:cNvSpPr>
              <a:spLocks noChangeArrowheads="1"/>
            </p:cNvSpPr>
            <p:nvPr/>
          </p:nvSpPr>
          <p:spPr bwMode="auto">
            <a:xfrm>
              <a:off x="3796" y="624"/>
              <a:ext cx="41" cy="3144"/>
            </a:xfrm>
            <a:prstGeom prst="rect">
              <a:avLst/>
            </a:prstGeom>
            <a:solidFill>
              <a:srgbClr val="000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7" name="Rectangle 75"/>
            <p:cNvSpPr>
              <a:spLocks noChangeArrowheads="1"/>
            </p:cNvSpPr>
            <p:nvPr/>
          </p:nvSpPr>
          <p:spPr bwMode="auto">
            <a:xfrm>
              <a:off x="3837" y="624"/>
              <a:ext cx="42" cy="3144"/>
            </a:xfrm>
            <a:prstGeom prst="rect">
              <a:avLst/>
            </a:prstGeom>
            <a:solidFill>
              <a:srgbClr val="000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8" name="Rectangle 76"/>
            <p:cNvSpPr>
              <a:spLocks noChangeArrowheads="1"/>
            </p:cNvSpPr>
            <p:nvPr/>
          </p:nvSpPr>
          <p:spPr bwMode="auto">
            <a:xfrm>
              <a:off x="3879" y="624"/>
              <a:ext cx="41" cy="3144"/>
            </a:xfrm>
            <a:prstGeom prst="rect">
              <a:avLst/>
            </a:prstGeom>
            <a:solidFill>
              <a:srgbClr val="000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09" name="Rectangle 77"/>
            <p:cNvSpPr>
              <a:spLocks noChangeArrowheads="1"/>
            </p:cNvSpPr>
            <p:nvPr/>
          </p:nvSpPr>
          <p:spPr bwMode="auto">
            <a:xfrm>
              <a:off x="3920" y="624"/>
              <a:ext cx="41" cy="3144"/>
            </a:xfrm>
            <a:prstGeom prst="rect">
              <a:avLst/>
            </a:prstGeom>
            <a:solidFill>
              <a:srgbClr val="0000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0" name="Rectangle 78"/>
            <p:cNvSpPr>
              <a:spLocks noChangeArrowheads="1"/>
            </p:cNvSpPr>
            <p:nvPr/>
          </p:nvSpPr>
          <p:spPr bwMode="auto">
            <a:xfrm>
              <a:off x="3961" y="624"/>
              <a:ext cx="41" cy="3144"/>
            </a:xfrm>
            <a:prstGeom prst="rect">
              <a:avLst/>
            </a:prstGeom>
            <a:solidFill>
              <a:srgbClr val="0000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1" name="Rectangle 79"/>
            <p:cNvSpPr>
              <a:spLocks noChangeArrowheads="1"/>
            </p:cNvSpPr>
            <p:nvPr/>
          </p:nvSpPr>
          <p:spPr bwMode="auto">
            <a:xfrm>
              <a:off x="4002" y="624"/>
              <a:ext cx="41" cy="3144"/>
            </a:xfrm>
            <a:prstGeom prst="rect">
              <a:avLst/>
            </a:prstGeom>
            <a:solidFill>
              <a:srgbClr val="000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2" name="Rectangle 80"/>
            <p:cNvSpPr>
              <a:spLocks noChangeArrowheads="1"/>
            </p:cNvSpPr>
            <p:nvPr/>
          </p:nvSpPr>
          <p:spPr bwMode="auto">
            <a:xfrm>
              <a:off x="4043" y="624"/>
              <a:ext cx="42" cy="3144"/>
            </a:xfrm>
            <a:prstGeom prst="rect">
              <a:avLst/>
            </a:prstGeom>
            <a:solidFill>
              <a:srgbClr val="0000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3" name="Rectangle 81"/>
            <p:cNvSpPr>
              <a:spLocks noChangeArrowheads="1"/>
            </p:cNvSpPr>
            <p:nvPr/>
          </p:nvSpPr>
          <p:spPr bwMode="auto">
            <a:xfrm>
              <a:off x="4085" y="624"/>
              <a:ext cx="41" cy="3144"/>
            </a:xfrm>
            <a:prstGeom prst="rect">
              <a:avLst/>
            </a:prstGeom>
            <a:solidFill>
              <a:srgbClr val="000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4" name="Rectangle 82"/>
            <p:cNvSpPr>
              <a:spLocks noChangeArrowheads="1"/>
            </p:cNvSpPr>
            <p:nvPr/>
          </p:nvSpPr>
          <p:spPr bwMode="auto">
            <a:xfrm>
              <a:off x="4126" y="624"/>
              <a:ext cx="41" cy="3144"/>
            </a:xfrm>
            <a:prstGeom prst="rect">
              <a:avLst/>
            </a:prstGeom>
            <a:solidFill>
              <a:srgbClr val="0000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5" name="Rectangle 83"/>
            <p:cNvSpPr>
              <a:spLocks noChangeArrowheads="1"/>
            </p:cNvSpPr>
            <p:nvPr/>
          </p:nvSpPr>
          <p:spPr bwMode="auto">
            <a:xfrm>
              <a:off x="4167" y="624"/>
              <a:ext cx="41" cy="3144"/>
            </a:xfrm>
            <a:prstGeom prst="rect">
              <a:avLst/>
            </a:prstGeom>
            <a:solidFill>
              <a:srgbClr val="00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6" name="Rectangle 84"/>
            <p:cNvSpPr>
              <a:spLocks noChangeArrowheads="1"/>
            </p:cNvSpPr>
            <p:nvPr/>
          </p:nvSpPr>
          <p:spPr bwMode="auto">
            <a:xfrm>
              <a:off x="4208" y="624"/>
              <a:ext cx="41" cy="3144"/>
            </a:xfrm>
            <a:prstGeom prst="rect">
              <a:avLst/>
            </a:prstGeom>
            <a:solidFill>
              <a:srgbClr val="0000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7" name="Rectangle 85"/>
            <p:cNvSpPr>
              <a:spLocks noChangeArrowheads="1"/>
            </p:cNvSpPr>
            <p:nvPr/>
          </p:nvSpPr>
          <p:spPr bwMode="auto">
            <a:xfrm>
              <a:off x="4249" y="624"/>
              <a:ext cx="42" cy="3144"/>
            </a:xfrm>
            <a:prstGeom prst="rect">
              <a:avLst/>
            </a:prstGeom>
            <a:solidFill>
              <a:srgbClr val="0000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8" name="Rectangle 86"/>
            <p:cNvSpPr>
              <a:spLocks noChangeArrowheads="1"/>
            </p:cNvSpPr>
            <p:nvPr/>
          </p:nvSpPr>
          <p:spPr bwMode="auto">
            <a:xfrm>
              <a:off x="4291" y="624"/>
              <a:ext cx="41" cy="3144"/>
            </a:xfrm>
            <a:prstGeom prst="rect">
              <a:avLst/>
            </a:prstGeom>
            <a:solidFill>
              <a:srgbClr val="000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19" name="Rectangle 87"/>
            <p:cNvSpPr>
              <a:spLocks noChangeArrowheads="1"/>
            </p:cNvSpPr>
            <p:nvPr/>
          </p:nvSpPr>
          <p:spPr bwMode="auto">
            <a:xfrm>
              <a:off x="4332" y="624"/>
              <a:ext cx="41" cy="3144"/>
            </a:xfrm>
            <a:prstGeom prst="rect">
              <a:avLst/>
            </a:prstGeom>
            <a:solidFill>
              <a:srgbClr val="000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0" name="Rectangle 88"/>
            <p:cNvSpPr>
              <a:spLocks noChangeArrowheads="1"/>
            </p:cNvSpPr>
            <p:nvPr/>
          </p:nvSpPr>
          <p:spPr bwMode="auto">
            <a:xfrm>
              <a:off x="4373" y="624"/>
              <a:ext cx="41" cy="3144"/>
            </a:xfrm>
            <a:prstGeom prst="rect">
              <a:avLst/>
            </a:prstGeom>
            <a:solidFill>
              <a:srgbClr val="000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1" name="Rectangle 89"/>
            <p:cNvSpPr>
              <a:spLocks noChangeArrowheads="1"/>
            </p:cNvSpPr>
            <p:nvPr/>
          </p:nvSpPr>
          <p:spPr bwMode="auto">
            <a:xfrm>
              <a:off x="4414" y="624"/>
              <a:ext cx="42" cy="3144"/>
            </a:xfrm>
            <a:prstGeom prst="rect">
              <a:avLst/>
            </a:prstGeom>
            <a:solidFill>
              <a:srgbClr val="000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2" name="Rectangle 90"/>
            <p:cNvSpPr>
              <a:spLocks noChangeArrowheads="1"/>
            </p:cNvSpPr>
            <p:nvPr/>
          </p:nvSpPr>
          <p:spPr bwMode="auto">
            <a:xfrm>
              <a:off x="4456" y="624"/>
              <a:ext cx="41" cy="3144"/>
            </a:xfrm>
            <a:prstGeom prst="rect">
              <a:avLst/>
            </a:prstGeom>
            <a:solidFill>
              <a:srgbClr val="000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3" name="Rectangle 91"/>
            <p:cNvSpPr>
              <a:spLocks noChangeArrowheads="1"/>
            </p:cNvSpPr>
            <p:nvPr/>
          </p:nvSpPr>
          <p:spPr bwMode="auto">
            <a:xfrm>
              <a:off x="4497" y="624"/>
              <a:ext cx="41" cy="3144"/>
            </a:xfrm>
            <a:prstGeom prst="rect">
              <a:avLst/>
            </a:prstGeom>
            <a:solidFill>
              <a:srgbClr val="0000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4" name="Rectangle 92"/>
            <p:cNvSpPr>
              <a:spLocks noChangeArrowheads="1"/>
            </p:cNvSpPr>
            <p:nvPr/>
          </p:nvSpPr>
          <p:spPr bwMode="auto">
            <a:xfrm>
              <a:off x="4538" y="624"/>
              <a:ext cx="41" cy="3144"/>
            </a:xfrm>
            <a:prstGeom prst="rect">
              <a:avLst/>
            </a:prstGeom>
            <a:solidFill>
              <a:srgbClr val="0000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5" name="Rectangle 93"/>
            <p:cNvSpPr>
              <a:spLocks noChangeArrowheads="1"/>
            </p:cNvSpPr>
            <p:nvPr/>
          </p:nvSpPr>
          <p:spPr bwMode="auto">
            <a:xfrm>
              <a:off x="4579" y="624"/>
              <a:ext cx="41" cy="3144"/>
            </a:xfrm>
            <a:prstGeom prst="rect">
              <a:avLst/>
            </a:prstGeom>
            <a:solidFill>
              <a:srgbClr val="000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6" name="Rectangle 94"/>
            <p:cNvSpPr>
              <a:spLocks noChangeArrowheads="1"/>
            </p:cNvSpPr>
            <p:nvPr/>
          </p:nvSpPr>
          <p:spPr bwMode="auto">
            <a:xfrm>
              <a:off x="4620" y="624"/>
              <a:ext cx="42" cy="3144"/>
            </a:xfrm>
            <a:prstGeom prst="rect">
              <a:avLst/>
            </a:prstGeom>
            <a:solidFill>
              <a:srgbClr val="0000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7" name="Rectangle 95"/>
            <p:cNvSpPr>
              <a:spLocks noChangeArrowheads="1"/>
            </p:cNvSpPr>
            <p:nvPr/>
          </p:nvSpPr>
          <p:spPr bwMode="auto">
            <a:xfrm>
              <a:off x="4662" y="624"/>
              <a:ext cx="41" cy="3144"/>
            </a:xfrm>
            <a:prstGeom prst="rect">
              <a:avLst/>
            </a:prstGeom>
            <a:solidFill>
              <a:srgbClr val="0000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8" name="Rectangle 96"/>
            <p:cNvSpPr>
              <a:spLocks noChangeArrowheads="1"/>
            </p:cNvSpPr>
            <p:nvPr/>
          </p:nvSpPr>
          <p:spPr bwMode="auto">
            <a:xfrm>
              <a:off x="4703" y="624"/>
              <a:ext cx="41" cy="3144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29" name="Rectangle 97"/>
            <p:cNvSpPr>
              <a:spLocks noChangeArrowheads="1"/>
            </p:cNvSpPr>
            <p:nvPr/>
          </p:nvSpPr>
          <p:spPr bwMode="auto">
            <a:xfrm>
              <a:off x="4744" y="624"/>
              <a:ext cx="41" cy="3144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30" name="Rectangle 98"/>
            <p:cNvSpPr>
              <a:spLocks noChangeArrowheads="1"/>
            </p:cNvSpPr>
            <p:nvPr/>
          </p:nvSpPr>
          <p:spPr bwMode="auto">
            <a:xfrm>
              <a:off x="4785" y="624"/>
              <a:ext cx="41" cy="3144"/>
            </a:xfrm>
            <a:prstGeom prst="rect">
              <a:avLst/>
            </a:pr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031" name="Rectangle 99"/>
            <p:cNvSpPr>
              <a:spLocks noChangeArrowheads="1"/>
            </p:cNvSpPr>
            <p:nvPr/>
          </p:nvSpPr>
          <p:spPr bwMode="auto">
            <a:xfrm>
              <a:off x="4826" y="624"/>
              <a:ext cx="42" cy="3144"/>
            </a:xfrm>
            <a:prstGeom prst="rect">
              <a:avLst/>
            </a:pr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35844" name="Rectangle 100"/>
          <p:cNvSpPr>
            <a:spLocks noChangeArrowheads="1"/>
          </p:cNvSpPr>
          <p:nvPr/>
        </p:nvSpPr>
        <p:spPr bwMode="auto">
          <a:xfrm>
            <a:off x="3036889" y="5718176"/>
            <a:ext cx="1138237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45" name="Rectangle 101"/>
          <p:cNvSpPr>
            <a:spLocks noChangeArrowheads="1"/>
          </p:cNvSpPr>
          <p:nvPr/>
        </p:nvSpPr>
        <p:spPr bwMode="auto">
          <a:xfrm>
            <a:off x="3101976" y="5759450"/>
            <a:ext cx="107240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 i="0">
                <a:solidFill>
                  <a:srgbClr val="FFFFFF"/>
                </a:solidFill>
                <a:latin typeface="Times New Roman" pitchFamily="18" charset="0"/>
              </a:rPr>
              <a:t>BUS 350 - Topic 6.1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46" name="Rectangle 102"/>
          <p:cNvSpPr>
            <a:spLocks noChangeArrowheads="1"/>
          </p:cNvSpPr>
          <p:nvPr/>
        </p:nvSpPr>
        <p:spPr bwMode="auto">
          <a:xfrm>
            <a:off x="8662989" y="5718176"/>
            <a:ext cx="522287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47" name="Rectangle 103"/>
          <p:cNvSpPr>
            <a:spLocks noChangeArrowheads="1"/>
          </p:cNvSpPr>
          <p:nvPr/>
        </p:nvSpPr>
        <p:spPr bwMode="auto">
          <a:xfrm>
            <a:off x="8753475" y="5759450"/>
            <a:ext cx="26770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 i="0">
                <a:solidFill>
                  <a:srgbClr val="FFFFFF"/>
                </a:solidFill>
                <a:latin typeface="Times New Roman" pitchFamily="18" charset="0"/>
              </a:rPr>
              <a:t>6.1 - 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48" name="Rectangle 104"/>
          <p:cNvSpPr>
            <a:spLocks noChangeArrowheads="1"/>
          </p:cNvSpPr>
          <p:nvPr/>
        </p:nvSpPr>
        <p:spPr bwMode="auto">
          <a:xfrm>
            <a:off x="9002713" y="5759450"/>
            <a:ext cx="12824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 i="0">
                <a:solidFill>
                  <a:srgbClr val="FFFFFF"/>
                </a:solidFill>
                <a:latin typeface="Times New Roman" pitchFamily="18" charset="0"/>
              </a:rPr>
              <a:t>14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49" name="Rectangle 105"/>
          <p:cNvSpPr>
            <a:spLocks noChangeArrowheads="1"/>
          </p:cNvSpPr>
          <p:nvPr/>
        </p:nvSpPr>
        <p:spPr bwMode="auto">
          <a:xfrm>
            <a:off x="3273426" y="4914901"/>
            <a:ext cx="5624513" cy="803275"/>
          </a:xfrm>
          <a:prstGeom prst="rect">
            <a:avLst/>
          </a:prstGeom>
          <a:solidFill>
            <a:srgbClr val="FFFFFF"/>
          </a:solidFill>
          <a:ln w="92075" cap="rnd">
            <a:solidFill>
              <a:srgbClr val="F6BF6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50" name="Rectangle 106"/>
          <p:cNvSpPr>
            <a:spLocks noChangeArrowheads="1"/>
          </p:cNvSpPr>
          <p:nvPr/>
        </p:nvSpPr>
        <p:spPr bwMode="auto">
          <a:xfrm>
            <a:off x="3860800" y="5053014"/>
            <a:ext cx="470481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300" i="0">
                <a:solidFill>
                  <a:srgbClr val="000000"/>
                </a:solidFill>
                <a:latin typeface="Times New Roman" pitchFamily="18" charset="0"/>
              </a:rPr>
              <a:t>The central tendency is down the center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51" name="Rectangle 107"/>
          <p:cNvSpPr>
            <a:spLocks noChangeArrowheads="1"/>
          </p:cNvSpPr>
          <p:nvPr/>
        </p:nvSpPr>
        <p:spPr bwMode="auto">
          <a:xfrm>
            <a:off x="3443289" y="1116013"/>
            <a:ext cx="53371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52" name="Rectangle 108"/>
          <p:cNvSpPr>
            <a:spLocks noChangeArrowheads="1"/>
          </p:cNvSpPr>
          <p:nvPr/>
        </p:nvSpPr>
        <p:spPr bwMode="auto">
          <a:xfrm>
            <a:off x="5313364" y="1336676"/>
            <a:ext cx="173124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i="0">
                <a:solidFill>
                  <a:srgbClr val="000000"/>
                </a:solidFill>
              </a:rPr>
              <a:t>Unbiased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53" name="Rectangle 109"/>
          <p:cNvSpPr>
            <a:spLocks noChangeArrowheads="1"/>
          </p:cNvSpPr>
          <p:nvPr/>
        </p:nvSpPr>
        <p:spPr bwMode="auto">
          <a:xfrm>
            <a:off x="5300664" y="1323976"/>
            <a:ext cx="173124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i="0">
                <a:solidFill>
                  <a:srgbClr val="F6BF69"/>
                </a:solidFill>
              </a:rPr>
              <a:t>Unbiased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54" name="Rectangle 110"/>
          <p:cNvSpPr>
            <a:spLocks noChangeArrowheads="1"/>
          </p:cNvSpPr>
          <p:nvPr/>
        </p:nvSpPr>
        <p:spPr bwMode="auto">
          <a:xfrm>
            <a:off x="7564438" y="5746750"/>
            <a:ext cx="11239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55" name="Rectangle 111"/>
          <p:cNvSpPr>
            <a:spLocks noChangeArrowheads="1"/>
          </p:cNvSpPr>
          <p:nvPr/>
        </p:nvSpPr>
        <p:spPr bwMode="auto">
          <a:xfrm>
            <a:off x="7629525" y="5802313"/>
            <a:ext cx="104515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 i="0">
                <a:solidFill>
                  <a:srgbClr val="FFFFFF"/>
                </a:solidFill>
                <a:latin typeface="Times New Roman" pitchFamily="18" charset="0"/>
              </a:rPr>
              <a:t>Handout 6.1, Page 1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35856" name="Group 112"/>
          <p:cNvGrpSpPr>
            <a:grpSpLocks/>
          </p:cNvGrpSpPr>
          <p:nvPr/>
        </p:nvGrpSpPr>
        <p:grpSpPr bwMode="auto">
          <a:xfrm>
            <a:off x="5183189" y="2987676"/>
            <a:ext cx="1830387" cy="1719263"/>
            <a:chOff x="2305" y="1882"/>
            <a:chExt cx="1153" cy="1083"/>
          </a:xfrm>
        </p:grpSpPr>
        <p:sp>
          <p:nvSpPr>
            <p:cNvPr id="35920" name="Freeform 113"/>
            <p:cNvSpPr>
              <a:spLocks/>
            </p:cNvSpPr>
            <p:nvPr/>
          </p:nvSpPr>
          <p:spPr bwMode="auto">
            <a:xfrm>
              <a:off x="2305" y="1882"/>
              <a:ext cx="1153" cy="1083"/>
            </a:xfrm>
            <a:custGeom>
              <a:avLst/>
              <a:gdLst>
                <a:gd name="T0" fmla="*/ 0 w 1153"/>
                <a:gd name="T1" fmla="*/ 725 h 1083"/>
                <a:gd name="T2" fmla="*/ 0 w 1153"/>
                <a:gd name="T3" fmla="*/ 0 h 1083"/>
                <a:gd name="T4" fmla="*/ 1153 w 1153"/>
                <a:gd name="T5" fmla="*/ 0 h 1083"/>
                <a:gd name="T6" fmla="*/ 1153 w 1153"/>
                <a:gd name="T7" fmla="*/ 725 h 1083"/>
                <a:gd name="T8" fmla="*/ 577 w 1153"/>
                <a:gd name="T9" fmla="*/ 1083 h 1083"/>
                <a:gd name="T10" fmla="*/ 0 w 1153"/>
                <a:gd name="T11" fmla="*/ 725 h 10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53"/>
                <a:gd name="T19" fmla="*/ 0 h 1083"/>
                <a:gd name="T20" fmla="*/ 1153 w 1153"/>
                <a:gd name="T21" fmla="*/ 1083 h 10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53" h="1083">
                  <a:moveTo>
                    <a:pt x="0" y="725"/>
                  </a:moveTo>
                  <a:lnTo>
                    <a:pt x="0" y="0"/>
                  </a:lnTo>
                  <a:lnTo>
                    <a:pt x="1153" y="0"/>
                  </a:lnTo>
                  <a:lnTo>
                    <a:pt x="1153" y="725"/>
                  </a:lnTo>
                  <a:lnTo>
                    <a:pt x="577" y="1083"/>
                  </a:lnTo>
                  <a:lnTo>
                    <a:pt x="0" y="725"/>
                  </a:lnTo>
                  <a:close/>
                </a:path>
              </a:pathLst>
            </a:custGeom>
            <a:solidFill>
              <a:srgbClr val="DADADA"/>
            </a:solidFill>
            <a:ln w="12700" cap="rnd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grpSp>
          <p:nvGrpSpPr>
            <p:cNvPr id="35921" name="Group 114"/>
            <p:cNvGrpSpPr>
              <a:grpSpLocks/>
            </p:cNvGrpSpPr>
            <p:nvPr/>
          </p:nvGrpSpPr>
          <p:grpSpPr bwMode="auto">
            <a:xfrm>
              <a:off x="2882" y="1882"/>
              <a:ext cx="8" cy="1083"/>
              <a:chOff x="2882" y="1882"/>
              <a:chExt cx="8" cy="1083"/>
            </a:xfrm>
          </p:grpSpPr>
          <p:sp>
            <p:nvSpPr>
              <p:cNvPr id="35924" name="Rectangle 115"/>
              <p:cNvSpPr>
                <a:spLocks noChangeArrowheads="1"/>
              </p:cNvSpPr>
              <p:nvPr/>
            </p:nvSpPr>
            <p:spPr bwMode="auto">
              <a:xfrm>
                <a:off x="2882" y="1882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25" name="Rectangle 116"/>
              <p:cNvSpPr>
                <a:spLocks noChangeArrowheads="1"/>
              </p:cNvSpPr>
              <p:nvPr/>
            </p:nvSpPr>
            <p:spPr bwMode="auto">
              <a:xfrm>
                <a:off x="2882" y="1978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26" name="Rectangle 117"/>
              <p:cNvSpPr>
                <a:spLocks noChangeArrowheads="1"/>
              </p:cNvSpPr>
              <p:nvPr/>
            </p:nvSpPr>
            <p:spPr bwMode="auto">
              <a:xfrm>
                <a:off x="2882" y="2074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27" name="Rectangle 118"/>
              <p:cNvSpPr>
                <a:spLocks noChangeArrowheads="1"/>
              </p:cNvSpPr>
              <p:nvPr/>
            </p:nvSpPr>
            <p:spPr bwMode="auto">
              <a:xfrm>
                <a:off x="2882" y="2170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28" name="Rectangle 119"/>
              <p:cNvSpPr>
                <a:spLocks noChangeArrowheads="1"/>
              </p:cNvSpPr>
              <p:nvPr/>
            </p:nvSpPr>
            <p:spPr bwMode="auto">
              <a:xfrm>
                <a:off x="2882" y="2266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29" name="Rectangle 120"/>
              <p:cNvSpPr>
                <a:spLocks noChangeArrowheads="1"/>
              </p:cNvSpPr>
              <p:nvPr/>
            </p:nvSpPr>
            <p:spPr bwMode="auto">
              <a:xfrm>
                <a:off x="2882" y="2362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30" name="Rectangle 121"/>
              <p:cNvSpPr>
                <a:spLocks noChangeArrowheads="1"/>
              </p:cNvSpPr>
              <p:nvPr/>
            </p:nvSpPr>
            <p:spPr bwMode="auto">
              <a:xfrm>
                <a:off x="2882" y="2458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31" name="Rectangle 122"/>
              <p:cNvSpPr>
                <a:spLocks noChangeArrowheads="1"/>
              </p:cNvSpPr>
              <p:nvPr/>
            </p:nvSpPr>
            <p:spPr bwMode="auto">
              <a:xfrm>
                <a:off x="2882" y="2554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32" name="Rectangle 123"/>
              <p:cNvSpPr>
                <a:spLocks noChangeArrowheads="1"/>
              </p:cNvSpPr>
              <p:nvPr/>
            </p:nvSpPr>
            <p:spPr bwMode="auto">
              <a:xfrm>
                <a:off x="2882" y="2650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33" name="Rectangle 124"/>
              <p:cNvSpPr>
                <a:spLocks noChangeArrowheads="1"/>
              </p:cNvSpPr>
              <p:nvPr/>
            </p:nvSpPr>
            <p:spPr bwMode="auto">
              <a:xfrm>
                <a:off x="2882" y="2746"/>
                <a:ext cx="8" cy="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34" name="Rectangle 125"/>
              <p:cNvSpPr>
                <a:spLocks noChangeArrowheads="1"/>
              </p:cNvSpPr>
              <p:nvPr/>
            </p:nvSpPr>
            <p:spPr bwMode="auto">
              <a:xfrm>
                <a:off x="2882" y="2843"/>
                <a:ext cx="8" cy="6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35" name="Rectangle 126"/>
              <p:cNvSpPr>
                <a:spLocks noChangeArrowheads="1"/>
              </p:cNvSpPr>
              <p:nvPr/>
            </p:nvSpPr>
            <p:spPr bwMode="auto">
              <a:xfrm>
                <a:off x="2882" y="2939"/>
                <a:ext cx="8" cy="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Char char="n"/>
                  <a:defRPr sz="3200" i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800" i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F"/>
                  <a:defRPr sz="2400" i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000" i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•"/>
                  <a:defRPr sz="2000" i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5922" name="Rectangle 127"/>
            <p:cNvSpPr>
              <a:spLocks noChangeArrowheads="1"/>
            </p:cNvSpPr>
            <p:nvPr/>
          </p:nvSpPr>
          <p:spPr bwMode="auto">
            <a:xfrm>
              <a:off x="2791" y="2231"/>
              <a:ext cx="198" cy="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923" name="Rectangle 128"/>
            <p:cNvSpPr>
              <a:spLocks noChangeArrowheads="1"/>
            </p:cNvSpPr>
            <p:nvPr/>
          </p:nvSpPr>
          <p:spPr bwMode="auto">
            <a:xfrm>
              <a:off x="2840" y="2275"/>
              <a:ext cx="1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200" b="1" i="0">
                  <a:solidFill>
                    <a:srgbClr val="000000"/>
                  </a:solidFill>
                  <a:latin typeface="Times New Roman" pitchFamily="18" charset="0"/>
                </a:rPr>
                <a:t>µ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35857" name="Group 129"/>
          <p:cNvGrpSpPr>
            <a:grpSpLocks/>
          </p:cNvGrpSpPr>
          <p:nvPr/>
        </p:nvGrpSpPr>
        <p:grpSpPr bwMode="auto">
          <a:xfrm>
            <a:off x="5600701" y="2363788"/>
            <a:ext cx="1008063" cy="1066800"/>
            <a:chOff x="2568" y="1489"/>
            <a:chExt cx="635" cy="672"/>
          </a:xfrm>
        </p:grpSpPr>
        <p:sp>
          <p:nvSpPr>
            <p:cNvPr id="35863" name="Oval 130"/>
            <p:cNvSpPr>
              <a:spLocks noChangeArrowheads="1"/>
            </p:cNvSpPr>
            <p:nvPr/>
          </p:nvSpPr>
          <p:spPr bwMode="auto">
            <a:xfrm>
              <a:off x="2577" y="1489"/>
              <a:ext cx="626" cy="672"/>
            </a:xfrm>
            <a:prstGeom prst="ellipse">
              <a:avLst/>
            </a:prstGeom>
            <a:solidFill>
              <a:srgbClr val="DFDFDF"/>
            </a:solidFill>
            <a:ln w="12700">
              <a:solidFill>
                <a:srgbClr val="C0C0C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5864" name="Oval 131"/>
            <p:cNvSpPr>
              <a:spLocks noChangeArrowheads="1"/>
            </p:cNvSpPr>
            <p:nvPr/>
          </p:nvSpPr>
          <p:spPr bwMode="auto">
            <a:xfrm>
              <a:off x="2568" y="1489"/>
              <a:ext cx="635" cy="67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BFBFB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Char char="n"/>
                <a:defRPr sz="32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8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F"/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•"/>
                <a:defRPr sz="20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35865" name="Group 132"/>
            <p:cNvGrpSpPr>
              <a:grpSpLocks/>
            </p:cNvGrpSpPr>
            <p:nvPr/>
          </p:nvGrpSpPr>
          <p:grpSpPr bwMode="auto">
            <a:xfrm>
              <a:off x="2758" y="1637"/>
              <a:ext cx="437" cy="507"/>
              <a:chOff x="2758" y="1637"/>
              <a:chExt cx="437" cy="507"/>
            </a:xfrm>
          </p:grpSpPr>
          <p:grpSp>
            <p:nvGrpSpPr>
              <p:cNvPr id="35868" name="Group 133"/>
              <p:cNvGrpSpPr>
                <a:grpSpLocks/>
              </p:cNvGrpSpPr>
              <p:nvPr/>
            </p:nvGrpSpPr>
            <p:grpSpPr bwMode="auto">
              <a:xfrm>
                <a:off x="2758" y="1637"/>
                <a:ext cx="437" cy="498"/>
                <a:chOff x="2758" y="1637"/>
                <a:chExt cx="437" cy="498"/>
              </a:xfrm>
            </p:grpSpPr>
            <p:sp>
              <p:nvSpPr>
                <p:cNvPr id="35895" name="Freeform 134"/>
                <p:cNvSpPr>
                  <a:spLocks/>
                </p:cNvSpPr>
                <p:nvPr/>
              </p:nvSpPr>
              <p:spPr bwMode="auto">
                <a:xfrm>
                  <a:off x="2758" y="1672"/>
                  <a:ext cx="428" cy="463"/>
                </a:xfrm>
                <a:custGeom>
                  <a:avLst/>
                  <a:gdLst>
                    <a:gd name="T0" fmla="*/ 0 w 428"/>
                    <a:gd name="T1" fmla="*/ 463 h 463"/>
                    <a:gd name="T2" fmla="*/ 16 w 428"/>
                    <a:gd name="T3" fmla="*/ 454 h 463"/>
                    <a:gd name="T4" fmla="*/ 25 w 428"/>
                    <a:gd name="T5" fmla="*/ 446 h 463"/>
                    <a:gd name="T6" fmla="*/ 41 w 428"/>
                    <a:gd name="T7" fmla="*/ 428 h 463"/>
                    <a:gd name="T8" fmla="*/ 49 w 428"/>
                    <a:gd name="T9" fmla="*/ 419 h 463"/>
                    <a:gd name="T10" fmla="*/ 58 w 428"/>
                    <a:gd name="T11" fmla="*/ 402 h 463"/>
                    <a:gd name="T12" fmla="*/ 66 w 428"/>
                    <a:gd name="T13" fmla="*/ 393 h 463"/>
                    <a:gd name="T14" fmla="*/ 66 w 428"/>
                    <a:gd name="T15" fmla="*/ 376 h 463"/>
                    <a:gd name="T16" fmla="*/ 74 w 428"/>
                    <a:gd name="T17" fmla="*/ 358 h 463"/>
                    <a:gd name="T18" fmla="*/ 74 w 428"/>
                    <a:gd name="T19" fmla="*/ 341 h 463"/>
                    <a:gd name="T20" fmla="*/ 74 w 428"/>
                    <a:gd name="T21" fmla="*/ 323 h 463"/>
                    <a:gd name="T22" fmla="*/ 74 w 428"/>
                    <a:gd name="T23" fmla="*/ 297 h 463"/>
                    <a:gd name="T24" fmla="*/ 66 w 428"/>
                    <a:gd name="T25" fmla="*/ 288 h 463"/>
                    <a:gd name="T26" fmla="*/ 66 w 428"/>
                    <a:gd name="T27" fmla="*/ 271 h 463"/>
                    <a:gd name="T28" fmla="*/ 66 w 428"/>
                    <a:gd name="T29" fmla="*/ 245 h 463"/>
                    <a:gd name="T30" fmla="*/ 66 w 428"/>
                    <a:gd name="T31" fmla="*/ 227 h 463"/>
                    <a:gd name="T32" fmla="*/ 66 w 428"/>
                    <a:gd name="T33" fmla="*/ 201 h 463"/>
                    <a:gd name="T34" fmla="*/ 66 w 428"/>
                    <a:gd name="T35" fmla="*/ 184 h 463"/>
                    <a:gd name="T36" fmla="*/ 74 w 428"/>
                    <a:gd name="T37" fmla="*/ 157 h 463"/>
                    <a:gd name="T38" fmla="*/ 74 w 428"/>
                    <a:gd name="T39" fmla="*/ 140 h 463"/>
                    <a:gd name="T40" fmla="*/ 82 w 428"/>
                    <a:gd name="T41" fmla="*/ 122 h 463"/>
                    <a:gd name="T42" fmla="*/ 91 w 428"/>
                    <a:gd name="T43" fmla="*/ 105 h 463"/>
                    <a:gd name="T44" fmla="*/ 91 w 428"/>
                    <a:gd name="T45" fmla="*/ 87 h 463"/>
                    <a:gd name="T46" fmla="*/ 99 w 428"/>
                    <a:gd name="T47" fmla="*/ 79 h 463"/>
                    <a:gd name="T48" fmla="*/ 107 w 428"/>
                    <a:gd name="T49" fmla="*/ 70 h 463"/>
                    <a:gd name="T50" fmla="*/ 124 w 428"/>
                    <a:gd name="T51" fmla="*/ 53 h 463"/>
                    <a:gd name="T52" fmla="*/ 132 w 428"/>
                    <a:gd name="T53" fmla="*/ 35 h 463"/>
                    <a:gd name="T54" fmla="*/ 148 w 428"/>
                    <a:gd name="T55" fmla="*/ 26 h 463"/>
                    <a:gd name="T56" fmla="*/ 165 w 428"/>
                    <a:gd name="T57" fmla="*/ 18 h 463"/>
                    <a:gd name="T58" fmla="*/ 181 w 428"/>
                    <a:gd name="T59" fmla="*/ 9 h 463"/>
                    <a:gd name="T60" fmla="*/ 198 w 428"/>
                    <a:gd name="T61" fmla="*/ 9 h 463"/>
                    <a:gd name="T62" fmla="*/ 214 w 428"/>
                    <a:gd name="T63" fmla="*/ 0 h 463"/>
                    <a:gd name="T64" fmla="*/ 231 w 428"/>
                    <a:gd name="T65" fmla="*/ 0 h 463"/>
                    <a:gd name="T66" fmla="*/ 247 w 428"/>
                    <a:gd name="T67" fmla="*/ 0 h 463"/>
                    <a:gd name="T68" fmla="*/ 255 w 428"/>
                    <a:gd name="T69" fmla="*/ 0 h 463"/>
                    <a:gd name="T70" fmla="*/ 272 w 428"/>
                    <a:gd name="T71" fmla="*/ 0 h 463"/>
                    <a:gd name="T72" fmla="*/ 288 w 428"/>
                    <a:gd name="T73" fmla="*/ 0 h 463"/>
                    <a:gd name="T74" fmla="*/ 297 w 428"/>
                    <a:gd name="T75" fmla="*/ 9 h 463"/>
                    <a:gd name="T76" fmla="*/ 313 w 428"/>
                    <a:gd name="T77" fmla="*/ 18 h 463"/>
                    <a:gd name="T78" fmla="*/ 321 w 428"/>
                    <a:gd name="T79" fmla="*/ 26 h 463"/>
                    <a:gd name="T80" fmla="*/ 338 w 428"/>
                    <a:gd name="T81" fmla="*/ 35 h 463"/>
                    <a:gd name="T82" fmla="*/ 346 w 428"/>
                    <a:gd name="T83" fmla="*/ 53 h 463"/>
                    <a:gd name="T84" fmla="*/ 354 w 428"/>
                    <a:gd name="T85" fmla="*/ 61 h 463"/>
                    <a:gd name="T86" fmla="*/ 363 w 428"/>
                    <a:gd name="T87" fmla="*/ 70 h 463"/>
                    <a:gd name="T88" fmla="*/ 371 w 428"/>
                    <a:gd name="T89" fmla="*/ 87 h 463"/>
                    <a:gd name="T90" fmla="*/ 379 w 428"/>
                    <a:gd name="T91" fmla="*/ 96 h 463"/>
                    <a:gd name="T92" fmla="*/ 387 w 428"/>
                    <a:gd name="T93" fmla="*/ 105 h 463"/>
                    <a:gd name="T94" fmla="*/ 387 w 428"/>
                    <a:gd name="T95" fmla="*/ 122 h 463"/>
                    <a:gd name="T96" fmla="*/ 395 w 428"/>
                    <a:gd name="T97" fmla="*/ 140 h 463"/>
                    <a:gd name="T98" fmla="*/ 395 w 428"/>
                    <a:gd name="T99" fmla="*/ 157 h 463"/>
                    <a:gd name="T100" fmla="*/ 404 w 428"/>
                    <a:gd name="T101" fmla="*/ 175 h 463"/>
                    <a:gd name="T102" fmla="*/ 412 w 428"/>
                    <a:gd name="T103" fmla="*/ 192 h 463"/>
                    <a:gd name="T104" fmla="*/ 412 w 428"/>
                    <a:gd name="T105" fmla="*/ 210 h 463"/>
                    <a:gd name="T106" fmla="*/ 420 w 428"/>
                    <a:gd name="T107" fmla="*/ 218 h 463"/>
                    <a:gd name="T108" fmla="*/ 420 w 428"/>
                    <a:gd name="T109" fmla="*/ 236 h 463"/>
                    <a:gd name="T110" fmla="*/ 428 w 428"/>
                    <a:gd name="T111" fmla="*/ 253 h 463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428"/>
                    <a:gd name="T169" fmla="*/ 0 h 463"/>
                    <a:gd name="T170" fmla="*/ 428 w 428"/>
                    <a:gd name="T171" fmla="*/ 463 h 463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428" h="463">
                      <a:moveTo>
                        <a:pt x="0" y="463"/>
                      </a:moveTo>
                      <a:lnTo>
                        <a:pt x="16" y="454"/>
                      </a:lnTo>
                      <a:lnTo>
                        <a:pt x="25" y="446"/>
                      </a:lnTo>
                      <a:lnTo>
                        <a:pt x="41" y="428"/>
                      </a:lnTo>
                      <a:lnTo>
                        <a:pt x="49" y="419"/>
                      </a:lnTo>
                      <a:lnTo>
                        <a:pt x="58" y="402"/>
                      </a:lnTo>
                      <a:lnTo>
                        <a:pt x="66" y="393"/>
                      </a:lnTo>
                      <a:lnTo>
                        <a:pt x="66" y="376"/>
                      </a:lnTo>
                      <a:lnTo>
                        <a:pt x="74" y="358"/>
                      </a:lnTo>
                      <a:lnTo>
                        <a:pt x="74" y="341"/>
                      </a:lnTo>
                      <a:lnTo>
                        <a:pt x="74" y="323"/>
                      </a:lnTo>
                      <a:lnTo>
                        <a:pt x="74" y="297"/>
                      </a:lnTo>
                      <a:lnTo>
                        <a:pt x="66" y="288"/>
                      </a:lnTo>
                      <a:lnTo>
                        <a:pt x="66" y="271"/>
                      </a:lnTo>
                      <a:lnTo>
                        <a:pt x="66" y="245"/>
                      </a:lnTo>
                      <a:lnTo>
                        <a:pt x="66" y="227"/>
                      </a:lnTo>
                      <a:lnTo>
                        <a:pt x="66" y="201"/>
                      </a:lnTo>
                      <a:lnTo>
                        <a:pt x="66" y="184"/>
                      </a:lnTo>
                      <a:lnTo>
                        <a:pt x="74" y="157"/>
                      </a:lnTo>
                      <a:lnTo>
                        <a:pt x="74" y="140"/>
                      </a:lnTo>
                      <a:lnTo>
                        <a:pt x="82" y="122"/>
                      </a:lnTo>
                      <a:lnTo>
                        <a:pt x="91" y="105"/>
                      </a:lnTo>
                      <a:lnTo>
                        <a:pt x="91" y="87"/>
                      </a:lnTo>
                      <a:lnTo>
                        <a:pt x="99" y="79"/>
                      </a:lnTo>
                      <a:lnTo>
                        <a:pt x="107" y="70"/>
                      </a:lnTo>
                      <a:lnTo>
                        <a:pt x="124" y="53"/>
                      </a:lnTo>
                      <a:lnTo>
                        <a:pt x="132" y="35"/>
                      </a:lnTo>
                      <a:lnTo>
                        <a:pt x="148" y="26"/>
                      </a:lnTo>
                      <a:lnTo>
                        <a:pt x="165" y="18"/>
                      </a:lnTo>
                      <a:lnTo>
                        <a:pt x="181" y="9"/>
                      </a:lnTo>
                      <a:lnTo>
                        <a:pt x="198" y="9"/>
                      </a:lnTo>
                      <a:lnTo>
                        <a:pt x="214" y="0"/>
                      </a:lnTo>
                      <a:lnTo>
                        <a:pt x="231" y="0"/>
                      </a:lnTo>
                      <a:lnTo>
                        <a:pt x="247" y="0"/>
                      </a:lnTo>
                      <a:lnTo>
                        <a:pt x="255" y="0"/>
                      </a:lnTo>
                      <a:lnTo>
                        <a:pt x="272" y="0"/>
                      </a:lnTo>
                      <a:lnTo>
                        <a:pt x="288" y="0"/>
                      </a:lnTo>
                      <a:lnTo>
                        <a:pt x="297" y="9"/>
                      </a:lnTo>
                      <a:lnTo>
                        <a:pt x="313" y="18"/>
                      </a:lnTo>
                      <a:lnTo>
                        <a:pt x="321" y="26"/>
                      </a:lnTo>
                      <a:lnTo>
                        <a:pt x="338" y="35"/>
                      </a:lnTo>
                      <a:lnTo>
                        <a:pt x="346" y="53"/>
                      </a:lnTo>
                      <a:lnTo>
                        <a:pt x="354" y="61"/>
                      </a:lnTo>
                      <a:lnTo>
                        <a:pt x="363" y="70"/>
                      </a:lnTo>
                      <a:lnTo>
                        <a:pt x="371" y="87"/>
                      </a:lnTo>
                      <a:lnTo>
                        <a:pt x="379" y="96"/>
                      </a:lnTo>
                      <a:lnTo>
                        <a:pt x="387" y="105"/>
                      </a:lnTo>
                      <a:lnTo>
                        <a:pt x="387" y="122"/>
                      </a:lnTo>
                      <a:lnTo>
                        <a:pt x="395" y="140"/>
                      </a:lnTo>
                      <a:lnTo>
                        <a:pt x="395" y="157"/>
                      </a:lnTo>
                      <a:lnTo>
                        <a:pt x="404" y="175"/>
                      </a:lnTo>
                      <a:lnTo>
                        <a:pt x="412" y="192"/>
                      </a:lnTo>
                      <a:lnTo>
                        <a:pt x="412" y="210"/>
                      </a:lnTo>
                      <a:lnTo>
                        <a:pt x="420" y="218"/>
                      </a:lnTo>
                      <a:lnTo>
                        <a:pt x="420" y="236"/>
                      </a:lnTo>
                      <a:lnTo>
                        <a:pt x="428" y="253"/>
                      </a:lnTo>
                    </a:path>
                  </a:pathLst>
                </a:custGeom>
                <a:noFill/>
                <a:ln w="12700" cap="rnd">
                  <a:solidFill>
                    <a:srgbClr val="C0C0C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i="1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35896" name="Group 135"/>
                <p:cNvGrpSpPr>
                  <a:grpSpLocks/>
                </p:cNvGrpSpPr>
                <p:nvPr/>
              </p:nvGrpSpPr>
              <p:grpSpPr bwMode="auto">
                <a:xfrm>
                  <a:off x="2758" y="1637"/>
                  <a:ext cx="437" cy="498"/>
                  <a:chOff x="2758" y="1637"/>
                  <a:chExt cx="437" cy="498"/>
                </a:xfrm>
              </p:grpSpPr>
              <p:sp>
                <p:nvSpPr>
                  <p:cNvPr id="35897" name="Line 1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53" y="1864"/>
                    <a:ext cx="42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98" name="Line 13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45" y="1829"/>
                    <a:ext cx="33" cy="27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99" name="Line 13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29" y="1786"/>
                    <a:ext cx="41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0" name="Line 1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12" y="1751"/>
                    <a:ext cx="41" cy="26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1" name="Line 1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96" y="1716"/>
                    <a:ext cx="41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2" name="Line 1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63" y="1681"/>
                    <a:ext cx="41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3" name="Line 1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38" y="1655"/>
                    <a:ext cx="33" cy="43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4" name="Line 1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05" y="1637"/>
                    <a:ext cx="25" cy="61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5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2980" y="1637"/>
                    <a:ext cx="1" cy="70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6" name="Line 145"/>
                  <p:cNvSpPr>
                    <a:spLocks noChangeShapeType="1"/>
                  </p:cNvSpPr>
                  <p:nvPr/>
                </p:nvSpPr>
                <p:spPr bwMode="auto">
                  <a:xfrm>
                    <a:off x="2931" y="1655"/>
                    <a:ext cx="25" cy="52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7" name="Line 146"/>
                  <p:cNvSpPr>
                    <a:spLocks noChangeShapeType="1"/>
                  </p:cNvSpPr>
                  <p:nvPr/>
                </p:nvSpPr>
                <p:spPr bwMode="auto">
                  <a:xfrm>
                    <a:off x="2890" y="1681"/>
                    <a:ext cx="25" cy="44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8" name="Line 147"/>
                  <p:cNvSpPr>
                    <a:spLocks noChangeShapeType="1"/>
                  </p:cNvSpPr>
                  <p:nvPr/>
                </p:nvSpPr>
                <p:spPr bwMode="auto">
                  <a:xfrm>
                    <a:off x="2857" y="1707"/>
                    <a:ext cx="33" cy="44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09" name="Line 148"/>
                  <p:cNvSpPr>
                    <a:spLocks noChangeShapeType="1"/>
                  </p:cNvSpPr>
                  <p:nvPr/>
                </p:nvSpPr>
                <p:spPr bwMode="auto">
                  <a:xfrm>
                    <a:off x="2832" y="1751"/>
                    <a:ext cx="41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0" name="Line 149"/>
                  <p:cNvSpPr>
                    <a:spLocks noChangeShapeType="1"/>
                  </p:cNvSpPr>
                  <p:nvPr/>
                </p:nvSpPr>
                <p:spPr bwMode="auto">
                  <a:xfrm>
                    <a:off x="2816" y="1803"/>
                    <a:ext cx="41" cy="18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1" name="Line 150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1847"/>
                    <a:ext cx="50" cy="9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2" name="Line 151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1890"/>
                    <a:ext cx="50" cy="9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3" name="Line 152"/>
                  <p:cNvSpPr>
                    <a:spLocks noChangeShapeType="1"/>
                  </p:cNvSpPr>
                  <p:nvPr/>
                </p:nvSpPr>
                <p:spPr bwMode="auto">
                  <a:xfrm>
                    <a:off x="2791" y="1934"/>
                    <a:ext cx="58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4" name="Line 153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1969"/>
                    <a:ext cx="50" cy="9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5" name="Line 154"/>
                  <p:cNvSpPr>
                    <a:spLocks noChangeShapeType="1"/>
                  </p:cNvSpPr>
                  <p:nvPr/>
                </p:nvSpPr>
                <p:spPr bwMode="auto">
                  <a:xfrm>
                    <a:off x="2807" y="2004"/>
                    <a:ext cx="50" cy="9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6" name="Line 155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2039"/>
                    <a:ext cx="50" cy="17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7" name="Line 156"/>
                  <p:cNvSpPr>
                    <a:spLocks noChangeShapeType="1"/>
                  </p:cNvSpPr>
                  <p:nvPr/>
                </p:nvSpPr>
                <p:spPr bwMode="auto">
                  <a:xfrm>
                    <a:off x="2791" y="2074"/>
                    <a:ext cx="41" cy="17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8" name="Line 157"/>
                  <p:cNvSpPr>
                    <a:spLocks noChangeShapeType="1"/>
                  </p:cNvSpPr>
                  <p:nvPr/>
                </p:nvSpPr>
                <p:spPr bwMode="auto">
                  <a:xfrm>
                    <a:off x="2774" y="2100"/>
                    <a:ext cx="42" cy="26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919" name="Line 158"/>
                  <p:cNvSpPr>
                    <a:spLocks noChangeShapeType="1"/>
                  </p:cNvSpPr>
                  <p:nvPr/>
                </p:nvSpPr>
                <p:spPr bwMode="auto">
                  <a:xfrm>
                    <a:off x="2758" y="2118"/>
                    <a:ext cx="33" cy="17"/>
                  </a:xfrm>
                  <a:prstGeom prst="line">
                    <a:avLst/>
                  </a:prstGeom>
                  <a:noFill/>
                  <a:ln w="12700">
                    <a:solidFill>
                      <a:srgbClr val="C0C0C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35869" name="Group 159"/>
              <p:cNvGrpSpPr>
                <a:grpSpLocks/>
              </p:cNvGrpSpPr>
              <p:nvPr/>
            </p:nvGrpSpPr>
            <p:grpSpPr bwMode="auto">
              <a:xfrm>
                <a:off x="2758" y="1646"/>
                <a:ext cx="437" cy="498"/>
                <a:chOff x="2758" y="1646"/>
                <a:chExt cx="437" cy="498"/>
              </a:xfrm>
            </p:grpSpPr>
            <p:sp>
              <p:nvSpPr>
                <p:cNvPr id="35870" name="Freeform 160"/>
                <p:cNvSpPr>
                  <a:spLocks/>
                </p:cNvSpPr>
                <p:nvPr/>
              </p:nvSpPr>
              <p:spPr bwMode="auto">
                <a:xfrm>
                  <a:off x="2766" y="1672"/>
                  <a:ext cx="429" cy="463"/>
                </a:xfrm>
                <a:custGeom>
                  <a:avLst/>
                  <a:gdLst>
                    <a:gd name="T0" fmla="*/ 0 w 429"/>
                    <a:gd name="T1" fmla="*/ 463 h 463"/>
                    <a:gd name="T2" fmla="*/ 8 w 429"/>
                    <a:gd name="T3" fmla="*/ 454 h 463"/>
                    <a:gd name="T4" fmla="*/ 25 w 429"/>
                    <a:gd name="T5" fmla="*/ 446 h 463"/>
                    <a:gd name="T6" fmla="*/ 33 w 429"/>
                    <a:gd name="T7" fmla="*/ 437 h 463"/>
                    <a:gd name="T8" fmla="*/ 41 w 429"/>
                    <a:gd name="T9" fmla="*/ 419 h 463"/>
                    <a:gd name="T10" fmla="*/ 58 w 429"/>
                    <a:gd name="T11" fmla="*/ 411 h 463"/>
                    <a:gd name="T12" fmla="*/ 58 w 429"/>
                    <a:gd name="T13" fmla="*/ 393 h 463"/>
                    <a:gd name="T14" fmla="*/ 66 w 429"/>
                    <a:gd name="T15" fmla="*/ 384 h 463"/>
                    <a:gd name="T16" fmla="*/ 66 w 429"/>
                    <a:gd name="T17" fmla="*/ 367 h 463"/>
                    <a:gd name="T18" fmla="*/ 66 w 429"/>
                    <a:gd name="T19" fmla="*/ 341 h 463"/>
                    <a:gd name="T20" fmla="*/ 66 w 429"/>
                    <a:gd name="T21" fmla="*/ 323 h 463"/>
                    <a:gd name="T22" fmla="*/ 66 w 429"/>
                    <a:gd name="T23" fmla="*/ 306 h 463"/>
                    <a:gd name="T24" fmla="*/ 66 w 429"/>
                    <a:gd name="T25" fmla="*/ 288 h 463"/>
                    <a:gd name="T26" fmla="*/ 66 w 429"/>
                    <a:gd name="T27" fmla="*/ 271 h 463"/>
                    <a:gd name="T28" fmla="*/ 66 w 429"/>
                    <a:gd name="T29" fmla="*/ 253 h 463"/>
                    <a:gd name="T30" fmla="*/ 58 w 429"/>
                    <a:gd name="T31" fmla="*/ 227 h 463"/>
                    <a:gd name="T32" fmla="*/ 66 w 429"/>
                    <a:gd name="T33" fmla="*/ 210 h 463"/>
                    <a:gd name="T34" fmla="*/ 66 w 429"/>
                    <a:gd name="T35" fmla="*/ 184 h 463"/>
                    <a:gd name="T36" fmla="*/ 66 w 429"/>
                    <a:gd name="T37" fmla="*/ 166 h 463"/>
                    <a:gd name="T38" fmla="*/ 74 w 429"/>
                    <a:gd name="T39" fmla="*/ 149 h 463"/>
                    <a:gd name="T40" fmla="*/ 74 w 429"/>
                    <a:gd name="T41" fmla="*/ 131 h 463"/>
                    <a:gd name="T42" fmla="*/ 83 w 429"/>
                    <a:gd name="T43" fmla="*/ 114 h 463"/>
                    <a:gd name="T44" fmla="*/ 91 w 429"/>
                    <a:gd name="T45" fmla="*/ 96 h 463"/>
                    <a:gd name="T46" fmla="*/ 99 w 429"/>
                    <a:gd name="T47" fmla="*/ 79 h 463"/>
                    <a:gd name="T48" fmla="*/ 107 w 429"/>
                    <a:gd name="T49" fmla="*/ 70 h 463"/>
                    <a:gd name="T50" fmla="*/ 116 w 429"/>
                    <a:gd name="T51" fmla="*/ 61 h 463"/>
                    <a:gd name="T52" fmla="*/ 132 w 429"/>
                    <a:gd name="T53" fmla="*/ 44 h 463"/>
                    <a:gd name="T54" fmla="*/ 149 w 429"/>
                    <a:gd name="T55" fmla="*/ 35 h 463"/>
                    <a:gd name="T56" fmla="*/ 157 w 429"/>
                    <a:gd name="T57" fmla="*/ 26 h 463"/>
                    <a:gd name="T58" fmla="*/ 173 w 429"/>
                    <a:gd name="T59" fmla="*/ 18 h 463"/>
                    <a:gd name="T60" fmla="*/ 190 w 429"/>
                    <a:gd name="T61" fmla="*/ 9 h 463"/>
                    <a:gd name="T62" fmla="*/ 206 w 429"/>
                    <a:gd name="T63" fmla="*/ 9 h 463"/>
                    <a:gd name="T64" fmla="*/ 223 w 429"/>
                    <a:gd name="T65" fmla="*/ 0 h 463"/>
                    <a:gd name="T66" fmla="*/ 239 w 429"/>
                    <a:gd name="T67" fmla="*/ 0 h 463"/>
                    <a:gd name="T68" fmla="*/ 256 w 429"/>
                    <a:gd name="T69" fmla="*/ 0 h 463"/>
                    <a:gd name="T70" fmla="*/ 272 w 429"/>
                    <a:gd name="T71" fmla="*/ 0 h 463"/>
                    <a:gd name="T72" fmla="*/ 280 w 429"/>
                    <a:gd name="T73" fmla="*/ 9 h 463"/>
                    <a:gd name="T74" fmla="*/ 297 w 429"/>
                    <a:gd name="T75" fmla="*/ 9 h 463"/>
                    <a:gd name="T76" fmla="*/ 305 w 429"/>
                    <a:gd name="T77" fmla="*/ 18 h 463"/>
                    <a:gd name="T78" fmla="*/ 322 w 429"/>
                    <a:gd name="T79" fmla="*/ 26 h 463"/>
                    <a:gd name="T80" fmla="*/ 330 w 429"/>
                    <a:gd name="T81" fmla="*/ 44 h 463"/>
                    <a:gd name="T82" fmla="*/ 346 w 429"/>
                    <a:gd name="T83" fmla="*/ 53 h 463"/>
                    <a:gd name="T84" fmla="*/ 355 w 429"/>
                    <a:gd name="T85" fmla="*/ 61 h 463"/>
                    <a:gd name="T86" fmla="*/ 363 w 429"/>
                    <a:gd name="T87" fmla="*/ 79 h 463"/>
                    <a:gd name="T88" fmla="*/ 371 w 429"/>
                    <a:gd name="T89" fmla="*/ 87 h 463"/>
                    <a:gd name="T90" fmla="*/ 371 w 429"/>
                    <a:gd name="T91" fmla="*/ 105 h 463"/>
                    <a:gd name="T92" fmla="*/ 379 w 429"/>
                    <a:gd name="T93" fmla="*/ 114 h 463"/>
                    <a:gd name="T94" fmla="*/ 387 w 429"/>
                    <a:gd name="T95" fmla="*/ 122 h 463"/>
                    <a:gd name="T96" fmla="*/ 387 w 429"/>
                    <a:gd name="T97" fmla="*/ 140 h 463"/>
                    <a:gd name="T98" fmla="*/ 396 w 429"/>
                    <a:gd name="T99" fmla="*/ 157 h 463"/>
                    <a:gd name="T100" fmla="*/ 396 w 429"/>
                    <a:gd name="T101" fmla="*/ 175 h 463"/>
                    <a:gd name="T102" fmla="*/ 404 w 429"/>
                    <a:gd name="T103" fmla="*/ 192 h 463"/>
                    <a:gd name="T104" fmla="*/ 412 w 429"/>
                    <a:gd name="T105" fmla="*/ 210 h 463"/>
                    <a:gd name="T106" fmla="*/ 412 w 429"/>
                    <a:gd name="T107" fmla="*/ 227 h 463"/>
                    <a:gd name="T108" fmla="*/ 420 w 429"/>
                    <a:gd name="T109" fmla="*/ 245 h 463"/>
                    <a:gd name="T110" fmla="*/ 429 w 429"/>
                    <a:gd name="T111" fmla="*/ 262 h 463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429"/>
                    <a:gd name="T169" fmla="*/ 0 h 463"/>
                    <a:gd name="T170" fmla="*/ 429 w 429"/>
                    <a:gd name="T171" fmla="*/ 463 h 463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429" h="463">
                      <a:moveTo>
                        <a:pt x="0" y="463"/>
                      </a:moveTo>
                      <a:lnTo>
                        <a:pt x="8" y="454"/>
                      </a:lnTo>
                      <a:lnTo>
                        <a:pt x="25" y="446"/>
                      </a:lnTo>
                      <a:lnTo>
                        <a:pt x="33" y="437"/>
                      </a:lnTo>
                      <a:lnTo>
                        <a:pt x="41" y="419"/>
                      </a:lnTo>
                      <a:lnTo>
                        <a:pt x="58" y="411"/>
                      </a:lnTo>
                      <a:lnTo>
                        <a:pt x="58" y="393"/>
                      </a:lnTo>
                      <a:lnTo>
                        <a:pt x="66" y="384"/>
                      </a:lnTo>
                      <a:lnTo>
                        <a:pt x="66" y="367"/>
                      </a:lnTo>
                      <a:lnTo>
                        <a:pt x="66" y="341"/>
                      </a:lnTo>
                      <a:lnTo>
                        <a:pt x="66" y="323"/>
                      </a:lnTo>
                      <a:lnTo>
                        <a:pt x="66" y="306"/>
                      </a:lnTo>
                      <a:lnTo>
                        <a:pt x="66" y="288"/>
                      </a:lnTo>
                      <a:lnTo>
                        <a:pt x="66" y="271"/>
                      </a:lnTo>
                      <a:lnTo>
                        <a:pt x="66" y="253"/>
                      </a:lnTo>
                      <a:lnTo>
                        <a:pt x="58" y="227"/>
                      </a:lnTo>
                      <a:lnTo>
                        <a:pt x="66" y="210"/>
                      </a:lnTo>
                      <a:lnTo>
                        <a:pt x="66" y="184"/>
                      </a:lnTo>
                      <a:lnTo>
                        <a:pt x="66" y="166"/>
                      </a:lnTo>
                      <a:lnTo>
                        <a:pt x="74" y="149"/>
                      </a:lnTo>
                      <a:lnTo>
                        <a:pt x="74" y="131"/>
                      </a:lnTo>
                      <a:lnTo>
                        <a:pt x="83" y="114"/>
                      </a:lnTo>
                      <a:lnTo>
                        <a:pt x="91" y="96"/>
                      </a:lnTo>
                      <a:lnTo>
                        <a:pt x="99" y="79"/>
                      </a:lnTo>
                      <a:lnTo>
                        <a:pt x="107" y="70"/>
                      </a:lnTo>
                      <a:lnTo>
                        <a:pt x="116" y="61"/>
                      </a:lnTo>
                      <a:lnTo>
                        <a:pt x="132" y="44"/>
                      </a:lnTo>
                      <a:lnTo>
                        <a:pt x="149" y="35"/>
                      </a:lnTo>
                      <a:lnTo>
                        <a:pt x="157" y="26"/>
                      </a:lnTo>
                      <a:lnTo>
                        <a:pt x="173" y="18"/>
                      </a:lnTo>
                      <a:lnTo>
                        <a:pt x="190" y="9"/>
                      </a:lnTo>
                      <a:lnTo>
                        <a:pt x="206" y="9"/>
                      </a:lnTo>
                      <a:lnTo>
                        <a:pt x="223" y="0"/>
                      </a:lnTo>
                      <a:lnTo>
                        <a:pt x="239" y="0"/>
                      </a:lnTo>
                      <a:lnTo>
                        <a:pt x="256" y="0"/>
                      </a:lnTo>
                      <a:lnTo>
                        <a:pt x="272" y="0"/>
                      </a:lnTo>
                      <a:lnTo>
                        <a:pt x="280" y="9"/>
                      </a:lnTo>
                      <a:lnTo>
                        <a:pt x="297" y="9"/>
                      </a:lnTo>
                      <a:lnTo>
                        <a:pt x="305" y="18"/>
                      </a:lnTo>
                      <a:lnTo>
                        <a:pt x="322" y="26"/>
                      </a:lnTo>
                      <a:lnTo>
                        <a:pt x="330" y="44"/>
                      </a:lnTo>
                      <a:lnTo>
                        <a:pt x="346" y="53"/>
                      </a:lnTo>
                      <a:lnTo>
                        <a:pt x="355" y="61"/>
                      </a:lnTo>
                      <a:lnTo>
                        <a:pt x="363" y="79"/>
                      </a:lnTo>
                      <a:lnTo>
                        <a:pt x="371" y="87"/>
                      </a:lnTo>
                      <a:lnTo>
                        <a:pt x="371" y="105"/>
                      </a:lnTo>
                      <a:lnTo>
                        <a:pt x="379" y="114"/>
                      </a:lnTo>
                      <a:lnTo>
                        <a:pt x="387" y="122"/>
                      </a:lnTo>
                      <a:lnTo>
                        <a:pt x="387" y="140"/>
                      </a:lnTo>
                      <a:lnTo>
                        <a:pt x="396" y="157"/>
                      </a:lnTo>
                      <a:lnTo>
                        <a:pt x="396" y="175"/>
                      </a:lnTo>
                      <a:lnTo>
                        <a:pt x="404" y="192"/>
                      </a:lnTo>
                      <a:lnTo>
                        <a:pt x="412" y="210"/>
                      </a:lnTo>
                      <a:lnTo>
                        <a:pt x="412" y="227"/>
                      </a:lnTo>
                      <a:lnTo>
                        <a:pt x="420" y="245"/>
                      </a:lnTo>
                      <a:lnTo>
                        <a:pt x="429" y="262"/>
                      </a:lnTo>
                    </a:path>
                  </a:pathLst>
                </a:custGeom>
                <a:noFill/>
                <a:ln w="12700" cap="rnd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i="1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35871" name="Group 161"/>
                <p:cNvGrpSpPr>
                  <a:grpSpLocks/>
                </p:cNvGrpSpPr>
                <p:nvPr/>
              </p:nvGrpSpPr>
              <p:grpSpPr bwMode="auto">
                <a:xfrm>
                  <a:off x="2758" y="1646"/>
                  <a:ext cx="437" cy="498"/>
                  <a:chOff x="2758" y="1646"/>
                  <a:chExt cx="437" cy="498"/>
                </a:xfrm>
              </p:grpSpPr>
              <p:sp>
                <p:nvSpPr>
                  <p:cNvPr id="35872" name="Line 1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62" y="1873"/>
                    <a:ext cx="33" cy="26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73" name="Line 16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45" y="1829"/>
                    <a:ext cx="41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74" name="Line 16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37" y="1794"/>
                    <a:ext cx="33" cy="27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75" name="Line 16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21" y="1759"/>
                    <a:ext cx="32" cy="27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76" name="Line 16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96" y="1716"/>
                    <a:ext cx="41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77" name="Line 16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71" y="1681"/>
                    <a:ext cx="41" cy="35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78" name="Line 16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38" y="1655"/>
                    <a:ext cx="33" cy="52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79" name="Line 16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13" y="1646"/>
                    <a:ext cx="17" cy="61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0" name="Line 170"/>
                  <p:cNvSpPr>
                    <a:spLocks noChangeShapeType="1"/>
                  </p:cNvSpPr>
                  <p:nvPr/>
                </p:nvSpPr>
                <p:spPr bwMode="auto">
                  <a:xfrm>
                    <a:off x="2980" y="1646"/>
                    <a:ext cx="1" cy="61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1" name="Line 171"/>
                  <p:cNvSpPr>
                    <a:spLocks noChangeShapeType="1"/>
                  </p:cNvSpPr>
                  <p:nvPr/>
                </p:nvSpPr>
                <p:spPr bwMode="auto">
                  <a:xfrm>
                    <a:off x="2939" y="1663"/>
                    <a:ext cx="17" cy="53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2" name="Line 172"/>
                  <p:cNvSpPr>
                    <a:spLocks noChangeShapeType="1"/>
                  </p:cNvSpPr>
                  <p:nvPr/>
                </p:nvSpPr>
                <p:spPr bwMode="auto">
                  <a:xfrm>
                    <a:off x="2898" y="1681"/>
                    <a:ext cx="25" cy="44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3" name="Line 173"/>
                  <p:cNvSpPr>
                    <a:spLocks noChangeShapeType="1"/>
                  </p:cNvSpPr>
                  <p:nvPr/>
                </p:nvSpPr>
                <p:spPr bwMode="auto">
                  <a:xfrm>
                    <a:off x="2857" y="1716"/>
                    <a:ext cx="33" cy="43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4" name="Line 174"/>
                  <p:cNvSpPr>
                    <a:spLocks noChangeShapeType="1"/>
                  </p:cNvSpPr>
                  <p:nvPr/>
                </p:nvSpPr>
                <p:spPr bwMode="auto">
                  <a:xfrm>
                    <a:off x="2832" y="1759"/>
                    <a:ext cx="41" cy="27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5" name="Line 175"/>
                  <p:cNvSpPr>
                    <a:spLocks noChangeShapeType="1"/>
                  </p:cNvSpPr>
                  <p:nvPr/>
                </p:nvSpPr>
                <p:spPr bwMode="auto">
                  <a:xfrm>
                    <a:off x="2816" y="1803"/>
                    <a:ext cx="49" cy="18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6" name="Line 176"/>
                  <p:cNvSpPr>
                    <a:spLocks noChangeShapeType="1"/>
                  </p:cNvSpPr>
                  <p:nvPr/>
                </p:nvSpPr>
                <p:spPr bwMode="auto">
                  <a:xfrm>
                    <a:off x="2807" y="1856"/>
                    <a:ext cx="50" cy="8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7" name="Line 177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1899"/>
                    <a:ext cx="50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8" name="Line 178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1934"/>
                    <a:ext cx="50" cy="9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89" name="Line 179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1978"/>
                    <a:ext cx="58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90" name="Line 180"/>
                  <p:cNvSpPr>
                    <a:spLocks noChangeShapeType="1"/>
                  </p:cNvSpPr>
                  <p:nvPr/>
                </p:nvSpPr>
                <p:spPr bwMode="auto">
                  <a:xfrm>
                    <a:off x="2807" y="2013"/>
                    <a:ext cx="50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91" name="Line 181"/>
                  <p:cNvSpPr>
                    <a:spLocks noChangeShapeType="1"/>
                  </p:cNvSpPr>
                  <p:nvPr/>
                </p:nvSpPr>
                <p:spPr bwMode="auto">
                  <a:xfrm>
                    <a:off x="2807" y="2048"/>
                    <a:ext cx="50" cy="8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92" name="Line 182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2074"/>
                    <a:ext cx="33" cy="26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93" name="Line 183"/>
                  <p:cNvSpPr>
                    <a:spLocks noChangeShapeType="1"/>
                  </p:cNvSpPr>
                  <p:nvPr/>
                </p:nvSpPr>
                <p:spPr bwMode="auto">
                  <a:xfrm>
                    <a:off x="2783" y="2100"/>
                    <a:ext cx="33" cy="26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894" name="Line 184"/>
                  <p:cNvSpPr>
                    <a:spLocks noChangeShapeType="1"/>
                  </p:cNvSpPr>
                  <p:nvPr/>
                </p:nvSpPr>
                <p:spPr bwMode="auto">
                  <a:xfrm>
                    <a:off x="2758" y="2118"/>
                    <a:ext cx="33" cy="26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i="1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</p:grpSp>
        <p:sp>
          <p:nvSpPr>
            <p:cNvPr id="35866" name="Freeform 185"/>
            <p:cNvSpPr>
              <a:spLocks/>
            </p:cNvSpPr>
            <p:nvPr/>
          </p:nvSpPr>
          <p:spPr bwMode="auto">
            <a:xfrm>
              <a:off x="2964" y="1934"/>
              <a:ext cx="148" cy="157"/>
            </a:xfrm>
            <a:custGeom>
              <a:avLst/>
              <a:gdLst>
                <a:gd name="T0" fmla="*/ 140 w 148"/>
                <a:gd name="T1" fmla="*/ 0 h 157"/>
                <a:gd name="T2" fmla="*/ 140 w 148"/>
                <a:gd name="T3" fmla="*/ 26 h 157"/>
                <a:gd name="T4" fmla="*/ 140 w 148"/>
                <a:gd name="T5" fmla="*/ 44 h 157"/>
                <a:gd name="T6" fmla="*/ 140 w 148"/>
                <a:gd name="T7" fmla="*/ 61 h 157"/>
                <a:gd name="T8" fmla="*/ 132 w 148"/>
                <a:gd name="T9" fmla="*/ 79 h 157"/>
                <a:gd name="T10" fmla="*/ 124 w 148"/>
                <a:gd name="T11" fmla="*/ 88 h 157"/>
                <a:gd name="T12" fmla="*/ 115 w 148"/>
                <a:gd name="T13" fmla="*/ 105 h 157"/>
                <a:gd name="T14" fmla="*/ 107 w 148"/>
                <a:gd name="T15" fmla="*/ 122 h 157"/>
                <a:gd name="T16" fmla="*/ 99 w 148"/>
                <a:gd name="T17" fmla="*/ 131 h 157"/>
                <a:gd name="T18" fmla="*/ 82 w 148"/>
                <a:gd name="T19" fmla="*/ 131 h 157"/>
                <a:gd name="T20" fmla="*/ 74 w 148"/>
                <a:gd name="T21" fmla="*/ 140 h 157"/>
                <a:gd name="T22" fmla="*/ 58 w 148"/>
                <a:gd name="T23" fmla="*/ 149 h 157"/>
                <a:gd name="T24" fmla="*/ 41 w 148"/>
                <a:gd name="T25" fmla="*/ 149 h 157"/>
                <a:gd name="T26" fmla="*/ 33 w 148"/>
                <a:gd name="T27" fmla="*/ 149 h 157"/>
                <a:gd name="T28" fmla="*/ 25 w 148"/>
                <a:gd name="T29" fmla="*/ 149 h 157"/>
                <a:gd name="T30" fmla="*/ 16 w 148"/>
                <a:gd name="T31" fmla="*/ 149 h 157"/>
                <a:gd name="T32" fmla="*/ 0 w 148"/>
                <a:gd name="T33" fmla="*/ 149 h 157"/>
                <a:gd name="T34" fmla="*/ 16 w 148"/>
                <a:gd name="T35" fmla="*/ 157 h 157"/>
                <a:gd name="T36" fmla="*/ 33 w 148"/>
                <a:gd name="T37" fmla="*/ 157 h 157"/>
                <a:gd name="T38" fmla="*/ 41 w 148"/>
                <a:gd name="T39" fmla="*/ 157 h 157"/>
                <a:gd name="T40" fmla="*/ 66 w 148"/>
                <a:gd name="T41" fmla="*/ 157 h 157"/>
                <a:gd name="T42" fmla="*/ 74 w 148"/>
                <a:gd name="T43" fmla="*/ 149 h 157"/>
                <a:gd name="T44" fmla="*/ 91 w 148"/>
                <a:gd name="T45" fmla="*/ 149 h 157"/>
                <a:gd name="T46" fmla="*/ 99 w 148"/>
                <a:gd name="T47" fmla="*/ 140 h 157"/>
                <a:gd name="T48" fmla="*/ 107 w 148"/>
                <a:gd name="T49" fmla="*/ 131 h 157"/>
                <a:gd name="T50" fmla="*/ 115 w 148"/>
                <a:gd name="T51" fmla="*/ 122 h 157"/>
                <a:gd name="T52" fmla="*/ 124 w 148"/>
                <a:gd name="T53" fmla="*/ 114 h 157"/>
                <a:gd name="T54" fmla="*/ 132 w 148"/>
                <a:gd name="T55" fmla="*/ 105 h 157"/>
                <a:gd name="T56" fmla="*/ 140 w 148"/>
                <a:gd name="T57" fmla="*/ 88 h 157"/>
                <a:gd name="T58" fmla="*/ 140 w 148"/>
                <a:gd name="T59" fmla="*/ 70 h 157"/>
                <a:gd name="T60" fmla="*/ 148 w 148"/>
                <a:gd name="T61" fmla="*/ 53 h 157"/>
                <a:gd name="T62" fmla="*/ 148 w 148"/>
                <a:gd name="T63" fmla="*/ 35 h 157"/>
                <a:gd name="T64" fmla="*/ 140 w 148"/>
                <a:gd name="T65" fmla="*/ 18 h 157"/>
                <a:gd name="T66" fmla="*/ 140 w 148"/>
                <a:gd name="T67" fmla="*/ 0 h 1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48"/>
                <a:gd name="T103" fmla="*/ 0 h 157"/>
                <a:gd name="T104" fmla="*/ 148 w 148"/>
                <a:gd name="T105" fmla="*/ 157 h 15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48" h="157">
                  <a:moveTo>
                    <a:pt x="140" y="0"/>
                  </a:moveTo>
                  <a:lnTo>
                    <a:pt x="140" y="26"/>
                  </a:lnTo>
                  <a:lnTo>
                    <a:pt x="140" y="44"/>
                  </a:lnTo>
                  <a:lnTo>
                    <a:pt x="140" y="61"/>
                  </a:lnTo>
                  <a:lnTo>
                    <a:pt x="132" y="79"/>
                  </a:lnTo>
                  <a:lnTo>
                    <a:pt x="124" y="88"/>
                  </a:lnTo>
                  <a:lnTo>
                    <a:pt x="115" y="105"/>
                  </a:lnTo>
                  <a:lnTo>
                    <a:pt x="107" y="122"/>
                  </a:lnTo>
                  <a:lnTo>
                    <a:pt x="99" y="131"/>
                  </a:lnTo>
                  <a:lnTo>
                    <a:pt x="82" y="131"/>
                  </a:lnTo>
                  <a:lnTo>
                    <a:pt x="74" y="140"/>
                  </a:lnTo>
                  <a:lnTo>
                    <a:pt x="58" y="149"/>
                  </a:lnTo>
                  <a:lnTo>
                    <a:pt x="41" y="149"/>
                  </a:lnTo>
                  <a:lnTo>
                    <a:pt x="33" y="149"/>
                  </a:lnTo>
                  <a:lnTo>
                    <a:pt x="25" y="149"/>
                  </a:lnTo>
                  <a:lnTo>
                    <a:pt x="16" y="149"/>
                  </a:lnTo>
                  <a:lnTo>
                    <a:pt x="0" y="149"/>
                  </a:lnTo>
                  <a:lnTo>
                    <a:pt x="16" y="157"/>
                  </a:lnTo>
                  <a:lnTo>
                    <a:pt x="33" y="157"/>
                  </a:lnTo>
                  <a:lnTo>
                    <a:pt x="41" y="157"/>
                  </a:lnTo>
                  <a:lnTo>
                    <a:pt x="66" y="157"/>
                  </a:lnTo>
                  <a:lnTo>
                    <a:pt x="74" y="149"/>
                  </a:lnTo>
                  <a:lnTo>
                    <a:pt x="91" y="149"/>
                  </a:lnTo>
                  <a:lnTo>
                    <a:pt x="99" y="140"/>
                  </a:lnTo>
                  <a:lnTo>
                    <a:pt x="107" y="131"/>
                  </a:lnTo>
                  <a:lnTo>
                    <a:pt x="115" y="122"/>
                  </a:lnTo>
                  <a:lnTo>
                    <a:pt x="124" y="114"/>
                  </a:lnTo>
                  <a:lnTo>
                    <a:pt x="132" y="105"/>
                  </a:lnTo>
                  <a:lnTo>
                    <a:pt x="140" y="88"/>
                  </a:lnTo>
                  <a:lnTo>
                    <a:pt x="140" y="70"/>
                  </a:lnTo>
                  <a:lnTo>
                    <a:pt x="148" y="53"/>
                  </a:lnTo>
                  <a:lnTo>
                    <a:pt x="148" y="35"/>
                  </a:lnTo>
                  <a:lnTo>
                    <a:pt x="140" y="18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  <p:sp>
          <p:nvSpPr>
            <p:cNvPr id="35867" name="Freeform 186"/>
            <p:cNvSpPr>
              <a:spLocks/>
            </p:cNvSpPr>
            <p:nvPr/>
          </p:nvSpPr>
          <p:spPr bwMode="auto">
            <a:xfrm>
              <a:off x="2618" y="1532"/>
              <a:ext cx="305" cy="341"/>
            </a:xfrm>
            <a:custGeom>
              <a:avLst/>
              <a:gdLst>
                <a:gd name="T0" fmla="*/ 16 w 305"/>
                <a:gd name="T1" fmla="*/ 341 h 341"/>
                <a:gd name="T2" fmla="*/ 8 w 305"/>
                <a:gd name="T3" fmla="*/ 306 h 341"/>
                <a:gd name="T4" fmla="*/ 8 w 305"/>
                <a:gd name="T5" fmla="*/ 280 h 341"/>
                <a:gd name="T6" fmla="*/ 8 w 305"/>
                <a:gd name="T7" fmla="*/ 254 h 341"/>
                <a:gd name="T8" fmla="*/ 16 w 305"/>
                <a:gd name="T9" fmla="*/ 219 h 341"/>
                <a:gd name="T10" fmla="*/ 25 w 305"/>
                <a:gd name="T11" fmla="*/ 184 h 341"/>
                <a:gd name="T12" fmla="*/ 41 w 305"/>
                <a:gd name="T13" fmla="*/ 149 h 341"/>
                <a:gd name="T14" fmla="*/ 66 w 305"/>
                <a:gd name="T15" fmla="*/ 114 h 341"/>
                <a:gd name="T16" fmla="*/ 82 w 305"/>
                <a:gd name="T17" fmla="*/ 88 h 341"/>
                <a:gd name="T18" fmla="*/ 107 w 305"/>
                <a:gd name="T19" fmla="*/ 70 h 341"/>
                <a:gd name="T20" fmla="*/ 132 w 305"/>
                <a:gd name="T21" fmla="*/ 53 h 341"/>
                <a:gd name="T22" fmla="*/ 156 w 305"/>
                <a:gd name="T23" fmla="*/ 35 h 341"/>
                <a:gd name="T24" fmla="*/ 189 w 305"/>
                <a:gd name="T25" fmla="*/ 27 h 341"/>
                <a:gd name="T26" fmla="*/ 214 w 305"/>
                <a:gd name="T27" fmla="*/ 18 h 341"/>
                <a:gd name="T28" fmla="*/ 231 w 305"/>
                <a:gd name="T29" fmla="*/ 18 h 341"/>
                <a:gd name="T30" fmla="*/ 247 w 305"/>
                <a:gd name="T31" fmla="*/ 18 h 341"/>
                <a:gd name="T32" fmla="*/ 272 w 305"/>
                <a:gd name="T33" fmla="*/ 18 h 341"/>
                <a:gd name="T34" fmla="*/ 305 w 305"/>
                <a:gd name="T35" fmla="*/ 27 h 341"/>
                <a:gd name="T36" fmla="*/ 280 w 305"/>
                <a:gd name="T37" fmla="*/ 9 h 341"/>
                <a:gd name="T38" fmla="*/ 247 w 305"/>
                <a:gd name="T39" fmla="*/ 0 h 341"/>
                <a:gd name="T40" fmla="*/ 214 w 305"/>
                <a:gd name="T41" fmla="*/ 0 h 341"/>
                <a:gd name="T42" fmla="*/ 173 w 305"/>
                <a:gd name="T43" fmla="*/ 9 h 341"/>
                <a:gd name="T44" fmla="*/ 148 w 305"/>
                <a:gd name="T45" fmla="*/ 18 h 341"/>
                <a:gd name="T46" fmla="*/ 115 w 305"/>
                <a:gd name="T47" fmla="*/ 35 h 341"/>
                <a:gd name="T48" fmla="*/ 99 w 305"/>
                <a:gd name="T49" fmla="*/ 44 h 341"/>
                <a:gd name="T50" fmla="*/ 82 w 305"/>
                <a:gd name="T51" fmla="*/ 62 h 341"/>
                <a:gd name="T52" fmla="*/ 66 w 305"/>
                <a:gd name="T53" fmla="*/ 70 h 341"/>
                <a:gd name="T54" fmla="*/ 49 w 305"/>
                <a:gd name="T55" fmla="*/ 96 h 341"/>
                <a:gd name="T56" fmla="*/ 25 w 305"/>
                <a:gd name="T57" fmla="*/ 123 h 341"/>
                <a:gd name="T58" fmla="*/ 16 w 305"/>
                <a:gd name="T59" fmla="*/ 149 h 341"/>
                <a:gd name="T60" fmla="*/ 0 w 305"/>
                <a:gd name="T61" fmla="*/ 193 h 341"/>
                <a:gd name="T62" fmla="*/ 0 w 305"/>
                <a:gd name="T63" fmla="*/ 219 h 341"/>
                <a:gd name="T64" fmla="*/ 0 w 305"/>
                <a:gd name="T65" fmla="*/ 254 h 341"/>
                <a:gd name="T66" fmla="*/ 0 w 305"/>
                <a:gd name="T67" fmla="*/ 289 h 341"/>
                <a:gd name="T68" fmla="*/ 8 w 305"/>
                <a:gd name="T69" fmla="*/ 315 h 341"/>
                <a:gd name="T70" fmla="*/ 16 w 305"/>
                <a:gd name="T71" fmla="*/ 341 h 34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5"/>
                <a:gd name="T109" fmla="*/ 0 h 341"/>
                <a:gd name="T110" fmla="*/ 305 w 305"/>
                <a:gd name="T111" fmla="*/ 341 h 34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5" h="341">
                  <a:moveTo>
                    <a:pt x="16" y="341"/>
                  </a:moveTo>
                  <a:lnTo>
                    <a:pt x="8" y="306"/>
                  </a:lnTo>
                  <a:lnTo>
                    <a:pt x="8" y="280"/>
                  </a:lnTo>
                  <a:lnTo>
                    <a:pt x="8" y="254"/>
                  </a:lnTo>
                  <a:lnTo>
                    <a:pt x="16" y="219"/>
                  </a:lnTo>
                  <a:lnTo>
                    <a:pt x="25" y="184"/>
                  </a:lnTo>
                  <a:lnTo>
                    <a:pt x="41" y="149"/>
                  </a:lnTo>
                  <a:lnTo>
                    <a:pt x="66" y="114"/>
                  </a:lnTo>
                  <a:lnTo>
                    <a:pt x="82" y="88"/>
                  </a:lnTo>
                  <a:lnTo>
                    <a:pt x="107" y="70"/>
                  </a:lnTo>
                  <a:lnTo>
                    <a:pt x="132" y="53"/>
                  </a:lnTo>
                  <a:lnTo>
                    <a:pt x="156" y="35"/>
                  </a:lnTo>
                  <a:lnTo>
                    <a:pt x="189" y="27"/>
                  </a:lnTo>
                  <a:lnTo>
                    <a:pt x="214" y="18"/>
                  </a:lnTo>
                  <a:lnTo>
                    <a:pt x="231" y="18"/>
                  </a:lnTo>
                  <a:lnTo>
                    <a:pt x="247" y="18"/>
                  </a:lnTo>
                  <a:lnTo>
                    <a:pt x="272" y="18"/>
                  </a:lnTo>
                  <a:lnTo>
                    <a:pt x="305" y="27"/>
                  </a:lnTo>
                  <a:lnTo>
                    <a:pt x="280" y="9"/>
                  </a:lnTo>
                  <a:lnTo>
                    <a:pt x="247" y="0"/>
                  </a:lnTo>
                  <a:lnTo>
                    <a:pt x="214" y="0"/>
                  </a:lnTo>
                  <a:lnTo>
                    <a:pt x="173" y="9"/>
                  </a:lnTo>
                  <a:lnTo>
                    <a:pt x="148" y="18"/>
                  </a:lnTo>
                  <a:lnTo>
                    <a:pt x="115" y="35"/>
                  </a:lnTo>
                  <a:lnTo>
                    <a:pt x="99" y="44"/>
                  </a:lnTo>
                  <a:lnTo>
                    <a:pt x="82" y="62"/>
                  </a:lnTo>
                  <a:lnTo>
                    <a:pt x="66" y="70"/>
                  </a:lnTo>
                  <a:lnTo>
                    <a:pt x="49" y="96"/>
                  </a:lnTo>
                  <a:lnTo>
                    <a:pt x="25" y="123"/>
                  </a:lnTo>
                  <a:lnTo>
                    <a:pt x="16" y="149"/>
                  </a:lnTo>
                  <a:lnTo>
                    <a:pt x="0" y="193"/>
                  </a:lnTo>
                  <a:lnTo>
                    <a:pt x="0" y="219"/>
                  </a:lnTo>
                  <a:lnTo>
                    <a:pt x="0" y="254"/>
                  </a:lnTo>
                  <a:lnTo>
                    <a:pt x="0" y="289"/>
                  </a:lnTo>
                  <a:lnTo>
                    <a:pt x="8" y="315"/>
                  </a:lnTo>
                  <a:lnTo>
                    <a:pt x="16" y="341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</a:endParaRPr>
            </a:p>
          </p:txBody>
        </p:sp>
      </p:grpSp>
      <p:sp>
        <p:nvSpPr>
          <p:cNvPr id="35858" name="Rectangle 187"/>
          <p:cNvSpPr>
            <a:spLocks noChangeArrowheads="1"/>
          </p:cNvSpPr>
          <p:nvPr/>
        </p:nvSpPr>
        <p:spPr bwMode="auto">
          <a:xfrm>
            <a:off x="7118350" y="2543176"/>
            <a:ext cx="1827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Monotype Sorts" pitchFamily="2" charset="2"/>
              </a:rPr>
              <a:t>l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59" name="Rectangle 188"/>
          <p:cNvSpPr>
            <a:spLocks noChangeArrowheads="1"/>
          </p:cNvSpPr>
          <p:nvPr/>
        </p:nvSpPr>
        <p:spPr bwMode="auto">
          <a:xfrm>
            <a:off x="7354888" y="2460626"/>
            <a:ext cx="136095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300" i="0">
                <a:solidFill>
                  <a:srgbClr val="000000"/>
                </a:solidFill>
                <a:latin typeface="Times New Roman" pitchFamily="18" charset="0"/>
              </a:rPr>
              <a:t>Confidence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60" name="Rectangle 189"/>
          <p:cNvSpPr>
            <a:spLocks noChangeArrowheads="1"/>
          </p:cNvSpPr>
          <p:nvPr/>
        </p:nvSpPr>
        <p:spPr bwMode="auto">
          <a:xfrm>
            <a:off x="7118350" y="2973389"/>
            <a:ext cx="1827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0">
                <a:solidFill>
                  <a:srgbClr val="000000"/>
                </a:solidFill>
                <a:latin typeface="Monotype Sorts" pitchFamily="2" charset="2"/>
              </a:rPr>
              <a:t>l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61" name="Rectangle 190"/>
          <p:cNvSpPr>
            <a:spLocks noChangeArrowheads="1"/>
          </p:cNvSpPr>
          <p:nvPr/>
        </p:nvSpPr>
        <p:spPr bwMode="auto">
          <a:xfrm>
            <a:off x="7354888" y="2890839"/>
            <a:ext cx="109805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n"/>
              <a:defRPr sz="32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8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F"/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•"/>
              <a:defRPr sz="20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300" i="0">
                <a:solidFill>
                  <a:srgbClr val="000000"/>
                </a:solidFill>
                <a:latin typeface="Times New Roman" pitchFamily="18" charset="0"/>
              </a:rPr>
              <a:t>Precision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35862" name="Rectangle 19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endParaRPr lang="en-US" altLang="en-US" i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3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graphicFrame>
        <p:nvGraphicFramePr>
          <p:cNvPr id="36867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438400" y="1295400"/>
          <a:ext cx="70866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Slide" r:id="rId4" imgW="5373360" imgH="4018680" progId="PowerPoint.Slide.8">
                  <p:embed/>
                </p:oleObj>
              </mc:Choice>
              <mc:Fallback>
                <p:oleObj name="Slide" r:id="rId4" imgW="5373360" imgH="4018680" progId="PowerPoint.Slid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95400"/>
                        <a:ext cx="70866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07654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3789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152400"/>
            <a:ext cx="7696200" cy="67056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144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Consequences</a:t>
            </a:r>
          </a:p>
        </p:txBody>
      </p:sp>
      <p:graphicFrame>
        <p:nvGraphicFramePr>
          <p:cNvPr id="38915" name="Object 3">
            <a:hlinkClick r:id="" action="ppaction://ole?verb=0"/>
          </p:cNvPr>
          <p:cNvGraphicFramePr>
            <a:graphicFrameLocks noGrp="1"/>
          </p:cNvGraphicFramePr>
          <p:nvPr>
            <p:ph type="body" idx="1"/>
          </p:nvPr>
        </p:nvGraphicFramePr>
        <p:xfrm>
          <a:off x="2482851" y="1671638"/>
          <a:ext cx="7224713" cy="511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4" imgW="2959100" imgH="2095500" progId="Equation.DSMT4">
                  <p:embed/>
                </p:oleObj>
              </mc:Choice>
              <mc:Fallback>
                <p:oleObj name="Equation" r:id="rId4" imgW="2959100" imgH="20955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1" y="1671638"/>
                        <a:ext cx="7224713" cy="511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66875724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114800" y="76200"/>
            <a:ext cx="6019800" cy="838200"/>
          </a:xfrm>
        </p:spPr>
        <p:txBody>
          <a:bodyPr/>
          <a:lstStyle/>
          <a:p>
            <a:r>
              <a:rPr lang="en-US" altLang="en-US" sz="4000"/>
              <a:t>A Billion Dollar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1295400"/>
            <a:ext cx="6858000" cy="4648200"/>
          </a:xfrm>
        </p:spPr>
        <p:txBody>
          <a:bodyPr/>
          <a:lstStyle/>
          <a:p>
            <a:r>
              <a:rPr lang="en-US" altLang="en-US" sz="2400" i="0"/>
              <a:t>“Conventional” wisdom: smaller schools better than larger schools</a:t>
            </a:r>
          </a:p>
          <a:p>
            <a:r>
              <a:rPr lang="en-US" altLang="en-US" sz="2400" i="0"/>
              <a:t>Late 90’s, Gates Foundation, Annenberg Foundation, Carnegie Foundation</a:t>
            </a:r>
          </a:p>
          <a:p>
            <a:r>
              <a:rPr lang="en-US" altLang="en-US" sz="2400" i="0"/>
              <a:t>Among the 50 top-scoring Pennsylvania elementary schools 6 (12%) were from the smallest 3% of the schools</a:t>
            </a:r>
          </a:p>
          <a:p>
            <a:r>
              <a:rPr lang="en-US" altLang="en-US" sz="2400" i="0"/>
              <a:t>But …, they didn’t notice …</a:t>
            </a:r>
          </a:p>
          <a:p>
            <a:r>
              <a:rPr lang="en-US" altLang="en-US" sz="2400" i="0"/>
              <a:t>Among the 50 lowest-scoring Pennsylvania elementary schools 9 (18%) were from the smallest 3% of the schools</a:t>
            </a:r>
          </a:p>
          <a:p>
            <a:endParaRPr lang="en-US" altLang="en-US" i="0" smtClean="0"/>
          </a:p>
          <a:p>
            <a:endParaRPr lang="en-US" altLang="en-US" smtClean="0"/>
          </a:p>
        </p:txBody>
      </p:sp>
      <p:pic>
        <p:nvPicPr>
          <p:cNvPr id="39940" name="Picture 5" descr="https://encrypted-tbn1.gstatic.com/images?q=tbn:ANd9GcQKbvV1PY2O8bXWqUwIQbgGbo-XzfhTsjcLzNT1UE_WeFOyot-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9688"/>
            <a:ext cx="2057400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003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343400" y="106363"/>
            <a:ext cx="5257800" cy="1219200"/>
          </a:xfrm>
        </p:spPr>
        <p:txBody>
          <a:bodyPr/>
          <a:lstStyle/>
          <a:p>
            <a:pPr algn="l"/>
            <a:r>
              <a:rPr lang="en-US" altLang="en-US" smtClean="0"/>
              <a:t>A Billion Dollar</a:t>
            </a:r>
            <a:br>
              <a:rPr lang="en-US" altLang="en-US" smtClean="0"/>
            </a:br>
            <a:r>
              <a:rPr lang="en-US" altLang="en-US" smtClean="0"/>
              <a:t>Mistake (cont.)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2133600" y="1676400"/>
            <a:ext cx="7772400" cy="4953000"/>
          </a:xfrm>
        </p:spPr>
        <p:txBody>
          <a:bodyPr/>
          <a:lstStyle/>
          <a:p>
            <a:r>
              <a:rPr lang="en-US" altLang="en-US" i="0" dirty="0" smtClean="0"/>
              <a:t>Smaller schools have (by definition) smaller </a:t>
            </a:r>
            <a:r>
              <a:rPr lang="en-US" altLang="en-US" dirty="0" smtClean="0"/>
              <a:t>n</a:t>
            </a:r>
            <a:r>
              <a:rPr lang="en-US" altLang="en-US" i="0" dirty="0" smtClean="0"/>
              <a:t>’s.</a:t>
            </a:r>
          </a:p>
          <a:p>
            <a:r>
              <a:rPr lang="en-US" altLang="en-US" i="0" dirty="0" smtClean="0"/>
              <a:t>When n is small, SD(x) =         is larger</a:t>
            </a:r>
          </a:p>
          <a:p>
            <a:r>
              <a:rPr lang="en-US" altLang="en-US" i="0" dirty="0" smtClean="0"/>
              <a:t>That is, the sampling distributions of small school mean scores have larger SD’s</a:t>
            </a:r>
          </a:p>
          <a:p>
            <a:endParaRPr lang="en-US" altLang="en-US" i="0" dirty="0" smtClean="0"/>
          </a:p>
        </p:txBody>
      </p:sp>
      <p:cxnSp>
        <p:nvCxnSpPr>
          <p:cNvPr id="40964" name="Straight Connector 5"/>
          <p:cNvCxnSpPr>
            <a:cxnSpLocks noChangeShapeType="1"/>
          </p:cNvCxnSpPr>
          <p:nvPr/>
        </p:nvCxnSpPr>
        <p:spPr bwMode="auto">
          <a:xfrm>
            <a:off x="6372225" y="2819400"/>
            <a:ext cx="228600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40965" name="Object 4"/>
          <p:cNvGraphicFramePr>
            <a:graphicFrameLocks noChangeAspect="1"/>
          </p:cNvGraphicFramePr>
          <p:nvPr/>
        </p:nvGraphicFramePr>
        <p:xfrm>
          <a:off x="7162800" y="2590800"/>
          <a:ext cx="8080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Equation" r:id="rId4" imgW="444307" imgH="418918" progId="Equation.DSMT4">
                  <p:embed/>
                </p:oleObj>
              </mc:Choice>
              <mc:Fallback>
                <p:oleObj name="Equation" r:id="rId4" imgW="444307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590800"/>
                        <a:ext cx="8080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6" name="Picture 8" descr="https://encrypted-tbn3.gstatic.com/images?q=tbn:ANd9GcSLchbUKRWIMVLEN2K8dlhpumRA9MWCQQBc1iKNBiwFkQAwJSfX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3025"/>
            <a:ext cx="2438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917" y="4601705"/>
            <a:ext cx="1018308" cy="1858718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9365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1143000"/>
          </a:xfrm>
          <a:noFill/>
        </p:spPr>
        <p:txBody>
          <a:bodyPr/>
          <a:lstStyle/>
          <a:p>
            <a:r>
              <a:rPr lang="en-US" altLang="en-US" smtClean="0"/>
              <a:t>We Know More!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0"/>
            <a:ext cx="7772400" cy="4114800"/>
          </a:xfrm>
          <a:noFill/>
        </p:spPr>
        <p:txBody>
          <a:bodyPr/>
          <a:lstStyle/>
          <a:p>
            <a:r>
              <a:rPr lang="en-US" altLang="en-US" smtClean="0"/>
              <a:t>We know 2 parameters of the sampling distribution of x :</a:t>
            </a:r>
          </a:p>
          <a:p>
            <a:pPr>
              <a:buFont typeface="Monotype Sorts" pitchFamily="2" charset="2"/>
              <a:buNone/>
            </a:pPr>
            <a:endParaRPr lang="en-US" altLang="en-US" smtClean="0"/>
          </a:p>
        </p:txBody>
      </p:sp>
      <p:sp>
        <p:nvSpPr>
          <p:cNvPr id="41988" name="Line 4"/>
          <p:cNvSpPr>
            <a:spLocks noChangeShapeType="1"/>
          </p:cNvSpPr>
          <p:nvPr/>
        </p:nvSpPr>
        <p:spPr bwMode="auto">
          <a:xfrm>
            <a:off x="4876800" y="1905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</a:endParaRPr>
          </a:p>
        </p:txBody>
      </p:sp>
      <p:graphicFrame>
        <p:nvGraphicFramePr>
          <p:cNvPr id="41989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3051176" y="2438400"/>
          <a:ext cx="6130925" cy="310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4" imgW="2679700" imgH="1346200" progId="Equation.DSMT4">
                  <p:embed/>
                </p:oleObj>
              </mc:Choice>
              <mc:Fallback>
                <p:oleObj name="Equation" r:id="rId4" imgW="2679700" imgH="1346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6" y="2438400"/>
                        <a:ext cx="6130925" cy="310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10141174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752600"/>
            <a:ext cx="7772400" cy="1828800"/>
          </a:xfrm>
        </p:spPr>
        <p:txBody>
          <a:bodyPr/>
          <a:lstStyle/>
          <a:p>
            <a:r>
              <a:rPr lang="en-US" altLang="en-US" smtClean="0"/>
              <a:t>THE CENTRAL LIMIT THEOREM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838200"/>
          </a:xfrm>
        </p:spPr>
        <p:txBody>
          <a:bodyPr/>
          <a:lstStyle/>
          <a:p>
            <a:pPr marL="342900" indent="-342900"/>
            <a:r>
              <a:rPr lang="en-US" altLang="en-US" dirty="0" smtClean="0"/>
              <a:t>The “World is Normal” Theorem</a:t>
            </a:r>
          </a:p>
          <a:p>
            <a:pPr marL="342900" indent="-342900"/>
            <a:endParaRPr lang="en-US" altLang="en-US" dirty="0" smtClean="0"/>
          </a:p>
        </p:txBody>
      </p:sp>
      <p:pic>
        <p:nvPicPr>
          <p:cNvPr id="4101" name="FANF2755.WAV">
            <a:hlinkClick r:id="" action="ppaction://media"/>
          </p:cNvPr>
          <p:cNvPicPr>
            <a:picLocks noChangeAspect="1" noChangeArrowheads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88239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FANFARE9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735" fill="hold"/>
                                        <p:tgtEl>
                                          <p:spTgt spid="4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01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8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209800" y="2017714"/>
          <a:ext cx="7772400" cy="404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Bitmap Image" r:id="rId4" imgW="6447619" imgH="3352381" progId="Paint.Picture">
                  <p:embed/>
                </p:oleObj>
              </mc:Choice>
              <mc:Fallback>
                <p:oleObj name="Bitmap Image" r:id="rId4" imgW="6447619" imgH="33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017714"/>
                        <a:ext cx="7772400" cy="404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8153400" cy="1447800"/>
          </a:xfrm>
        </p:spPr>
        <p:txBody>
          <a:bodyPr/>
          <a:lstStyle/>
          <a:p>
            <a:r>
              <a:rPr lang="en-US" altLang="en-US" sz="4000" dirty="0"/>
              <a:t>But first,…Sampling Distribution of x- Normally Distributed Population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6324600" y="2057401"/>
            <a:ext cx="914400" cy="3667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800" b="1">
                <a:solidFill>
                  <a:srgbClr val="000000"/>
                </a:solidFill>
              </a:rPr>
              <a:t>n=10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6553200" y="2743200"/>
            <a:ext cx="11430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b="1" i="0">
                <a:solidFill>
                  <a:srgbClr val="000000"/>
                </a:solidFill>
                <a:sym typeface="Symbol" pitchFamily="18" charset="2"/>
              </a:rPr>
              <a:t>/10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162800" y="4191001"/>
            <a:ext cx="381000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000000"/>
                </a:solidFill>
                <a:sym typeface="Symbol" pitchFamily="18" charset="2"/>
              </a:rPr>
              <a:t>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2100943" y="1143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80" name="Text Box 10"/>
          <p:cNvSpPr txBox="1">
            <a:spLocks noChangeArrowheads="1"/>
          </p:cNvSpPr>
          <p:nvPr/>
        </p:nvSpPr>
        <p:spPr bwMode="auto">
          <a:xfrm>
            <a:off x="1828800" y="3810001"/>
            <a:ext cx="2819400" cy="8239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800" b="1" i="0">
                <a:solidFill>
                  <a:srgbClr val="000000"/>
                </a:solidFill>
              </a:rPr>
              <a:t>Population distribution: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800" b="1">
                <a:solidFill>
                  <a:srgbClr val="000000"/>
                </a:solidFill>
              </a:rPr>
              <a:t>N(</a:t>
            </a:r>
            <a:r>
              <a:rPr lang="en-US" altLang="en-US" sz="2000" b="1">
                <a:solidFill>
                  <a:srgbClr val="000000"/>
                </a:solidFill>
                <a:sym typeface="Symbol" pitchFamily="18" charset="2"/>
              </a:rPr>
              <a:t></a:t>
            </a:r>
            <a:r>
              <a:rPr lang="en-US" altLang="en-US" sz="2000" b="1" i="0">
                <a:solidFill>
                  <a:srgbClr val="000000"/>
                </a:solidFill>
                <a:sym typeface="Symbol" pitchFamily="18" charset="2"/>
              </a:rPr>
              <a:t> , </a:t>
            </a:r>
            <a:r>
              <a:rPr lang="en-US" altLang="en-US" sz="1800" b="1" i="0">
                <a:solidFill>
                  <a:srgbClr val="000000"/>
                </a:solidFill>
                <a:sym typeface="Symbol" pitchFamily="18" charset="2"/>
              </a:rPr>
              <a:t>)</a:t>
            </a:r>
            <a:endParaRPr lang="en-US" altLang="en-US" sz="1800" b="1" i="0">
              <a:solidFill>
                <a:srgbClr val="000000"/>
              </a:solidFill>
            </a:endParaRPr>
          </a:p>
        </p:txBody>
      </p:sp>
      <p:sp>
        <p:nvSpPr>
          <p:cNvPr id="3081" name="Line 13"/>
          <p:cNvSpPr>
            <a:spLocks noChangeShapeType="1"/>
          </p:cNvSpPr>
          <p:nvPr/>
        </p:nvSpPr>
        <p:spPr bwMode="auto">
          <a:xfrm>
            <a:off x="3505200" y="4724400"/>
            <a:ext cx="6858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82" name="Text Box 14"/>
          <p:cNvSpPr txBox="1">
            <a:spLocks noChangeArrowheads="1"/>
          </p:cNvSpPr>
          <p:nvPr/>
        </p:nvSpPr>
        <p:spPr bwMode="auto">
          <a:xfrm>
            <a:off x="2514600" y="2133601"/>
            <a:ext cx="3124200" cy="8239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800" b="1" i="0">
                <a:solidFill>
                  <a:srgbClr val="000000"/>
                </a:solidFill>
              </a:rPr>
              <a:t>Sampling distribution of x: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800" b="1">
                <a:solidFill>
                  <a:srgbClr val="000000"/>
                </a:solidFill>
              </a:rPr>
              <a:t>N</a:t>
            </a:r>
            <a:r>
              <a:rPr lang="en-US" altLang="en-US" sz="2000" b="1">
                <a:solidFill>
                  <a:srgbClr val="000000"/>
                </a:solidFill>
              </a:rPr>
              <a:t>(</a:t>
            </a:r>
            <a:r>
              <a:rPr lang="en-US" altLang="en-US" sz="2000" b="1">
                <a:solidFill>
                  <a:srgbClr val="000000"/>
                </a:solidFill>
                <a:sym typeface="Symbol" pitchFamily="18" charset="2"/>
              </a:rPr>
              <a:t> ,  /10)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83" name="Line 15"/>
          <p:cNvSpPr>
            <a:spLocks noChangeShapeType="1"/>
          </p:cNvSpPr>
          <p:nvPr/>
        </p:nvSpPr>
        <p:spPr bwMode="auto">
          <a:xfrm>
            <a:off x="5257800" y="22098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84" name="Line 16"/>
          <p:cNvSpPr>
            <a:spLocks noChangeShapeType="1"/>
          </p:cNvSpPr>
          <p:nvPr/>
        </p:nvSpPr>
        <p:spPr bwMode="auto">
          <a:xfrm>
            <a:off x="4114800" y="3048000"/>
            <a:ext cx="1447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85" name="Line 17"/>
          <p:cNvSpPr>
            <a:spLocks noChangeShapeType="1"/>
          </p:cNvSpPr>
          <p:nvPr/>
        </p:nvSpPr>
        <p:spPr bwMode="auto">
          <a:xfrm>
            <a:off x="6019800" y="3505200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cxnSp>
        <p:nvCxnSpPr>
          <p:cNvPr id="3086" name="AutoShape 20"/>
          <p:cNvCxnSpPr>
            <a:cxnSpLocks noChangeShapeType="1"/>
            <a:stCxn id="3077" idx="2"/>
            <a:endCxn id="3085" idx="1"/>
          </p:cNvCxnSpPr>
          <p:nvPr/>
        </p:nvCxnSpPr>
        <p:spPr bwMode="auto">
          <a:xfrm rot="5400000">
            <a:off x="6603206" y="2997994"/>
            <a:ext cx="319088" cy="723900"/>
          </a:xfrm>
          <a:prstGeom prst="curvedConnector3">
            <a:avLst>
              <a:gd name="adj1" fmla="val 125870"/>
            </a:avLst>
          </a:prstGeom>
          <a:noFill/>
          <a:ln w="2857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87" name="Line 21"/>
          <p:cNvSpPr>
            <a:spLocks noChangeShapeType="1"/>
          </p:cNvSpPr>
          <p:nvPr/>
        </p:nvSpPr>
        <p:spPr bwMode="auto">
          <a:xfrm flipH="1">
            <a:off x="6096000" y="4876800"/>
            <a:ext cx="990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cxnSp>
        <p:nvCxnSpPr>
          <p:cNvPr id="3088" name="AutoShape 22"/>
          <p:cNvCxnSpPr>
            <a:cxnSpLocks noChangeShapeType="1"/>
            <a:stCxn id="3078" idx="2"/>
            <a:endCxn id="3087" idx="0"/>
          </p:cNvCxnSpPr>
          <p:nvPr/>
        </p:nvCxnSpPr>
        <p:spPr bwMode="auto">
          <a:xfrm rot="5400000">
            <a:off x="7082631" y="4591844"/>
            <a:ext cx="274638" cy="266700"/>
          </a:xfrm>
          <a:prstGeom prst="curvedConnector3">
            <a:avLst>
              <a:gd name="adj1" fmla="val 92481"/>
            </a:avLst>
          </a:prstGeom>
          <a:noFill/>
          <a:ln w="2857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2"/>
    </p:custDataLst>
    <p:extLst>
      <p:ext uri="{BB962C8B-B14F-4D97-AF65-F5344CB8AC3E}">
        <p14:creationId xmlns:p14="http://schemas.microsoft.com/office/powerpoint/2010/main" val="330884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Normal Populations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smtClean="0"/>
              <a:t>Important Fact:</a:t>
            </a:r>
          </a:p>
          <a:p>
            <a:pPr lvl="1">
              <a:buClr>
                <a:schemeClr val="hlink"/>
              </a:buClr>
              <a:buFont typeface="Monotype Sorts" pitchFamily="2" charset="2"/>
              <a:buChar char="H"/>
            </a:pPr>
            <a:r>
              <a:rPr lang="en-US" altLang="en-US" smtClean="0"/>
              <a:t> If the population is normally distributed, then the sampling distribution of x </a:t>
            </a:r>
            <a:r>
              <a:rPr lang="en-US" altLang="en-US" u="sng" smtClean="0"/>
              <a:t>is</a:t>
            </a:r>
            <a:r>
              <a:rPr lang="en-US" altLang="en-US" smtClean="0"/>
              <a:t> normally distributed for any sample size n.</a:t>
            </a:r>
          </a:p>
          <a:p>
            <a:r>
              <a:rPr lang="en-US" altLang="en-US" smtClean="0"/>
              <a:t>Previous slide</a:t>
            </a: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8153400" y="30480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624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685800"/>
          </a:xfrm>
        </p:spPr>
        <p:txBody>
          <a:bodyPr/>
          <a:lstStyle/>
          <a:p>
            <a:r>
              <a:rPr lang="en-US" altLang="en-US" smtClean="0"/>
              <a:t>Non-normal Populations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143000"/>
            <a:ext cx="7772400" cy="1066800"/>
          </a:xfrm>
        </p:spPr>
        <p:txBody>
          <a:bodyPr/>
          <a:lstStyle/>
          <a:p>
            <a:r>
              <a:rPr lang="en-US" altLang="en-US" smtClean="0"/>
              <a:t>What can we say about the shape of the sampling distribution of x when the population from which the sample is selected is not normal?</a:t>
            </a:r>
          </a:p>
        </p:txBody>
      </p:sp>
      <p:sp>
        <p:nvSpPr>
          <p:cNvPr id="5124" name="Line 9"/>
          <p:cNvSpPr>
            <a:spLocks noChangeShapeType="1"/>
          </p:cNvSpPr>
          <p:nvPr/>
        </p:nvSpPr>
        <p:spPr bwMode="auto">
          <a:xfrm>
            <a:off x="6858000" y="17526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5125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124200"/>
            <a:ext cx="59817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3021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7772400" cy="1143000"/>
          </a:xfrm>
        </p:spPr>
        <p:txBody>
          <a:bodyPr/>
          <a:lstStyle/>
          <a:p>
            <a:r>
              <a:rPr lang="en-US" altLang="en-US" sz="4000"/>
              <a:t>The Central Limit Theorem</a:t>
            </a:r>
            <a:br>
              <a:rPr lang="en-US" altLang="en-US" sz="4000"/>
            </a:br>
            <a:r>
              <a:rPr lang="en-US" altLang="en-US" sz="4000"/>
              <a:t>(for the sample mean x)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If a random sample of n observations is selected from a population (</a:t>
            </a:r>
            <a:r>
              <a:rPr lang="en-US" altLang="en-US" b="1" dirty="0" smtClean="0"/>
              <a:t>any</a:t>
            </a:r>
            <a:r>
              <a:rPr lang="en-US" altLang="en-US" dirty="0" smtClean="0"/>
              <a:t> population), then when n is sufficiently large, </a:t>
            </a:r>
            <a:r>
              <a:rPr lang="en-US" altLang="en-US" u="sng" dirty="0" smtClean="0"/>
              <a:t>the sampling distribution of x will be approximately normal.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 smtClean="0"/>
              <a:t>(The larger the sample size, the better will be the normal approximation to the sampling distribution of x.)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9444440" y="3049137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9368240" y="4642514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8153400" y="9906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337781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altLang="en-US" sz="4000" dirty="0"/>
              <a:t>The Importance of the Central Limit Theorem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524000"/>
            <a:ext cx="7543800" cy="2286000"/>
          </a:xfrm>
        </p:spPr>
        <p:txBody>
          <a:bodyPr/>
          <a:lstStyle/>
          <a:p>
            <a:r>
              <a:rPr lang="en-US" altLang="en-US" sz="2800" dirty="0"/>
              <a:t>When we select simple random samples of size n, the sample means    will vary from sample to sample.  We can model the distribution of these sample means with a probability model that is …</a:t>
            </a:r>
          </a:p>
          <a:p>
            <a:endParaRPr lang="en-US" altLang="en-US" sz="2800" dirty="0"/>
          </a:p>
        </p:txBody>
      </p:sp>
      <p:graphicFrame>
        <p:nvGraphicFramePr>
          <p:cNvPr id="7172" name="Object 4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7620000" y="3276601"/>
          <a:ext cx="24384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2" name="Equation" r:id="rId4" imgW="723586" imgH="431613" progId="Equation.DSMT4">
                  <p:embed/>
                </p:oleObj>
              </mc:Choice>
              <mc:Fallback>
                <p:oleObj name="Equation" r:id="rId4" imgW="723586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3276601"/>
                        <a:ext cx="2438400" cy="1362075"/>
                      </a:xfrm>
                      <a:prstGeom prst="rect">
                        <a:avLst/>
                      </a:prstGeom>
                      <a:solidFill>
                        <a:srgbClr val="FFDD6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" y="3810000"/>
            <a:ext cx="5638800" cy="2946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6629400" y="2057400"/>
          <a:ext cx="3619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Equation" r:id="rId7" imgW="164880" imgH="203040" progId="Equation.DSMT4">
                  <p:embed/>
                </p:oleObj>
              </mc:Choice>
              <mc:Fallback>
                <p:oleObj name="Equation" r:id="rId7" imgW="16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29400" y="2057400"/>
                        <a:ext cx="361950" cy="331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5811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152400"/>
            <a:ext cx="7772400" cy="762000"/>
          </a:xfrm>
        </p:spPr>
        <p:txBody>
          <a:bodyPr/>
          <a:lstStyle/>
          <a:p>
            <a:r>
              <a:rPr lang="en-US" altLang="en-US" dirty="0" smtClean="0"/>
              <a:t>How Large Should n Be?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914400"/>
            <a:ext cx="7772400" cy="1600200"/>
          </a:xfrm>
        </p:spPr>
        <p:txBody>
          <a:bodyPr/>
          <a:lstStyle/>
          <a:p>
            <a:r>
              <a:rPr lang="en-US" altLang="en-US" dirty="0" smtClean="0"/>
              <a:t>For the purpose of applying the </a:t>
            </a:r>
            <a:r>
              <a:rPr lang="en-US" altLang="en-US" dirty="0"/>
              <a:t>C</a:t>
            </a:r>
            <a:r>
              <a:rPr lang="en-US" altLang="en-US" dirty="0" smtClean="0"/>
              <a:t>entral Limit Theorem, we will consider a sample size to be large when n &gt; 30.</a:t>
            </a:r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 flipH="1">
            <a:off x="8483600" y="2209800"/>
            <a:ext cx="25400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424397"/>
            <a:ext cx="4463143" cy="2332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438402"/>
            <a:ext cx="4648199" cy="258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49142" y="2743201"/>
            <a:ext cx="3886200" cy="1200329"/>
          </a:xfrm>
          <a:prstGeom prst="rect">
            <a:avLst/>
          </a:prstGeom>
          <a:solidFill>
            <a:srgbClr val="FFDD61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FF0000"/>
                </a:solidFill>
                <a:cs typeface="Arial" charset="0"/>
              </a:rPr>
              <a:t>Even if the population from which the sample is selected looks like this 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199" y="2754087"/>
            <a:ext cx="576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  <a:sym typeface="Symbol"/>
              </a:rPr>
              <a:t>←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  <a:sym typeface="Symbol"/>
              </a:rPr>
              <a:t>←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  <a:sym typeface="Symbol"/>
              </a:rPr>
              <a:t>←</a:t>
            </a:r>
            <a:endParaRPr lang="en-US" sz="2400" b="1" dirty="0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1973" y="4984819"/>
            <a:ext cx="4038599" cy="1938992"/>
          </a:xfrm>
          <a:prstGeom prst="rect">
            <a:avLst/>
          </a:prstGeom>
          <a:solidFill>
            <a:srgbClr val="FFDD61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FF0000"/>
                </a:solidFill>
                <a:cs typeface="Arial" charset="0"/>
              </a:rPr>
              <a:t>… the Central Limit Theorem tells us that a good model for the sampling distribution of the sample mean x is …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2514600" y="6553200"/>
            <a:ext cx="228600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715000" y="5187169"/>
            <a:ext cx="381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→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→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→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b="1" i="1" dirty="0">
              <a:solidFill>
                <a:srgbClr val="FF0000"/>
              </a:solidFill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686516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914400"/>
          </a:xfrm>
        </p:spPr>
        <p:txBody>
          <a:bodyPr/>
          <a:lstStyle/>
          <a:p>
            <a:r>
              <a:rPr lang="en-US" altLang="en-US" smtClean="0"/>
              <a:t>Summary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14400"/>
            <a:ext cx="7772400" cy="57150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i="0" u="sng" smtClean="0"/>
              <a:t>Population</a:t>
            </a:r>
            <a:r>
              <a:rPr lang="en-US" altLang="en-US" b="1" i="0" smtClean="0"/>
              <a:t>: mean </a:t>
            </a:r>
            <a:r>
              <a:rPr lang="en-US" altLang="en-US" b="1" i="0" smtClean="0">
                <a:sym typeface="Symbol" pitchFamily="18" charset="2"/>
              </a:rPr>
              <a:t>; stand dev. ; shape of population dist. is unknown; value of  is </a:t>
            </a:r>
            <a:r>
              <a:rPr lang="en-US" altLang="en-US" b="1" i="0" smtClean="0">
                <a:solidFill>
                  <a:schemeClr val="hlink"/>
                </a:solidFill>
                <a:sym typeface="Symbol" pitchFamily="18" charset="2"/>
              </a:rPr>
              <a:t>unknown</a:t>
            </a:r>
            <a:r>
              <a:rPr lang="en-US" altLang="en-US" b="1" i="0" smtClean="0">
                <a:sym typeface="Symbol" pitchFamily="18" charset="2"/>
              </a:rPr>
              <a:t>; select random sample of size </a:t>
            </a:r>
            <a:r>
              <a:rPr lang="en-US" altLang="en-US" b="1" smtClean="0">
                <a:sym typeface="Symbol" pitchFamily="18" charset="2"/>
              </a:rPr>
              <a:t>n</a:t>
            </a:r>
            <a:r>
              <a:rPr lang="en-US" altLang="en-US" b="1" i="0" smtClean="0">
                <a:sym typeface="Symbol" pitchFamily="18" charset="2"/>
              </a:rPr>
              <a:t>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i="0" u="sng" smtClean="0">
                <a:sym typeface="Symbol" pitchFamily="18" charset="2"/>
              </a:rPr>
              <a:t>Sampling distribution of x: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i="0" smtClean="0">
                <a:sym typeface="Symbol" pitchFamily="18" charset="2"/>
              </a:rPr>
              <a:t>mean ; stand. dev. /n;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i="0" smtClean="0">
                <a:sym typeface="Symbol" pitchFamily="18" charset="2"/>
              </a:rPr>
              <a:t>always true!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i="0" u="sng" smtClean="0">
                <a:sym typeface="Symbol" pitchFamily="18" charset="2"/>
              </a:rPr>
              <a:t>By the Central Limit Theorem:</a:t>
            </a:r>
            <a:endParaRPr lang="en-US" altLang="en-US" b="1" i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i="0" smtClean="0">
                <a:sym typeface="Symbol" pitchFamily="18" charset="2"/>
              </a:rPr>
              <a:t>the </a:t>
            </a:r>
            <a:r>
              <a:rPr lang="en-US" altLang="en-US" b="1" i="0" u="sng" smtClean="0">
                <a:sym typeface="Symbol" pitchFamily="18" charset="2"/>
              </a:rPr>
              <a:t>shape</a:t>
            </a:r>
            <a:r>
              <a:rPr lang="en-US" altLang="en-US" b="1" i="0" smtClean="0">
                <a:sym typeface="Symbol" pitchFamily="18" charset="2"/>
              </a:rPr>
              <a:t> of the sampling distribution is approx normal, that is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 i="0" smtClean="0">
                <a:sym typeface="Symbol" pitchFamily="18" charset="2"/>
              </a:rPr>
              <a:t>		x ~ N(, /n)</a:t>
            </a: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7010400" y="28956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3124200" y="59436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020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altLang="en-US" dirty="0" smtClean="0"/>
              <a:t>The Central Limit Theorem</a:t>
            </a:r>
            <a:br>
              <a:rPr lang="en-US" altLang="en-US" dirty="0" smtClean="0"/>
            </a:br>
            <a:r>
              <a:rPr lang="en-US" altLang="en-US" i="0" dirty="0" smtClean="0"/>
              <a:t>(</a:t>
            </a:r>
            <a:r>
              <a:rPr lang="en-US" altLang="en-US" dirty="0" smtClean="0"/>
              <a:t>for the sample proportion p </a:t>
            </a:r>
            <a:r>
              <a:rPr lang="en-US" altLang="en-US" i="0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447800"/>
            <a:ext cx="7772400" cy="4724400"/>
          </a:xfrm>
        </p:spPr>
        <p:txBody>
          <a:bodyPr/>
          <a:lstStyle/>
          <a:p>
            <a:r>
              <a:rPr lang="en-US" altLang="en-US" dirty="0" smtClean="0"/>
              <a:t>If x “successes” occur in a random sample of n observations selected from a population (</a:t>
            </a:r>
            <a:r>
              <a:rPr lang="en-US" altLang="en-US" b="1" dirty="0" smtClean="0"/>
              <a:t>any</a:t>
            </a:r>
            <a:r>
              <a:rPr lang="en-US" altLang="en-US" dirty="0" smtClean="0"/>
              <a:t> population), then when n is sufficiently large, </a:t>
            </a:r>
            <a:r>
              <a:rPr lang="en-US" altLang="en-US" u="sng" dirty="0" smtClean="0"/>
              <a:t>the sampling distribution of p =x/n will be approximately normal.</a:t>
            </a:r>
          </a:p>
          <a:p>
            <a:pPr>
              <a:buNone/>
            </a:pPr>
            <a:r>
              <a:rPr lang="en-US" altLang="en-US" dirty="0" smtClean="0"/>
              <a:t>(The larger the sample size, the better will be the normal approximation to the sampling distribution of p.)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9015350" y="762000"/>
            <a:ext cx="304800" cy="152400"/>
            <a:chOff x="2880" y="1680"/>
            <a:chExt cx="192" cy="96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</p:grp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6949044" y="3442855"/>
            <a:ext cx="304800" cy="152400"/>
            <a:chOff x="2880" y="1680"/>
            <a:chExt cx="192" cy="96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cs typeface="Arial" charset="0"/>
              </a:endParaRPr>
            </a:p>
          </p:txBody>
        </p:sp>
      </p:grp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6949044" y="5486400"/>
            <a:ext cx="304800" cy="152400"/>
            <a:chOff x="2880" y="1680"/>
            <a:chExt cx="192" cy="96"/>
          </a:xfrm>
        </p:grpSpPr>
        <p:sp>
          <p:nvSpPr>
            <p:cNvPr id="11" name="Line 5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919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altLang="en-US" sz="4000" dirty="0"/>
              <a:t>The Importance of the Central Limit Theorem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447800"/>
            <a:ext cx="8077200" cy="2971800"/>
          </a:xfrm>
        </p:spPr>
        <p:txBody>
          <a:bodyPr/>
          <a:lstStyle/>
          <a:p>
            <a:r>
              <a:rPr lang="en-US" altLang="en-US" sz="2800" dirty="0"/>
              <a:t>When we select simple random samples of size n from a population with “success” probability p and observe x “successes”, the sample proportions p =x/n will vary from sample to sample. We can model the distribution of these sample proportions with a probability model that is…</a:t>
            </a:r>
          </a:p>
          <a:p>
            <a:endParaRPr lang="en-US" altLang="en-US" dirty="0" smtClean="0"/>
          </a:p>
        </p:txBody>
      </p:sp>
      <p:grpSp>
        <p:nvGrpSpPr>
          <p:cNvPr id="10245" name="Group 7"/>
          <p:cNvGrpSpPr>
            <a:grpSpLocks/>
          </p:cNvGrpSpPr>
          <p:nvPr/>
        </p:nvGrpSpPr>
        <p:grpSpPr bwMode="auto">
          <a:xfrm>
            <a:off x="4191000" y="2743200"/>
            <a:ext cx="304800" cy="152400"/>
            <a:chOff x="2880" y="1680"/>
            <a:chExt cx="192" cy="96"/>
          </a:xfrm>
        </p:grpSpPr>
        <p:sp>
          <p:nvSpPr>
            <p:cNvPr id="10246" name="Line 8"/>
            <p:cNvSpPr>
              <a:spLocks noChangeShapeType="1"/>
            </p:cNvSpPr>
            <p:nvPr/>
          </p:nvSpPr>
          <p:spPr bwMode="auto">
            <a:xfrm flipV="1">
              <a:off x="2880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247" name="Line 9"/>
            <p:cNvSpPr>
              <a:spLocks noChangeShapeType="1"/>
            </p:cNvSpPr>
            <p:nvPr/>
          </p:nvSpPr>
          <p:spPr bwMode="auto">
            <a:xfrm>
              <a:off x="2976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i="1">
                <a:solidFill>
                  <a:srgbClr val="000000"/>
                </a:solidFill>
                <a:cs typeface="Arial" charset="0"/>
              </a:endParaRPr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139282" y="4104904"/>
          <a:ext cx="21034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4" imgW="1168200" imgH="507960" progId="Equation.DSMT4">
                  <p:embed/>
                </p:oleObj>
              </mc:Choice>
              <mc:Fallback>
                <p:oleObj name="Equation" r:id="rId4" imgW="11682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39282" y="4104904"/>
                        <a:ext cx="2103437" cy="914400"/>
                      </a:xfrm>
                      <a:prstGeom prst="rect">
                        <a:avLst/>
                      </a:prstGeom>
                      <a:solidFill>
                        <a:srgbClr val="FFDD6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114800"/>
            <a:ext cx="435948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16773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762000"/>
          </a:xfrm>
        </p:spPr>
        <p:txBody>
          <a:bodyPr/>
          <a:lstStyle/>
          <a:p>
            <a:r>
              <a:rPr lang="en-US" altLang="en-US" dirty="0" smtClean="0"/>
              <a:t>How Large Should n Be?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914400"/>
            <a:ext cx="8382000" cy="1676400"/>
          </a:xfrm>
        </p:spPr>
        <p:txBody>
          <a:bodyPr/>
          <a:lstStyle/>
          <a:p>
            <a:r>
              <a:rPr lang="en-US" altLang="en-US" dirty="0" smtClean="0"/>
              <a:t>For the purpose of applying the central limit theorem, we will consider a sample size n to be large when np </a:t>
            </a:r>
            <a:r>
              <a:rPr lang="en-US" altLang="en-US" dirty="0" smtClean="0">
                <a:latin typeface="Times New Roman"/>
                <a:cs typeface="Times New Roman"/>
              </a:rPr>
              <a:t>≥</a:t>
            </a:r>
            <a:r>
              <a:rPr lang="en-US" altLang="en-US" dirty="0"/>
              <a:t> </a:t>
            </a:r>
            <a:r>
              <a:rPr lang="en-US" altLang="en-US" dirty="0" smtClean="0"/>
              <a:t>10 and n(1-p) </a:t>
            </a:r>
            <a:r>
              <a:rPr lang="en-US" altLang="en-US" dirty="0" smtClean="0">
                <a:latin typeface="Times New Roman"/>
                <a:cs typeface="Times New Roman"/>
              </a:rPr>
              <a:t>≥ </a:t>
            </a:r>
            <a:r>
              <a:rPr lang="en-US" altLang="en-US" dirty="0" smtClean="0"/>
              <a:t>10</a:t>
            </a:r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114800"/>
            <a:ext cx="435948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1524000" y="2438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49142" y="2743201"/>
            <a:ext cx="3886200" cy="1200329"/>
          </a:xfrm>
          <a:prstGeom prst="rect">
            <a:avLst/>
          </a:prstGeom>
          <a:solidFill>
            <a:srgbClr val="FFDD61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FF0000"/>
                </a:solidFill>
                <a:cs typeface="Arial" charset="0"/>
              </a:rPr>
              <a:t>If the population from which the sample is selected looks like this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199" y="2754087"/>
            <a:ext cx="576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  <a:sym typeface="Symbol"/>
              </a:rPr>
              <a:t>←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  <a:sym typeface="Symbol"/>
              </a:rPr>
              <a:t>←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  <a:sym typeface="Symbol"/>
              </a:rPr>
              <a:t>←</a:t>
            </a:r>
            <a:endParaRPr lang="en-US" sz="2400" b="1" dirty="0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21973" y="4984819"/>
            <a:ext cx="4038599" cy="1938992"/>
          </a:xfrm>
          <a:prstGeom prst="rect">
            <a:avLst/>
          </a:prstGeom>
          <a:solidFill>
            <a:srgbClr val="FFDD61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FF0000"/>
                </a:solidFill>
                <a:cs typeface="Arial" charset="0"/>
              </a:rPr>
              <a:t>… the Central Limit Theorem tells us that a good model for the sampling distribution of the sample proportion           is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5187169"/>
            <a:ext cx="381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→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→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→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b="1" i="1" dirty="0">
              <a:solidFill>
                <a:srgbClr val="FF0000"/>
              </a:solidFill>
              <a:cs typeface="Arial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175000" y="6457950"/>
          <a:ext cx="63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Equation" r:id="rId6" imgW="634680" imgH="406080" progId="Equation.DSMT4">
                  <p:embed/>
                </p:oleObj>
              </mc:Choice>
              <mc:Fallback>
                <p:oleObj name="Equation" r:id="rId6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75000" y="6457950"/>
                        <a:ext cx="635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45878502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8" grpId="0" animBg="1"/>
      <p:bldP spid="9" grpId="0"/>
      <p:bldP spid="10" grpId="0" animBg="1"/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Population Parameters and Sample Statistics</a:t>
            </a:r>
          </a:p>
        </p:txBody>
      </p:sp>
      <p:graphicFrame>
        <p:nvGraphicFramePr>
          <p:cNvPr id="13315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5129213" y="3713164"/>
          <a:ext cx="4953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4" name="Equation" r:id="rId4" imgW="139639" imgH="203112" progId="Equation.DSMT4">
                  <p:embed/>
                </p:oleObj>
              </mc:Choice>
              <mc:Fallback>
                <p:oleObj name="Equation" r:id="rId4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213" y="3713164"/>
                        <a:ext cx="49530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600201"/>
            <a:ext cx="4267200" cy="4525963"/>
          </a:xfrm>
        </p:spPr>
        <p:txBody>
          <a:bodyPr/>
          <a:lstStyle/>
          <a:p>
            <a:r>
              <a:rPr lang="en-US" altLang="en-US" sz="2400"/>
              <a:t>The value of a  population parameter is a </a:t>
            </a:r>
            <a:r>
              <a:rPr lang="en-US" altLang="en-US" sz="2400" b="1"/>
              <a:t>fixed</a:t>
            </a:r>
            <a:r>
              <a:rPr lang="en-US" altLang="en-US" sz="2400"/>
              <a:t> number, it is NOT random; its value is </a:t>
            </a:r>
            <a:r>
              <a:rPr lang="en-US" altLang="en-US" sz="2400" b="1"/>
              <a:t>not known.</a:t>
            </a:r>
          </a:p>
          <a:p>
            <a:r>
              <a:rPr lang="en-US" altLang="en-US" sz="2400"/>
              <a:t>The value of a sample statistic is calculated from sample data</a:t>
            </a:r>
          </a:p>
          <a:p>
            <a:r>
              <a:rPr lang="en-US" altLang="en-US" sz="2400"/>
              <a:t>The value of a sample statistic will vary from sample to sample (sampling distributions)</a:t>
            </a:r>
          </a:p>
        </p:txBody>
      </p:sp>
      <p:graphicFrame>
        <p:nvGraphicFramePr>
          <p:cNvPr id="33797" name="Group 5"/>
          <p:cNvGraphicFramePr>
            <a:graphicFrameLocks noGrp="1"/>
          </p:cNvGraphicFramePr>
          <p:nvPr>
            <p:ph sz="half" idx="4294967295"/>
          </p:nvPr>
        </p:nvGraphicFramePr>
        <p:xfrm>
          <a:off x="1752600" y="1752600"/>
          <a:ext cx="4343400" cy="4532340"/>
        </p:xfrm>
        <a:graphic>
          <a:graphicData uri="http://schemas.openxmlformats.org/drawingml/2006/table">
            <a:tbl>
              <a:tblPr/>
              <a:tblGrid>
                <a:gridCol w="1447800"/>
                <a:gridCol w="1501775"/>
                <a:gridCol w="1393825"/>
              </a:tblGrid>
              <a:tr h="14477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Population parameter</a:t>
                      </a:r>
                    </a:p>
                  </a:txBody>
                  <a:tcPr marT="45719" marB="4571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Sample statistic used to estimate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5422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proportion of population with a certain characteristic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Unknown</a:t>
                      </a:r>
                    </a:p>
                  </a:txBody>
                  <a:tcPr marT="45719" marB="4571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422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µ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mean value of a population variable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Unknown</a:t>
                      </a:r>
                    </a:p>
                  </a:txBody>
                  <a:tcPr marT="45719" marB="4571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335" name="Object 2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257801" y="5181601"/>
          <a:ext cx="4048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" name="Equation" r:id="rId6" imgW="139579" imgH="164957" progId="Equation.DSMT4">
                  <p:embed/>
                </p:oleObj>
              </mc:Choice>
              <mc:Fallback>
                <p:oleObj name="Equation" r:id="rId6" imgW="139579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5181601"/>
                        <a:ext cx="40481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51338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762000"/>
          </a:xfrm>
        </p:spPr>
        <p:txBody>
          <a:bodyPr/>
          <a:lstStyle/>
          <a:p>
            <a:r>
              <a:rPr lang="en-US" altLang="en-US" dirty="0" smtClean="0"/>
              <a:t>Example</a:t>
            </a:r>
          </a:p>
        </p:txBody>
      </p:sp>
      <p:graphicFrame>
        <p:nvGraphicFramePr>
          <p:cNvPr id="14339" name="Object 3">
            <a:hlinkClick r:id="" action="ppaction://ole?verb=0"/>
          </p:cNvPr>
          <p:cNvGraphicFramePr>
            <a:graphicFrameLocks noGrp="1"/>
          </p:cNvGraphicFramePr>
          <p:nvPr>
            <p:ph type="body" idx="1"/>
            <p:extLst/>
          </p:nvPr>
        </p:nvGraphicFramePr>
        <p:xfrm>
          <a:off x="1682750" y="1828800"/>
          <a:ext cx="587533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5" name="Equation" r:id="rId4" imgW="2171520" imgH="495000" progId="Equation.DSMT4">
                  <p:embed/>
                </p:oleObj>
              </mc:Choice>
              <mc:Fallback>
                <p:oleObj name="Equation" r:id="rId4" imgW="2171520" imgH="4950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1828800"/>
                        <a:ext cx="5875338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7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236" y="0"/>
            <a:ext cx="32385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564" y="76201"/>
            <a:ext cx="29337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2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711" y="2057400"/>
            <a:ext cx="315163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1520825" y="3048000"/>
          <a:ext cx="591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name="Equation" r:id="rId9" imgW="2958840" imgH="419040" progId="Equation.DSMT4">
                  <p:embed/>
                </p:oleObj>
              </mc:Choice>
              <mc:Fallback>
                <p:oleObj name="Equation" r:id="rId9" imgW="29588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20825" y="3048000"/>
                        <a:ext cx="59182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1684565" y="3886201"/>
          <a:ext cx="5407025" cy="22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Equation" r:id="rId11" imgW="2920680" imgH="1218960" progId="Equation.DSMT4">
                  <p:embed/>
                </p:oleObj>
              </mc:Choice>
              <mc:Fallback>
                <p:oleObj name="Equation" r:id="rId11" imgW="292068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84565" y="3886201"/>
                        <a:ext cx="5407025" cy="2257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62" name="Picture 2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986" y="4114801"/>
            <a:ext cx="333375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80674830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16774"/>
            <a:ext cx="7772400" cy="762000"/>
          </a:xfrm>
        </p:spPr>
        <p:txBody>
          <a:bodyPr/>
          <a:lstStyle/>
          <a:p>
            <a:r>
              <a:rPr lang="en-US" altLang="en-US" dirty="0" smtClean="0"/>
              <a:t>Example (cont.)</a:t>
            </a:r>
          </a:p>
        </p:txBody>
      </p:sp>
      <p:graphicFrame>
        <p:nvGraphicFramePr>
          <p:cNvPr id="16387" name="Object 3">
            <a:hlinkClick r:id="" action="ppaction://ole?verb=0"/>
          </p:cNvPr>
          <p:cNvGraphicFramePr>
            <a:graphicFrameLocks noGrp="1"/>
          </p:cNvGraphicFramePr>
          <p:nvPr>
            <p:ph type="body" idx="1"/>
            <p:extLst/>
          </p:nvPr>
        </p:nvGraphicFramePr>
        <p:xfrm>
          <a:off x="2209800" y="3048001"/>
          <a:ext cx="7772400" cy="299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5" name="Equation" r:id="rId4" imgW="2501640" imgH="965160" progId="Equation.DSMT4">
                  <p:embed/>
                </p:oleObj>
              </mc:Choice>
              <mc:Fallback>
                <p:oleObj name="Equation" r:id="rId4" imgW="2501640" imgH="9651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048001"/>
                        <a:ext cx="7772400" cy="299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415" name="Picture 3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524000"/>
            <a:ext cx="3728621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16" name="Picture 3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990601"/>
            <a:ext cx="336232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40868258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r>
              <a:rPr lang="en-US" altLang="en-US" smtClean="0"/>
              <a:t>Example 2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990600"/>
            <a:ext cx="8153400" cy="5715000"/>
          </a:xfrm>
        </p:spPr>
        <p:txBody>
          <a:bodyPr/>
          <a:lstStyle/>
          <a:p>
            <a:r>
              <a:rPr lang="en-US" altLang="en-US" dirty="0" smtClean="0"/>
              <a:t>The probability distribution of 6-month incomes of account executives has mean $20,000 and standard deviation $5,000. </a:t>
            </a:r>
          </a:p>
          <a:p>
            <a:r>
              <a:rPr lang="en-US" altLang="en-US" dirty="0" smtClean="0"/>
              <a:t>a) A single executive’s income is $20,000. Can it be said that this executive’s income exceeds 50% of all account executive incomes?</a:t>
            </a:r>
          </a:p>
          <a:p>
            <a:pPr>
              <a:buFont typeface="Monotype Sorts" pitchFamily="2" charset="2"/>
              <a:buNone/>
            </a:pPr>
            <a:r>
              <a:rPr lang="en-US" altLang="en-US" b="1" u="sng" dirty="0" smtClean="0"/>
              <a:t>ANSWER </a:t>
            </a:r>
            <a:r>
              <a:rPr lang="en-US" altLang="en-US" dirty="0" smtClean="0"/>
              <a:t> No. P(X&lt;$20,000)=? No information given about shape of distribution of X; we do not know the median of 6-month incomes.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019222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762000"/>
          </a:xfrm>
        </p:spPr>
        <p:txBody>
          <a:bodyPr/>
          <a:lstStyle/>
          <a:p>
            <a:r>
              <a:rPr lang="en-US" altLang="en-US" sz="4000" dirty="0"/>
              <a:t>Example 2(cont.)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685800"/>
            <a:ext cx="8153400" cy="1524000"/>
          </a:xfrm>
        </p:spPr>
        <p:txBody>
          <a:bodyPr/>
          <a:lstStyle/>
          <a:p>
            <a:r>
              <a:rPr lang="en-US" altLang="en-US" dirty="0" smtClean="0"/>
              <a:t>b) n=64 account executives are randomly selected. What is the probability that the sample mean exceeds $20,500? </a:t>
            </a:r>
          </a:p>
          <a:p>
            <a:pPr>
              <a:buFont typeface="Monotype Sorts" pitchFamily="2" charset="2"/>
              <a:buNone/>
            </a:pPr>
            <a:endParaRPr lang="en-US" altLang="en-US" dirty="0" smtClean="0"/>
          </a:p>
        </p:txBody>
      </p:sp>
      <p:graphicFrame>
        <p:nvGraphicFramePr>
          <p:cNvPr id="18436" name="Object 4">
            <a:hlinkClick r:id="" action="ppaction://ole?verb=0"/>
          </p:cNvPr>
          <p:cNvGraphicFramePr>
            <a:graphicFrameLocks/>
          </p:cNvGraphicFramePr>
          <p:nvPr>
            <p:extLst/>
          </p:nvPr>
        </p:nvGraphicFramePr>
        <p:xfrm>
          <a:off x="1828801" y="2192339"/>
          <a:ext cx="4359275" cy="461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Equation" r:id="rId4" imgW="1600200" imgH="1600200" progId="Equation.DSMT4">
                  <p:embed/>
                </p:oleObj>
              </mc:Choice>
              <mc:Fallback>
                <p:oleObj name="Equation" r:id="rId4" imgW="1600200" imgH="1600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2192339"/>
                        <a:ext cx="4359275" cy="461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65" name="Picture 3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285" y="2286000"/>
            <a:ext cx="3711591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7" name="Picture 3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14" y="4495800"/>
            <a:ext cx="3774186" cy="2138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V="1">
            <a:off x="4419600" y="4191002"/>
            <a:ext cx="1828800" cy="106679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V="1">
            <a:off x="3810000" y="5943600"/>
            <a:ext cx="2286000" cy="45720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</p:spTree>
    <p:custDataLst>
      <p:tags r:id="rId2"/>
    </p:custDataLst>
    <p:extLst>
      <p:ext uri="{BB962C8B-B14F-4D97-AF65-F5344CB8AC3E}">
        <p14:creationId xmlns:p14="http://schemas.microsoft.com/office/powerpoint/2010/main" val="173001370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86200" y="76200"/>
            <a:ext cx="3276600" cy="762000"/>
          </a:xfrm>
        </p:spPr>
        <p:txBody>
          <a:bodyPr/>
          <a:lstStyle/>
          <a:p>
            <a:r>
              <a:rPr lang="en-US" altLang="en-US" sz="4000" dirty="0"/>
              <a:t>Example 3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762000"/>
            <a:ext cx="5486400" cy="22098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 smtClean="0"/>
              <a:t>A sample of size n=16 is drawn from a </a:t>
            </a:r>
            <a:r>
              <a:rPr lang="en-US" altLang="en-US" u="sng" dirty="0" smtClean="0"/>
              <a:t>normally distributed population </a:t>
            </a:r>
            <a:r>
              <a:rPr lang="en-US" altLang="en-US" dirty="0" smtClean="0"/>
              <a:t>with</a:t>
            </a:r>
          </a:p>
          <a:p>
            <a:pPr marL="0" indent="0">
              <a:buNone/>
            </a:pPr>
            <a:r>
              <a:rPr lang="en-US" altLang="en-US" dirty="0" smtClean="0"/>
              <a:t>E(X)=20 and SD(X)=8.</a:t>
            </a:r>
          </a:p>
          <a:p>
            <a:pPr>
              <a:buFont typeface="Monotype Sorts" pitchFamily="2" charset="2"/>
              <a:buNone/>
            </a:pPr>
            <a:endParaRPr lang="en-US" altLang="en-US" dirty="0" smtClean="0"/>
          </a:p>
        </p:txBody>
      </p:sp>
      <p:graphicFrame>
        <p:nvGraphicFramePr>
          <p:cNvPr id="19460" name="Object 4">
            <a:hlinkClick r:id="" action="ppaction://ole?verb=0"/>
          </p:cNvPr>
          <p:cNvGraphicFramePr>
            <a:graphicFrameLocks/>
          </p:cNvGraphicFramePr>
          <p:nvPr>
            <p:extLst/>
          </p:nvPr>
        </p:nvGraphicFramePr>
        <p:xfrm>
          <a:off x="1676400" y="2971801"/>
          <a:ext cx="4419600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Equation" r:id="rId4" imgW="1600200" imgH="1155600" progId="Equation.DSMT4">
                  <p:embed/>
                </p:oleObj>
              </mc:Choice>
              <mc:Fallback>
                <p:oleObj name="Equation" r:id="rId4" imgW="1600200" imgH="1155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971801"/>
                        <a:ext cx="4419600" cy="3527425"/>
                      </a:xfrm>
                      <a:prstGeom prst="rect">
                        <a:avLst/>
                      </a:prstGeom>
                      <a:solidFill>
                        <a:srgbClr val="FFDD6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94" name="Picture 3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37" y="609600"/>
            <a:ext cx="383822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98" name="Picture 4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37" y="4860593"/>
            <a:ext cx="3838222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99" name="Picture 4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37" y="2895600"/>
            <a:ext cx="3838223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03" name="Picture 4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414" y="2895600"/>
            <a:ext cx="4114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04" name="Picture 4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513" y="4800601"/>
            <a:ext cx="4114801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72414864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altLang="en-US" dirty="0" smtClean="0"/>
              <a:t>Example 3 (cont.)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2133600" y="1219200"/>
            <a:ext cx="7772400" cy="3352800"/>
          </a:xfrm>
        </p:spPr>
        <p:txBody>
          <a:bodyPr/>
          <a:lstStyle/>
          <a:p>
            <a:r>
              <a:rPr lang="en-US" altLang="en-US" dirty="0" smtClean="0"/>
              <a:t>c. Do we need the Central Limit Theorem to solve part a or part b?</a:t>
            </a:r>
          </a:p>
          <a:p>
            <a:r>
              <a:rPr lang="en-US" altLang="en-US" dirty="0" smtClean="0"/>
              <a:t>NO.  We are given that the population is normal, so the sampling distribution of the mean will also be normal for any sample size n.  The CLT is not needed.</a:t>
            </a:r>
          </a:p>
        </p:txBody>
      </p:sp>
      <p:pic>
        <p:nvPicPr>
          <p:cNvPr id="4" name="Picture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419600"/>
            <a:ext cx="397530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421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r>
              <a:rPr lang="en-US" altLang="en-US" smtClean="0"/>
              <a:t>Example 4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143000"/>
            <a:ext cx="8077200" cy="1981200"/>
          </a:xfrm>
        </p:spPr>
        <p:txBody>
          <a:bodyPr/>
          <a:lstStyle/>
          <a:p>
            <a:r>
              <a:rPr lang="en-US" altLang="en-US" smtClean="0"/>
              <a:t>Battery life X~N(20, 10). Guarantee: avg. battery life in a case of 24 exceeds 16 hrs. Find the probability that a randomly selected case meets the guarantee.</a:t>
            </a:r>
          </a:p>
          <a:p>
            <a:pPr>
              <a:buFont typeface="Monotype Sorts" pitchFamily="2" charset="2"/>
              <a:buNone/>
            </a:pPr>
            <a:endParaRPr lang="en-US" altLang="en-US" smtClean="0"/>
          </a:p>
        </p:txBody>
      </p:sp>
      <p:graphicFrame>
        <p:nvGraphicFramePr>
          <p:cNvPr id="21508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1752600" y="3429000"/>
          <a:ext cx="86868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Equation" r:id="rId4" imgW="2565400" imgH="723900" progId="Equation.DSMT4">
                  <p:embed/>
                </p:oleObj>
              </mc:Choice>
              <mc:Fallback>
                <p:oleObj name="Equation" r:id="rId4" imgW="2565400" imgH="7239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429000"/>
                        <a:ext cx="86868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09168345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914400"/>
          </a:xfrm>
        </p:spPr>
        <p:txBody>
          <a:bodyPr/>
          <a:lstStyle/>
          <a:p>
            <a:r>
              <a:rPr lang="en-US" altLang="en-US" smtClean="0"/>
              <a:t>Example 5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066800"/>
            <a:ext cx="7772400" cy="55626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i="0" smtClean="0"/>
              <a:t>Cans of salmon are supposed to have a net weight of 6 oz. The canner says that the net weight is a random variable with mean </a:t>
            </a:r>
            <a:r>
              <a:rPr lang="en-US" altLang="en-US" i="0" smtClean="0">
                <a:sym typeface="Symbol" pitchFamily="18" charset="2"/>
              </a:rPr>
              <a:t>=6.05 oz. and </a:t>
            </a:r>
            <a:r>
              <a:rPr lang="en-US" altLang="en-US" i="0" smtClean="0"/>
              <a:t> stand. dev. </a:t>
            </a:r>
            <a:r>
              <a:rPr lang="en-US" altLang="en-US" i="0" smtClean="0">
                <a:sym typeface="Symbol" pitchFamily="18" charset="2"/>
              </a:rPr>
              <a:t>=.18 oz.</a:t>
            </a:r>
          </a:p>
          <a:p>
            <a:pPr>
              <a:buFont typeface="Monotype Sorts" pitchFamily="2" charset="2"/>
              <a:buNone/>
            </a:pPr>
            <a:r>
              <a:rPr lang="en-US" altLang="en-US" i="0" smtClean="0">
                <a:sym typeface="Symbol" pitchFamily="18" charset="2"/>
              </a:rPr>
              <a:t>Suppose you take a random sample of 36 cans and calculate the sample mean weight to be 5.97 oz.</a:t>
            </a:r>
          </a:p>
          <a:p>
            <a:r>
              <a:rPr lang="en-US" altLang="en-US" i="0" smtClean="0"/>
              <a:t>Find the probability that the mean weight of the sample is less than or equal to 5.97 oz.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849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924800" cy="1600200"/>
          </a:xfrm>
        </p:spPr>
        <p:txBody>
          <a:bodyPr/>
          <a:lstStyle/>
          <a:p>
            <a:pPr algn="l"/>
            <a:r>
              <a:rPr lang="en-US" altLang="en-US" sz="4000">
                <a:sym typeface="Symbol" pitchFamily="18" charset="2"/>
              </a:rPr>
              <a:t>Population X: </a:t>
            </a:r>
            <a:r>
              <a:rPr lang="en-US" altLang="en-US" sz="4000" i="0">
                <a:sym typeface="Symbol" pitchFamily="18" charset="2"/>
              </a:rPr>
              <a:t>amount of salmon in a can</a:t>
            </a:r>
            <a:br>
              <a:rPr lang="en-US" altLang="en-US" sz="4000" i="0">
                <a:sym typeface="Symbol" pitchFamily="18" charset="2"/>
              </a:rPr>
            </a:br>
            <a:r>
              <a:rPr lang="en-US" altLang="en-US" sz="4000">
                <a:sym typeface="Symbol" pitchFamily="18" charset="2"/>
              </a:rPr>
              <a:t>E(x)=6.05 oz, SD(x) = .18 oz</a:t>
            </a:r>
            <a:endParaRPr lang="en-US" altLang="en-US" sz="400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2209800"/>
            <a:ext cx="8534400" cy="41148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altLang="en-US" sz="2800"/>
              <a:t>X  </a:t>
            </a:r>
            <a:r>
              <a:rPr lang="en-US" altLang="en-US" sz="2800" i="0"/>
              <a:t>sampling dist: E(x)</a:t>
            </a:r>
            <a:r>
              <a:rPr lang="en-US" altLang="en-US" sz="2800" i="0">
                <a:sym typeface="Symbol" pitchFamily="18" charset="2"/>
              </a:rPr>
              <a:t>=6.05 SD(x)=.18/6=.03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2800" i="0">
                <a:sym typeface="Symbol" pitchFamily="18" charset="2"/>
              </a:rPr>
              <a:t>By the CLT, </a:t>
            </a:r>
            <a:r>
              <a:rPr lang="en-US" altLang="en-US" sz="2800">
                <a:sym typeface="Symbol" pitchFamily="18" charset="2"/>
              </a:rPr>
              <a:t>X</a:t>
            </a:r>
            <a:r>
              <a:rPr lang="en-US" altLang="en-US" sz="2800" i="0">
                <a:sym typeface="Symbol" pitchFamily="18" charset="2"/>
              </a:rPr>
              <a:t> sampling dist is approx. normal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2800" i="0">
                <a:sym typeface="Symbol" pitchFamily="18" charset="2"/>
              </a:rPr>
              <a:t>P(</a:t>
            </a:r>
            <a:r>
              <a:rPr lang="en-US" altLang="en-US" sz="2800">
                <a:sym typeface="Symbol" pitchFamily="18" charset="2"/>
              </a:rPr>
              <a:t>X</a:t>
            </a:r>
            <a:r>
              <a:rPr lang="en-US" altLang="en-US" sz="2800" i="0">
                <a:sym typeface="Symbol" pitchFamily="18" charset="2"/>
              </a:rPr>
              <a:t>  5.97) = P(z  [5.97-6.05]/.03)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i="0">
                <a:sym typeface="Symbol" pitchFamily="18" charset="2"/>
              </a:rPr>
              <a:t>	=P(z  -.08/.03)=P(z  -2.67)= .0038</a:t>
            </a:r>
          </a:p>
          <a:p>
            <a:pPr>
              <a:buFont typeface="Monotype Sorts" pitchFamily="2" charset="2"/>
              <a:buNone/>
            </a:pPr>
            <a:endParaRPr lang="en-US" altLang="en-US" sz="2800" i="0">
              <a:sym typeface="Symbol" pitchFamily="18" charset="2"/>
            </a:endParaRPr>
          </a:p>
          <a:p>
            <a:pPr>
              <a:buFont typeface="Wingdings" pitchFamily="2" charset="2"/>
              <a:buChar char="§"/>
            </a:pPr>
            <a:r>
              <a:rPr lang="en-US" altLang="en-US" sz="2800" i="0">
                <a:sym typeface="Symbol" pitchFamily="18" charset="2"/>
              </a:rPr>
              <a:t>How could you use this answer?</a:t>
            </a: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2209800" y="22860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3557" name="Line 6"/>
          <p:cNvSpPr>
            <a:spLocks noChangeShapeType="1"/>
          </p:cNvSpPr>
          <p:nvPr/>
        </p:nvSpPr>
        <p:spPr bwMode="auto">
          <a:xfrm>
            <a:off x="7162800" y="22860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3558" name="Line 7"/>
          <p:cNvSpPr>
            <a:spLocks noChangeShapeType="1"/>
          </p:cNvSpPr>
          <p:nvPr/>
        </p:nvSpPr>
        <p:spPr bwMode="auto">
          <a:xfrm>
            <a:off x="5334000" y="22860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3559" name="Line 8"/>
          <p:cNvSpPr>
            <a:spLocks noChangeShapeType="1"/>
          </p:cNvSpPr>
          <p:nvPr/>
        </p:nvSpPr>
        <p:spPr bwMode="auto">
          <a:xfrm>
            <a:off x="4191000" y="2743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3560" name="Line 9"/>
          <p:cNvSpPr>
            <a:spLocks noChangeShapeType="1"/>
          </p:cNvSpPr>
          <p:nvPr/>
        </p:nvSpPr>
        <p:spPr bwMode="auto">
          <a:xfrm>
            <a:off x="2590800" y="32766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836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990600"/>
          </a:xfrm>
        </p:spPr>
        <p:txBody>
          <a:bodyPr/>
          <a:lstStyle/>
          <a:p>
            <a:endParaRPr lang="en-US" altLang="en-US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457200"/>
            <a:ext cx="7772400" cy="5791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smtClean="0"/>
              <a:t>Suppose you work for a “consumer watchdog” group</a:t>
            </a:r>
          </a:p>
          <a:p>
            <a:pPr>
              <a:lnSpc>
                <a:spcPct val="90000"/>
              </a:lnSpc>
            </a:pPr>
            <a:r>
              <a:rPr lang="en-US" altLang="en-US" b="1" smtClean="0"/>
              <a:t>If you sampled the weights of 36 cans and obtained a sample mean x </a:t>
            </a:r>
            <a:r>
              <a:rPr lang="en-US" altLang="en-US" b="1" i="0" smtClean="0">
                <a:sym typeface="Symbol" pitchFamily="18" charset="2"/>
              </a:rPr>
              <a:t></a:t>
            </a:r>
            <a:r>
              <a:rPr lang="en-US" altLang="en-US" b="1" smtClean="0"/>
              <a:t>  5.97 oz., what would you think?</a:t>
            </a:r>
          </a:p>
          <a:p>
            <a:pPr>
              <a:lnSpc>
                <a:spcPct val="90000"/>
              </a:lnSpc>
            </a:pPr>
            <a:r>
              <a:rPr lang="en-US" altLang="en-US" b="1" smtClean="0"/>
              <a:t>Since P( x </a:t>
            </a:r>
            <a:r>
              <a:rPr lang="en-US" altLang="en-US" b="1" i="0" smtClean="0">
                <a:sym typeface="Symbol" pitchFamily="18" charset="2"/>
              </a:rPr>
              <a:t></a:t>
            </a:r>
            <a:r>
              <a:rPr lang="en-US" altLang="en-US" b="1" smtClean="0"/>
              <a:t>  5.97) = .0038, either</a:t>
            </a:r>
          </a:p>
          <a:p>
            <a:pPr lvl="1">
              <a:lnSpc>
                <a:spcPct val="90000"/>
              </a:lnSpc>
            </a:pPr>
            <a:r>
              <a:rPr lang="en-US" altLang="en-US" b="1" smtClean="0"/>
              <a:t>you observed a “rare” event </a:t>
            </a:r>
            <a:r>
              <a:rPr lang="en-US" altLang="en-US" b="1" i="0" smtClean="0"/>
              <a:t>(recall: 5.97 oz is 2.67 stand. dev. below the mean) </a:t>
            </a:r>
            <a:r>
              <a:rPr lang="en-US" altLang="en-US" b="1" smtClean="0"/>
              <a:t>and the mean fill </a:t>
            </a:r>
            <a:r>
              <a:rPr lang="en-US" altLang="en-US" b="1" smtClean="0">
                <a:sym typeface="Symbol" pitchFamily="18" charset="2"/>
              </a:rPr>
              <a:t>E(x) is in fact 6.05 oz. </a:t>
            </a:r>
            <a:r>
              <a:rPr lang="en-US" altLang="en-US" b="1" i="0" smtClean="0">
                <a:sym typeface="Symbol" pitchFamily="18" charset="2"/>
              </a:rPr>
              <a:t>(the value claimed by the canner)</a:t>
            </a:r>
            <a:endParaRPr lang="en-US" altLang="en-US" b="1" smtClean="0"/>
          </a:p>
          <a:p>
            <a:pPr lvl="1">
              <a:lnSpc>
                <a:spcPct val="90000"/>
              </a:lnSpc>
            </a:pPr>
            <a:r>
              <a:rPr lang="en-US" altLang="en-US" b="1" smtClean="0"/>
              <a:t>the true mean fill is less than 6.05 oz., (the canner is lying ).</a:t>
            </a:r>
            <a:endParaRPr lang="en-US" altLang="en-US" smtClean="0"/>
          </a:p>
          <a:p>
            <a:pPr>
              <a:lnSpc>
                <a:spcPct val="90000"/>
              </a:lnSpc>
            </a:pPr>
            <a:endParaRPr lang="en-US" altLang="en-US" smtClean="0"/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>
            <a:off x="9220200" y="1981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4267200" y="29718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59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838200"/>
          </a:xfrm>
        </p:spPr>
        <p:txBody>
          <a:bodyPr/>
          <a:lstStyle/>
          <a:p>
            <a:r>
              <a:rPr lang="en-US" altLang="en-US" smtClean="0"/>
              <a:t>Example 6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7213" y="914400"/>
            <a:ext cx="8534400" cy="5791200"/>
          </a:xfrm>
        </p:spPr>
        <p:txBody>
          <a:bodyPr/>
          <a:lstStyle/>
          <a:p>
            <a:r>
              <a:rPr lang="en-US" altLang="en-US" smtClean="0">
                <a:sym typeface="Symbol" pitchFamily="18" charset="2"/>
              </a:rPr>
              <a:t>X: </a:t>
            </a:r>
            <a:r>
              <a:rPr lang="en-US" altLang="en-US" i="0" smtClean="0">
                <a:sym typeface="Symbol" pitchFamily="18" charset="2"/>
              </a:rPr>
              <a:t>weekly income. </a:t>
            </a:r>
            <a:r>
              <a:rPr lang="en-US" altLang="en-US" smtClean="0">
                <a:sym typeface="Symbol" pitchFamily="18" charset="2"/>
              </a:rPr>
              <a:t>E(X)=1050, SD(X) = 100</a:t>
            </a:r>
          </a:p>
          <a:p>
            <a:r>
              <a:rPr lang="en-US" altLang="en-US" smtClean="0">
                <a:sym typeface="Symbol" pitchFamily="18" charset="2"/>
              </a:rPr>
              <a:t>n=64;     </a:t>
            </a:r>
            <a:r>
              <a:rPr lang="en-US" altLang="en-US" i="0" smtClean="0"/>
              <a:t>X</a:t>
            </a:r>
            <a:r>
              <a:rPr lang="en-US" altLang="en-US" smtClean="0"/>
              <a:t>  </a:t>
            </a:r>
            <a:r>
              <a:rPr lang="en-US" altLang="en-US" i="0" smtClean="0"/>
              <a:t>sampling dist: </a:t>
            </a:r>
            <a:r>
              <a:rPr lang="en-US" altLang="en-US" i="0" smtClean="0">
                <a:sym typeface="Symbol" pitchFamily="18" charset="2"/>
              </a:rPr>
              <a:t>E(X)=1050         SD(X)=100/8 =12.5</a:t>
            </a:r>
          </a:p>
          <a:p>
            <a:endParaRPr lang="en-US" altLang="en-US" i="0" smtClean="0">
              <a:sym typeface="Symbol" pitchFamily="18" charset="2"/>
            </a:endParaRPr>
          </a:p>
          <a:p>
            <a:endParaRPr lang="en-US" altLang="en-US" i="0" smtClean="0">
              <a:sym typeface="Symbol" pitchFamily="18" charset="2"/>
            </a:endParaRPr>
          </a:p>
          <a:p>
            <a:endParaRPr lang="en-US" altLang="en-US" i="0" smtClean="0">
              <a:sym typeface="Symbol" pitchFamily="18" charset="2"/>
            </a:endParaRPr>
          </a:p>
          <a:p>
            <a:r>
              <a:rPr lang="en-US" altLang="en-US" i="0" smtClean="0">
                <a:sym typeface="Symbol" pitchFamily="18" charset="2"/>
              </a:rPr>
              <a:t>P(</a:t>
            </a:r>
            <a:r>
              <a:rPr lang="en-US" altLang="en-US" smtClean="0">
                <a:sym typeface="Symbol" pitchFamily="18" charset="2"/>
              </a:rPr>
              <a:t>X</a:t>
            </a:r>
            <a:r>
              <a:rPr lang="en-US" altLang="en-US" i="0" smtClean="0">
                <a:sym typeface="Symbol" pitchFamily="18" charset="2"/>
              </a:rPr>
              <a:t>  1022)=P(z  [1022-1050]/12.5)</a:t>
            </a:r>
          </a:p>
          <a:p>
            <a:pPr>
              <a:buFont typeface="Monotype Sorts" pitchFamily="2" charset="2"/>
              <a:buNone/>
            </a:pPr>
            <a:r>
              <a:rPr lang="en-US" altLang="en-US" i="0" smtClean="0">
                <a:sym typeface="Symbol" pitchFamily="18" charset="2"/>
              </a:rPr>
              <a:t>	=P(z  -28/12.5)=P(z  -2.24) = .0125</a:t>
            </a:r>
          </a:p>
          <a:p>
            <a:pPr>
              <a:buFont typeface="Monotype Sorts" pitchFamily="2" charset="2"/>
              <a:buNone/>
            </a:pPr>
            <a:r>
              <a:rPr lang="en-US" altLang="en-US" i="0" smtClean="0">
                <a:sym typeface="Symbol" pitchFamily="18" charset="2"/>
              </a:rPr>
              <a:t>	Suspicious of claim that average is $1050; evidence is that average income is less.</a:t>
            </a:r>
          </a:p>
          <a:p>
            <a:endParaRPr lang="en-US" altLang="en-US" i="0" smtClean="0">
              <a:sym typeface="Symbol" pitchFamily="18" charset="2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3848100" y="16002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7327900" y="1612900"/>
            <a:ext cx="368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2927350" y="2057400"/>
            <a:ext cx="342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2654300" y="44196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i="1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2560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501900"/>
            <a:ext cx="34861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2349500"/>
            <a:ext cx="3395663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803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990600"/>
          </a:xfrm>
        </p:spPr>
        <p:txBody>
          <a:bodyPr/>
          <a:lstStyle/>
          <a:p>
            <a:r>
              <a:rPr lang="en-US" altLang="en-US" smtClean="0"/>
              <a:t>Example 7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447800"/>
            <a:ext cx="7772400" cy="1752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sz="2800"/>
              <a:t>12% of students at NCSU are left-handed.  What is the probability that in a sample of 100 students, the sample proportion that are left-handed is less than 11%?</a:t>
            </a:r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895600" y="3048001"/>
          <a:ext cx="63309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8" name="Equation" r:id="rId4" imgW="3187440" imgH="469800" progId="Equation.DSMT4">
                  <p:embed/>
                </p:oleObj>
              </mc:Choice>
              <mc:Fallback>
                <p:oleObj name="Equation" r:id="rId4" imgW="3187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048001"/>
                        <a:ext cx="63309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9"/>
          <p:cNvGraphicFramePr>
            <a:graphicFrameLocks noChangeAspect="1"/>
          </p:cNvGraphicFramePr>
          <p:nvPr/>
        </p:nvGraphicFramePr>
        <p:xfrm>
          <a:off x="3200400" y="3962401"/>
          <a:ext cx="4953000" cy="242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9" name="Equation" r:id="rId6" imgW="1815840" imgH="888840" progId="Equation.DSMT4">
                  <p:embed/>
                </p:oleObj>
              </mc:Choice>
              <mc:Fallback>
                <p:oleObj name="Equation" r:id="rId6" imgW="181584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962401"/>
                        <a:ext cx="4953000" cy="242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Content Placeholder 1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16545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7772400" cy="762000"/>
          </a:xfrm>
        </p:spPr>
        <p:txBody>
          <a:bodyPr/>
          <a:lstStyle/>
          <a:p>
            <a:r>
              <a:rPr lang="en-US" altLang="en-US" smtClean="0"/>
              <a:t>Example 7 (cont.)</a:t>
            </a: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6400800" y="1143000"/>
          <a:ext cx="42672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0" name="Equation" r:id="rId3" imgW="2197100" imgH="660400" progId="Equation.DSMT4">
                  <p:embed/>
                </p:oleObj>
              </mc:Choice>
              <mc:Fallback>
                <p:oleObj name="Equation" r:id="rId3" imgW="2197100" imgH="66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143000"/>
                        <a:ext cx="42672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764" y="798514"/>
            <a:ext cx="4745037" cy="268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7653" name="Content Placeholder 4"/>
          <p:cNvGraphicFramePr>
            <a:graphicFrameLocks noGrp="1" noChangeAspect="1"/>
          </p:cNvGraphicFramePr>
          <p:nvPr>
            <p:ph idx="1"/>
          </p:nvPr>
        </p:nvGraphicFramePr>
        <p:xfrm>
          <a:off x="6059488" y="2819400"/>
          <a:ext cx="368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1" name="Equation" r:id="rId6" imgW="114120" imgH="164880" progId="Equation.DSMT4">
                  <p:embed/>
                </p:oleObj>
              </mc:Choice>
              <mc:Fallback>
                <p:oleObj name="Equation" r:id="rId6" imgW="114120" imgH="1648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9488" y="2819400"/>
                        <a:ext cx="3683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5"/>
          <p:cNvGraphicFramePr>
            <a:graphicFrameLocks noChangeAspect="1"/>
          </p:cNvGraphicFramePr>
          <p:nvPr/>
        </p:nvGraphicFramePr>
        <p:xfrm>
          <a:off x="2133600" y="1524001"/>
          <a:ext cx="14478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2" name="Equation" r:id="rId8" imgW="863280" imgH="164880" progId="Equation.DSMT4">
                  <p:embed/>
                </p:oleObj>
              </mc:Choice>
              <mc:Fallback>
                <p:oleObj name="Equation" r:id="rId8" imgW="8632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524001"/>
                        <a:ext cx="1447800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6"/>
          <p:cNvGraphicFramePr>
            <a:graphicFrameLocks noChangeAspect="1"/>
          </p:cNvGraphicFramePr>
          <p:nvPr/>
        </p:nvGraphicFramePr>
        <p:xfrm>
          <a:off x="3421063" y="3721101"/>
          <a:ext cx="8382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3" name="Equation" r:id="rId10" imgW="469800" imgH="203040" progId="Equation.DSMT4">
                  <p:embed/>
                </p:oleObj>
              </mc:Choice>
              <mc:Fallback>
                <p:oleObj name="Equation" r:id="rId10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3721101"/>
                        <a:ext cx="8382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656" name="Straight Connector 8"/>
          <p:cNvCxnSpPr>
            <a:cxnSpLocks noChangeShapeType="1"/>
          </p:cNvCxnSpPr>
          <p:nvPr/>
        </p:nvCxnSpPr>
        <p:spPr bwMode="auto">
          <a:xfrm flipV="1">
            <a:off x="3733801" y="3200400"/>
            <a:ext cx="106363" cy="55880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27657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175" y="3506788"/>
            <a:ext cx="4929188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7658" name="Object 17"/>
          <p:cNvGraphicFramePr>
            <a:graphicFrameLocks noChangeAspect="1"/>
          </p:cNvGraphicFramePr>
          <p:nvPr/>
        </p:nvGraphicFramePr>
        <p:xfrm>
          <a:off x="7772400" y="6084888"/>
          <a:ext cx="1066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4" name="Equation" r:id="rId13" imgW="533160" imgH="177480" progId="Equation.DSMT4">
                  <p:embed/>
                </p:oleObj>
              </mc:Choice>
              <mc:Fallback>
                <p:oleObj name="Equation" r:id="rId13" imgW="533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6084888"/>
                        <a:ext cx="1066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8"/>
          <p:cNvGraphicFramePr>
            <a:graphicFrameLocks noChangeAspect="1"/>
          </p:cNvGraphicFramePr>
          <p:nvPr/>
        </p:nvGraphicFramePr>
        <p:xfrm>
          <a:off x="6248400" y="3670300"/>
          <a:ext cx="2209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5" name="Equation" r:id="rId15" imgW="1218960" imgH="203040" progId="Equation.DSMT4">
                  <p:embed/>
                </p:oleObj>
              </mc:Choice>
              <mc:Fallback>
                <p:oleObj name="Equation" r:id="rId15" imgW="1218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670300"/>
                        <a:ext cx="2209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660" name="Straight Connector 20"/>
          <p:cNvCxnSpPr>
            <a:cxnSpLocks noChangeShapeType="1"/>
          </p:cNvCxnSpPr>
          <p:nvPr/>
        </p:nvCxnSpPr>
        <p:spPr bwMode="auto">
          <a:xfrm>
            <a:off x="8001001" y="5791200"/>
            <a:ext cx="180975" cy="382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7661" name="Straight Connector 22"/>
          <p:cNvCxnSpPr>
            <a:cxnSpLocks noChangeShapeType="1"/>
          </p:cNvCxnSpPr>
          <p:nvPr/>
        </p:nvCxnSpPr>
        <p:spPr bwMode="auto">
          <a:xfrm>
            <a:off x="6934200" y="4038600"/>
            <a:ext cx="304800" cy="8016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76297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flags">
  <a:themeElements>
    <a:clrScheme name="">
      <a:dk1>
        <a:srgbClr val="000000"/>
      </a:dk1>
      <a:lt1>
        <a:srgbClr val="CECECE"/>
      </a:lt1>
      <a:dk2>
        <a:srgbClr val="000080"/>
      </a:dk2>
      <a:lt2>
        <a:srgbClr val="949494"/>
      </a:lt2>
      <a:accent1>
        <a:srgbClr val="00B7A5"/>
      </a:accent1>
      <a:accent2>
        <a:srgbClr val="0000FF"/>
      </a:accent2>
      <a:accent3>
        <a:srgbClr val="E3E3E3"/>
      </a:accent3>
      <a:accent4>
        <a:srgbClr val="000000"/>
      </a:accent4>
      <a:accent5>
        <a:srgbClr val="AAD8CF"/>
      </a:accent5>
      <a:accent6>
        <a:srgbClr val="0000E7"/>
      </a:accent6>
      <a:hlink>
        <a:srgbClr val="FF0000"/>
      </a:hlink>
      <a:folHlink>
        <a:srgbClr val="E0E0E0"/>
      </a:folHlink>
    </a:clrScheme>
    <a:fontScheme name="flags.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lags.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ags.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lags">
  <a:themeElements>
    <a:clrScheme name="">
      <a:dk1>
        <a:srgbClr val="000000"/>
      </a:dk1>
      <a:lt1>
        <a:srgbClr val="CECECE"/>
      </a:lt1>
      <a:dk2>
        <a:srgbClr val="000080"/>
      </a:dk2>
      <a:lt2>
        <a:srgbClr val="949494"/>
      </a:lt2>
      <a:accent1>
        <a:srgbClr val="00B7A5"/>
      </a:accent1>
      <a:accent2>
        <a:srgbClr val="0000FF"/>
      </a:accent2>
      <a:accent3>
        <a:srgbClr val="E3E3E3"/>
      </a:accent3>
      <a:accent4>
        <a:srgbClr val="000000"/>
      </a:accent4>
      <a:accent5>
        <a:srgbClr val="AAD8CF"/>
      </a:accent5>
      <a:accent6>
        <a:srgbClr val="0000E7"/>
      </a:accent6>
      <a:hlink>
        <a:srgbClr val="FF0000"/>
      </a:hlink>
      <a:folHlink>
        <a:srgbClr val="E0E0E0"/>
      </a:folHlink>
    </a:clrScheme>
    <a:fontScheme name="flags.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lags.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ags.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.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flags">
  <a:themeElements>
    <a:clrScheme name="">
      <a:dk1>
        <a:srgbClr val="000000"/>
      </a:dk1>
      <a:lt1>
        <a:srgbClr val="CECECE"/>
      </a:lt1>
      <a:dk2>
        <a:srgbClr val="000080"/>
      </a:dk2>
      <a:lt2>
        <a:srgbClr val="949494"/>
      </a:lt2>
      <a:accent1>
        <a:srgbClr val="00B7A5"/>
      </a:accent1>
      <a:accent2>
        <a:srgbClr val="0000FF"/>
      </a:accent2>
      <a:accent3>
        <a:srgbClr val="E3E3E3"/>
      </a:accent3>
      <a:accent4>
        <a:srgbClr val="000000"/>
      </a:accent4>
      <a:accent5>
        <a:srgbClr val="AAD8CF"/>
      </a:accent5>
      <a:accent6>
        <a:srgbClr val="0000E7"/>
      </a:accent6>
      <a:hlink>
        <a:srgbClr val="FF0000"/>
      </a:hlink>
      <a:folHlink>
        <a:srgbClr val="E0E0E0"/>
      </a:folHlink>
    </a:clrScheme>
    <a:fontScheme name="flag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lag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ag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ag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3173</Words>
  <Application>Microsoft Office PowerPoint</Application>
  <PresentationFormat>Widescreen</PresentationFormat>
  <Paragraphs>459</Paragraphs>
  <Slides>73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73</vt:i4>
      </vt:variant>
    </vt:vector>
  </HeadingPairs>
  <TitlesOfParts>
    <vt:vector size="89" baseType="lpstr">
      <vt:lpstr>Arial</vt:lpstr>
      <vt:lpstr>Arial Narrow</vt:lpstr>
      <vt:lpstr>Calibri</vt:lpstr>
      <vt:lpstr>Mathematica1</vt:lpstr>
      <vt:lpstr>Monotype Sorts</vt:lpstr>
      <vt:lpstr>Symbol</vt:lpstr>
      <vt:lpstr>Times New Roman</vt:lpstr>
      <vt:lpstr>Wingdings</vt:lpstr>
      <vt:lpstr>flags</vt:lpstr>
      <vt:lpstr>1_flags</vt:lpstr>
      <vt:lpstr>2_flags</vt:lpstr>
      <vt:lpstr>Equation</vt:lpstr>
      <vt:lpstr>MathType 6.0 Equation</vt:lpstr>
      <vt:lpstr>Worksheet</vt:lpstr>
      <vt:lpstr>Slide</vt:lpstr>
      <vt:lpstr>Bitmap Image</vt:lpstr>
      <vt:lpstr>Sampling Distribution Models and the Central Limit Theorem</vt:lpstr>
      <vt:lpstr>PowerPoint Presentation</vt:lpstr>
      <vt:lpstr>PowerPoint Presentation</vt:lpstr>
      <vt:lpstr>Sampling Distributions</vt:lpstr>
      <vt:lpstr>Parameters; Statistics</vt:lpstr>
      <vt:lpstr>DEFINITION: Sampling Distribution</vt:lpstr>
      <vt:lpstr>Constructing a Sampling Distribution</vt:lpstr>
      <vt:lpstr>Sampling Distribution Models of Sample Proportions</vt:lpstr>
      <vt:lpstr>Example: sampling distribution of p, the sample proportion</vt:lpstr>
      <vt:lpstr>Example: Sampling distribution of p</vt:lpstr>
      <vt:lpstr>Sampling distribution of p</vt:lpstr>
      <vt:lpstr>Sampling distribution of p (cont.)</vt:lpstr>
      <vt:lpstr>Expected Value and Standard Deviation of the Sampling Distribution of p</vt:lpstr>
      <vt:lpstr>Shape of Sampling Distribution of p</vt:lpstr>
      <vt:lpstr>Shape of Sampling Distribution of p</vt:lpstr>
      <vt:lpstr>Example</vt:lpstr>
      <vt:lpstr>PowerPoint Presentation</vt:lpstr>
      <vt:lpstr>Example: binge drinking by college students</vt:lpstr>
      <vt:lpstr>Example: binge drinking by college students (cont.)</vt:lpstr>
      <vt:lpstr>Example: binge drinking by college students (cont.)</vt:lpstr>
      <vt:lpstr> Example: snapchat by college students</vt:lpstr>
      <vt:lpstr>Example: snapchat by college students (cont.)</vt:lpstr>
      <vt:lpstr>Example: snapchat by college students (cont.)</vt:lpstr>
      <vt:lpstr>Sampling Distribution Models of Sample Means</vt:lpstr>
      <vt:lpstr>Another Population Parameter of Frequent Interest: the Population Mean µ</vt:lpstr>
      <vt:lpstr>Example</vt:lpstr>
      <vt:lpstr>Solution</vt:lpstr>
      <vt:lpstr>PowerPoint Presentation</vt:lpstr>
      <vt:lpstr>Probability Distribution of the Sample Mean Age of 2 Cars</vt:lpstr>
      <vt:lpstr>Solution (cont.)</vt:lpstr>
      <vt:lpstr>Expected Value and Standard Deviation of the Sampling Distribution of x</vt:lpstr>
      <vt:lpstr>Example (cont.)</vt:lpstr>
      <vt:lpstr>PowerPoint Presentation</vt:lpstr>
      <vt:lpstr>Example (cont.)</vt:lpstr>
      <vt:lpstr>IMPORTANT</vt:lpstr>
      <vt:lpstr>Sampling Distribution of the Sample Mean X: Example</vt:lpstr>
      <vt:lpstr>PowerPoint Presentation</vt:lpstr>
      <vt:lpstr>PowerPoint Presentation</vt:lpstr>
      <vt:lpstr>PowerPoint Presentation</vt:lpstr>
      <vt:lpstr>     The variance of the sample mean is smaller       than the variance of the population.</vt:lpstr>
      <vt:lpstr>Properties of the Sampling Distribution of x</vt:lpstr>
      <vt:lpstr>PowerPoint Presentation</vt:lpstr>
      <vt:lpstr>PowerPoint Presentation</vt:lpstr>
      <vt:lpstr>PowerPoint Presentation</vt:lpstr>
      <vt:lpstr>Consequences</vt:lpstr>
      <vt:lpstr>A Billion Dollar Mistake</vt:lpstr>
      <vt:lpstr>A Billion Dollar Mistake (cont.)</vt:lpstr>
      <vt:lpstr>We Know More!</vt:lpstr>
      <vt:lpstr>THE CENTRAL LIMIT THEOREM</vt:lpstr>
      <vt:lpstr>But first,…Sampling Distribution of x- Normally Distributed Population</vt:lpstr>
      <vt:lpstr>Normal Populations</vt:lpstr>
      <vt:lpstr>Non-normal Populations</vt:lpstr>
      <vt:lpstr>The Central Limit Theorem (for the sample mean x)</vt:lpstr>
      <vt:lpstr>The Importance of the Central Limit Theorem</vt:lpstr>
      <vt:lpstr>How Large Should n Be? </vt:lpstr>
      <vt:lpstr>Summary</vt:lpstr>
      <vt:lpstr>The Central Limit Theorem (for the sample proportion p )</vt:lpstr>
      <vt:lpstr>The Importance of the Central Limit Theorem</vt:lpstr>
      <vt:lpstr>How Large Should n Be? </vt:lpstr>
      <vt:lpstr>Population Parameters and Sample Statistics</vt:lpstr>
      <vt:lpstr>Example</vt:lpstr>
      <vt:lpstr>Example (cont.)</vt:lpstr>
      <vt:lpstr>Example 2</vt:lpstr>
      <vt:lpstr>Example 2(cont.)</vt:lpstr>
      <vt:lpstr>Example 3</vt:lpstr>
      <vt:lpstr>Example 3 (cont.)</vt:lpstr>
      <vt:lpstr>Example 4 </vt:lpstr>
      <vt:lpstr>Example 5</vt:lpstr>
      <vt:lpstr>Population X: amount of salmon in a can E(x)=6.05 oz, SD(x) = .18 oz</vt:lpstr>
      <vt:lpstr>PowerPoint Presentation</vt:lpstr>
      <vt:lpstr>Example 6</vt:lpstr>
      <vt:lpstr>Example 7</vt:lpstr>
      <vt:lpstr>Example 7 (cont.)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Reiland</dc:creator>
  <cp:lastModifiedBy>Tom Reiland</cp:lastModifiedBy>
  <cp:revision>45</cp:revision>
  <cp:lastPrinted>2016-03-16T12:39:34Z</cp:lastPrinted>
  <dcterms:created xsi:type="dcterms:W3CDTF">2016-03-04T14:22:30Z</dcterms:created>
  <dcterms:modified xsi:type="dcterms:W3CDTF">2017-03-16T16:24:29Z</dcterms:modified>
</cp:coreProperties>
</file>