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ink/ink2.xml" ContentType="application/inkml+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ink/ink3.xml" ContentType="application/inkml+xml"/>
  <Override PartName="/ppt/notesSlides/notesSlide58.xml" ContentType="application/vnd.openxmlformats-officedocument.presentationml.notesSlide+xml"/>
  <Override PartName="/ppt/ink/ink4.xml" ContentType="application/inkml+xml"/>
  <Override PartName="/ppt/ink/ink5.xml" ContentType="application/inkml+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notesMasterIdLst>
    <p:notesMasterId r:id="rId70"/>
  </p:notesMasterIdLst>
  <p:handoutMasterIdLst>
    <p:handoutMasterId r:id="rId71"/>
  </p:handoutMasterIdLst>
  <p:sldIdLst>
    <p:sldId id="257" r:id="rId2"/>
    <p:sldId id="258" r:id="rId3"/>
    <p:sldId id="259" r:id="rId4"/>
    <p:sldId id="260" r:id="rId5"/>
    <p:sldId id="261" r:id="rId6"/>
    <p:sldId id="262" r:id="rId7"/>
    <p:sldId id="264" r:id="rId8"/>
    <p:sldId id="265" r:id="rId9"/>
    <p:sldId id="315" r:id="rId10"/>
    <p:sldId id="266" r:id="rId11"/>
    <p:sldId id="316" r:id="rId12"/>
    <p:sldId id="317" r:id="rId13"/>
    <p:sldId id="267" r:id="rId14"/>
    <p:sldId id="268" r:id="rId15"/>
    <p:sldId id="269" r:id="rId16"/>
    <p:sldId id="270" r:id="rId17"/>
    <p:sldId id="271" r:id="rId18"/>
    <p:sldId id="272" r:id="rId19"/>
    <p:sldId id="273" r:id="rId20"/>
    <p:sldId id="319" r:id="rId21"/>
    <p:sldId id="274" r:id="rId22"/>
    <p:sldId id="275" r:id="rId23"/>
    <p:sldId id="276" r:id="rId24"/>
    <p:sldId id="277" r:id="rId25"/>
    <p:sldId id="318" r:id="rId26"/>
    <p:sldId id="278" r:id="rId27"/>
    <p:sldId id="279" r:id="rId28"/>
    <p:sldId id="280" r:id="rId29"/>
    <p:sldId id="281" r:id="rId30"/>
    <p:sldId id="320" r:id="rId31"/>
    <p:sldId id="282" r:id="rId32"/>
    <p:sldId id="283" r:id="rId33"/>
    <p:sldId id="284" r:id="rId34"/>
    <p:sldId id="285" r:id="rId35"/>
    <p:sldId id="286" r:id="rId36"/>
    <p:sldId id="287" r:id="rId37"/>
    <p:sldId id="288" r:id="rId38"/>
    <p:sldId id="322" r:id="rId39"/>
    <p:sldId id="323" r:id="rId40"/>
    <p:sldId id="324" r:id="rId41"/>
    <p:sldId id="328" r:id="rId42"/>
    <p:sldId id="325" r:id="rId43"/>
    <p:sldId id="326" r:id="rId44"/>
    <p:sldId id="327"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29" r:id="rId66"/>
    <p:sldId id="330" r:id="rId67"/>
    <p:sldId id="331" r:id="rId68"/>
    <p:sldId id="309" r:id="rId69"/>
  </p:sldIdLst>
  <p:sldSz cx="9144000" cy="6858000" type="screen4x3"/>
  <p:notesSz cx="7023100" cy="93091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800" i="1" kern="1200">
        <a:solidFill>
          <a:schemeClr val="tx1"/>
        </a:solidFill>
        <a:latin typeface="Arial Narrow" panose="020B0606020202030204" pitchFamily="34" charset="0"/>
        <a:ea typeface="+mn-ea"/>
        <a:cs typeface="+mn-cs"/>
      </a:defRPr>
    </a:lvl1pPr>
    <a:lvl2pPr marL="457200" algn="l" rtl="0" eaLnBrk="0" fontAlgn="base" hangingPunct="0">
      <a:spcBef>
        <a:spcPct val="0"/>
      </a:spcBef>
      <a:spcAft>
        <a:spcPct val="0"/>
      </a:spcAft>
      <a:defRPr sz="2800" i="1" kern="1200">
        <a:solidFill>
          <a:schemeClr val="tx1"/>
        </a:solidFill>
        <a:latin typeface="Arial Narrow" panose="020B0606020202030204" pitchFamily="34" charset="0"/>
        <a:ea typeface="+mn-ea"/>
        <a:cs typeface="+mn-cs"/>
      </a:defRPr>
    </a:lvl2pPr>
    <a:lvl3pPr marL="914400" algn="l" rtl="0" eaLnBrk="0" fontAlgn="base" hangingPunct="0">
      <a:spcBef>
        <a:spcPct val="0"/>
      </a:spcBef>
      <a:spcAft>
        <a:spcPct val="0"/>
      </a:spcAft>
      <a:defRPr sz="2800" i="1" kern="1200">
        <a:solidFill>
          <a:schemeClr val="tx1"/>
        </a:solidFill>
        <a:latin typeface="Arial Narrow" panose="020B0606020202030204" pitchFamily="34" charset="0"/>
        <a:ea typeface="+mn-ea"/>
        <a:cs typeface="+mn-cs"/>
      </a:defRPr>
    </a:lvl3pPr>
    <a:lvl4pPr marL="1371600" algn="l" rtl="0" eaLnBrk="0" fontAlgn="base" hangingPunct="0">
      <a:spcBef>
        <a:spcPct val="0"/>
      </a:spcBef>
      <a:spcAft>
        <a:spcPct val="0"/>
      </a:spcAft>
      <a:defRPr sz="2800" i="1" kern="1200">
        <a:solidFill>
          <a:schemeClr val="tx1"/>
        </a:solidFill>
        <a:latin typeface="Arial Narrow" panose="020B0606020202030204" pitchFamily="34" charset="0"/>
        <a:ea typeface="+mn-ea"/>
        <a:cs typeface="+mn-cs"/>
      </a:defRPr>
    </a:lvl4pPr>
    <a:lvl5pPr marL="1828800" algn="l" rtl="0" eaLnBrk="0" fontAlgn="base" hangingPunct="0">
      <a:spcBef>
        <a:spcPct val="0"/>
      </a:spcBef>
      <a:spcAft>
        <a:spcPct val="0"/>
      </a:spcAft>
      <a:defRPr sz="2800" i="1" kern="1200">
        <a:solidFill>
          <a:schemeClr val="tx1"/>
        </a:solidFill>
        <a:latin typeface="Arial Narrow" panose="020B0606020202030204" pitchFamily="34" charset="0"/>
        <a:ea typeface="+mn-ea"/>
        <a:cs typeface="+mn-cs"/>
      </a:defRPr>
    </a:lvl5pPr>
    <a:lvl6pPr marL="2286000" algn="l" defTabSz="914400" rtl="0" eaLnBrk="1" latinLnBrk="0" hangingPunct="1">
      <a:defRPr sz="2800" i="1" kern="1200">
        <a:solidFill>
          <a:schemeClr val="tx1"/>
        </a:solidFill>
        <a:latin typeface="Arial Narrow" panose="020B0606020202030204" pitchFamily="34" charset="0"/>
        <a:ea typeface="+mn-ea"/>
        <a:cs typeface="+mn-cs"/>
      </a:defRPr>
    </a:lvl6pPr>
    <a:lvl7pPr marL="2743200" algn="l" defTabSz="914400" rtl="0" eaLnBrk="1" latinLnBrk="0" hangingPunct="1">
      <a:defRPr sz="2800" i="1" kern="1200">
        <a:solidFill>
          <a:schemeClr val="tx1"/>
        </a:solidFill>
        <a:latin typeface="Arial Narrow" panose="020B0606020202030204" pitchFamily="34" charset="0"/>
        <a:ea typeface="+mn-ea"/>
        <a:cs typeface="+mn-cs"/>
      </a:defRPr>
    </a:lvl7pPr>
    <a:lvl8pPr marL="3200400" algn="l" defTabSz="914400" rtl="0" eaLnBrk="1" latinLnBrk="0" hangingPunct="1">
      <a:defRPr sz="2800" i="1" kern="1200">
        <a:solidFill>
          <a:schemeClr val="tx1"/>
        </a:solidFill>
        <a:latin typeface="Arial Narrow" panose="020B0606020202030204" pitchFamily="34" charset="0"/>
        <a:ea typeface="+mn-ea"/>
        <a:cs typeface="+mn-cs"/>
      </a:defRPr>
    </a:lvl8pPr>
    <a:lvl9pPr marL="3657600" algn="l" defTabSz="914400" rtl="0" eaLnBrk="1" latinLnBrk="0" hangingPunct="1">
      <a:defRPr sz="2800" i="1" kern="1200">
        <a:solidFill>
          <a:schemeClr val="tx1"/>
        </a:solidFill>
        <a:latin typeface="Arial Narrow" panose="020B0606020202030204" pitchFamily="34" charset="0"/>
        <a:ea typeface="+mn-ea"/>
        <a:cs typeface="+mn-cs"/>
      </a:defRPr>
    </a:lvl9pPr>
  </p:defaultTextStyle>
  <p:extLst>
    <p:ext uri="{EFAFB233-063F-42B5-8137-9DF3F51BA10A}">
      <p15:sldGuideLst xmlns:p15="http://schemas.microsoft.com/office/powerpoint/2012/main">
        <p15:guide id="1" orient="horz" pos="632">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FF"/>
    <a:srgbClr val="000000"/>
    <a:srgbClr val="414141"/>
    <a:srgbClr val="FF9900"/>
    <a:srgbClr val="000066"/>
    <a:srgbClr val="000099"/>
    <a:srgbClr val="0033CC"/>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9168" autoAdjust="0"/>
  </p:normalViewPr>
  <p:slideViewPr>
    <p:cSldViewPr snapToGrid="0">
      <p:cViewPr varScale="1">
        <p:scale>
          <a:sx n="82" d="100"/>
          <a:sy n="82" d="100"/>
        </p:scale>
        <p:origin x="1474" y="48"/>
      </p:cViewPr>
      <p:guideLst>
        <p:guide orient="horz" pos="632"/>
        <p:guide pos="2880"/>
      </p:guideLst>
    </p:cSldViewPr>
  </p:slideViewPr>
  <p:notesTextViewPr>
    <p:cViewPr>
      <p:scale>
        <a:sx n="100" d="100"/>
        <a:sy n="100" d="100"/>
      </p:scale>
      <p:origin x="0" y="0"/>
    </p:cViewPr>
  </p:notesTextViewPr>
  <p:sorterViewPr>
    <p:cViewPr>
      <p:scale>
        <a:sx n="66" d="100"/>
        <a:sy n="66" d="100"/>
      </p:scale>
      <p:origin x="0" y="418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6545263" y="8909050"/>
            <a:ext cx="406400" cy="306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352" tIns="45366" rIns="92352" bIns="45366" anchor="ctr">
            <a:spAutoFit/>
          </a:bodyPr>
          <a:lstStyle>
            <a:lvl1pPr defTabSz="933450">
              <a:defRPr sz="2400">
                <a:solidFill>
                  <a:schemeClr val="tx1"/>
                </a:solidFill>
                <a:latin typeface="Times New Roman" panose="02020603050405020304" pitchFamily="18" charset="0"/>
              </a:defRPr>
            </a:lvl1pPr>
            <a:lvl2pPr marL="466725" defTabSz="933450">
              <a:defRPr sz="2400">
                <a:solidFill>
                  <a:schemeClr val="tx1"/>
                </a:solidFill>
                <a:latin typeface="Times New Roman" panose="02020603050405020304" pitchFamily="18" charset="0"/>
              </a:defRPr>
            </a:lvl2pPr>
            <a:lvl3pPr marL="933450" defTabSz="933450">
              <a:defRPr sz="2400">
                <a:solidFill>
                  <a:schemeClr val="tx1"/>
                </a:solidFill>
                <a:latin typeface="Times New Roman" panose="02020603050405020304" pitchFamily="18" charset="0"/>
              </a:defRPr>
            </a:lvl3pPr>
            <a:lvl4pPr marL="1400175" defTabSz="933450">
              <a:defRPr sz="2400">
                <a:solidFill>
                  <a:schemeClr val="tx1"/>
                </a:solidFill>
                <a:latin typeface="Times New Roman" panose="02020603050405020304" pitchFamily="18" charset="0"/>
              </a:defRPr>
            </a:lvl4pPr>
            <a:lvl5pPr marL="1866900" defTabSz="933450">
              <a:defRPr sz="2400">
                <a:solidFill>
                  <a:schemeClr val="tx1"/>
                </a:solidFill>
                <a:latin typeface="Times New Roman" panose="02020603050405020304" pitchFamily="18" charset="0"/>
              </a:defRPr>
            </a:lvl5pPr>
            <a:lvl6pPr marL="2324100" defTabSz="933450" eaLnBrk="0" fontAlgn="base" hangingPunct="0">
              <a:spcBef>
                <a:spcPct val="0"/>
              </a:spcBef>
              <a:spcAft>
                <a:spcPct val="0"/>
              </a:spcAft>
              <a:defRPr sz="2400">
                <a:solidFill>
                  <a:schemeClr val="tx1"/>
                </a:solidFill>
                <a:latin typeface="Times New Roman" panose="02020603050405020304" pitchFamily="18" charset="0"/>
              </a:defRPr>
            </a:lvl6pPr>
            <a:lvl7pPr marL="2781300" defTabSz="933450" eaLnBrk="0" fontAlgn="base" hangingPunct="0">
              <a:spcBef>
                <a:spcPct val="0"/>
              </a:spcBef>
              <a:spcAft>
                <a:spcPct val="0"/>
              </a:spcAft>
              <a:defRPr sz="2400">
                <a:solidFill>
                  <a:schemeClr val="tx1"/>
                </a:solidFill>
                <a:latin typeface="Times New Roman" panose="02020603050405020304" pitchFamily="18" charset="0"/>
              </a:defRPr>
            </a:lvl7pPr>
            <a:lvl8pPr marL="3238500" defTabSz="933450" eaLnBrk="0" fontAlgn="base" hangingPunct="0">
              <a:spcBef>
                <a:spcPct val="0"/>
              </a:spcBef>
              <a:spcAft>
                <a:spcPct val="0"/>
              </a:spcAft>
              <a:defRPr sz="2400">
                <a:solidFill>
                  <a:schemeClr val="tx1"/>
                </a:solidFill>
                <a:latin typeface="Times New Roman" panose="02020603050405020304" pitchFamily="18" charset="0"/>
              </a:defRPr>
            </a:lvl8pPr>
            <a:lvl9pPr marL="3695700" defTabSz="93345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10E8E535-E097-4A58-8C76-13A19A170BE1}" type="slidenum">
              <a:rPr lang="ar-SA" sz="1400" i="0">
                <a:latin typeface="Book Antiqua" panose="02040602050305030304" pitchFamily="18" charset="0"/>
              </a:rPr>
              <a:pPr algn="r"/>
              <a:t>‹#›</a:t>
            </a:fld>
            <a:endParaRPr lang="en-US" sz="1400" i="0">
              <a:latin typeface="Book Antiqua" panose="02040602050305030304" pitchFamily="18" charset="0"/>
            </a:endParaRPr>
          </a:p>
        </p:txBody>
      </p:sp>
    </p:spTree>
    <p:extLst>
      <p:ext uri="{BB962C8B-B14F-4D97-AF65-F5344CB8AC3E}">
        <p14:creationId xmlns:p14="http://schemas.microsoft.com/office/powerpoint/2010/main" val="484505933"/>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408" units="cm"/>
          <inkml:channel name="Y" type="integer" max="1920" units="cm"/>
        </inkml:traceFormat>
        <inkml:channelProperties>
          <inkml:channelProperty channel="X" name="resolution" value="115.91837" units="1/cm"/>
          <inkml:channelProperty channel="Y" name="resolution" value="116.36364" units="1/cm"/>
        </inkml:channelProperties>
      </inkml:inkSource>
      <inkml:timestamp xml:id="ts0" timeString="2022-02-23T12:04:30.515"/>
    </inkml:context>
    <inkml:brush xml:id="br0">
      <inkml:brushProperty name="width" value="0.05292" units="cm"/>
      <inkml:brushProperty name="height" value="0.05292" units="cm"/>
      <inkml:brushProperty name="color" value="#FFC000"/>
    </inkml:brush>
  </inkml:definitions>
  <inkml:trace contextRef="#ctx0" brushRef="#br0">8238 13652,'0'0,"0"0,0 0,10 0,10 0,40 0,59-9,30-1,40-10,20 0,19 0,1 0,9 10,21 0,19-9,20-11,-10 10,50 0,-10 0,0 10,50 0,-1-9,-39 9,30 10,19 10,1 0,-10-10,-11 9,-9 1,29 0,11 0,-50-10,-30 0,20 10,-10 0,-50 0,20 0,-40 10,-9-10,9 0,1 9,39 11,139 0</inkml:trace>
  <inkml:trace contextRef="#ctx0" brushRef="#br0" timeOffset="3342.01">3538 12353,'0'0,"50"-20,69-10,60-10,39 11,11-1,10 20,19-10,10 0,20-9,1-11,-11 0,10-9,-20-11,1 0,9-9,-30 0,1-1,-31 1,-19 9,-20-9,-10-1,-20-9,-20-1,0-9,-19-10,-31 10,-9-1,-31 1,-9-10,-30 0,-20-10,-29-1,-31 1,-9-20,-21 10,1 10,-30-10,-10 0,0 10,-20 19,-20 11,-10 10,1 19,-11 10,-20 1,11 9,-21 0,1 10,-1 10,11 0,-11 20,11 0,-1 20,1 10,-1 9,20 11,21 9,-11 31,30 9,20-10,-30 30,40 10,20 10,9 29,11 11,9-1,41 1,39-30,50 19,29 1,50-1,150 140</inkml:trace>
</inkml:ink>
</file>

<file path=ppt/ink/ink2.xml><?xml version="1.0" encoding="utf-8"?>
<inkml:ink xmlns:inkml="http://www.w3.org/2003/InkML">
  <inkml:definitions>
    <inkml:context xml:id="ctx0">
      <inkml:inkSource xml:id="inkSrc0">
        <inkml:traceFormat>
          <inkml:channel name="X" type="integer" max="3408" units="cm"/>
          <inkml:channel name="Y" type="integer" max="1920" units="cm"/>
        </inkml:traceFormat>
        <inkml:channelProperties>
          <inkml:channelProperty channel="X" name="resolution" value="115.91837" units="1/cm"/>
          <inkml:channelProperty channel="Y" name="resolution" value="116.36364" units="1/cm"/>
        </inkml:channelProperties>
      </inkml:inkSource>
      <inkml:timestamp xml:id="ts0" timeString="2022-02-23T11:46:29.763"/>
    </inkml:context>
    <inkml:brush xml:id="br0">
      <inkml:brushProperty name="width" value="0.05292" units="cm"/>
      <inkml:brushProperty name="height" value="0.05292" units="cm"/>
      <inkml:brushProperty name="color" value="#C00000"/>
    </inkml:brush>
  </inkml:definitions>
  <inkml:trace contextRef="#ctx0" brushRef="#br0">24526 3919,'0'0,"0"0,0 0,0 0</inkml:trace>
</inkml:ink>
</file>

<file path=ppt/ink/ink3.xml><?xml version="1.0" encoding="utf-8"?>
<inkml:ink xmlns:inkml="http://www.w3.org/2003/InkML">
  <inkml:definitions>
    <inkml:context xml:id="ctx0">
      <inkml:inkSource xml:id="inkSrc0">
        <inkml:traceFormat>
          <inkml:channel name="X" type="integer" max="3408" units="cm"/>
          <inkml:channel name="Y" type="integer" max="1920" units="cm"/>
        </inkml:traceFormat>
        <inkml:channelProperties>
          <inkml:channelProperty channel="X" name="resolution" value="115.91837" units="1/cm"/>
          <inkml:channelProperty channel="Y" name="resolution" value="116.36364" units="1/cm"/>
        </inkml:channelProperties>
      </inkml:inkSource>
      <inkml:timestamp xml:id="ts0" timeString="2022-02-23T12:15:04.488"/>
    </inkml:context>
    <inkml:brush xml:id="br0">
      <inkml:brushProperty name="width" value="0.05292" units="cm"/>
      <inkml:brushProperty name="height" value="0.05292" units="cm"/>
      <inkml:brushProperty name="color" value="#00B050"/>
    </inkml:brush>
  </inkml:definitions>
  <inkml:trace contextRef="#ctx0" brushRef="#br0">17689 6290,'0'0,"0"0,0 0,0 0</inkml:trace>
</inkml:ink>
</file>

<file path=ppt/ink/ink4.xml><?xml version="1.0" encoding="utf-8"?>
<inkml:ink xmlns:inkml="http://www.w3.org/2003/InkML">
  <inkml:definitions>
    <inkml:context xml:id="ctx0">
      <inkml:inkSource xml:id="inkSrc0">
        <inkml:traceFormat>
          <inkml:channel name="X" type="integer" max="5760" units="cm"/>
          <inkml:channel name="Y" type="integer" min="-83" max="1537" units="cm"/>
        </inkml:traceFormat>
        <inkml:channelProperties>
          <inkml:channelProperty channel="X" name="resolution" value="195.91837" units="1/cm"/>
          <inkml:channelProperty channel="Y" name="resolution" value="98.18182" units="1/cm"/>
        </inkml:channelProperties>
      </inkml:inkSource>
      <inkml:timestamp xml:id="ts0" timeString="2022-02-28T10:48:24.849"/>
    </inkml:context>
    <inkml:brush xml:id="br0">
      <inkml:brushProperty name="width" value="0.05292" units="cm"/>
      <inkml:brushProperty name="height" value="0.05292" units="cm"/>
      <inkml:brushProperty name="color" value="#FF0000"/>
    </inkml:brush>
  </inkml:definitions>
  <inkml:trace contextRef="#ctx0" brushRef="#br0">22120 5697</inkml:trace>
  <inkml:trace contextRef="#ctx0" brushRef="#br0" timeOffset="4782.44">24148 5203</inkml:trace>
</inkml:ink>
</file>

<file path=ppt/ink/ink5.xml><?xml version="1.0" encoding="utf-8"?>
<inkml:ink xmlns:inkml="http://www.w3.org/2003/InkML">
  <inkml:definitions>
    <inkml:context xml:id="ctx0">
      <inkml:inkSource xml:id="inkSrc0">
        <inkml:traceFormat>
          <inkml:channel name="X" type="integer" max="5760" units="cm"/>
          <inkml:channel name="Y" type="integer" min="-83" max="1537" units="cm"/>
        </inkml:traceFormat>
        <inkml:channelProperties>
          <inkml:channelProperty channel="X" name="resolution" value="195.91837" units="1/cm"/>
          <inkml:channelProperty channel="Y" name="resolution" value="98.18182" units="1/cm"/>
        </inkml:channelProperties>
      </inkml:inkSource>
      <inkml:timestamp xml:id="ts0" timeString="2022-02-28T10:53:20.047"/>
    </inkml:context>
    <inkml:brush xml:id="br0">
      <inkml:brushProperty name="width" value="0.05292" units="cm"/>
      <inkml:brushProperty name="height" value="0.05292" units="cm"/>
      <inkml:brushProperty name="color" value="#92D050"/>
    </inkml:brush>
    <inkml:brush xml:id="br1">
      <inkml:brushProperty name="width" value="0.05292" units="cm"/>
      <inkml:brushProperty name="height" value="0.05292" units="cm"/>
      <inkml:brushProperty name="color" value="#FFC000"/>
    </inkml:brush>
  </inkml:definitions>
  <inkml:trace contextRef="#ctx0" brushRef="#br0">5945 6650,'17'18</inkml:trace>
  <inkml:trace contextRef="#ctx0" brushRef="#br0" timeOffset="-353402.59">5451 14199</inkml:trace>
  <inkml:trace contextRef="#ctx0" brushRef="#br1" timeOffset="-342704.9">5169 8220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36625" y="4421188"/>
            <a:ext cx="5149850" cy="4189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352" tIns="45366" rIns="92352" bIns="45366" numCol="1" anchor="t" anchorCtr="0" compatLnSpc="1">
            <a:prstTxWarp prst="textNoShape">
              <a:avLst/>
            </a:prstTxWarp>
          </a:bodyPr>
          <a:lstStyle/>
          <a:p>
            <a:pPr lvl="0"/>
            <a:r>
              <a:rPr lang="en-US"/>
              <a:t>Click to edit Master notes styles</a:t>
            </a:r>
          </a:p>
          <a:p>
            <a:pPr lvl="0"/>
            <a:r>
              <a:rPr lang="en-US"/>
              <a:t>Second Level</a:t>
            </a:r>
          </a:p>
          <a:p>
            <a:pPr lvl="0"/>
            <a:r>
              <a:rPr lang="en-US"/>
              <a:t>Third Level</a:t>
            </a:r>
          </a:p>
          <a:p>
            <a:pPr lvl="0"/>
            <a:r>
              <a:rPr lang="en-US"/>
              <a:t>Fourth Level</a:t>
            </a:r>
          </a:p>
          <a:p>
            <a:pPr lvl="0"/>
            <a:r>
              <a:rPr lang="en-US"/>
              <a:t>Fifth Level</a:t>
            </a:r>
          </a:p>
        </p:txBody>
      </p:sp>
      <p:sp>
        <p:nvSpPr>
          <p:cNvPr id="2051" name="Rectangle 3"/>
          <p:cNvSpPr>
            <a:spLocks noGrp="1" noRot="1" noChangeAspect="1" noChangeArrowheads="1" noTextEdit="1"/>
          </p:cNvSpPr>
          <p:nvPr>
            <p:ph type="sldImg" idx="2"/>
          </p:nvPr>
        </p:nvSpPr>
        <p:spPr bwMode="auto">
          <a:xfrm>
            <a:off x="1193800" y="704850"/>
            <a:ext cx="4637088" cy="3478213"/>
          </a:xfrm>
          <a:prstGeom prst="rect">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2" name="Rectangle 4"/>
          <p:cNvSpPr>
            <a:spLocks noChangeArrowheads="1"/>
          </p:cNvSpPr>
          <p:nvPr/>
        </p:nvSpPr>
        <p:spPr bwMode="auto">
          <a:xfrm>
            <a:off x="6545263" y="8909050"/>
            <a:ext cx="406400" cy="306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352" tIns="45366" rIns="92352" bIns="45366" anchor="ctr">
            <a:spAutoFit/>
          </a:bodyPr>
          <a:lstStyle>
            <a:lvl1pPr defTabSz="933450">
              <a:defRPr sz="2400">
                <a:solidFill>
                  <a:schemeClr val="tx1"/>
                </a:solidFill>
                <a:latin typeface="Times New Roman" panose="02020603050405020304" pitchFamily="18" charset="0"/>
              </a:defRPr>
            </a:lvl1pPr>
            <a:lvl2pPr marL="466725" defTabSz="933450">
              <a:defRPr sz="2400">
                <a:solidFill>
                  <a:schemeClr val="tx1"/>
                </a:solidFill>
                <a:latin typeface="Times New Roman" panose="02020603050405020304" pitchFamily="18" charset="0"/>
              </a:defRPr>
            </a:lvl2pPr>
            <a:lvl3pPr marL="933450" defTabSz="933450">
              <a:defRPr sz="2400">
                <a:solidFill>
                  <a:schemeClr val="tx1"/>
                </a:solidFill>
                <a:latin typeface="Times New Roman" panose="02020603050405020304" pitchFamily="18" charset="0"/>
              </a:defRPr>
            </a:lvl3pPr>
            <a:lvl4pPr marL="1400175" defTabSz="933450">
              <a:defRPr sz="2400">
                <a:solidFill>
                  <a:schemeClr val="tx1"/>
                </a:solidFill>
                <a:latin typeface="Times New Roman" panose="02020603050405020304" pitchFamily="18" charset="0"/>
              </a:defRPr>
            </a:lvl4pPr>
            <a:lvl5pPr marL="1866900" defTabSz="933450">
              <a:defRPr sz="2400">
                <a:solidFill>
                  <a:schemeClr val="tx1"/>
                </a:solidFill>
                <a:latin typeface="Times New Roman" panose="02020603050405020304" pitchFamily="18" charset="0"/>
              </a:defRPr>
            </a:lvl5pPr>
            <a:lvl6pPr marL="2324100" defTabSz="933450" eaLnBrk="0" fontAlgn="base" hangingPunct="0">
              <a:spcBef>
                <a:spcPct val="0"/>
              </a:spcBef>
              <a:spcAft>
                <a:spcPct val="0"/>
              </a:spcAft>
              <a:defRPr sz="2400">
                <a:solidFill>
                  <a:schemeClr val="tx1"/>
                </a:solidFill>
                <a:latin typeface="Times New Roman" panose="02020603050405020304" pitchFamily="18" charset="0"/>
              </a:defRPr>
            </a:lvl6pPr>
            <a:lvl7pPr marL="2781300" defTabSz="933450" eaLnBrk="0" fontAlgn="base" hangingPunct="0">
              <a:spcBef>
                <a:spcPct val="0"/>
              </a:spcBef>
              <a:spcAft>
                <a:spcPct val="0"/>
              </a:spcAft>
              <a:defRPr sz="2400">
                <a:solidFill>
                  <a:schemeClr val="tx1"/>
                </a:solidFill>
                <a:latin typeface="Times New Roman" panose="02020603050405020304" pitchFamily="18" charset="0"/>
              </a:defRPr>
            </a:lvl7pPr>
            <a:lvl8pPr marL="3238500" defTabSz="933450" eaLnBrk="0" fontAlgn="base" hangingPunct="0">
              <a:spcBef>
                <a:spcPct val="0"/>
              </a:spcBef>
              <a:spcAft>
                <a:spcPct val="0"/>
              </a:spcAft>
              <a:defRPr sz="2400">
                <a:solidFill>
                  <a:schemeClr val="tx1"/>
                </a:solidFill>
                <a:latin typeface="Times New Roman" panose="02020603050405020304" pitchFamily="18" charset="0"/>
              </a:defRPr>
            </a:lvl8pPr>
            <a:lvl9pPr marL="3695700" defTabSz="93345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1EAB1C2E-B31A-410F-9299-F4B15E98D591}" type="slidenum">
              <a:rPr lang="ar-SA" sz="1400" i="0">
                <a:latin typeface="Book Antiqua" panose="02040602050305030304" pitchFamily="18" charset="0"/>
              </a:rPr>
              <a:pPr algn="r"/>
              <a:t>‹#›</a:t>
            </a:fld>
            <a:endParaRPr lang="en-US" sz="1400" i="0">
              <a:latin typeface="Book Antiqua" panose="02040602050305030304" pitchFamily="18" charset="0"/>
            </a:endParaRPr>
          </a:p>
        </p:txBody>
      </p:sp>
    </p:spTree>
    <p:extLst>
      <p:ext uri="{BB962C8B-B14F-4D97-AF65-F5344CB8AC3E}">
        <p14:creationId xmlns:p14="http://schemas.microsoft.com/office/powerpoint/2010/main" val="314853144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Book Antiqua" panose="0204060205030503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Book Antiqua" panose="0204060205030503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Book Antiqua" panose="0204060205030503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Book Antiqua" panose="0204060205030503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Book Antiqua" panose="0204060205030503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xfrm>
            <a:off x="1193800" y="704850"/>
            <a:ext cx="4635500" cy="3478213"/>
          </a:xfrm>
          <a:ln/>
        </p:spPr>
      </p:sp>
      <p:sp>
        <p:nvSpPr>
          <p:cNvPr id="60419"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3031826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xfrm>
            <a:off x="1193800" y="704850"/>
            <a:ext cx="4635500" cy="3478213"/>
          </a:xfrm>
          <a:ln/>
        </p:spPr>
      </p:sp>
      <p:sp>
        <p:nvSpPr>
          <p:cNvPr id="61443"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148662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xfrm>
            <a:off x="1193800" y="704850"/>
            <a:ext cx="4635500" cy="3478213"/>
          </a:xfrm>
          <a:ln/>
        </p:spPr>
      </p:sp>
      <p:sp>
        <p:nvSpPr>
          <p:cNvPr id="62467"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12982524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xfrm>
            <a:off x="1193800" y="704850"/>
            <a:ext cx="4635500" cy="3478213"/>
          </a:xfrm>
          <a:ln/>
        </p:spPr>
      </p:sp>
      <p:sp>
        <p:nvSpPr>
          <p:cNvPr id="63491"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36444138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xfrm>
            <a:off x="1193800" y="704850"/>
            <a:ext cx="4635500" cy="3478213"/>
          </a:xfrm>
          <a:ln/>
        </p:spPr>
      </p:sp>
      <p:sp>
        <p:nvSpPr>
          <p:cNvPr id="64515"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3919654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a:xfrm>
            <a:off x="1193800" y="704850"/>
            <a:ext cx="4635500" cy="3478213"/>
          </a:xfrm>
          <a:ln/>
        </p:spPr>
      </p:sp>
      <p:sp>
        <p:nvSpPr>
          <p:cNvPr id="65539"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3383667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xfrm>
            <a:off x="1193800" y="704850"/>
            <a:ext cx="4635500" cy="3478213"/>
          </a:xfrm>
          <a:ln/>
        </p:spPr>
      </p:sp>
      <p:sp>
        <p:nvSpPr>
          <p:cNvPr id="67587"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8698064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1193800" y="704850"/>
            <a:ext cx="4635500" cy="3478213"/>
          </a:xfrm>
          <a:ln/>
        </p:spPr>
      </p:sp>
      <p:sp>
        <p:nvSpPr>
          <p:cNvPr id="68611"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20782592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xfrm>
            <a:off x="1193800" y="704850"/>
            <a:ext cx="4635500" cy="3478213"/>
          </a:xfrm>
          <a:ln/>
        </p:spPr>
      </p:sp>
      <p:sp>
        <p:nvSpPr>
          <p:cNvPr id="69635"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16614332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1193800" y="704850"/>
            <a:ext cx="4635500" cy="3478213"/>
          </a:xfrm>
          <a:ln/>
        </p:spPr>
      </p:sp>
      <p:sp>
        <p:nvSpPr>
          <p:cNvPr id="70659"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35396993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xfrm>
            <a:off x="1193800" y="704850"/>
            <a:ext cx="4635500" cy="3478213"/>
          </a:xfrm>
          <a:ln/>
        </p:spPr>
      </p:sp>
      <p:sp>
        <p:nvSpPr>
          <p:cNvPr id="71683"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1323043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xfrm>
            <a:off x="1193800" y="704850"/>
            <a:ext cx="4635500" cy="3478213"/>
          </a:xfrm>
          <a:ln/>
        </p:spPr>
      </p:sp>
      <p:sp>
        <p:nvSpPr>
          <p:cNvPr id="72707"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17299816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xfrm>
            <a:off x="1193800" y="704850"/>
            <a:ext cx="4635500" cy="3478213"/>
          </a:xfrm>
          <a:ln/>
        </p:spPr>
      </p:sp>
      <p:sp>
        <p:nvSpPr>
          <p:cNvPr id="73731"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4542481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xfrm>
            <a:off x="1193800" y="704850"/>
            <a:ext cx="4635500" cy="3478213"/>
          </a:xfrm>
          <a:ln/>
        </p:spPr>
      </p:sp>
      <p:sp>
        <p:nvSpPr>
          <p:cNvPr id="74755"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987976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xfrm>
            <a:off x="1193800" y="704850"/>
            <a:ext cx="4635500" cy="3478213"/>
          </a:xfrm>
          <a:ln/>
        </p:spPr>
      </p:sp>
      <p:sp>
        <p:nvSpPr>
          <p:cNvPr id="75779"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27716807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1193800" y="704850"/>
            <a:ext cx="4635500" cy="3478213"/>
          </a:xfrm>
          <a:ln/>
        </p:spPr>
      </p:sp>
      <p:sp>
        <p:nvSpPr>
          <p:cNvPr id="76803"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40812481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1193800" y="704850"/>
            <a:ext cx="4635500" cy="3478213"/>
          </a:xfrm>
          <a:ln/>
        </p:spPr>
      </p:sp>
      <p:sp>
        <p:nvSpPr>
          <p:cNvPr id="77827"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31119256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1193800" y="704850"/>
            <a:ext cx="4635500" cy="3478213"/>
          </a:xfrm>
          <a:ln/>
        </p:spPr>
      </p:sp>
      <p:sp>
        <p:nvSpPr>
          <p:cNvPr id="78851"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33021378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xfrm>
            <a:off x="1193800" y="704850"/>
            <a:ext cx="4635500" cy="3478213"/>
          </a:xfrm>
          <a:ln/>
        </p:spPr>
      </p:sp>
      <p:sp>
        <p:nvSpPr>
          <p:cNvPr id="79875"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367641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1193800" y="704850"/>
            <a:ext cx="4635500" cy="3478213"/>
          </a:xfrm>
          <a:ln/>
        </p:spPr>
      </p:sp>
      <p:sp>
        <p:nvSpPr>
          <p:cNvPr id="80899"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28993365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1193800" y="704850"/>
            <a:ext cx="4635500" cy="3478213"/>
          </a:xfrm>
          <a:ln/>
        </p:spPr>
      </p:sp>
      <p:sp>
        <p:nvSpPr>
          <p:cNvPr id="81923"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11968840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1193800" y="704850"/>
            <a:ext cx="4635500" cy="3478213"/>
          </a:xfrm>
          <a:ln/>
        </p:spPr>
      </p:sp>
      <p:sp>
        <p:nvSpPr>
          <p:cNvPr id="82947"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21457704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xfrm>
            <a:off x="1193800" y="704850"/>
            <a:ext cx="4635500" cy="3478213"/>
          </a:xfrm>
          <a:ln/>
        </p:spPr>
      </p:sp>
      <p:sp>
        <p:nvSpPr>
          <p:cNvPr id="83971"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35144424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1193800" y="704850"/>
            <a:ext cx="4635500" cy="3478213"/>
          </a:xfrm>
          <a:ln/>
        </p:spPr>
      </p:sp>
      <p:sp>
        <p:nvSpPr>
          <p:cNvPr id="84995"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22281877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xfrm>
            <a:off x="1193800" y="704850"/>
            <a:ext cx="4635500" cy="3478213"/>
          </a:xfrm>
          <a:ln/>
        </p:spPr>
      </p:sp>
      <p:sp>
        <p:nvSpPr>
          <p:cNvPr id="86019"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12247992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xfrm>
            <a:off x="1193800" y="704850"/>
            <a:ext cx="4635500" cy="3478213"/>
          </a:xfrm>
          <a:ln/>
        </p:spPr>
      </p:sp>
      <p:sp>
        <p:nvSpPr>
          <p:cNvPr id="87043"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24423571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1193800" y="704850"/>
            <a:ext cx="4635500" cy="3478213"/>
          </a:xfrm>
          <a:ln/>
        </p:spPr>
      </p:sp>
      <p:sp>
        <p:nvSpPr>
          <p:cNvPr id="88067"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4662515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93800" y="704850"/>
            <a:ext cx="4635500" cy="3478213"/>
          </a:xfrm>
          <a:ln/>
        </p:spPr>
      </p:sp>
      <p:sp>
        <p:nvSpPr>
          <p:cNvPr id="89091"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1224454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a:xfrm>
            <a:off x="1193800" y="704850"/>
            <a:ext cx="4635500" cy="3478213"/>
          </a:xfrm>
          <a:ln/>
        </p:spPr>
      </p:sp>
      <p:sp>
        <p:nvSpPr>
          <p:cNvPr id="90115"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19540754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93800" y="704850"/>
            <a:ext cx="4635500" cy="3478213"/>
          </a:xfrm>
          <a:ln/>
        </p:spPr>
      </p:sp>
      <p:sp>
        <p:nvSpPr>
          <p:cNvPr id="91139"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23576219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1193800" y="704850"/>
            <a:ext cx="4635500" cy="3478213"/>
          </a:xfrm>
          <a:ln/>
        </p:spPr>
      </p:sp>
      <p:sp>
        <p:nvSpPr>
          <p:cNvPr id="92163"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34605119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33656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74088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Rot="1" noChangeAspect="1" noChangeArrowheads="1" noTextEdit="1"/>
          </p:cNvSpPr>
          <p:nvPr>
            <p:ph type="sldImg"/>
          </p:nvPr>
        </p:nvSpPr>
        <p:spPr>
          <a:xfrm>
            <a:off x="1185863" y="700088"/>
            <a:ext cx="4651375" cy="3487737"/>
          </a:xfrm>
          <a:ln cap="flat"/>
        </p:spPr>
      </p:sp>
      <p:sp>
        <p:nvSpPr>
          <p:cNvPr id="138243" name="Rectangle 3"/>
          <p:cNvSpPr>
            <a:spLocks noGrp="1" noChangeArrowheads="1"/>
          </p:cNvSpPr>
          <p:nvPr>
            <p:ph type="body" idx="1"/>
          </p:nvPr>
        </p:nvSpPr>
        <p:spPr>
          <a:ln/>
        </p:spPr>
        <p:txBody>
          <a:bodyPr lIns="93972" tIns="46986" rIns="93972" bIns="46986"/>
          <a:lstStyle/>
          <a:p>
            <a:endParaRPr lang="en-US"/>
          </a:p>
        </p:txBody>
      </p:sp>
    </p:spTree>
    <p:extLst>
      <p:ext uri="{BB962C8B-B14F-4D97-AF65-F5344CB8AC3E}">
        <p14:creationId xmlns:p14="http://schemas.microsoft.com/office/powerpoint/2010/main" val="33704651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Rot="1" noChangeAspect="1" noChangeArrowheads="1" noTextEdit="1"/>
          </p:cNvSpPr>
          <p:nvPr>
            <p:ph type="sldImg"/>
          </p:nvPr>
        </p:nvSpPr>
        <p:spPr>
          <a:xfrm>
            <a:off x="1185863" y="700088"/>
            <a:ext cx="4651375" cy="3487737"/>
          </a:xfrm>
          <a:ln cap="flat"/>
        </p:spPr>
      </p:sp>
      <p:sp>
        <p:nvSpPr>
          <p:cNvPr id="148483" name="Rectangle 3"/>
          <p:cNvSpPr>
            <a:spLocks noGrp="1" noChangeArrowheads="1"/>
          </p:cNvSpPr>
          <p:nvPr>
            <p:ph type="body" idx="1"/>
          </p:nvPr>
        </p:nvSpPr>
        <p:spPr>
          <a:ln/>
        </p:spPr>
        <p:txBody>
          <a:bodyPr lIns="93972" tIns="46986" rIns="93972" bIns="46986"/>
          <a:lstStyle/>
          <a:p>
            <a:endParaRPr lang="en-US"/>
          </a:p>
        </p:txBody>
      </p:sp>
    </p:spTree>
    <p:extLst>
      <p:ext uri="{BB962C8B-B14F-4D97-AF65-F5344CB8AC3E}">
        <p14:creationId xmlns:p14="http://schemas.microsoft.com/office/powerpoint/2010/main" val="16864532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Rot="1" noChangeAspect="1" noChangeArrowheads="1" noTextEdit="1"/>
          </p:cNvSpPr>
          <p:nvPr>
            <p:ph type="sldImg"/>
          </p:nvPr>
        </p:nvSpPr>
        <p:spPr>
          <a:xfrm>
            <a:off x="1185863" y="700088"/>
            <a:ext cx="4651375" cy="3487737"/>
          </a:xfrm>
          <a:ln cap="flat"/>
        </p:spPr>
      </p:sp>
      <p:sp>
        <p:nvSpPr>
          <p:cNvPr id="140291" name="Rectangle 3"/>
          <p:cNvSpPr>
            <a:spLocks noGrp="1" noChangeArrowheads="1"/>
          </p:cNvSpPr>
          <p:nvPr>
            <p:ph type="body" idx="1"/>
          </p:nvPr>
        </p:nvSpPr>
        <p:spPr>
          <a:ln/>
        </p:spPr>
        <p:txBody>
          <a:bodyPr lIns="93972" tIns="46986" rIns="93972" bIns="46986"/>
          <a:lstStyle/>
          <a:p>
            <a:endParaRPr lang="en-US"/>
          </a:p>
        </p:txBody>
      </p:sp>
    </p:spTree>
    <p:extLst>
      <p:ext uri="{BB962C8B-B14F-4D97-AF65-F5344CB8AC3E}">
        <p14:creationId xmlns:p14="http://schemas.microsoft.com/office/powerpoint/2010/main" val="40723997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51342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Rot="1" noChangeAspect="1" noChangeArrowheads="1" noTextEdit="1"/>
          </p:cNvSpPr>
          <p:nvPr>
            <p:ph type="sldImg"/>
          </p:nvPr>
        </p:nvSpPr>
        <p:spPr>
          <a:xfrm>
            <a:off x="1185863" y="700088"/>
            <a:ext cx="4651375" cy="3487737"/>
          </a:xfrm>
          <a:ln cap="flat"/>
        </p:spPr>
      </p:sp>
      <p:sp>
        <p:nvSpPr>
          <p:cNvPr id="143363" name="Rectangle 3"/>
          <p:cNvSpPr>
            <a:spLocks noGrp="1" noChangeArrowheads="1"/>
          </p:cNvSpPr>
          <p:nvPr>
            <p:ph type="body" idx="1"/>
          </p:nvPr>
        </p:nvSpPr>
        <p:spPr>
          <a:ln/>
        </p:spPr>
        <p:txBody>
          <a:bodyPr lIns="93972" tIns="46986" rIns="93972" bIns="46986"/>
          <a:lstStyle/>
          <a:p>
            <a:endParaRPr lang="en-US"/>
          </a:p>
        </p:txBody>
      </p:sp>
    </p:spTree>
    <p:extLst>
      <p:ext uri="{BB962C8B-B14F-4D97-AF65-F5344CB8AC3E}">
        <p14:creationId xmlns:p14="http://schemas.microsoft.com/office/powerpoint/2010/main" val="42462683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a:xfrm>
            <a:off x="1193800" y="704850"/>
            <a:ext cx="4635500" cy="3478213"/>
          </a:xfrm>
          <a:ln/>
        </p:spPr>
      </p:sp>
      <p:sp>
        <p:nvSpPr>
          <p:cNvPr id="93187"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34066379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1193800" y="704850"/>
            <a:ext cx="4635500" cy="3478213"/>
          </a:xfrm>
          <a:ln/>
        </p:spPr>
      </p:sp>
      <p:sp>
        <p:nvSpPr>
          <p:cNvPr id="94211"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3582102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1193800" y="704850"/>
            <a:ext cx="4635500" cy="3478213"/>
          </a:xfrm>
          <a:ln/>
        </p:spPr>
      </p:sp>
      <p:sp>
        <p:nvSpPr>
          <p:cNvPr id="95235"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32311261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a:xfrm>
            <a:off x="1193800" y="704850"/>
            <a:ext cx="4635500" cy="3478213"/>
          </a:xfrm>
          <a:ln/>
        </p:spPr>
      </p:sp>
      <p:sp>
        <p:nvSpPr>
          <p:cNvPr id="96259"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23152586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1193800" y="704850"/>
            <a:ext cx="4635500" cy="3478213"/>
          </a:xfrm>
          <a:ln/>
        </p:spPr>
      </p:sp>
      <p:sp>
        <p:nvSpPr>
          <p:cNvPr id="97283"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21632029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a:xfrm>
            <a:off x="1193800" y="704850"/>
            <a:ext cx="4635500" cy="3478213"/>
          </a:xfrm>
          <a:ln/>
        </p:spPr>
      </p:sp>
      <p:sp>
        <p:nvSpPr>
          <p:cNvPr id="98307"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7978118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xfrm>
            <a:off x="1193800" y="704850"/>
            <a:ext cx="4635500" cy="3478213"/>
          </a:xfrm>
          <a:ln/>
        </p:spPr>
      </p:sp>
      <p:sp>
        <p:nvSpPr>
          <p:cNvPr id="99331"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233005290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a:xfrm>
            <a:off x="1193800" y="704850"/>
            <a:ext cx="4635500" cy="3478213"/>
          </a:xfrm>
          <a:ln/>
        </p:spPr>
      </p:sp>
      <p:sp>
        <p:nvSpPr>
          <p:cNvPr id="100355"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35459657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a:xfrm>
            <a:off x="1193800" y="704850"/>
            <a:ext cx="4635500" cy="3478213"/>
          </a:xfrm>
          <a:ln/>
        </p:spPr>
      </p:sp>
      <p:sp>
        <p:nvSpPr>
          <p:cNvPr id="101379"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418738441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a:xfrm>
            <a:off x="1193800" y="704850"/>
            <a:ext cx="4635500" cy="3478213"/>
          </a:xfrm>
          <a:ln/>
        </p:spPr>
      </p:sp>
      <p:sp>
        <p:nvSpPr>
          <p:cNvPr id="102403"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186502940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a:xfrm>
            <a:off x="1193800" y="704850"/>
            <a:ext cx="4635500" cy="3478213"/>
          </a:xfrm>
          <a:ln/>
        </p:spPr>
      </p:sp>
      <p:sp>
        <p:nvSpPr>
          <p:cNvPr id="103427"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271321030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a:xfrm>
            <a:off x="1193800" y="704850"/>
            <a:ext cx="4635500" cy="3478213"/>
          </a:xfrm>
          <a:ln/>
        </p:spPr>
      </p:sp>
      <p:sp>
        <p:nvSpPr>
          <p:cNvPr id="104451"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23104447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a:xfrm>
            <a:off x="1193800" y="704850"/>
            <a:ext cx="4635500" cy="3478213"/>
          </a:xfrm>
          <a:ln/>
        </p:spPr>
      </p:sp>
      <p:sp>
        <p:nvSpPr>
          <p:cNvPr id="105475"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20129813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a:xfrm>
            <a:off x="1193800" y="704850"/>
            <a:ext cx="4635500" cy="3478213"/>
          </a:xfrm>
          <a:ln/>
        </p:spPr>
      </p:sp>
      <p:sp>
        <p:nvSpPr>
          <p:cNvPr id="106499"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75085064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xfrm>
            <a:off x="1193800" y="704850"/>
            <a:ext cx="4635500" cy="3478213"/>
          </a:xfrm>
          <a:ln/>
        </p:spPr>
      </p:sp>
      <p:sp>
        <p:nvSpPr>
          <p:cNvPr id="107523"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50966861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a:xfrm>
            <a:off x="1193800" y="704850"/>
            <a:ext cx="4635500" cy="3478213"/>
          </a:xfrm>
          <a:ln/>
        </p:spPr>
      </p:sp>
      <p:sp>
        <p:nvSpPr>
          <p:cNvPr id="108547"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206731412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a:xfrm>
            <a:off x="1193800" y="704850"/>
            <a:ext cx="4635500" cy="3478213"/>
          </a:xfrm>
          <a:ln/>
        </p:spPr>
      </p:sp>
      <p:sp>
        <p:nvSpPr>
          <p:cNvPr id="109571"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181591852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spect="1" noChangeArrowheads="1" noTextEdit="1"/>
          </p:cNvSpPr>
          <p:nvPr>
            <p:ph type="sldImg"/>
          </p:nvPr>
        </p:nvSpPr>
        <p:spPr>
          <a:xfrm>
            <a:off x="1193800" y="704850"/>
            <a:ext cx="4635500" cy="3478213"/>
          </a:xfrm>
          <a:ln/>
        </p:spPr>
      </p:sp>
      <p:sp>
        <p:nvSpPr>
          <p:cNvPr id="110595"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337554516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a:xfrm>
            <a:off x="1193800" y="704850"/>
            <a:ext cx="4635500" cy="3478213"/>
          </a:xfrm>
          <a:ln/>
        </p:spPr>
      </p:sp>
      <p:sp>
        <p:nvSpPr>
          <p:cNvPr id="111619"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144873656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a:xfrm>
            <a:off x="1193800" y="704850"/>
            <a:ext cx="4635500" cy="3478213"/>
          </a:xfrm>
          <a:ln/>
        </p:spPr>
      </p:sp>
      <p:sp>
        <p:nvSpPr>
          <p:cNvPr id="112643"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117685307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spect="1" noChangeArrowheads="1" noTextEdit="1"/>
          </p:cNvSpPr>
          <p:nvPr>
            <p:ph type="sldImg"/>
          </p:nvPr>
        </p:nvSpPr>
        <p:spPr>
          <a:xfrm>
            <a:off x="1193800" y="704850"/>
            <a:ext cx="4635500" cy="3478213"/>
          </a:xfrm>
          <a:ln/>
        </p:spPr>
      </p:sp>
      <p:sp>
        <p:nvSpPr>
          <p:cNvPr id="113667" name="Rectangle 3"/>
          <p:cNvSpPr>
            <a:spLocks noGrp="1" noChangeArrowheads="1"/>
          </p:cNvSpPr>
          <p:nvPr>
            <p:ph type="body" idx="1"/>
          </p:nvPr>
        </p:nvSpPr>
        <p:spPr/>
        <p:txBody>
          <a:bodyPr/>
          <a:lstStyle/>
          <a:p>
            <a:pPr defTabSz="933450">
              <a:spcBef>
                <a:spcPct val="0"/>
              </a:spcBef>
            </a:pPr>
            <a:endParaRPr lang="en-US" sz="2400">
              <a:latin typeface="Times New Roman" panose="02020603050405020304" pitchFamily="18" charset="0"/>
            </a:endParaRPr>
          </a:p>
        </p:txBody>
      </p:sp>
    </p:spTree>
    <p:extLst>
      <p:ext uri="{BB962C8B-B14F-4D97-AF65-F5344CB8AC3E}">
        <p14:creationId xmlns:p14="http://schemas.microsoft.com/office/powerpoint/2010/main" val="3083079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893201649"/>
      </p:ext>
    </p:extLst>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98590142"/>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4227648520"/>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20700" y="1065213"/>
            <a:ext cx="3973513" cy="5005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065213"/>
            <a:ext cx="3975100" cy="5005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47642014"/>
      </p:ext>
    </p:extLst>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430154"/>
      </p:ext>
    </p:extLst>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27182013"/>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5693699"/>
      </p:ext>
    </p:extLst>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806624565"/>
      </p:ext>
    </p:extLst>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407917874"/>
      </p:ext>
    </p:extLst>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4513631"/>
      </p:ext>
    </p:extLst>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7650" y="49213"/>
            <a:ext cx="2024063" cy="60213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20700" y="49213"/>
            <a:ext cx="5924550" cy="60213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07625140"/>
      </p:ext>
    </p:extLst>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9213"/>
            <a:ext cx="8081963" cy="814387"/>
          </a:xfrm>
        </p:spPr>
        <p:txBody>
          <a:bodyPr/>
          <a:lstStyle/>
          <a:p>
            <a:r>
              <a:rPr lang="en-US"/>
              <a:t>Click to edit Master title style</a:t>
            </a:r>
          </a:p>
        </p:txBody>
      </p:sp>
      <p:sp>
        <p:nvSpPr>
          <p:cNvPr id="3" name="Text Placeholder 2"/>
          <p:cNvSpPr>
            <a:spLocks noGrp="1"/>
          </p:cNvSpPr>
          <p:nvPr>
            <p:ph type="body" sz="half" idx="1"/>
          </p:nvPr>
        </p:nvSpPr>
        <p:spPr>
          <a:xfrm>
            <a:off x="520700" y="1065213"/>
            <a:ext cx="3973513" cy="5005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065213"/>
            <a:ext cx="3975100" cy="5005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2532327"/>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99"/>
        </a:solidFill>
        <a:effectLst/>
      </p:bgPr>
    </p:bg>
    <p:spTree>
      <p:nvGrpSpPr>
        <p:cNvPr id="1" name=""/>
        <p:cNvGrpSpPr/>
        <p:nvPr/>
      </p:nvGrpSpPr>
      <p:grpSpPr>
        <a:xfrm>
          <a:off x="0" y="0"/>
          <a:ext cx="0" cy="0"/>
          <a:chOff x="0" y="0"/>
          <a:chExt cx="0" cy="0"/>
        </a:xfrm>
      </p:grpSpPr>
      <p:grpSp>
        <p:nvGrpSpPr>
          <p:cNvPr id="122882" name="Group 2"/>
          <p:cNvGrpSpPr>
            <a:grpSpLocks/>
          </p:cNvGrpSpPr>
          <p:nvPr/>
        </p:nvGrpSpPr>
        <p:grpSpPr bwMode="auto">
          <a:xfrm>
            <a:off x="590550" y="295275"/>
            <a:ext cx="8231188" cy="6183313"/>
            <a:chOff x="372" y="186"/>
            <a:chExt cx="5185" cy="3895"/>
          </a:xfrm>
        </p:grpSpPr>
        <p:grpSp>
          <p:nvGrpSpPr>
            <p:cNvPr id="122883" name="Group 3"/>
            <p:cNvGrpSpPr>
              <a:grpSpLocks/>
            </p:cNvGrpSpPr>
            <p:nvPr/>
          </p:nvGrpSpPr>
          <p:grpSpPr bwMode="auto">
            <a:xfrm>
              <a:off x="372" y="186"/>
              <a:ext cx="5185" cy="919"/>
              <a:chOff x="372" y="186"/>
              <a:chExt cx="5185" cy="919"/>
            </a:xfrm>
          </p:grpSpPr>
          <p:sp>
            <p:nvSpPr>
              <p:cNvPr id="122884" name="Freeform 4"/>
              <p:cNvSpPr>
                <a:spLocks/>
              </p:cNvSpPr>
              <p:nvPr/>
            </p:nvSpPr>
            <p:spPr bwMode="auto">
              <a:xfrm>
                <a:off x="372" y="192"/>
                <a:ext cx="86" cy="913"/>
              </a:xfrm>
              <a:custGeom>
                <a:avLst/>
                <a:gdLst>
                  <a:gd name="T0" fmla="*/ 0 w 86"/>
                  <a:gd name="T1" fmla="*/ 0 h 913"/>
                  <a:gd name="T2" fmla="*/ 85 w 86"/>
                  <a:gd name="T3" fmla="*/ 96 h 913"/>
                  <a:gd name="T4" fmla="*/ 85 w 86"/>
                  <a:gd name="T5" fmla="*/ 816 h 913"/>
                  <a:gd name="T6" fmla="*/ 0 w 86"/>
                  <a:gd name="T7" fmla="*/ 912 h 913"/>
                  <a:gd name="T8" fmla="*/ 0 w 86"/>
                  <a:gd name="T9" fmla="*/ 0 h 913"/>
                </a:gdLst>
                <a:ahLst/>
                <a:cxnLst>
                  <a:cxn ang="0">
                    <a:pos x="T0" y="T1"/>
                  </a:cxn>
                  <a:cxn ang="0">
                    <a:pos x="T2" y="T3"/>
                  </a:cxn>
                  <a:cxn ang="0">
                    <a:pos x="T4" y="T5"/>
                  </a:cxn>
                  <a:cxn ang="0">
                    <a:pos x="T6" y="T7"/>
                  </a:cxn>
                  <a:cxn ang="0">
                    <a:pos x="T8" y="T9"/>
                  </a:cxn>
                </a:cxnLst>
                <a:rect l="0" t="0" r="r" b="b"/>
                <a:pathLst>
                  <a:path w="86" h="913">
                    <a:moveTo>
                      <a:pt x="0" y="0"/>
                    </a:moveTo>
                    <a:lnTo>
                      <a:pt x="85" y="96"/>
                    </a:lnTo>
                    <a:lnTo>
                      <a:pt x="85" y="816"/>
                    </a:lnTo>
                    <a:lnTo>
                      <a:pt x="0" y="912"/>
                    </a:lnTo>
                    <a:lnTo>
                      <a:pt x="0" y="0"/>
                    </a:lnTo>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885" name="Freeform 5"/>
              <p:cNvSpPr>
                <a:spLocks/>
              </p:cNvSpPr>
              <p:nvPr/>
            </p:nvSpPr>
            <p:spPr bwMode="auto">
              <a:xfrm>
                <a:off x="5470" y="186"/>
                <a:ext cx="87" cy="910"/>
              </a:xfrm>
              <a:custGeom>
                <a:avLst/>
                <a:gdLst>
                  <a:gd name="T0" fmla="*/ 86 w 87"/>
                  <a:gd name="T1" fmla="*/ 0 h 910"/>
                  <a:gd name="T2" fmla="*/ 0 w 87"/>
                  <a:gd name="T3" fmla="*/ 93 h 910"/>
                  <a:gd name="T4" fmla="*/ 0 w 87"/>
                  <a:gd name="T5" fmla="*/ 813 h 910"/>
                  <a:gd name="T6" fmla="*/ 86 w 87"/>
                  <a:gd name="T7" fmla="*/ 909 h 910"/>
                  <a:gd name="T8" fmla="*/ 86 w 87"/>
                  <a:gd name="T9" fmla="*/ 0 h 910"/>
                </a:gdLst>
                <a:ahLst/>
                <a:cxnLst>
                  <a:cxn ang="0">
                    <a:pos x="T0" y="T1"/>
                  </a:cxn>
                  <a:cxn ang="0">
                    <a:pos x="T2" y="T3"/>
                  </a:cxn>
                  <a:cxn ang="0">
                    <a:pos x="T4" y="T5"/>
                  </a:cxn>
                  <a:cxn ang="0">
                    <a:pos x="T6" y="T7"/>
                  </a:cxn>
                  <a:cxn ang="0">
                    <a:pos x="T8" y="T9"/>
                  </a:cxn>
                </a:cxnLst>
                <a:rect l="0" t="0" r="r" b="b"/>
                <a:pathLst>
                  <a:path w="87" h="910">
                    <a:moveTo>
                      <a:pt x="86" y="0"/>
                    </a:moveTo>
                    <a:lnTo>
                      <a:pt x="0" y="93"/>
                    </a:lnTo>
                    <a:lnTo>
                      <a:pt x="0" y="813"/>
                    </a:lnTo>
                    <a:lnTo>
                      <a:pt x="86" y="909"/>
                    </a:lnTo>
                    <a:lnTo>
                      <a:pt x="86" y="0"/>
                    </a:lnTo>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886" name="Freeform 6"/>
              <p:cNvSpPr>
                <a:spLocks/>
              </p:cNvSpPr>
              <p:nvPr/>
            </p:nvSpPr>
            <p:spPr bwMode="auto">
              <a:xfrm>
                <a:off x="372" y="189"/>
                <a:ext cx="5185" cy="103"/>
              </a:xfrm>
              <a:custGeom>
                <a:avLst/>
                <a:gdLst>
                  <a:gd name="T0" fmla="*/ 0 w 5185"/>
                  <a:gd name="T1" fmla="*/ 0 h 103"/>
                  <a:gd name="T2" fmla="*/ 5184 w 5185"/>
                  <a:gd name="T3" fmla="*/ 3 h 103"/>
                  <a:gd name="T4" fmla="*/ 5093 w 5185"/>
                  <a:gd name="T5" fmla="*/ 102 h 103"/>
                  <a:gd name="T6" fmla="*/ 88 w 5185"/>
                  <a:gd name="T7" fmla="*/ 102 h 103"/>
                  <a:gd name="T8" fmla="*/ 0 w 5185"/>
                  <a:gd name="T9" fmla="*/ 0 h 103"/>
                </a:gdLst>
                <a:ahLst/>
                <a:cxnLst>
                  <a:cxn ang="0">
                    <a:pos x="T0" y="T1"/>
                  </a:cxn>
                  <a:cxn ang="0">
                    <a:pos x="T2" y="T3"/>
                  </a:cxn>
                  <a:cxn ang="0">
                    <a:pos x="T4" y="T5"/>
                  </a:cxn>
                  <a:cxn ang="0">
                    <a:pos x="T6" y="T7"/>
                  </a:cxn>
                  <a:cxn ang="0">
                    <a:pos x="T8" y="T9"/>
                  </a:cxn>
                </a:cxnLst>
                <a:rect l="0" t="0" r="r" b="b"/>
                <a:pathLst>
                  <a:path w="5185" h="103">
                    <a:moveTo>
                      <a:pt x="0" y="0"/>
                    </a:moveTo>
                    <a:lnTo>
                      <a:pt x="5184" y="3"/>
                    </a:lnTo>
                    <a:lnTo>
                      <a:pt x="5093" y="102"/>
                    </a:lnTo>
                    <a:lnTo>
                      <a:pt x="88" y="102"/>
                    </a:lnTo>
                    <a:lnTo>
                      <a:pt x="0" y="0"/>
                    </a:lnTo>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22887" name="Group 7"/>
            <p:cNvGrpSpPr>
              <a:grpSpLocks/>
            </p:cNvGrpSpPr>
            <p:nvPr/>
          </p:nvGrpSpPr>
          <p:grpSpPr bwMode="auto">
            <a:xfrm>
              <a:off x="372" y="291"/>
              <a:ext cx="5185" cy="3790"/>
              <a:chOff x="372" y="291"/>
              <a:chExt cx="5185" cy="3790"/>
            </a:xfrm>
          </p:grpSpPr>
          <p:sp>
            <p:nvSpPr>
              <p:cNvPr id="122888" name="Freeform 8"/>
              <p:cNvSpPr>
                <a:spLocks/>
              </p:cNvSpPr>
              <p:nvPr/>
            </p:nvSpPr>
            <p:spPr bwMode="auto">
              <a:xfrm>
                <a:off x="372" y="807"/>
                <a:ext cx="79" cy="3274"/>
              </a:xfrm>
              <a:custGeom>
                <a:avLst/>
                <a:gdLst>
                  <a:gd name="T0" fmla="*/ 0 w 79"/>
                  <a:gd name="T1" fmla="*/ 0 h 3274"/>
                  <a:gd name="T2" fmla="*/ 78 w 79"/>
                  <a:gd name="T3" fmla="*/ 107 h 3274"/>
                  <a:gd name="T4" fmla="*/ 78 w 79"/>
                  <a:gd name="T5" fmla="*/ 3166 h 3274"/>
                  <a:gd name="T6" fmla="*/ 0 w 79"/>
                  <a:gd name="T7" fmla="*/ 3273 h 3274"/>
                  <a:gd name="T8" fmla="*/ 0 w 79"/>
                  <a:gd name="T9" fmla="*/ 0 h 3274"/>
                </a:gdLst>
                <a:ahLst/>
                <a:cxnLst>
                  <a:cxn ang="0">
                    <a:pos x="T0" y="T1"/>
                  </a:cxn>
                  <a:cxn ang="0">
                    <a:pos x="T2" y="T3"/>
                  </a:cxn>
                  <a:cxn ang="0">
                    <a:pos x="T4" y="T5"/>
                  </a:cxn>
                  <a:cxn ang="0">
                    <a:pos x="T6" y="T7"/>
                  </a:cxn>
                  <a:cxn ang="0">
                    <a:pos x="T8" y="T9"/>
                  </a:cxn>
                </a:cxnLst>
                <a:rect l="0" t="0" r="r" b="b"/>
                <a:pathLst>
                  <a:path w="79" h="3274">
                    <a:moveTo>
                      <a:pt x="0" y="0"/>
                    </a:moveTo>
                    <a:lnTo>
                      <a:pt x="78" y="107"/>
                    </a:lnTo>
                    <a:lnTo>
                      <a:pt x="78" y="3166"/>
                    </a:lnTo>
                    <a:lnTo>
                      <a:pt x="0" y="3273"/>
                    </a:lnTo>
                    <a:lnTo>
                      <a:pt x="0" y="0"/>
                    </a:lnTo>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889" name="Freeform 9"/>
              <p:cNvSpPr>
                <a:spLocks/>
              </p:cNvSpPr>
              <p:nvPr/>
            </p:nvSpPr>
            <p:spPr bwMode="auto">
              <a:xfrm>
                <a:off x="5470" y="747"/>
                <a:ext cx="84" cy="3325"/>
              </a:xfrm>
              <a:custGeom>
                <a:avLst/>
                <a:gdLst>
                  <a:gd name="T0" fmla="*/ 83 w 84"/>
                  <a:gd name="T1" fmla="*/ 0 h 3325"/>
                  <a:gd name="T2" fmla="*/ 3 w 84"/>
                  <a:gd name="T3" fmla="*/ 109 h 3325"/>
                  <a:gd name="T4" fmla="*/ 0 w 84"/>
                  <a:gd name="T5" fmla="*/ 3233 h 3325"/>
                  <a:gd name="T6" fmla="*/ 83 w 84"/>
                  <a:gd name="T7" fmla="*/ 3324 h 3325"/>
                  <a:gd name="T8" fmla="*/ 83 w 84"/>
                  <a:gd name="T9" fmla="*/ 0 h 3325"/>
                </a:gdLst>
                <a:ahLst/>
                <a:cxnLst>
                  <a:cxn ang="0">
                    <a:pos x="T0" y="T1"/>
                  </a:cxn>
                  <a:cxn ang="0">
                    <a:pos x="T2" y="T3"/>
                  </a:cxn>
                  <a:cxn ang="0">
                    <a:pos x="T4" y="T5"/>
                  </a:cxn>
                  <a:cxn ang="0">
                    <a:pos x="T6" y="T7"/>
                  </a:cxn>
                  <a:cxn ang="0">
                    <a:pos x="T8" y="T9"/>
                  </a:cxn>
                </a:cxnLst>
                <a:rect l="0" t="0" r="r" b="b"/>
                <a:pathLst>
                  <a:path w="84" h="3325">
                    <a:moveTo>
                      <a:pt x="83" y="0"/>
                    </a:moveTo>
                    <a:lnTo>
                      <a:pt x="3" y="109"/>
                    </a:lnTo>
                    <a:lnTo>
                      <a:pt x="0" y="3233"/>
                    </a:lnTo>
                    <a:lnTo>
                      <a:pt x="83" y="3324"/>
                    </a:lnTo>
                    <a:lnTo>
                      <a:pt x="83" y="0"/>
                    </a:lnTo>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890" name="Freeform 10"/>
              <p:cNvSpPr>
                <a:spLocks/>
              </p:cNvSpPr>
              <p:nvPr/>
            </p:nvSpPr>
            <p:spPr bwMode="auto">
              <a:xfrm>
                <a:off x="372" y="3984"/>
                <a:ext cx="5185" cy="88"/>
              </a:xfrm>
              <a:custGeom>
                <a:avLst/>
                <a:gdLst>
                  <a:gd name="T0" fmla="*/ 0 w 5185"/>
                  <a:gd name="T1" fmla="*/ 87 h 88"/>
                  <a:gd name="T2" fmla="*/ 5184 w 5185"/>
                  <a:gd name="T3" fmla="*/ 87 h 88"/>
                  <a:gd name="T4" fmla="*/ 5095 w 5185"/>
                  <a:gd name="T5" fmla="*/ 0 h 88"/>
                  <a:gd name="T6" fmla="*/ 89 w 5185"/>
                  <a:gd name="T7" fmla="*/ 0 h 88"/>
                  <a:gd name="T8" fmla="*/ 0 w 5185"/>
                  <a:gd name="T9" fmla="*/ 87 h 88"/>
                </a:gdLst>
                <a:ahLst/>
                <a:cxnLst>
                  <a:cxn ang="0">
                    <a:pos x="T0" y="T1"/>
                  </a:cxn>
                  <a:cxn ang="0">
                    <a:pos x="T2" y="T3"/>
                  </a:cxn>
                  <a:cxn ang="0">
                    <a:pos x="T4" y="T5"/>
                  </a:cxn>
                  <a:cxn ang="0">
                    <a:pos x="T6" y="T7"/>
                  </a:cxn>
                  <a:cxn ang="0">
                    <a:pos x="T8" y="T9"/>
                  </a:cxn>
                </a:cxnLst>
                <a:rect l="0" t="0" r="r" b="b"/>
                <a:pathLst>
                  <a:path w="5185" h="88">
                    <a:moveTo>
                      <a:pt x="0" y="87"/>
                    </a:moveTo>
                    <a:lnTo>
                      <a:pt x="5184" y="87"/>
                    </a:lnTo>
                    <a:lnTo>
                      <a:pt x="5095" y="0"/>
                    </a:lnTo>
                    <a:lnTo>
                      <a:pt x="89" y="0"/>
                    </a:lnTo>
                    <a:lnTo>
                      <a:pt x="0" y="87"/>
                    </a:lnTo>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891" name="Rectangle 11"/>
              <p:cNvSpPr>
                <a:spLocks noChangeArrowheads="1"/>
              </p:cNvSpPr>
              <p:nvPr/>
            </p:nvSpPr>
            <p:spPr bwMode="auto">
              <a:xfrm>
                <a:off x="457" y="291"/>
                <a:ext cx="5013" cy="3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122892" name="Rectangle 12"/>
          <p:cNvSpPr>
            <a:spLocks noGrp="1" noChangeArrowheads="1"/>
          </p:cNvSpPr>
          <p:nvPr>
            <p:ph type="title"/>
          </p:nvPr>
        </p:nvSpPr>
        <p:spPr bwMode="auto">
          <a:xfrm>
            <a:off x="533400" y="49213"/>
            <a:ext cx="8081963" cy="814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p>
            <a:pPr lvl="0"/>
            <a:r>
              <a:rPr lang="en-US"/>
              <a:t>Click to Edit Master Title Style</a:t>
            </a:r>
          </a:p>
        </p:txBody>
      </p:sp>
      <p:sp>
        <p:nvSpPr>
          <p:cNvPr id="122893" name="Rectangle 13"/>
          <p:cNvSpPr>
            <a:spLocks noGrp="1" noChangeArrowheads="1"/>
          </p:cNvSpPr>
          <p:nvPr>
            <p:ph type="body" idx="1"/>
          </p:nvPr>
        </p:nvSpPr>
        <p:spPr bwMode="auto">
          <a:xfrm>
            <a:off x="520700" y="1065213"/>
            <a:ext cx="8101013" cy="5005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122894" name="Rectangle 14"/>
          <p:cNvSpPr>
            <a:spLocks noChangeArrowheads="1"/>
          </p:cNvSpPr>
          <p:nvPr/>
        </p:nvSpPr>
        <p:spPr bwMode="auto">
          <a:xfrm>
            <a:off x="8405813" y="6480175"/>
            <a:ext cx="574675" cy="363538"/>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90488" tIns="44450" rIns="90488" bIns="44450">
            <a:spAutoFit/>
          </a:bodyPr>
          <a:lstStyle/>
          <a:p>
            <a:r>
              <a:rPr lang="en-US" sz="1800" i="0">
                <a:solidFill>
                  <a:srgbClr val="FFFFFF"/>
                </a:solidFill>
                <a:latin typeface="Book Antiqua" panose="02040602050305030304" pitchFamily="18" charset="0"/>
              </a:rPr>
              <a:t>  </a:t>
            </a:r>
            <a:fld id="{819E6101-6527-4E72-B8FC-E7FB9363A025}" type="slidenum">
              <a:rPr lang="ar-SA" sz="1800" i="0">
                <a:solidFill>
                  <a:srgbClr val="FFFFFF"/>
                </a:solidFill>
                <a:latin typeface="Book Antiqua" panose="02040602050305030304" pitchFamily="18" charset="0"/>
                <a:cs typeface="Arial" panose="020B0604020202020204" pitchFamily="34" charset="0"/>
              </a:rPr>
              <a:pPr/>
              <a:t>‹#›</a:t>
            </a:fld>
            <a:endParaRPr lang="en-US" sz="1800" i="0">
              <a:solidFill>
                <a:srgbClr val="FFFFFF"/>
              </a:solidFill>
              <a:latin typeface="Book Antiqua" panose="02040602050305030304" pitchFamily="18" charset="0"/>
            </a:endParaRPr>
          </a:p>
        </p:txBody>
      </p:sp>
      <p:sp>
        <p:nvSpPr>
          <p:cNvPr id="122895" name="Rectangle 15"/>
          <p:cNvSpPr>
            <a:spLocks noChangeArrowheads="1"/>
          </p:cNvSpPr>
          <p:nvPr/>
        </p:nvSpPr>
        <p:spPr bwMode="auto">
          <a:xfrm>
            <a:off x="7935913" y="6205538"/>
            <a:ext cx="831850" cy="63817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spAutoFit/>
          </a:bodyPr>
          <a:lstStyle/>
          <a:p>
            <a:r>
              <a:rPr lang="en-US" sz="1800" i="0">
                <a:solidFill>
                  <a:srgbClr val="FFFFFF"/>
                </a:solidFill>
                <a:latin typeface="Book Antiqua" panose="02040602050305030304" pitchFamily="18" charset="0"/>
              </a:rPr>
              <a:t>            Slide</a:t>
            </a:r>
          </a:p>
        </p:txBody>
      </p:sp>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ransition>
    <p:zoom/>
  </p:transition>
  <p:txStyles>
    <p:titleStyle>
      <a:lvl1pPr algn="ctr" rtl="0" eaLnBrk="0" fontAlgn="base" hangingPunct="0">
        <a:spcBef>
          <a:spcPct val="0"/>
        </a:spcBef>
        <a:spcAft>
          <a:spcPct val="0"/>
        </a:spcAft>
        <a:defRPr sz="2800" kern="1200">
          <a:solidFill>
            <a:srgbClr val="FFFF00"/>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2800">
          <a:solidFill>
            <a:srgbClr val="FFFF00"/>
          </a:solidFill>
          <a:effectLst>
            <a:outerShdw blurRad="38100" dist="38100" dir="2700000" algn="tl">
              <a:srgbClr val="000000"/>
            </a:outerShdw>
          </a:effectLst>
          <a:latin typeface="Book Antiqua" panose="02040602050305030304" pitchFamily="18" charset="0"/>
        </a:defRPr>
      </a:lvl2pPr>
      <a:lvl3pPr algn="ctr" rtl="0" eaLnBrk="0" fontAlgn="base" hangingPunct="0">
        <a:spcBef>
          <a:spcPct val="0"/>
        </a:spcBef>
        <a:spcAft>
          <a:spcPct val="0"/>
        </a:spcAft>
        <a:defRPr sz="2800">
          <a:solidFill>
            <a:srgbClr val="FFFF00"/>
          </a:solidFill>
          <a:effectLst>
            <a:outerShdw blurRad="38100" dist="38100" dir="2700000" algn="tl">
              <a:srgbClr val="000000"/>
            </a:outerShdw>
          </a:effectLst>
          <a:latin typeface="Book Antiqua" panose="02040602050305030304" pitchFamily="18" charset="0"/>
        </a:defRPr>
      </a:lvl3pPr>
      <a:lvl4pPr algn="ctr" rtl="0" eaLnBrk="0" fontAlgn="base" hangingPunct="0">
        <a:spcBef>
          <a:spcPct val="0"/>
        </a:spcBef>
        <a:spcAft>
          <a:spcPct val="0"/>
        </a:spcAft>
        <a:defRPr sz="2800">
          <a:solidFill>
            <a:srgbClr val="FFFF00"/>
          </a:solidFill>
          <a:effectLst>
            <a:outerShdw blurRad="38100" dist="38100" dir="2700000" algn="tl">
              <a:srgbClr val="000000"/>
            </a:outerShdw>
          </a:effectLst>
          <a:latin typeface="Book Antiqua" panose="02040602050305030304" pitchFamily="18" charset="0"/>
        </a:defRPr>
      </a:lvl4pPr>
      <a:lvl5pPr algn="ctr" rtl="0" eaLnBrk="0" fontAlgn="base" hangingPunct="0">
        <a:spcBef>
          <a:spcPct val="0"/>
        </a:spcBef>
        <a:spcAft>
          <a:spcPct val="0"/>
        </a:spcAft>
        <a:defRPr sz="2800">
          <a:solidFill>
            <a:srgbClr val="FFFF00"/>
          </a:solidFill>
          <a:effectLst>
            <a:outerShdw blurRad="38100" dist="38100" dir="2700000" algn="tl">
              <a:srgbClr val="000000"/>
            </a:outerShdw>
          </a:effectLst>
          <a:latin typeface="Book Antiqua" panose="02040602050305030304" pitchFamily="18" charset="0"/>
        </a:defRPr>
      </a:lvl5pPr>
      <a:lvl6pPr marL="457200" algn="ctr" rtl="0" eaLnBrk="0" fontAlgn="base" hangingPunct="0">
        <a:spcBef>
          <a:spcPct val="0"/>
        </a:spcBef>
        <a:spcAft>
          <a:spcPct val="0"/>
        </a:spcAft>
        <a:defRPr sz="2800">
          <a:solidFill>
            <a:srgbClr val="FFFF00"/>
          </a:solidFill>
          <a:effectLst>
            <a:outerShdw blurRad="38100" dist="38100" dir="2700000" algn="tl">
              <a:srgbClr val="000000"/>
            </a:outerShdw>
          </a:effectLst>
          <a:latin typeface="Book Antiqua" panose="02040602050305030304" pitchFamily="18" charset="0"/>
        </a:defRPr>
      </a:lvl6pPr>
      <a:lvl7pPr marL="914400" algn="ctr" rtl="0" eaLnBrk="0" fontAlgn="base" hangingPunct="0">
        <a:spcBef>
          <a:spcPct val="0"/>
        </a:spcBef>
        <a:spcAft>
          <a:spcPct val="0"/>
        </a:spcAft>
        <a:defRPr sz="2800">
          <a:solidFill>
            <a:srgbClr val="FFFF00"/>
          </a:solidFill>
          <a:effectLst>
            <a:outerShdw blurRad="38100" dist="38100" dir="2700000" algn="tl">
              <a:srgbClr val="000000"/>
            </a:outerShdw>
          </a:effectLst>
          <a:latin typeface="Book Antiqua" panose="02040602050305030304" pitchFamily="18" charset="0"/>
        </a:defRPr>
      </a:lvl7pPr>
      <a:lvl8pPr marL="1371600" algn="ctr" rtl="0" eaLnBrk="0" fontAlgn="base" hangingPunct="0">
        <a:spcBef>
          <a:spcPct val="0"/>
        </a:spcBef>
        <a:spcAft>
          <a:spcPct val="0"/>
        </a:spcAft>
        <a:defRPr sz="2800">
          <a:solidFill>
            <a:srgbClr val="FFFF00"/>
          </a:solidFill>
          <a:effectLst>
            <a:outerShdw blurRad="38100" dist="38100" dir="2700000" algn="tl">
              <a:srgbClr val="000000"/>
            </a:outerShdw>
          </a:effectLst>
          <a:latin typeface="Book Antiqua" panose="02040602050305030304" pitchFamily="18" charset="0"/>
        </a:defRPr>
      </a:lvl8pPr>
      <a:lvl9pPr marL="1828800" algn="ctr" rtl="0" eaLnBrk="0" fontAlgn="base" hangingPunct="0">
        <a:spcBef>
          <a:spcPct val="0"/>
        </a:spcBef>
        <a:spcAft>
          <a:spcPct val="0"/>
        </a:spcAft>
        <a:defRPr sz="2800">
          <a:solidFill>
            <a:srgbClr val="FFFF00"/>
          </a:solidFill>
          <a:effectLst>
            <a:outerShdw blurRad="38100" dist="38100" dir="2700000" algn="tl">
              <a:srgbClr val="000000"/>
            </a:outerShdw>
          </a:effectLst>
          <a:latin typeface="Book Antiqua" panose="02040602050305030304" pitchFamily="18" charset="0"/>
        </a:defRPr>
      </a:lvl9pPr>
    </p:titleStyle>
    <p:bodyStyle>
      <a:lvl1pPr marL="342900" indent="-342900" algn="l" rtl="0" eaLnBrk="0" fontAlgn="base" hangingPunct="0">
        <a:spcBef>
          <a:spcPct val="20000"/>
        </a:spcBef>
        <a:spcAft>
          <a:spcPct val="0"/>
        </a:spcAft>
        <a:buClr>
          <a:srgbClr val="FFFF00"/>
        </a:buClr>
        <a:buSzPct val="75000"/>
        <a:buFont typeface="Monotype Sorts" pitchFamily="2" charset="2"/>
        <a:buChar char="n"/>
        <a:defRPr sz="2400" kern="1200">
          <a:solidFill>
            <a:srgbClr val="FFFFFF"/>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rgbClr val="FFFF00"/>
        </a:buClr>
        <a:buSzPct val="100000"/>
        <a:buChar char="•"/>
        <a:defRPr sz="2400" kern="1200">
          <a:solidFill>
            <a:srgbClr val="FFFFFF"/>
          </a:solidFill>
          <a:effectLst>
            <a:outerShdw blurRad="38100" dist="38100" dir="2700000" algn="tl">
              <a:srgbClr val="000000"/>
            </a:outerShdw>
          </a:effectLst>
          <a:latin typeface="+mn-lt"/>
          <a:ea typeface="+mn-ea"/>
          <a:cs typeface="+mn-cs"/>
        </a:defRPr>
      </a:lvl2pPr>
      <a:lvl3pPr marL="1143000" indent="-228600" algn="l" rtl="0" eaLnBrk="0" fontAlgn="base" hangingPunct="0">
        <a:spcBef>
          <a:spcPct val="20000"/>
        </a:spcBef>
        <a:spcAft>
          <a:spcPct val="0"/>
        </a:spcAft>
        <a:buClr>
          <a:srgbClr val="FFFF66"/>
        </a:buClr>
        <a:buSzPct val="40000"/>
        <a:buFont typeface="Wingdings" panose="05000000000000000000" pitchFamily="2" charset="2"/>
        <a:buChar char="u"/>
        <a:defRPr sz="2400" kern="1200">
          <a:solidFill>
            <a:srgbClr val="FFFFFF"/>
          </a:solidFill>
          <a:effectLst>
            <a:outerShdw blurRad="38100" dist="38100" dir="2700000" algn="tl">
              <a:srgbClr val="000000"/>
            </a:outerShdw>
          </a:effectLst>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90.emf"/></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customXml" Target="../ink/ink4.xml"/><Relationship Id="rId1" Type="http://schemas.openxmlformats.org/officeDocument/2006/relationships/slideLayout" Target="../slideLayouts/slideLayout2.xml"/><Relationship Id="rId5" Type="http://schemas.openxmlformats.org/officeDocument/2006/relationships/image" Target="../media/image13.emf"/></Relationships>
</file>

<file path=ppt/slides/_rels/slide67.xml.rels><?xml version="1.0" encoding="UTF-8" standalone="yes"?>
<Relationships xmlns="http://schemas.openxmlformats.org/package/2006/relationships"><Relationship Id="rId2" Type="http://schemas.openxmlformats.org/officeDocument/2006/relationships/customXml" Target="../ink/ink5.xml"/><Relationship Id="rId1" Type="http://schemas.openxmlformats.org/officeDocument/2006/relationships/slideLayout" Target="../slideLayouts/slideLayout12.xml"/><Relationship Id="rId5" Type="http://schemas.openxmlformats.org/officeDocument/2006/relationships/image" Target="../media/image15.emf"/></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747713" y="1300163"/>
            <a:ext cx="7772400" cy="1100137"/>
          </a:xfrm>
          <a:noFill/>
          <a:ln/>
        </p:spPr>
        <p:txBody>
          <a:bodyPr/>
          <a:lstStyle/>
          <a:p>
            <a:pPr algn="l"/>
            <a:endParaRPr lang="en-US" sz="3200" dirty="0"/>
          </a:p>
        </p:txBody>
      </p:sp>
      <p:sp>
        <p:nvSpPr>
          <p:cNvPr id="5123" name="Rectangle 3"/>
          <p:cNvSpPr>
            <a:spLocks noGrp="1" noChangeArrowheads="1"/>
          </p:cNvSpPr>
          <p:nvPr>
            <p:ph type="body" idx="1"/>
          </p:nvPr>
        </p:nvSpPr>
        <p:spPr>
          <a:xfrm>
            <a:off x="723900" y="2495550"/>
            <a:ext cx="7689850" cy="3600450"/>
          </a:xfrm>
          <a:noFill/>
          <a:ln/>
        </p:spPr>
        <p:txBody>
          <a:bodyPr/>
          <a:lstStyle/>
          <a:p>
            <a:pPr marL="457200" indent="-457200" algn="ctr">
              <a:buFont typeface="Monotype Sorts" pitchFamily="2" charset="2"/>
              <a:buNone/>
            </a:pPr>
            <a:r>
              <a:rPr lang="en-US" sz="3200" dirty="0"/>
              <a:t>Operations Research (OR)</a:t>
            </a:r>
          </a:p>
          <a:p>
            <a:pPr marL="457200" indent="-457200" algn="ctr">
              <a:buFont typeface="Monotype Sorts" pitchFamily="2" charset="2"/>
              <a:buNone/>
            </a:pPr>
            <a:endParaRPr lang="en-US" sz="3200" dirty="0"/>
          </a:p>
          <a:p>
            <a:pPr marL="457200" indent="-457200" algn="ctr">
              <a:buFont typeface="Monotype Sorts" pitchFamily="2" charset="2"/>
              <a:buNone/>
            </a:pPr>
            <a:r>
              <a:rPr lang="en-US" sz="3200" dirty="0"/>
              <a:t>Chapter 3</a:t>
            </a:r>
            <a:br>
              <a:rPr lang="en-US" sz="3200" dirty="0"/>
            </a:br>
            <a:r>
              <a:rPr lang="en-US" sz="3200" dirty="0"/>
              <a:t>Transportation, Assignment, and Transshipment Problems</a:t>
            </a:r>
          </a:p>
        </p:txBody>
      </p:sp>
    </p:spTree>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84213" y="214313"/>
            <a:ext cx="7772400" cy="681037"/>
          </a:xfrm>
          <a:noFill/>
          <a:ln/>
        </p:spPr>
        <p:txBody>
          <a:bodyPr/>
          <a:lstStyle/>
          <a:p>
            <a:r>
              <a:rPr lang="en-US"/>
              <a:t>Transportation, Assignment, and Transshipment Problems</a:t>
            </a:r>
          </a:p>
        </p:txBody>
      </p:sp>
      <p:sp>
        <p:nvSpPr>
          <p:cNvPr id="6147" name="Rectangle 3"/>
          <p:cNvSpPr>
            <a:spLocks noGrp="1" noChangeArrowheads="1"/>
          </p:cNvSpPr>
          <p:nvPr>
            <p:ph type="body" idx="1"/>
          </p:nvPr>
        </p:nvSpPr>
        <p:spPr>
          <a:xfrm>
            <a:off x="684213" y="1243013"/>
            <a:ext cx="7772400" cy="4852987"/>
          </a:xfrm>
          <a:noFill/>
          <a:ln/>
        </p:spPr>
        <p:txBody>
          <a:bodyPr/>
          <a:lstStyle/>
          <a:p>
            <a:r>
              <a:rPr lang="en-US"/>
              <a:t>A </a:t>
            </a:r>
            <a:r>
              <a:rPr lang="en-US" u="sng"/>
              <a:t>network model</a:t>
            </a:r>
            <a:r>
              <a:rPr lang="en-US"/>
              <a:t> is one which can be represented by a set of nodes, a set of arcs, and functions (e.g. costs, supplies, demands, etc.) associated with the arcs and/or nodes.</a:t>
            </a:r>
          </a:p>
          <a:p>
            <a:r>
              <a:rPr lang="en-US"/>
              <a:t>Transportation, assignment, and transshipment problems of this chapter, as well as the shortest route, minimal spanning tree, and maximal flow problems (Chapter 9) and PERT/CPM problems (Chapter 10) are all examples of network problems.</a:t>
            </a:r>
          </a:p>
          <a:p>
            <a:pPr>
              <a:buFont typeface="Monotype Sorts" pitchFamily="2" charset="2"/>
              <a:buNone/>
            </a:pPr>
            <a:endParaRPr lang="en-US"/>
          </a:p>
        </p:txBody>
      </p:sp>
    </p:spTree>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90563" y="341313"/>
            <a:ext cx="7772400" cy="433387"/>
          </a:xfrm>
          <a:noFill/>
          <a:ln/>
        </p:spPr>
        <p:txBody>
          <a:bodyPr/>
          <a:lstStyle/>
          <a:p>
            <a:r>
              <a:rPr lang="en-US"/>
              <a:t>Transportation, Assignment, and Transshipment Problems</a:t>
            </a:r>
          </a:p>
        </p:txBody>
      </p:sp>
      <p:sp>
        <p:nvSpPr>
          <p:cNvPr id="7171" name="Rectangle 3"/>
          <p:cNvSpPr>
            <a:spLocks noGrp="1" noChangeArrowheads="1"/>
          </p:cNvSpPr>
          <p:nvPr>
            <p:ph type="body" idx="1"/>
          </p:nvPr>
        </p:nvSpPr>
        <p:spPr>
          <a:xfrm>
            <a:off x="684213" y="1287463"/>
            <a:ext cx="7772400" cy="5329237"/>
          </a:xfrm>
          <a:noFill/>
          <a:ln/>
        </p:spPr>
        <p:txBody>
          <a:bodyPr/>
          <a:lstStyle/>
          <a:p>
            <a:r>
              <a:rPr lang="en-US"/>
              <a:t>Each of the three models of this chapter (transportation, assignment, and transshipment models) can be formulated as linear programs and solved by general purpose linear programming Algorithms (simplex method). </a:t>
            </a:r>
          </a:p>
          <a:p>
            <a:r>
              <a:rPr lang="en-US"/>
              <a:t>For each of the three models, if the right-hand side of the linear programming formulations are all integers, the optimal solution will be in terms of integer values for the decision variables.</a:t>
            </a:r>
          </a:p>
          <a:p>
            <a:r>
              <a:rPr lang="en-US"/>
              <a:t>However, there are many computer packages (including </a:t>
            </a:r>
            <a:r>
              <a:rPr lang="en-US" i="1"/>
              <a:t>The Management Scientist, DS, QSB</a:t>
            </a:r>
            <a:r>
              <a:rPr lang="en-US"/>
              <a:t>) which contain separate computer codes for these models which take advantage of their network structure.</a:t>
            </a:r>
          </a:p>
        </p:txBody>
      </p:sp>
    </p:spTree>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90563" y="201613"/>
            <a:ext cx="7772400" cy="509587"/>
          </a:xfrm>
          <a:noFill/>
          <a:ln/>
        </p:spPr>
        <p:txBody>
          <a:bodyPr/>
          <a:lstStyle/>
          <a:p>
            <a:r>
              <a:rPr lang="en-US"/>
              <a:t>Transportation Problem</a:t>
            </a:r>
          </a:p>
        </p:txBody>
      </p:sp>
      <p:sp>
        <p:nvSpPr>
          <p:cNvPr id="8195" name="Rectangle 3"/>
          <p:cNvSpPr>
            <a:spLocks noGrp="1" noChangeArrowheads="1"/>
          </p:cNvSpPr>
          <p:nvPr>
            <p:ph type="body" idx="1"/>
          </p:nvPr>
        </p:nvSpPr>
        <p:spPr>
          <a:xfrm>
            <a:off x="257175" y="1071563"/>
            <a:ext cx="8662988" cy="5462587"/>
          </a:xfrm>
          <a:noFill/>
          <a:ln/>
        </p:spPr>
        <p:txBody>
          <a:bodyPr/>
          <a:lstStyle/>
          <a:p>
            <a:r>
              <a:rPr lang="en-US" sz="3200"/>
              <a:t>The </a:t>
            </a:r>
            <a:r>
              <a:rPr lang="en-US" sz="3200" u="sng"/>
              <a:t>transportation problem</a:t>
            </a:r>
            <a:r>
              <a:rPr lang="en-US" sz="3200"/>
              <a:t> seeks to minimize the total shipping costs of transporting goods from </a:t>
            </a:r>
            <a:r>
              <a:rPr lang="en-US" sz="3200" i="1"/>
              <a:t>m</a:t>
            </a:r>
            <a:r>
              <a:rPr lang="en-US" sz="3200"/>
              <a:t> origins or sources (each with a supply </a:t>
            </a:r>
            <a:r>
              <a:rPr lang="en-US" sz="3200" i="1"/>
              <a:t>s</a:t>
            </a:r>
            <a:r>
              <a:rPr lang="en-US" sz="3200" i="1" baseline="-25000"/>
              <a:t>i</a:t>
            </a:r>
            <a:r>
              <a:rPr lang="en-US" sz="3200"/>
              <a:t>) to </a:t>
            </a:r>
            <a:r>
              <a:rPr lang="en-US" sz="3200" i="1"/>
              <a:t>n</a:t>
            </a:r>
            <a:r>
              <a:rPr lang="en-US" sz="3200"/>
              <a:t> destinations (each with a demand </a:t>
            </a:r>
            <a:r>
              <a:rPr lang="en-US" sz="3200" i="1"/>
              <a:t>d</a:t>
            </a:r>
            <a:r>
              <a:rPr lang="en-US" sz="3200" i="1" baseline="-25000"/>
              <a:t>j</a:t>
            </a:r>
            <a:r>
              <a:rPr lang="en-US" sz="3200"/>
              <a:t>), when the unit shipping cost from source, </a:t>
            </a:r>
            <a:r>
              <a:rPr lang="en-US" sz="3200" i="1"/>
              <a:t>i</a:t>
            </a:r>
            <a:r>
              <a:rPr lang="en-US" sz="3200"/>
              <a:t>, to a destination, </a:t>
            </a:r>
            <a:r>
              <a:rPr lang="en-US" sz="3200" i="1"/>
              <a:t>j</a:t>
            </a:r>
            <a:r>
              <a:rPr lang="en-US" sz="3200"/>
              <a:t>, is </a:t>
            </a:r>
            <a:r>
              <a:rPr lang="en-US" sz="3200" i="1"/>
              <a:t>c</a:t>
            </a:r>
            <a:r>
              <a:rPr lang="en-US" sz="3200" i="1" baseline="-25000"/>
              <a:t>ij</a:t>
            </a:r>
            <a:r>
              <a:rPr lang="en-US" sz="3200"/>
              <a:t>.</a:t>
            </a:r>
          </a:p>
          <a:p>
            <a:r>
              <a:rPr lang="en-US" sz="3200"/>
              <a:t>The </a:t>
            </a:r>
            <a:r>
              <a:rPr lang="en-US" sz="3200" u="sng"/>
              <a:t>network representation</a:t>
            </a:r>
            <a:r>
              <a:rPr lang="en-US" sz="3200"/>
              <a:t> for a transportation problem with two sources and three destinations is given on the next slide.</a:t>
            </a:r>
          </a:p>
        </p:txBody>
      </p:sp>
    </p:spTree>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noFill/>
          <a:ln/>
        </p:spPr>
        <p:txBody>
          <a:bodyPr/>
          <a:lstStyle/>
          <a:p>
            <a:r>
              <a:rPr lang="en-US"/>
              <a:t>Transportation Problem</a:t>
            </a:r>
          </a:p>
        </p:txBody>
      </p:sp>
      <p:sp>
        <p:nvSpPr>
          <p:cNvPr id="9219" name="Rectangle 3"/>
          <p:cNvSpPr>
            <a:spLocks noGrp="1" noChangeArrowheads="1"/>
          </p:cNvSpPr>
          <p:nvPr>
            <p:ph type="body" idx="1"/>
          </p:nvPr>
        </p:nvSpPr>
        <p:spPr>
          <a:noFill/>
          <a:ln/>
        </p:spPr>
        <p:txBody>
          <a:bodyPr/>
          <a:lstStyle/>
          <a:p>
            <a:r>
              <a:rPr lang="en-US">
                <a:solidFill>
                  <a:schemeClr val="tx2"/>
                </a:solidFill>
              </a:rPr>
              <a:t>Network Representation</a:t>
            </a:r>
          </a:p>
        </p:txBody>
      </p:sp>
      <p:sp>
        <p:nvSpPr>
          <p:cNvPr id="9220" name="Oval 4"/>
          <p:cNvSpPr>
            <a:spLocks noChangeArrowheads="1"/>
          </p:cNvSpPr>
          <p:nvPr/>
        </p:nvSpPr>
        <p:spPr bwMode="auto">
          <a:xfrm>
            <a:off x="5605463" y="1892300"/>
            <a:ext cx="808037" cy="768350"/>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111125" tIns="55562" rIns="111125" bIns="55562" anchor="ctr"/>
          <a:lstStyle>
            <a:lvl1pPr defTabSz="1316038">
              <a:defRPr sz="2400">
                <a:solidFill>
                  <a:schemeClr val="tx1"/>
                </a:solidFill>
                <a:latin typeface="Times New Roman" panose="02020603050405020304" pitchFamily="18" charset="0"/>
              </a:defRPr>
            </a:lvl1pPr>
            <a:lvl2pPr marL="549275" defTabSz="1316038">
              <a:defRPr sz="2400">
                <a:solidFill>
                  <a:schemeClr val="tx1"/>
                </a:solidFill>
                <a:latin typeface="Times New Roman" panose="02020603050405020304" pitchFamily="18" charset="0"/>
              </a:defRPr>
            </a:lvl2pPr>
            <a:lvl3pPr marL="1096963" defTabSz="1316038">
              <a:defRPr sz="2400">
                <a:solidFill>
                  <a:schemeClr val="tx1"/>
                </a:solidFill>
                <a:latin typeface="Times New Roman" panose="02020603050405020304" pitchFamily="18" charset="0"/>
              </a:defRPr>
            </a:lvl3pPr>
            <a:lvl4pPr marL="1646238" defTabSz="1316038">
              <a:defRPr sz="2400">
                <a:solidFill>
                  <a:schemeClr val="tx1"/>
                </a:solidFill>
                <a:latin typeface="Times New Roman" panose="02020603050405020304" pitchFamily="18" charset="0"/>
              </a:defRPr>
            </a:lvl4pPr>
            <a:lvl5pPr marL="2193925" defTabSz="1316038">
              <a:defRPr sz="2400">
                <a:solidFill>
                  <a:schemeClr val="tx1"/>
                </a:solidFill>
                <a:latin typeface="Times New Roman" panose="02020603050405020304" pitchFamily="18" charset="0"/>
              </a:defRPr>
            </a:lvl5pPr>
            <a:lvl6pPr marL="2651125" defTabSz="1316038" eaLnBrk="0" fontAlgn="base" hangingPunct="0">
              <a:spcBef>
                <a:spcPct val="0"/>
              </a:spcBef>
              <a:spcAft>
                <a:spcPct val="0"/>
              </a:spcAft>
              <a:defRPr sz="2400">
                <a:solidFill>
                  <a:schemeClr val="tx1"/>
                </a:solidFill>
                <a:latin typeface="Times New Roman" panose="02020603050405020304" pitchFamily="18" charset="0"/>
              </a:defRPr>
            </a:lvl6pPr>
            <a:lvl7pPr marL="3108325" defTabSz="1316038" eaLnBrk="0" fontAlgn="base" hangingPunct="0">
              <a:spcBef>
                <a:spcPct val="0"/>
              </a:spcBef>
              <a:spcAft>
                <a:spcPct val="0"/>
              </a:spcAft>
              <a:defRPr sz="2400">
                <a:solidFill>
                  <a:schemeClr val="tx1"/>
                </a:solidFill>
                <a:latin typeface="Times New Roman" panose="02020603050405020304" pitchFamily="18" charset="0"/>
              </a:defRPr>
            </a:lvl7pPr>
            <a:lvl8pPr marL="3565525" defTabSz="1316038" eaLnBrk="0" fontAlgn="base" hangingPunct="0">
              <a:spcBef>
                <a:spcPct val="0"/>
              </a:spcBef>
              <a:spcAft>
                <a:spcPct val="0"/>
              </a:spcAft>
              <a:defRPr sz="2400">
                <a:solidFill>
                  <a:schemeClr val="tx1"/>
                </a:solidFill>
                <a:latin typeface="Times New Roman" panose="02020603050405020304" pitchFamily="18" charset="0"/>
              </a:defRPr>
            </a:lvl8pPr>
            <a:lvl9pPr marL="4022725" defTabSz="1316038"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latin typeface="Arial" panose="020B0604020202020204" pitchFamily="34" charset="0"/>
              </a:rPr>
              <a:t>1</a:t>
            </a:r>
          </a:p>
        </p:txBody>
      </p:sp>
      <p:sp>
        <p:nvSpPr>
          <p:cNvPr id="9221" name="Oval 5"/>
          <p:cNvSpPr>
            <a:spLocks noChangeArrowheads="1"/>
          </p:cNvSpPr>
          <p:nvPr/>
        </p:nvSpPr>
        <p:spPr bwMode="auto">
          <a:xfrm>
            <a:off x="5605463" y="3355975"/>
            <a:ext cx="808037" cy="828675"/>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111125" tIns="55562" rIns="111125" bIns="55562" anchor="ctr"/>
          <a:lstStyle>
            <a:lvl1pPr defTabSz="1316038">
              <a:defRPr sz="2400">
                <a:solidFill>
                  <a:schemeClr val="tx1"/>
                </a:solidFill>
                <a:latin typeface="Times New Roman" panose="02020603050405020304" pitchFamily="18" charset="0"/>
              </a:defRPr>
            </a:lvl1pPr>
            <a:lvl2pPr marL="549275" defTabSz="1316038">
              <a:defRPr sz="2400">
                <a:solidFill>
                  <a:schemeClr val="tx1"/>
                </a:solidFill>
                <a:latin typeface="Times New Roman" panose="02020603050405020304" pitchFamily="18" charset="0"/>
              </a:defRPr>
            </a:lvl2pPr>
            <a:lvl3pPr marL="1096963" defTabSz="1316038">
              <a:defRPr sz="2400">
                <a:solidFill>
                  <a:schemeClr val="tx1"/>
                </a:solidFill>
                <a:latin typeface="Times New Roman" panose="02020603050405020304" pitchFamily="18" charset="0"/>
              </a:defRPr>
            </a:lvl3pPr>
            <a:lvl4pPr marL="1646238" defTabSz="1316038">
              <a:defRPr sz="2400">
                <a:solidFill>
                  <a:schemeClr val="tx1"/>
                </a:solidFill>
                <a:latin typeface="Times New Roman" panose="02020603050405020304" pitchFamily="18" charset="0"/>
              </a:defRPr>
            </a:lvl4pPr>
            <a:lvl5pPr marL="2193925" defTabSz="1316038">
              <a:defRPr sz="2400">
                <a:solidFill>
                  <a:schemeClr val="tx1"/>
                </a:solidFill>
                <a:latin typeface="Times New Roman" panose="02020603050405020304" pitchFamily="18" charset="0"/>
              </a:defRPr>
            </a:lvl5pPr>
            <a:lvl6pPr marL="2651125" defTabSz="1316038" eaLnBrk="0" fontAlgn="base" hangingPunct="0">
              <a:spcBef>
                <a:spcPct val="0"/>
              </a:spcBef>
              <a:spcAft>
                <a:spcPct val="0"/>
              </a:spcAft>
              <a:defRPr sz="2400">
                <a:solidFill>
                  <a:schemeClr val="tx1"/>
                </a:solidFill>
                <a:latin typeface="Times New Roman" panose="02020603050405020304" pitchFamily="18" charset="0"/>
              </a:defRPr>
            </a:lvl6pPr>
            <a:lvl7pPr marL="3108325" defTabSz="1316038" eaLnBrk="0" fontAlgn="base" hangingPunct="0">
              <a:spcBef>
                <a:spcPct val="0"/>
              </a:spcBef>
              <a:spcAft>
                <a:spcPct val="0"/>
              </a:spcAft>
              <a:defRPr sz="2400">
                <a:solidFill>
                  <a:schemeClr val="tx1"/>
                </a:solidFill>
                <a:latin typeface="Times New Roman" panose="02020603050405020304" pitchFamily="18" charset="0"/>
              </a:defRPr>
            </a:lvl7pPr>
            <a:lvl8pPr marL="3565525" defTabSz="1316038" eaLnBrk="0" fontAlgn="base" hangingPunct="0">
              <a:spcBef>
                <a:spcPct val="0"/>
              </a:spcBef>
              <a:spcAft>
                <a:spcPct val="0"/>
              </a:spcAft>
              <a:defRPr sz="2400">
                <a:solidFill>
                  <a:schemeClr val="tx1"/>
                </a:solidFill>
                <a:latin typeface="Times New Roman" panose="02020603050405020304" pitchFamily="18" charset="0"/>
              </a:defRPr>
            </a:lvl8pPr>
            <a:lvl9pPr marL="4022725" defTabSz="1316038"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latin typeface="Arial" panose="020B0604020202020204" pitchFamily="34" charset="0"/>
              </a:rPr>
              <a:t>2</a:t>
            </a:r>
          </a:p>
        </p:txBody>
      </p:sp>
      <p:sp>
        <p:nvSpPr>
          <p:cNvPr id="9222" name="Oval 6"/>
          <p:cNvSpPr>
            <a:spLocks noChangeArrowheads="1"/>
          </p:cNvSpPr>
          <p:nvPr/>
        </p:nvSpPr>
        <p:spPr bwMode="auto">
          <a:xfrm>
            <a:off x="5605463" y="4635500"/>
            <a:ext cx="808037" cy="844550"/>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111125" tIns="55562" rIns="111125" bIns="55562" anchor="ctr"/>
          <a:lstStyle>
            <a:lvl1pPr defTabSz="1316038">
              <a:defRPr sz="2400">
                <a:solidFill>
                  <a:schemeClr val="tx1"/>
                </a:solidFill>
                <a:latin typeface="Times New Roman" panose="02020603050405020304" pitchFamily="18" charset="0"/>
              </a:defRPr>
            </a:lvl1pPr>
            <a:lvl2pPr marL="549275" defTabSz="1316038">
              <a:defRPr sz="2400">
                <a:solidFill>
                  <a:schemeClr val="tx1"/>
                </a:solidFill>
                <a:latin typeface="Times New Roman" panose="02020603050405020304" pitchFamily="18" charset="0"/>
              </a:defRPr>
            </a:lvl2pPr>
            <a:lvl3pPr marL="1096963" defTabSz="1316038">
              <a:defRPr sz="2400">
                <a:solidFill>
                  <a:schemeClr val="tx1"/>
                </a:solidFill>
                <a:latin typeface="Times New Roman" panose="02020603050405020304" pitchFamily="18" charset="0"/>
              </a:defRPr>
            </a:lvl3pPr>
            <a:lvl4pPr marL="1646238" defTabSz="1316038">
              <a:defRPr sz="2400">
                <a:solidFill>
                  <a:schemeClr val="tx1"/>
                </a:solidFill>
                <a:latin typeface="Times New Roman" panose="02020603050405020304" pitchFamily="18" charset="0"/>
              </a:defRPr>
            </a:lvl4pPr>
            <a:lvl5pPr marL="2193925" defTabSz="1316038">
              <a:defRPr sz="2400">
                <a:solidFill>
                  <a:schemeClr val="tx1"/>
                </a:solidFill>
                <a:latin typeface="Times New Roman" panose="02020603050405020304" pitchFamily="18" charset="0"/>
              </a:defRPr>
            </a:lvl5pPr>
            <a:lvl6pPr marL="2651125" defTabSz="1316038" eaLnBrk="0" fontAlgn="base" hangingPunct="0">
              <a:spcBef>
                <a:spcPct val="0"/>
              </a:spcBef>
              <a:spcAft>
                <a:spcPct val="0"/>
              </a:spcAft>
              <a:defRPr sz="2400">
                <a:solidFill>
                  <a:schemeClr val="tx1"/>
                </a:solidFill>
                <a:latin typeface="Times New Roman" panose="02020603050405020304" pitchFamily="18" charset="0"/>
              </a:defRPr>
            </a:lvl6pPr>
            <a:lvl7pPr marL="3108325" defTabSz="1316038" eaLnBrk="0" fontAlgn="base" hangingPunct="0">
              <a:spcBef>
                <a:spcPct val="0"/>
              </a:spcBef>
              <a:spcAft>
                <a:spcPct val="0"/>
              </a:spcAft>
              <a:defRPr sz="2400">
                <a:solidFill>
                  <a:schemeClr val="tx1"/>
                </a:solidFill>
                <a:latin typeface="Times New Roman" panose="02020603050405020304" pitchFamily="18" charset="0"/>
              </a:defRPr>
            </a:lvl7pPr>
            <a:lvl8pPr marL="3565525" defTabSz="1316038" eaLnBrk="0" fontAlgn="base" hangingPunct="0">
              <a:spcBef>
                <a:spcPct val="0"/>
              </a:spcBef>
              <a:spcAft>
                <a:spcPct val="0"/>
              </a:spcAft>
              <a:defRPr sz="2400">
                <a:solidFill>
                  <a:schemeClr val="tx1"/>
                </a:solidFill>
                <a:latin typeface="Times New Roman" panose="02020603050405020304" pitchFamily="18" charset="0"/>
              </a:defRPr>
            </a:lvl8pPr>
            <a:lvl9pPr marL="4022725" defTabSz="1316038"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latin typeface="Arial" panose="020B0604020202020204" pitchFamily="34" charset="0"/>
              </a:rPr>
              <a:t>3</a:t>
            </a:r>
          </a:p>
        </p:txBody>
      </p:sp>
      <p:sp>
        <p:nvSpPr>
          <p:cNvPr id="9223" name="Oval 7"/>
          <p:cNvSpPr>
            <a:spLocks noChangeArrowheads="1"/>
          </p:cNvSpPr>
          <p:nvPr/>
        </p:nvSpPr>
        <p:spPr bwMode="auto">
          <a:xfrm>
            <a:off x="2493963" y="2714625"/>
            <a:ext cx="812800" cy="784225"/>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111125" tIns="55562" rIns="111125" bIns="55562" anchor="ctr"/>
          <a:lstStyle>
            <a:lvl1pPr defTabSz="1316038">
              <a:defRPr sz="2400">
                <a:solidFill>
                  <a:schemeClr val="tx1"/>
                </a:solidFill>
                <a:latin typeface="Times New Roman" panose="02020603050405020304" pitchFamily="18" charset="0"/>
              </a:defRPr>
            </a:lvl1pPr>
            <a:lvl2pPr marL="549275" defTabSz="1316038">
              <a:defRPr sz="2400">
                <a:solidFill>
                  <a:schemeClr val="tx1"/>
                </a:solidFill>
                <a:latin typeface="Times New Roman" panose="02020603050405020304" pitchFamily="18" charset="0"/>
              </a:defRPr>
            </a:lvl2pPr>
            <a:lvl3pPr marL="1096963" defTabSz="1316038">
              <a:defRPr sz="2400">
                <a:solidFill>
                  <a:schemeClr val="tx1"/>
                </a:solidFill>
                <a:latin typeface="Times New Roman" panose="02020603050405020304" pitchFamily="18" charset="0"/>
              </a:defRPr>
            </a:lvl3pPr>
            <a:lvl4pPr marL="1646238" defTabSz="1316038">
              <a:defRPr sz="2400">
                <a:solidFill>
                  <a:schemeClr val="tx1"/>
                </a:solidFill>
                <a:latin typeface="Times New Roman" panose="02020603050405020304" pitchFamily="18" charset="0"/>
              </a:defRPr>
            </a:lvl4pPr>
            <a:lvl5pPr marL="2193925" defTabSz="1316038">
              <a:defRPr sz="2400">
                <a:solidFill>
                  <a:schemeClr val="tx1"/>
                </a:solidFill>
                <a:latin typeface="Times New Roman" panose="02020603050405020304" pitchFamily="18" charset="0"/>
              </a:defRPr>
            </a:lvl5pPr>
            <a:lvl6pPr marL="2651125" defTabSz="1316038" eaLnBrk="0" fontAlgn="base" hangingPunct="0">
              <a:spcBef>
                <a:spcPct val="0"/>
              </a:spcBef>
              <a:spcAft>
                <a:spcPct val="0"/>
              </a:spcAft>
              <a:defRPr sz="2400">
                <a:solidFill>
                  <a:schemeClr val="tx1"/>
                </a:solidFill>
                <a:latin typeface="Times New Roman" panose="02020603050405020304" pitchFamily="18" charset="0"/>
              </a:defRPr>
            </a:lvl6pPr>
            <a:lvl7pPr marL="3108325" defTabSz="1316038" eaLnBrk="0" fontAlgn="base" hangingPunct="0">
              <a:spcBef>
                <a:spcPct val="0"/>
              </a:spcBef>
              <a:spcAft>
                <a:spcPct val="0"/>
              </a:spcAft>
              <a:defRPr sz="2400">
                <a:solidFill>
                  <a:schemeClr val="tx1"/>
                </a:solidFill>
                <a:latin typeface="Times New Roman" panose="02020603050405020304" pitchFamily="18" charset="0"/>
              </a:defRPr>
            </a:lvl7pPr>
            <a:lvl8pPr marL="3565525" defTabSz="1316038" eaLnBrk="0" fontAlgn="base" hangingPunct="0">
              <a:spcBef>
                <a:spcPct val="0"/>
              </a:spcBef>
              <a:spcAft>
                <a:spcPct val="0"/>
              </a:spcAft>
              <a:defRPr sz="2400">
                <a:solidFill>
                  <a:schemeClr val="tx1"/>
                </a:solidFill>
                <a:latin typeface="Times New Roman" panose="02020603050405020304" pitchFamily="18" charset="0"/>
              </a:defRPr>
            </a:lvl8pPr>
            <a:lvl9pPr marL="4022725" defTabSz="1316038"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latin typeface="Arial" panose="020B0604020202020204" pitchFamily="34" charset="0"/>
              </a:rPr>
              <a:t>1</a:t>
            </a:r>
          </a:p>
        </p:txBody>
      </p:sp>
      <p:sp>
        <p:nvSpPr>
          <p:cNvPr id="9224" name="Oval 8"/>
          <p:cNvSpPr>
            <a:spLocks noChangeArrowheads="1"/>
          </p:cNvSpPr>
          <p:nvPr/>
        </p:nvSpPr>
        <p:spPr bwMode="auto">
          <a:xfrm>
            <a:off x="2493963" y="4178300"/>
            <a:ext cx="812800" cy="844550"/>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111125" tIns="55562" rIns="111125" bIns="55562" anchor="ctr"/>
          <a:lstStyle>
            <a:lvl1pPr defTabSz="1316038">
              <a:defRPr sz="2400">
                <a:solidFill>
                  <a:schemeClr val="tx1"/>
                </a:solidFill>
                <a:latin typeface="Times New Roman" panose="02020603050405020304" pitchFamily="18" charset="0"/>
              </a:defRPr>
            </a:lvl1pPr>
            <a:lvl2pPr marL="549275" defTabSz="1316038">
              <a:defRPr sz="2400">
                <a:solidFill>
                  <a:schemeClr val="tx1"/>
                </a:solidFill>
                <a:latin typeface="Times New Roman" panose="02020603050405020304" pitchFamily="18" charset="0"/>
              </a:defRPr>
            </a:lvl2pPr>
            <a:lvl3pPr marL="1096963" defTabSz="1316038">
              <a:defRPr sz="2400">
                <a:solidFill>
                  <a:schemeClr val="tx1"/>
                </a:solidFill>
                <a:latin typeface="Times New Roman" panose="02020603050405020304" pitchFamily="18" charset="0"/>
              </a:defRPr>
            </a:lvl3pPr>
            <a:lvl4pPr marL="1646238" defTabSz="1316038">
              <a:defRPr sz="2400">
                <a:solidFill>
                  <a:schemeClr val="tx1"/>
                </a:solidFill>
                <a:latin typeface="Times New Roman" panose="02020603050405020304" pitchFamily="18" charset="0"/>
              </a:defRPr>
            </a:lvl4pPr>
            <a:lvl5pPr marL="2193925" defTabSz="1316038">
              <a:defRPr sz="2400">
                <a:solidFill>
                  <a:schemeClr val="tx1"/>
                </a:solidFill>
                <a:latin typeface="Times New Roman" panose="02020603050405020304" pitchFamily="18" charset="0"/>
              </a:defRPr>
            </a:lvl5pPr>
            <a:lvl6pPr marL="2651125" defTabSz="1316038" eaLnBrk="0" fontAlgn="base" hangingPunct="0">
              <a:spcBef>
                <a:spcPct val="0"/>
              </a:spcBef>
              <a:spcAft>
                <a:spcPct val="0"/>
              </a:spcAft>
              <a:defRPr sz="2400">
                <a:solidFill>
                  <a:schemeClr val="tx1"/>
                </a:solidFill>
                <a:latin typeface="Times New Roman" panose="02020603050405020304" pitchFamily="18" charset="0"/>
              </a:defRPr>
            </a:lvl6pPr>
            <a:lvl7pPr marL="3108325" defTabSz="1316038" eaLnBrk="0" fontAlgn="base" hangingPunct="0">
              <a:spcBef>
                <a:spcPct val="0"/>
              </a:spcBef>
              <a:spcAft>
                <a:spcPct val="0"/>
              </a:spcAft>
              <a:defRPr sz="2400">
                <a:solidFill>
                  <a:schemeClr val="tx1"/>
                </a:solidFill>
                <a:latin typeface="Times New Roman" panose="02020603050405020304" pitchFamily="18" charset="0"/>
              </a:defRPr>
            </a:lvl7pPr>
            <a:lvl8pPr marL="3565525" defTabSz="1316038" eaLnBrk="0" fontAlgn="base" hangingPunct="0">
              <a:spcBef>
                <a:spcPct val="0"/>
              </a:spcBef>
              <a:spcAft>
                <a:spcPct val="0"/>
              </a:spcAft>
              <a:defRPr sz="2400">
                <a:solidFill>
                  <a:schemeClr val="tx1"/>
                </a:solidFill>
                <a:latin typeface="Times New Roman" panose="02020603050405020304" pitchFamily="18" charset="0"/>
              </a:defRPr>
            </a:lvl8pPr>
            <a:lvl9pPr marL="4022725" defTabSz="1316038"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latin typeface="Arial" panose="020B0604020202020204" pitchFamily="34" charset="0"/>
              </a:rPr>
              <a:t>2</a:t>
            </a:r>
          </a:p>
        </p:txBody>
      </p:sp>
      <p:sp>
        <p:nvSpPr>
          <p:cNvPr id="9225" name="Line 9"/>
          <p:cNvSpPr>
            <a:spLocks noChangeShapeType="1"/>
          </p:cNvSpPr>
          <p:nvPr/>
        </p:nvSpPr>
        <p:spPr bwMode="auto">
          <a:xfrm flipV="1">
            <a:off x="3319463" y="2336800"/>
            <a:ext cx="2273300" cy="744538"/>
          </a:xfrm>
          <a:prstGeom prst="line">
            <a:avLst/>
          </a:prstGeom>
          <a:noFill/>
          <a:ln w="127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26" name="Line 10"/>
          <p:cNvSpPr>
            <a:spLocks noChangeShapeType="1"/>
          </p:cNvSpPr>
          <p:nvPr/>
        </p:nvSpPr>
        <p:spPr bwMode="auto">
          <a:xfrm>
            <a:off x="3319463" y="3081338"/>
            <a:ext cx="2273300" cy="627062"/>
          </a:xfrm>
          <a:prstGeom prst="line">
            <a:avLst/>
          </a:prstGeom>
          <a:noFill/>
          <a:ln w="127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27" name="Line 11"/>
          <p:cNvSpPr>
            <a:spLocks noChangeShapeType="1"/>
          </p:cNvSpPr>
          <p:nvPr/>
        </p:nvSpPr>
        <p:spPr bwMode="auto">
          <a:xfrm>
            <a:off x="3319463" y="3081338"/>
            <a:ext cx="2273300" cy="1816100"/>
          </a:xfrm>
          <a:prstGeom prst="line">
            <a:avLst/>
          </a:prstGeom>
          <a:noFill/>
          <a:ln w="127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28" name="Line 12"/>
          <p:cNvSpPr>
            <a:spLocks noChangeShapeType="1"/>
          </p:cNvSpPr>
          <p:nvPr/>
        </p:nvSpPr>
        <p:spPr bwMode="auto">
          <a:xfrm flipV="1">
            <a:off x="3319463" y="2336800"/>
            <a:ext cx="2273300" cy="2206625"/>
          </a:xfrm>
          <a:prstGeom prst="line">
            <a:avLst/>
          </a:prstGeom>
          <a:noFill/>
          <a:ln w="127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29" name="Line 13"/>
          <p:cNvSpPr>
            <a:spLocks noChangeShapeType="1"/>
          </p:cNvSpPr>
          <p:nvPr/>
        </p:nvSpPr>
        <p:spPr bwMode="auto">
          <a:xfrm flipV="1">
            <a:off x="3319463" y="3800475"/>
            <a:ext cx="2273300" cy="742950"/>
          </a:xfrm>
          <a:prstGeom prst="line">
            <a:avLst/>
          </a:prstGeom>
          <a:noFill/>
          <a:ln w="127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30" name="Line 14"/>
          <p:cNvSpPr>
            <a:spLocks noChangeShapeType="1"/>
          </p:cNvSpPr>
          <p:nvPr/>
        </p:nvSpPr>
        <p:spPr bwMode="auto">
          <a:xfrm>
            <a:off x="3319463" y="4543425"/>
            <a:ext cx="2273300" cy="354013"/>
          </a:xfrm>
          <a:prstGeom prst="line">
            <a:avLst/>
          </a:prstGeom>
          <a:noFill/>
          <a:ln w="127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31" name="Rectangle 15"/>
          <p:cNvSpPr>
            <a:spLocks noChangeArrowheads="1"/>
          </p:cNvSpPr>
          <p:nvPr/>
        </p:nvSpPr>
        <p:spPr bwMode="auto">
          <a:xfrm>
            <a:off x="3200400" y="2554288"/>
            <a:ext cx="609600"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1125" tIns="55562" rIns="111125" bIns="55562">
            <a:spAutoFit/>
          </a:bodyPr>
          <a:lstStyle>
            <a:lvl1pPr defTabSz="1316038">
              <a:defRPr sz="2400">
                <a:solidFill>
                  <a:schemeClr val="tx1"/>
                </a:solidFill>
                <a:latin typeface="Times New Roman" panose="02020603050405020304" pitchFamily="18" charset="0"/>
              </a:defRPr>
            </a:lvl1pPr>
            <a:lvl2pPr marL="549275" defTabSz="1316038">
              <a:defRPr sz="2400">
                <a:solidFill>
                  <a:schemeClr val="tx1"/>
                </a:solidFill>
                <a:latin typeface="Times New Roman" panose="02020603050405020304" pitchFamily="18" charset="0"/>
              </a:defRPr>
            </a:lvl2pPr>
            <a:lvl3pPr marL="1096963" defTabSz="1316038">
              <a:defRPr sz="2400">
                <a:solidFill>
                  <a:schemeClr val="tx1"/>
                </a:solidFill>
                <a:latin typeface="Times New Roman" panose="02020603050405020304" pitchFamily="18" charset="0"/>
              </a:defRPr>
            </a:lvl3pPr>
            <a:lvl4pPr marL="1646238" defTabSz="1316038">
              <a:defRPr sz="2400">
                <a:solidFill>
                  <a:schemeClr val="tx1"/>
                </a:solidFill>
                <a:latin typeface="Times New Roman" panose="02020603050405020304" pitchFamily="18" charset="0"/>
              </a:defRPr>
            </a:lvl4pPr>
            <a:lvl5pPr marL="2193925" defTabSz="1316038">
              <a:defRPr sz="2400">
                <a:solidFill>
                  <a:schemeClr val="tx1"/>
                </a:solidFill>
                <a:latin typeface="Times New Roman" panose="02020603050405020304" pitchFamily="18" charset="0"/>
              </a:defRPr>
            </a:lvl5pPr>
            <a:lvl6pPr marL="2651125" defTabSz="1316038" eaLnBrk="0" fontAlgn="base" hangingPunct="0">
              <a:spcBef>
                <a:spcPct val="0"/>
              </a:spcBef>
              <a:spcAft>
                <a:spcPct val="0"/>
              </a:spcAft>
              <a:defRPr sz="2400">
                <a:solidFill>
                  <a:schemeClr val="tx1"/>
                </a:solidFill>
                <a:latin typeface="Times New Roman" panose="02020603050405020304" pitchFamily="18" charset="0"/>
              </a:defRPr>
            </a:lvl6pPr>
            <a:lvl7pPr marL="3108325" defTabSz="1316038" eaLnBrk="0" fontAlgn="base" hangingPunct="0">
              <a:spcBef>
                <a:spcPct val="0"/>
              </a:spcBef>
              <a:spcAft>
                <a:spcPct val="0"/>
              </a:spcAft>
              <a:defRPr sz="2400">
                <a:solidFill>
                  <a:schemeClr val="tx1"/>
                </a:solidFill>
                <a:latin typeface="Times New Roman" panose="02020603050405020304" pitchFamily="18" charset="0"/>
              </a:defRPr>
            </a:lvl7pPr>
            <a:lvl8pPr marL="3565525" defTabSz="1316038" eaLnBrk="0" fontAlgn="base" hangingPunct="0">
              <a:spcBef>
                <a:spcPct val="0"/>
              </a:spcBef>
              <a:spcAft>
                <a:spcPct val="0"/>
              </a:spcAft>
              <a:defRPr sz="2400">
                <a:solidFill>
                  <a:schemeClr val="tx1"/>
                </a:solidFill>
                <a:latin typeface="Times New Roman" panose="02020603050405020304" pitchFamily="18" charset="0"/>
              </a:defRPr>
            </a:lvl8pPr>
            <a:lvl9pPr marL="4022725" defTabSz="131603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11</a:t>
            </a:r>
          </a:p>
        </p:txBody>
      </p:sp>
      <p:sp>
        <p:nvSpPr>
          <p:cNvPr id="9232" name="Rectangle 16"/>
          <p:cNvSpPr>
            <a:spLocks noChangeArrowheads="1"/>
          </p:cNvSpPr>
          <p:nvPr/>
        </p:nvSpPr>
        <p:spPr bwMode="auto">
          <a:xfrm>
            <a:off x="3733800" y="2881313"/>
            <a:ext cx="533400"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1125" tIns="55562" rIns="111125" bIns="55562">
            <a:spAutoFit/>
          </a:bodyPr>
          <a:lstStyle>
            <a:lvl1pPr defTabSz="1316038">
              <a:defRPr sz="2400">
                <a:solidFill>
                  <a:schemeClr val="tx1"/>
                </a:solidFill>
                <a:latin typeface="Times New Roman" panose="02020603050405020304" pitchFamily="18" charset="0"/>
              </a:defRPr>
            </a:lvl1pPr>
            <a:lvl2pPr marL="549275" defTabSz="1316038">
              <a:defRPr sz="2400">
                <a:solidFill>
                  <a:schemeClr val="tx1"/>
                </a:solidFill>
                <a:latin typeface="Times New Roman" panose="02020603050405020304" pitchFamily="18" charset="0"/>
              </a:defRPr>
            </a:lvl2pPr>
            <a:lvl3pPr marL="1096963" defTabSz="1316038">
              <a:defRPr sz="2400">
                <a:solidFill>
                  <a:schemeClr val="tx1"/>
                </a:solidFill>
                <a:latin typeface="Times New Roman" panose="02020603050405020304" pitchFamily="18" charset="0"/>
              </a:defRPr>
            </a:lvl3pPr>
            <a:lvl4pPr marL="1646238" defTabSz="1316038">
              <a:defRPr sz="2400">
                <a:solidFill>
                  <a:schemeClr val="tx1"/>
                </a:solidFill>
                <a:latin typeface="Times New Roman" panose="02020603050405020304" pitchFamily="18" charset="0"/>
              </a:defRPr>
            </a:lvl4pPr>
            <a:lvl5pPr marL="2193925" defTabSz="1316038">
              <a:defRPr sz="2400">
                <a:solidFill>
                  <a:schemeClr val="tx1"/>
                </a:solidFill>
                <a:latin typeface="Times New Roman" panose="02020603050405020304" pitchFamily="18" charset="0"/>
              </a:defRPr>
            </a:lvl5pPr>
            <a:lvl6pPr marL="2651125" defTabSz="1316038" eaLnBrk="0" fontAlgn="base" hangingPunct="0">
              <a:spcBef>
                <a:spcPct val="0"/>
              </a:spcBef>
              <a:spcAft>
                <a:spcPct val="0"/>
              </a:spcAft>
              <a:defRPr sz="2400">
                <a:solidFill>
                  <a:schemeClr val="tx1"/>
                </a:solidFill>
                <a:latin typeface="Times New Roman" panose="02020603050405020304" pitchFamily="18" charset="0"/>
              </a:defRPr>
            </a:lvl6pPr>
            <a:lvl7pPr marL="3108325" defTabSz="1316038" eaLnBrk="0" fontAlgn="base" hangingPunct="0">
              <a:spcBef>
                <a:spcPct val="0"/>
              </a:spcBef>
              <a:spcAft>
                <a:spcPct val="0"/>
              </a:spcAft>
              <a:defRPr sz="2400">
                <a:solidFill>
                  <a:schemeClr val="tx1"/>
                </a:solidFill>
                <a:latin typeface="Times New Roman" panose="02020603050405020304" pitchFamily="18" charset="0"/>
              </a:defRPr>
            </a:lvl7pPr>
            <a:lvl8pPr marL="3565525" defTabSz="1316038" eaLnBrk="0" fontAlgn="base" hangingPunct="0">
              <a:spcBef>
                <a:spcPct val="0"/>
              </a:spcBef>
              <a:spcAft>
                <a:spcPct val="0"/>
              </a:spcAft>
              <a:defRPr sz="2400">
                <a:solidFill>
                  <a:schemeClr val="tx1"/>
                </a:solidFill>
                <a:latin typeface="Times New Roman" panose="02020603050405020304" pitchFamily="18" charset="0"/>
              </a:defRPr>
            </a:lvl8pPr>
            <a:lvl9pPr marL="4022725" defTabSz="131603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12</a:t>
            </a:r>
          </a:p>
        </p:txBody>
      </p:sp>
      <p:sp>
        <p:nvSpPr>
          <p:cNvPr id="9233" name="Rectangle 17"/>
          <p:cNvSpPr>
            <a:spLocks noChangeArrowheads="1"/>
          </p:cNvSpPr>
          <p:nvPr/>
        </p:nvSpPr>
        <p:spPr bwMode="auto">
          <a:xfrm>
            <a:off x="3186113" y="3248025"/>
            <a:ext cx="533400"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1125" tIns="55562" rIns="111125" bIns="55562">
            <a:spAutoFit/>
          </a:bodyPr>
          <a:lstStyle>
            <a:lvl1pPr defTabSz="1316038">
              <a:defRPr sz="2400">
                <a:solidFill>
                  <a:schemeClr val="tx1"/>
                </a:solidFill>
                <a:latin typeface="Times New Roman" panose="02020603050405020304" pitchFamily="18" charset="0"/>
              </a:defRPr>
            </a:lvl1pPr>
            <a:lvl2pPr marL="549275" defTabSz="1316038">
              <a:defRPr sz="2400">
                <a:solidFill>
                  <a:schemeClr val="tx1"/>
                </a:solidFill>
                <a:latin typeface="Times New Roman" panose="02020603050405020304" pitchFamily="18" charset="0"/>
              </a:defRPr>
            </a:lvl2pPr>
            <a:lvl3pPr marL="1096963" defTabSz="1316038">
              <a:defRPr sz="2400">
                <a:solidFill>
                  <a:schemeClr val="tx1"/>
                </a:solidFill>
                <a:latin typeface="Times New Roman" panose="02020603050405020304" pitchFamily="18" charset="0"/>
              </a:defRPr>
            </a:lvl3pPr>
            <a:lvl4pPr marL="1646238" defTabSz="1316038">
              <a:defRPr sz="2400">
                <a:solidFill>
                  <a:schemeClr val="tx1"/>
                </a:solidFill>
                <a:latin typeface="Times New Roman" panose="02020603050405020304" pitchFamily="18" charset="0"/>
              </a:defRPr>
            </a:lvl4pPr>
            <a:lvl5pPr marL="2193925" defTabSz="1316038">
              <a:defRPr sz="2400">
                <a:solidFill>
                  <a:schemeClr val="tx1"/>
                </a:solidFill>
                <a:latin typeface="Times New Roman" panose="02020603050405020304" pitchFamily="18" charset="0"/>
              </a:defRPr>
            </a:lvl5pPr>
            <a:lvl6pPr marL="2651125" defTabSz="1316038" eaLnBrk="0" fontAlgn="base" hangingPunct="0">
              <a:spcBef>
                <a:spcPct val="0"/>
              </a:spcBef>
              <a:spcAft>
                <a:spcPct val="0"/>
              </a:spcAft>
              <a:defRPr sz="2400">
                <a:solidFill>
                  <a:schemeClr val="tx1"/>
                </a:solidFill>
                <a:latin typeface="Times New Roman" panose="02020603050405020304" pitchFamily="18" charset="0"/>
              </a:defRPr>
            </a:lvl6pPr>
            <a:lvl7pPr marL="3108325" defTabSz="1316038" eaLnBrk="0" fontAlgn="base" hangingPunct="0">
              <a:spcBef>
                <a:spcPct val="0"/>
              </a:spcBef>
              <a:spcAft>
                <a:spcPct val="0"/>
              </a:spcAft>
              <a:defRPr sz="2400">
                <a:solidFill>
                  <a:schemeClr val="tx1"/>
                </a:solidFill>
                <a:latin typeface="Times New Roman" panose="02020603050405020304" pitchFamily="18" charset="0"/>
              </a:defRPr>
            </a:lvl7pPr>
            <a:lvl8pPr marL="3565525" defTabSz="1316038" eaLnBrk="0" fontAlgn="base" hangingPunct="0">
              <a:spcBef>
                <a:spcPct val="0"/>
              </a:spcBef>
              <a:spcAft>
                <a:spcPct val="0"/>
              </a:spcAft>
              <a:defRPr sz="2400">
                <a:solidFill>
                  <a:schemeClr val="tx1"/>
                </a:solidFill>
                <a:latin typeface="Times New Roman" panose="02020603050405020304" pitchFamily="18" charset="0"/>
              </a:defRPr>
            </a:lvl8pPr>
            <a:lvl9pPr marL="4022725" defTabSz="131603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13</a:t>
            </a:r>
          </a:p>
        </p:txBody>
      </p:sp>
      <p:sp>
        <p:nvSpPr>
          <p:cNvPr id="9234" name="Rectangle 18"/>
          <p:cNvSpPr>
            <a:spLocks noChangeArrowheads="1"/>
          </p:cNvSpPr>
          <p:nvPr/>
        </p:nvSpPr>
        <p:spPr bwMode="auto">
          <a:xfrm>
            <a:off x="3186113" y="3827463"/>
            <a:ext cx="533400"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1125" tIns="55562" rIns="111125" bIns="55562">
            <a:spAutoFit/>
          </a:bodyPr>
          <a:lstStyle>
            <a:lvl1pPr defTabSz="1316038">
              <a:defRPr sz="2400">
                <a:solidFill>
                  <a:schemeClr val="tx1"/>
                </a:solidFill>
                <a:latin typeface="Times New Roman" panose="02020603050405020304" pitchFamily="18" charset="0"/>
              </a:defRPr>
            </a:lvl1pPr>
            <a:lvl2pPr marL="549275" defTabSz="1316038">
              <a:defRPr sz="2400">
                <a:solidFill>
                  <a:schemeClr val="tx1"/>
                </a:solidFill>
                <a:latin typeface="Times New Roman" panose="02020603050405020304" pitchFamily="18" charset="0"/>
              </a:defRPr>
            </a:lvl2pPr>
            <a:lvl3pPr marL="1096963" defTabSz="1316038">
              <a:defRPr sz="2400">
                <a:solidFill>
                  <a:schemeClr val="tx1"/>
                </a:solidFill>
                <a:latin typeface="Times New Roman" panose="02020603050405020304" pitchFamily="18" charset="0"/>
              </a:defRPr>
            </a:lvl3pPr>
            <a:lvl4pPr marL="1646238" defTabSz="1316038">
              <a:defRPr sz="2400">
                <a:solidFill>
                  <a:schemeClr val="tx1"/>
                </a:solidFill>
                <a:latin typeface="Times New Roman" panose="02020603050405020304" pitchFamily="18" charset="0"/>
              </a:defRPr>
            </a:lvl4pPr>
            <a:lvl5pPr marL="2193925" defTabSz="1316038">
              <a:defRPr sz="2400">
                <a:solidFill>
                  <a:schemeClr val="tx1"/>
                </a:solidFill>
                <a:latin typeface="Times New Roman" panose="02020603050405020304" pitchFamily="18" charset="0"/>
              </a:defRPr>
            </a:lvl5pPr>
            <a:lvl6pPr marL="2651125" defTabSz="1316038" eaLnBrk="0" fontAlgn="base" hangingPunct="0">
              <a:spcBef>
                <a:spcPct val="0"/>
              </a:spcBef>
              <a:spcAft>
                <a:spcPct val="0"/>
              </a:spcAft>
              <a:defRPr sz="2400">
                <a:solidFill>
                  <a:schemeClr val="tx1"/>
                </a:solidFill>
                <a:latin typeface="Times New Roman" panose="02020603050405020304" pitchFamily="18" charset="0"/>
              </a:defRPr>
            </a:lvl6pPr>
            <a:lvl7pPr marL="3108325" defTabSz="1316038" eaLnBrk="0" fontAlgn="base" hangingPunct="0">
              <a:spcBef>
                <a:spcPct val="0"/>
              </a:spcBef>
              <a:spcAft>
                <a:spcPct val="0"/>
              </a:spcAft>
              <a:defRPr sz="2400">
                <a:solidFill>
                  <a:schemeClr val="tx1"/>
                </a:solidFill>
                <a:latin typeface="Times New Roman" panose="02020603050405020304" pitchFamily="18" charset="0"/>
              </a:defRPr>
            </a:lvl7pPr>
            <a:lvl8pPr marL="3565525" defTabSz="1316038" eaLnBrk="0" fontAlgn="base" hangingPunct="0">
              <a:spcBef>
                <a:spcPct val="0"/>
              </a:spcBef>
              <a:spcAft>
                <a:spcPct val="0"/>
              </a:spcAft>
              <a:defRPr sz="2400">
                <a:solidFill>
                  <a:schemeClr val="tx1"/>
                </a:solidFill>
                <a:latin typeface="Times New Roman" panose="02020603050405020304" pitchFamily="18" charset="0"/>
              </a:defRPr>
            </a:lvl8pPr>
            <a:lvl9pPr marL="4022725" defTabSz="131603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21</a:t>
            </a:r>
          </a:p>
        </p:txBody>
      </p:sp>
      <p:sp>
        <p:nvSpPr>
          <p:cNvPr id="9235" name="Rectangle 19"/>
          <p:cNvSpPr>
            <a:spLocks noChangeArrowheads="1"/>
          </p:cNvSpPr>
          <p:nvPr/>
        </p:nvSpPr>
        <p:spPr bwMode="auto">
          <a:xfrm>
            <a:off x="3733800" y="3903663"/>
            <a:ext cx="533400"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1125" tIns="55562" rIns="111125" bIns="55562">
            <a:spAutoFit/>
          </a:bodyPr>
          <a:lstStyle>
            <a:lvl1pPr defTabSz="1316038">
              <a:defRPr sz="2400">
                <a:solidFill>
                  <a:schemeClr val="tx1"/>
                </a:solidFill>
                <a:latin typeface="Times New Roman" panose="02020603050405020304" pitchFamily="18" charset="0"/>
              </a:defRPr>
            </a:lvl1pPr>
            <a:lvl2pPr marL="549275" defTabSz="1316038">
              <a:defRPr sz="2400">
                <a:solidFill>
                  <a:schemeClr val="tx1"/>
                </a:solidFill>
                <a:latin typeface="Times New Roman" panose="02020603050405020304" pitchFamily="18" charset="0"/>
              </a:defRPr>
            </a:lvl2pPr>
            <a:lvl3pPr marL="1096963" defTabSz="1316038">
              <a:defRPr sz="2400">
                <a:solidFill>
                  <a:schemeClr val="tx1"/>
                </a:solidFill>
                <a:latin typeface="Times New Roman" panose="02020603050405020304" pitchFamily="18" charset="0"/>
              </a:defRPr>
            </a:lvl3pPr>
            <a:lvl4pPr marL="1646238" defTabSz="1316038">
              <a:defRPr sz="2400">
                <a:solidFill>
                  <a:schemeClr val="tx1"/>
                </a:solidFill>
                <a:latin typeface="Times New Roman" panose="02020603050405020304" pitchFamily="18" charset="0"/>
              </a:defRPr>
            </a:lvl4pPr>
            <a:lvl5pPr marL="2193925" defTabSz="1316038">
              <a:defRPr sz="2400">
                <a:solidFill>
                  <a:schemeClr val="tx1"/>
                </a:solidFill>
                <a:latin typeface="Times New Roman" panose="02020603050405020304" pitchFamily="18" charset="0"/>
              </a:defRPr>
            </a:lvl5pPr>
            <a:lvl6pPr marL="2651125" defTabSz="1316038" eaLnBrk="0" fontAlgn="base" hangingPunct="0">
              <a:spcBef>
                <a:spcPct val="0"/>
              </a:spcBef>
              <a:spcAft>
                <a:spcPct val="0"/>
              </a:spcAft>
              <a:defRPr sz="2400">
                <a:solidFill>
                  <a:schemeClr val="tx1"/>
                </a:solidFill>
                <a:latin typeface="Times New Roman" panose="02020603050405020304" pitchFamily="18" charset="0"/>
              </a:defRPr>
            </a:lvl6pPr>
            <a:lvl7pPr marL="3108325" defTabSz="1316038" eaLnBrk="0" fontAlgn="base" hangingPunct="0">
              <a:spcBef>
                <a:spcPct val="0"/>
              </a:spcBef>
              <a:spcAft>
                <a:spcPct val="0"/>
              </a:spcAft>
              <a:defRPr sz="2400">
                <a:solidFill>
                  <a:schemeClr val="tx1"/>
                </a:solidFill>
                <a:latin typeface="Times New Roman" panose="02020603050405020304" pitchFamily="18" charset="0"/>
              </a:defRPr>
            </a:lvl7pPr>
            <a:lvl8pPr marL="3565525" defTabSz="1316038" eaLnBrk="0" fontAlgn="base" hangingPunct="0">
              <a:spcBef>
                <a:spcPct val="0"/>
              </a:spcBef>
              <a:spcAft>
                <a:spcPct val="0"/>
              </a:spcAft>
              <a:defRPr sz="2400">
                <a:solidFill>
                  <a:schemeClr val="tx1"/>
                </a:solidFill>
                <a:latin typeface="Times New Roman" panose="02020603050405020304" pitchFamily="18" charset="0"/>
              </a:defRPr>
            </a:lvl8pPr>
            <a:lvl9pPr marL="4022725" defTabSz="131603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22</a:t>
            </a:r>
          </a:p>
        </p:txBody>
      </p:sp>
      <p:sp>
        <p:nvSpPr>
          <p:cNvPr id="9236" name="Rectangle 20"/>
          <p:cNvSpPr>
            <a:spLocks noChangeArrowheads="1"/>
          </p:cNvSpPr>
          <p:nvPr/>
        </p:nvSpPr>
        <p:spPr bwMode="auto">
          <a:xfrm>
            <a:off x="3276600" y="4527550"/>
            <a:ext cx="533400"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1125" tIns="55562" rIns="111125" bIns="55562">
            <a:spAutoFit/>
          </a:bodyPr>
          <a:lstStyle>
            <a:lvl1pPr defTabSz="1316038">
              <a:defRPr sz="2400">
                <a:solidFill>
                  <a:schemeClr val="tx1"/>
                </a:solidFill>
                <a:latin typeface="Times New Roman" panose="02020603050405020304" pitchFamily="18" charset="0"/>
              </a:defRPr>
            </a:lvl1pPr>
            <a:lvl2pPr marL="549275" defTabSz="1316038">
              <a:defRPr sz="2400">
                <a:solidFill>
                  <a:schemeClr val="tx1"/>
                </a:solidFill>
                <a:latin typeface="Times New Roman" panose="02020603050405020304" pitchFamily="18" charset="0"/>
              </a:defRPr>
            </a:lvl2pPr>
            <a:lvl3pPr marL="1096963" defTabSz="1316038">
              <a:defRPr sz="2400">
                <a:solidFill>
                  <a:schemeClr val="tx1"/>
                </a:solidFill>
                <a:latin typeface="Times New Roman" panose="02020603050405020304" pitchFamily="18" charset="0"/>
              </a:defRPr>
            </a:lvl3pPr>
            <a:lvl4pPr marL="1646238" defTabSz="1316038">
              <a:defRPr sz="2400">
                <a:solidFill>
                  <a:schemeClr val="tx1"/>
                </a:solidFill>
                <a:latin typeface="Times New Roman" panose="02020603050405020304" pitchFamily="18" charset="0"/>
              </a:defRPr>
            </a:lvl4pPr>
            <a:lvl5pPr marL="2193925" defTabSz="1316038">
              <a:defRPr sz="2400">
                <a:solidFill>
                  <a:schemeClr val="tx1"/>
                </a:solidFill>
                <a:latin typeface="Times New Roman" panose="02020603050405020304" pitchFamily="18" charset="0"/>
              </a:defRPr>
            </a:lvl5pPr>
            <a:lvl6pPr marL="2651125" defTabSz="1316038" eaLnBrk="0" fontAlgn="base" hangingPunct="0">
              <a:spcBef>
                <a:spcPct val="0"/>
              </a:spcBef>
              <a:spcAft>
                <a:spcPct val="0"/>
              </a:spcAft>
              <a:defRPr sz="2400">
                <a:solidFill>
                  <a:schemeClr val="tx1"/>
                </a:solidFill>
                <a:latin typeface="Times New Roman" panose="02020603050405020304" pitchFamily="18" charset="0"/>
              </a:defRPr>
            </a:lvl6pPr>
            <a:lvl7pPr marL="3108325" defTabSz="1316038" eaLnBrk="0" fontAlgn="base" hangingPunct="0">
              <a:spcBef>
                <a:spcPct val="0"/>
              </a:spcBef>
              <a:spcAft>
                <a:spcPct val="0"/>
              </a:spcAft>
              <a:defRPr sz="2400">
                <a:solidFill>
                  <a:schemeClr val="tx1"/>
                </a:solidFill>
                <a:latin typeface="Times New Roman" panose="02020603050405020304" pitchFamily="18" charset="0"/>
              </a:defRPr>
            </a:lvl7pPr>
            <a:lvl8pPr marL="3565525" defTabSz="1316038" eaLnBrk="0" fontAlgn="base" hangingPunct="0">
              <a:spcBef>
                <a:spcPct val="0"/>
              </a:spcBef>
              <a:spcAft>
                <a:spcPct val="0"/>
              </a:spcAft>
              <a:defRPr sz="2400">
                <a:solidFill>
                  <a:schemeClr val="tx1"/>
                </a:solidFill>
                <a:latin typeface="Times New Roman" panose="02020603050405020304" pitchFamily="18" charset="0"/>
              </a:defRPr>
            </a:lvl8pPr>
            <a:lvl9pPr marL="4022725" defTabSz="131603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23</a:t>
            </a:r>
          </a:p>
        </p:txBody>
      </p:sp>
      <p:sp>
        <p:nvSpPr>
          <p:cNvPr id="9237" name="Rectangle 21"/>
          <p:cNvSpPr>
            <a:spLocks noChangeArrowheads="1"/>
          </p:cNvSpPr>
          <p:nvPr/>
        </p:nvSpPr>
        <p:spPr bwMode="auto">
          <a:xfrm>
            <a:off x="6491288" y="2058988"/>
            <a:ext cx="455612"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1125" tIns="55562" rIns="111125" bIns="55562">
            <a:spAutoFit/>
          </a:bodyPr>
          <a:lstStyle>
            <a:lvl1pPr defTabSz="1316038">
              <a:defRPr sz="2400">
                <a:solidFill>
                  <a:schemeClr val="tx1"/>
                </a:solidFill>
                <a:latin typeface="Times New Roman" panose="02020603050405020304" pitchFamily="18" charset="0"/>
              </a:defRPr>
            </a:lvl1pPr>
            <a:lvl2pPr marL="549275" defTabSz="1316038">
              <a:defRPr sz="2400">
                <a:solidFill>
                  <a:schemeClr val="tx1"/>
                </a:solidFill>
                <a:latin typeface="Times New Roman" panose="02020603050405020304" pitchFamily="18" charset="0"/>
              </a:defRPr>
            </a:lvl2pPr>
            <a:lvl3pPr marL="1096963" defTabSz="1316038">
              <a:defRPr sz="2400">
                <a:solidFill>
                  <a:schemeClr val="tx1"/>
                </a:solidFill>
                <a:latin typeface="Times New Roman" panose="02020603050405020304" pitchFamily="18" charset="0"/>
              </a:defRPr>
            </a:lvl3pPr>
            <a:lvl4pPr marL="1646238" defTabSz="1316038">
              <a:defRPr sz="2400">
                <a:solidFill>
                  <a:schemeClr val="tx1"/>
                </a:solidFill>
                <a:latin typeface="Times New Roman" panose="02020603050405020304" pitchFamily="18" charset="0"/>
              </a:defRPr>
            </a:lvl4pPr>
            <a:lvl5pPr marL="2193925" defTabSz="1316038">
              <a:defRPr sz="2400">
                <a:solidFill>
                  <a:schemeClr val="tx1"/>
                </a:solidFill>
                <a:latin typeface="Times New Roman" panose="02020603050405020304" pitchFamily="18" charset="0"/>
              </a:defRPr>
            </a:lvl5pPr>
            <a:lvl6pPr marL="2651125" defTabSz="1316038" eaLnBrk="0" fontAlgn="base" hangingPunct="0">
              <a:spcBef>
                <a:spcPct val="0"/>
              </a:spcBef>
              <a:spcAft>
                <a:spcPct val="0"/>
              </a:spcAft>
              <a:defRPr sz="2400">
                <a:solidFill>
                  <a:schemeClr val="tx1"/>
                </a:solidFill>
                <a:latin typeface="Times New Roman" panose="02020603050405020304" pitchFamily="18" charset="0"/>
              </a:defRPr>
            </a:lvl6pPr>
            <a:lvl7pPr marL="3108325" defTabSz="1316038" eaLnBrk="0" fontAlgn="base" hangingPunct="0">
              <a:spcBef>
                <a:spcPct val="0"/>
              </a:spcBef>
              <a:spcAft>
                <a:spcPct val="0"/>
              </a:spcAft>
              <a:defRPr sz="2400">
                <a:solidFill>
                  <a:schemeClr val="tx1"/>
                </a:solidFill>
                <a:latin typeface="Times New Roman" panose="02020603050405020304" pitchFamily="18" charset="0"/>
              </a:defRPr>
            </a:lvl7pPr>
            <a:lvl8pPr marL="3565525" defTabSz="1316038" eaLnBrk="0" fontAlgn="base" hangingPunct="0">
              <a:spcBef>
                <a:spcPct val="0"/>
              </a:spcBef>
              <a:spcAft>
                <a:spcPct val="0"/>
              </a:spcAft>
              <a:defRPr sz="2400">
                <a:solidFill>
                  <a:schemeClr val="tx1"/>
                </a:solidFill>
                <a:latin typeface="Times New Roman" panose="02020603050405020304" pitchFamily="18" charset="0"/>
              </a:defRPr>
            </a:lvl8pPr>
            <a:lvl9pPr marL="4022725" defTabSz="131603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d</a:t>
            </a:r>
            <a:r>
              <a:rPr lang="en-US" sz="2000" i="0" baseline="-25000">
                <a:solidFill>
                  <a:srgbClr val="FFFFFF"/>
                </a:solidFill>
                <a:effectLst>
                  <a:outerShdw blurRad="38100" dist="38100" dir="2700000" algn="tl">
                    <a:srgbClr val="000000"/>
                  </a:outerShdw>
                </a:effectLst>
                <a:latin typeface="Arial" panose="020B0604020202020204" pitchFamily="34" charset="0"/>
              </a:rPr>
              <a:t>1</a:t>
            </a:r>
          </a:p>
        </p:txBody>
      </p:sp>
      <p:sp>
        <p:nvSpPr>
          <p:cNvPr id="9238" name="Rectangle 22"/>
          <p:cNvSpPr>
            <a:spLocks noChangeArrowheads="1"/>
          </p:cNvSpPr>
          <p:nvPr/>
        </p:nvSpPr>
        <p:spPr bwMode="auto">
          <a:xfrm>
            <a:off x="6491288" y="3522663"/>
            <a:ext cx="455612"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1125" tIns="55562" rIns="111125" bIns="55562">
            <a:spAutoFit/>
          </a:bodyPr>
          <a:lstStyle>
            <a:lvl1pPr defTabSz="1316038">
              <a:defRPr sz="2400">
                <a:solidFill>
                  <a:schemeClr val="tx1"/>
                </a:solidFill>
                <a:latin typeface="Times New Roman" panose="02020603050405020304" pitchFamily="18" charset="0"/>
              </a:defRPr>
            </a:lvl1pPr>
            <a:lvl2pPr marL="549275" defTabSz="1316038">
              <a:defRPr sz="2400">
                <a:solidFill>
                  <a:schemeClr val="tx1"/>
                </a:solidFill>
                <a:latin typeface="Times New Roman" panose="02020603050405020304" pitchFamily="18" charset="0"/>
              </a:defRPr>
            </a:lvl2pPr>
            <a:lvl3pPr marL="1096963" defTabSz="1316038">
              <a:defRPr sz="2400">
                <a:solidFill>
                  <a:schemeClr val="tx1"/>
                </a:solidFill>
                <a:latin typeface="Times New Roman" panose="02020603050405020304" pitchFamily="18" charset="0"/>
              </a:defRPr>
            </a:lvl3pPr>
            <a:lvl4pPr marL="1646238" defTabSz="1316038">
              <a:defRPr sz="2400">
                <a:solidFill>
                  <a:schemeClr val="tx1"/>
                </a:solidFill>
                <a:latin typeface="Times New Roman" panose="02020603050405020304" pitchFamily="18" charset="0"/>
              </a:defRPr>
            </a:lvl4pPr>
            <a:lvl5pPr marL="2193925" defTabSz="1316038">
              <a:defRPr sz="2400">
                <a:solidFill>
                  <a:schemeClr val="tx1"/>
                </a:solidFill>
                <a:latin typeface="Times New Roman" panose="02020603050405020304" pitchFamily="18" charset="0"/>
              </a:defRPr>
            </a:lvl5pPr>
            <a:lvl6pPr marL="2651125" defTabSz="1316038" eaLnBrk="0" fontAlgn="base" hangingPunct="0">
              <a:spcBef>
                <a:spcPct val="0"/>
              </a:spcBef>
              <a:spcAft>
                <a:spcPct val="0"/>
              </a:spcAft>
              <a:defRPr sz="2400">
                <a:solidFill>
                  <a:schemeClr val="tx1"/>
                </a:solidFill>
                <a:latin typeface="Times New Roman" panose="02020603050405020304" pitchFamily="18" charset="0"/>
              </a:defRPr>
            </a:lvl6pPr>
            <a:lvl7pPr marL="3108325" defTabSz="1316038" eaLnBrk="0" fontAlgn="base" hangingPunct="0">
              <a:spcBef>
                <a:spcPct val="0"/>
              </a:spcBef>
              <a:spcAft>
                <a:spcPct val="0"/>
              </a:spcAft>
              <a:defRPr sz="2400">
                <a:solidFill>
                  <a:schemeClr val="tx1"/>
                </a:solidFill>
                <a:latin typeface="Times New Roman" panose="02020603050405020304" pitchFamily="18" charset="0"/>
              </a:defRPr>
            </a:lvl7pPr>
            <a:lvl8pPr marL="3565525" defTabSz="1316038" eaLnBrk="0" fontAlgn="base" hangingPunct="0">
              <a:spcBef>
                <a:spcPct val="0"/>
              </a:spcBef>
              <a:spcAft>
                <a:spcPct val="0"/>
              </a:spcAft>
              <a:defRPr sz="2400">
                <a:solidFill>
                  <a:schemeClr val="tx1"/>
                </a:solidFill>
                <a:latin typeface="Times New Roman" panose="02020603050405020304" pitchFamily="18" charset="0"/>
              </a:defRPr>
            </a:lvl8pPr>
            <a:lvl9pPr marL="4022725" defTabSz="131603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d</a:t>
            </a:r>
            <a:r>
              <a:rPr lang="en-US" sz="2000" i="0" baseline="-25000">
                <a:solidFill>
                  <a:srgbClr val="FFFFFF"/>
                </a:solidFill>
                <a:effectLst>
                  <a:outerShdw blurRad="38100" dist="38100" dir="2700000" algn="tl">
                    <a:srgbClr val="000000"/>
                  </a:outerShdw>
                </a:effectLst>
                <a:latin typeface="Arial" panose="020B0604020202020204" pitchFamily="34" charset="0"/>
              </a:rPr>
              <a:t>2</a:t>
            </a:r>
          </a:p>
        </p:txBody>
      </p:sp>
      <p:sp>
        <p:nvSpPr>
          <p:cNvPr id="9239" name="Rectangle 23"/>
          <p:cNvSpPr>
            <a:spLocks noChangeArrowheads="1"/>
          </p:cNvSpPr>
          <p:nvPr/>
        </p:nvSpPr>
        <p:spPr bwMode="auto">
          <a:xfrm>
            <a:off x="6491288" y="4802188"/>
            <a:ext cx="455612"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1125" tIns="55562" rIns="111125" bIns="55562">
            <a:spAutoFit/>
          </a:bodyPr>
          <a:lstStyle>
            <a:lvl1pPr defTabSz="1316038">
              <a:defRPr sz="2400">
                <a:solidFill>
                  <a:schemeClr val="tx1"/>
                </a:solidFill>
                <a:latin typeface="Times New Roman" panose="02020603050405020304" pitchFamily="18" charset="0"/>
              </a:defRPr>
            </a:lvl1pPr>
            <a:lvl2pPr marL="549275" defTabSz="1316038">
              <a:defRPr sz="2400">
                <a:solidFill>
                  <a:schemeClr val="tx1"/>
                </a:solidFill>
                <a:latin typeface="Times New Roman" panose="02020603050405020304" pitchFamily="18" charset="0"/>
              </a:defRPr>
            </a:lvl2pPr>
            <a:lvl3pPr marL="1096963" defTabSz="1316038">
              <a:defRPr sz="2400">
                <a:solidFill>
                  <a:schemeClr val="tx1"/>
                </a:solidFill>
                <a:latin typeface="Times New Roman" panose="02020603050405020304" pitchFamily="18" charset="0"/>
              </a:defRPr>
            </a:lvl3pPr>
            <a:lvl4pPr marL="1646238" defTabSz="1316038">
              <a:defRPr sz="2400">
                <a:solidFill>
                  <a:schemeClr val="tx1"/>
                </a:solidFill>
                <a:latin typeface="Times New Roman" panose="02020603050405020304" pitchFamily="18" charset="0"/>
              </a:defRPr>
            </a:lvl4pPr>
            <a:lvl5pPr marL="2193925" defTabSz="1316038">
              <a:defRPr sz="2400">
                <a:solidFill>
                  <a:schemeClr val="tx1"/>
                </a:solidFill>
                <a:latin typeface="Times New Roman" panose="02020603050405020304" pitchFamily="18" charset="0"/>
              </a:defRPr>
            </a:lvl5pPr>
            <a:lvl6pPr marL="2651125" defTabSz="1316038" eaLnBrk="0" fontAlgn="base" hangingPunct="0">
              <a:spcBef>
                <a:spcPct val="0"/>
              </a:spcBef>
              <a:spcAft>
                <a:spcPct val="0"/>
              </a:spcAft>
              <a:defRPr sz="2400">
                <a:solidFill>
                  <a:schemeClr val="tx1"/>
                </a:solidFill>
                <a:latin typeface="Times New Roman" panose="02020603050405020304" pitchFamily="18" charset="0"/>
              </a:defRPr>
            </a:lvl6pPr>
            <a:lvl7pPr marL="3108325" defTabSz="1316038" eaLnBrk="0" fontAlgn="base" hangingPunct="0">
              <a:spcBef>
                <a:spcPct val="0"/>
              </a:spcBef>
              <a:spcAft>
                <a:spcPct val="0"/>
              </a:spcAft>
              <a:defRPr sz="2400">
                <a:solidFill>
                  <a:schemeClr val="tx1"/>
                </a:solidFill>
                <a:latin typeface="Times New Roman" panose="02020603050405020304" pitchFamily="18" charset="0"/>
              </a:defRPr>
            </a:lvl7pPr>
            <a:lvl8pPr marL="3565525" defTabSz="1316038" eaLnBrk="0" fontAlgn="base" hangingPunct="0">
              <a:spcBef>
                <a:spcPct val="0"/>
              </a:spcBef>
              <a:spcAft>
                <a:spcPct val="0"/>
              </a:spcAft>
              <a:defRPr sz="2400">
                <a:solidFill>
                  <a:schemeClr val="tx1"/>
                </a:solidFill>
                <a:latin typeface="Times New Roman" panose="02020603050405020304" pitchFamily="18" charset="0"/>
              </a:defRPr>
            </a:lvl8pPr>
            <a:lvl9pPr marL="4022725" defTabSz="131603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d</a:t>
            </a:r>
            <a:r>
              <a:rPr lang="en-US" sz="2000" i="0" baseline="-25000">
                <a:solidFill>
                  <a:srgbClr val="FFFFFF"/>
                </a:solidFill>
                <a:effectLst>
                  <a:outerShdw blurRad="38100" dist="38100" dir="2700000" algn="tl">
                    <a:srgbClr val="000000"/>
                  </a:outerShdw>
                </a:effectLst>
                <a:latin typeface="Arial" panose="020B0604020202020204" pitchFamily="34" charset="0"/>
              </a:rPr>
              <a:t>3</a:t>
            </a:r>
          </a:p>
        </p:txBody>
      </p:sp>
      <p:sp>
        <p:nvSpPr>
          <p:cNvPr id="9240" name="Rectangle 24"/>
          <p:cNvSpPr>
            <a:spLocks noChangeArrowheads="1"/>
          </p:cNvSpPr>
          <p:nvPr/>
        </p:nvSpPr>
        <p:spPr bwMode="auto">
          <a:xfrm>
            <a:off x="2011363" y="2881313"/>
            <a:ext cx="441325"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1125" tIns="55562" rIns="111125" bIns="55562">
            <a:spAutoFit/>
          </a:bodyPr>
          <a:lstStyle>
            <a:lvl1pPr defTabSz="1316038">
              <a:defRPr sz="2400">
                <a:solidFill>
                  <a:schemeClr val="tx1"/>
                </a:solidFill>
                <a:latin typeface="Times New Roman" panose="02020603050405020304" pitchFamily="18" charset="0"/>
              </a:defRPr>
            </a:lvl1pPr>
            <a:lvl2pPr marL="549275" defTabSz="1316038">
              <a:defRPr sz="2400">
                <a:solidFill>
                  <a:schemeClr val="tx1"/>
                </a:solidFill>
                <a:latin typeface="Times New Roman" panose="02020603050405020304" pitchFamily="18" charset="0"/>
              </a:defRPr>
            </a:lvl2pPr>
            <a:lvl3pPr marL="1096963" defTabSz="1316038">
              <a:defRPr sz="2400">
                <a:solidFill>
                  <a:schemeClr val="tx1"/>
                </a:solidFill>
                <a:latin typeface="Times New Roman" panose="02020603050405020304" pitchFamily="18" charset="0"/>
              </a:defRPr>
            </a:lvl3pPr>
            <a:lvl4pPr marL="1646238" defTabSz="1316038">
              <a:defRPr sz="2400">
                <a:solidFill>
                  <a:schemeClr val="tx1"/>
                </a:solidFill>
                <a:latin typeface="Times New Roman" panose="02020603050405020304" pitchFamily="18" charset="0"/>
              </a:defRPr>
            </a:lvl4pPr>
            <a:lvl5pPr marL="2193925" defTabSz="1316038">
              <a:defRPr sz="2400">
                <a:solidFill>
                  <a:schemeClr val="tx1"/>
                </a:solidFill>
                <a:latin typeface="Times New Roman" panose="02020603050405020304" pitchFamily="18" charset="0"/>
              </a:defRPr>
            </a:lvl5pPr>
            <a:lvl6pPr marL="2651125" defTabSz="1316038" eaLnBrk="0" fontAlgn="base" hangingPunct="0">
              <a:spcBef>
                <a:spcPct val="0"/>
              </a:spcBef>
              <a:spcAft>
                <a:spcPct val="0"/>
              </a:spcAft>
              <a:defRPr sz="2400">
                <a:solidFill>
                  <a:schemeClr val="tx1"/>
                </a:solidFill>
                <a:latin typeface="Times New Roman" panose="02020603050405020304" pitchFamily="18" charset="0"/>
              </a:defRPr>
            </a:lvl6pPr>
            <a:lvl7pPr marL="3108325" defTabSz="1316038" eaLnBrk="0" fontAlgn="base" hangingPunct="0">
              <a:spcBef>
                <a:spcPct val="0"/>
              </a:spcBef>
              <a:spcAft>
                <a:spcPct val="0"/>
              </a:spcAft>
              <a:defRPr sz="2400">
                <a:solidFill>
                  <a:schemeClr val="tx1"/>
                </a:solidFill>
                <a:latin typeface="Times New Roman" panose="02020603050405020304" pitchFamily="18" charset="0"/>
              </a:defRPr>
            </a:lvl7pPr>
            <a:lvl8pPr marL="3565525" defTabSz="1316038" eaLnBrk="0" fontAlgn="base" hangingPunct="0">
              <a:spcBef>
                <a:spcPct val="0"/>
              </a:spcBef>
              <a:spcAft>
                <a:spcPct val="0"/>
              </a:spcAft>
              <a:defRPr sz="2400">
                <a:solidFill>
                  <a:schemeClr val="tx1"/>
                </a:solidFill>
                <a:latin typeface="Times New Roman" panose="02020603050405020304" pitchFamily="18" charset="0"/>
              </a:defRPr>
            </a:lvl8pPr>
            <a:lvl9pPr marL="4022725" defTabSz="131603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s</a:t>
            </a:r>
            <a:r>
              <a:rPr lang="en-US" sz="2000" i="0" baseline="-25000">
                <a:solidFill>
                  <a:srgbClr val="FFFFFF"/>
                </a:solidFill>
                <a:effectLst>
                  <a:outerShdw blurRad="38100" dist="38100" dir="2700000" algn="tl">
                    <a:srgbClr val="000000"/>
                  </a:outerShdw>
                </a:effectLst>
                <a:latin typeface="Arial" panose="020B0604020202020204" pitchFamily="34" charset="0"/>
              </a:rPr>
              <a:t>1</a:t>
            </a:r>
          </a:p>
        </p:txBody>
      </p:sp>
      <p:sp>
        <p:nvSpPr>
          <p:cNvPr id="9241" name="Rectangle 25"/>
          <p:cNvSpPr>
            <a:spLocks noChangeArrowheads="1"/>
          </p:cNvSpPr>
          <p:nvPr/>
        </p:nvSpPr>
        <p:spPr bwMode="auto">
          <a:xfrm>
            <a:off x="2011363" y="4344988"/>
            <a:ext cx="441325"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1125" tIns="55562" rIns="111125" bIns="55562">
            <a:spAutoFit/>
          </a:bodyPr>
          <a:lstStyle>
            <a:lvl1pPr defTabSz="1316038">
              <a:defRPr sz="2400">
                <a:solidFill>
                  <a:schemeClr val="tx1"/>
                </a:solidFill>
                <a:latin typeface="Times New Roman" panose="02020603050405020304" pitchFamily="18" charset="0"/>
              </a:defRPr>
            </a:lvl1pPr>
            <a:lvl2pPr marL="549275" defTabSz="1316038">
              <a:defRPr sz="2400">
                <a:solidFill>
                  <a:schemeClr val="tx1"/>
                </a:solidFill>
                <a:latin typeface="Times New Roman" panose="02020603050405020304" pitchFamily="18" charset="0"/>
              </a:defRPr>
            </a:lvl2pPr>
            <a:lvl3pPr marL="1096963" defTabSz="1316038">
              <a:defRPr sz="2400">
                <a:solidFill>
                  <a:schemeClr val="tx1"/>
                </a:solidFill>
                <a:latin typeface="Times New Roman" panose="02020603050405020304" pitchFamily="18" charset="0"/>
              </a:defRPr>
            </a:lvl3pPr>
            <a:lvl4pPr marL="1646238" defTabSz="1316038">
              <a:defRPr sz="2400">
                <a:solidFill>
                  <a:schemeClr val="tx1"/>
                </a:solidFill>
                <a:latin typeface="Times New Roman" panose="02020603050405020304" pitchFamily="18" charset="0"/>
              </a:defRPr>
            </a:lvl4pPr>
            <a:lvl5pPr marL="2193925" defTabSz="1316038">
              <a:defRPr sz="2400">
                <a:solidFill>
                  <a:schemeClr val="tx1"/>
                </a:solidFill>
                <a:latin typeface="Times New Roman" panose="02020603050405020304" pitchFamily="18" charset="0"/>
              </a:defRPr>
            </a:lvl5pPr>
            <a:lvl6pPr marL="2651125" defTabSz="1316038" eaLnBrk="0" fontAlgn="base" hangingPunct="0">
              <a:spcBef>
                <a:spcPct val="0"/>
              </a:spcBef>
              <a:spcAft>
                <a:spcPct val="0"/>
              </a:spcAft>
              <a:defRPr sz="2400">
                <a:solidFill>
                  <a:schemeClr val="tx1"/>
                </a:solidFill>
                <a:latin typeface="Times New Roman" panose="02020603050405020304" pitchFamily="18" charset="0"/>
              </a:defRPr>
            </a:lvl6pPr>
            <a:lvl7pPr marL="3108325" defTabSz="1316038" eaLnBrk="0" fontAlgn="base" hangingPunct="0">
              <a:spcBef>
                <a:spcPct val="0"/>
              </a:spcBef>
              <a:spcAft>
                <a:spcPct val="0"/>
              </a:spcAft>
              <a:defRPr sz="2400">
                <a:solidFill>
                  <a:schemeClr val="tx1"/>
                </a:solidFill>
                <a:latin typeface="Times New Roman" panose="02020603050405020304" pitchFamily="18" charset="0"/>
              </a:defRPr>
            </a:lvl7pPr>
            <a:lvl8pPr marL="3565525" defTabSz="1316038" eaLnBrk="0" fontAlgn="base" hangingPunct="0">
              <a:spcBef>
                <a:spcPct val="0"/>
              </a:spcBef>
              <a:spcAft>
                <a:spcPct val="0"/>
              </a:spcAft>
              <a:defRPr sz="2400">
                <a:solidFill>
                  <a:schemeClr val="tx1"/>
                </a:solidFill>
                <a:latin typeface="Times New Roman" panose="02020603050405020304" pitchFamily="18" charset="0"/>
              </a:defRPr>
            </a:lvl8pPr>
            <a:lvl9pPr marL="4022725" defTabSz="131603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latin typeface="Arial" panose="020B0604020202020204" pitchFamily="34" charset="0"/>
              </a:rPr>
              <a:t>s</a:t>
            </a:r>
            <a:r>
              <a:rPr lang="en-US" sz="2000" i="0" baseline="-25000">
                <a:solidFill>
                  <a:srgbClr val="FFFFFF"/>
                </a:solidFill>
                <a:latin typeface="Arial" panose="020B0604020202020204" pitchFamily="34" charset="0"/>
              </a:rPr>
              <a:t>2</a:t>
            </a:r>
          </a:p>
        </p:txBody>
      </p:sp>
      <p:sp>
        <p:nvSpPr>
          <p:cNvPr id="9242" name="Rectangle 26"/>
          <p:cNvSpPr>
            <a:spLocks noChangeArrowheads="1"/>
          </p:cNvSpPr>
          <p:nvPr/>
        </p:nvSpPr>
        <p:spPr bwMode="auto">
          <a:xfrm>
            <a:off x="2209800" y="5616575"/>
            <a:ext cx="1352550"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1125" tIns="55562" rIns="111125" bIns="55562">
            <a:spAutoFit/>
          </a:bodyPr>
          <a:lstStyle>
            <a:lvl1pPr defTabSz="1316038">
              <a:defRPr sz="2400">
                <a:solidFill>
                  <a:schemeClr val="tx1"/>
                </a:solidFill>
                <a:latin typeface="Times New Roman" panose="02020603050405020304" pitchFamily="18" charset="0"/>
              </a:defRPr>
            </a:lvl1pPr>
            <a:lvl2pPr marL="549275" defTabSz="1316038">
              <a:defRPr sz="2400">
                <a:solidFill>
                  <a:schemeClr val="tx1"/>
                </a:solidFill>
                <a:latin typeface="Times New Roman" panose="02020603050405020304" pitchFamily="18" charset="0"/>
              </a:defRPr>
            </a:lvl2pPr>
            <a:lvl3pPr marL="1096963" defTabSz="1316038">
              <a:defRPr sz="2400">
                <a:solidFill>
                  <a:schemeClr val="tx1"/>
                </a:solidFill>
                <a:latin typeface="Times New Roman" panose="02020603050405020304" pitchFamily="18" charset="0"/>
              </a:defRPr>
            </a:lvl3pPr>
            <a:lvl4pPr marL="1646238" defTabSz="1316038">
              <a:defRPr sz="2400">
                <a:solidFill>
                  <a:schemeClr val="tx1"/>
                </a:solidFill>
                <a:latin typeface="Times New Roman" panose="02020603050405020304" pitchFamily="18" charset="0"/>
              </a:defRPr>
            </a:lvl4pPr>
            <a:lvl5pPr marL="2193925" defTabSz="1316038">
              <a:defRPr sz="2400">
                <a:solidFill>
                  <a:schemeClr val="tx1"/>
                </a:solidFill>
                <a:latin typeface="Times New Roman" panose="02020603050405020304" pitchFamily="18" charset="0"/>
              </a:defRPr>
            </a:lvl5pPr>
            <a:lvl6pPr marL="2651125" defTabSz="1316038" eaLnBrk="0" fontAlgn="base" hangingPunct="0">
              <a:spcBef>
                <a:spcPct val="0"/>
              </a:spcBef>
              <a:spcAft>
                <a:spcPct val="0"/>
              </a:spcAft>
              <a:defRPr sz="2400">
                <a:solidFill>
                  <a:schemeClr val="tx1"/>
                </a:solidFill>
                <a:latin typeface="Times New Roman" panose="02020603050405020304" pitchFamily="18" charset="0"/>
              </a:defRPr>
            </a:lvl6pPr>
            <a:lvl7pPr marL="3108325" defTabSz="1316038" eaLnBrk="0" fontAlgn="base" hangingPunct="0">
              <a:spcBef>
                <a:spcPct val="0"/>
              </a:spcBef>
              <a:spcAft>
                <a:spcPct val="0"/>
              </a:spcAft>
              <a:defRPr sz="2400">
                <a:solidFill>
                  <a:schemeClr val="tx1"/>
                </a:solidFill>
                <a:latin typeface="Times New Roman" panose="02020603050405020304" pitchFamily="18" charset="0"/>
              </a:defRPr>
            </a:lvl7pPr>
            <a:lvl8pPr marL="3565525" defTabSz="1316038" eaLnBrk="0" fontAlgn="base" hangingPunct="0">
              <a:spcBef>
                <a:spcPct val="0"/>
              </a:spcBef>
              <a:spcAft>
                <a:spcPct val="0"/>
              </a:spcAft>
              <a:defRPr sz="2400">
                <a:solidFill>
                  <a:schemeClr val="tx1"/>
                </a:solidFill>
                <a:latin typeface="Times New Roman" panose="02020603050405020304" pitchFamily="18" charset="0"/>
              </a:defRPr>
            </a:lvl8pPr>
            <a:lvl9pPr marL="4022725" defTabSz="131603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800" i="0">
                <a:solidFill>
                  <a:srgbClr val="FFFFFF"/>
                </a:solidFill>
                <a:effectLst>
                  <a:outerShdw blurRad="38100" dist="38100" dir="2700000" algn="tl">
                    <a:srgbClr val="000000"/>
                  </a:outerShdw>
                </a:effectLst>
                <a:latin typeface="Arial" panose="020B0604020202020204" pitchFamily="34" charset="0"/>
              </a:rPr>
              <a:t>SOURCES</a:t>
            </a:r>
          </a:p>
        </p:txBody>
      </p:sp>
      <p:sp>
        <p:nvSpPr>
          <p:cNvPr id="9243" name="Rectangle 27"/>
          <p:cNvSpPr>
            <a:spLocks noChangeArrowheads="1"/>
          </p:cNvSpPr>
          <p:nvPr/>
        </p:nvSpPr>
        <p:spPr bwMode="auto">
          <a:xfrm>
            <a:off x="5059363" y="5616575"/>
            <a:ext cx="1911350"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1125" tIns="55562" rIns="111125" bIns="55562">
            <a:spAutoFit/>
          </a:bodyPr>
          <a:lstStyle>
            <a:lvl1pPr defTabSz="1316038">
              <a:defRPr sz="2400">
                <a:solidFill>
                  <a:schemeClr val="tx1"/>
                </a:solidFill>
                <a:latin typeface="Times New Roman" panose="02020603050405020304" pitchFamily="18" charset="0"/>
              </a:defRPr>
            </a:lvl1pPr>
            <a:lvl2pPr marL="549275" defTabSz="1316038">
              <a:defRPr sz="2400">
                <a:solidFill>
                  <a:schemeClr val="tx1"/>
                </a:solidFill>
                <a:latin typeface="Times New Roman" panose="02020603050405020304" pitchFamily="18" charset="0"/>
              </a:defRPr>
            </a:lvl2pPr>
            <a:lvl3pPr marL="1096963" defTabSz="1316038">
              <a:defRPr sz="2400">
                <a:solidFill>
                  <a:schemeClr val="tx1"/>
                </a:solidFill>
                <a:latin typeface="Times New Roman" panose="02020603050405020304" pitchFamily="18" charset="0"/>
              </a:defRPr>
            </a:lvl3pPr>
            <a:lvl4pPr marL="1646238" defTabSz="1316038">
              <a:defRPr sz="2400">
                <a:solidFill>
                  <a:schemeClr val="tx1"/>
                </a:solidFill>
                <a:latin typeface="Times New Roman" panose="02020603050405020304" pitchFamily="18" charset="0"/>
              </a:defRPr>
            </a:lvl4pPr>
            <a:lvl5pPr marL="2193925" defTabSz="1316038">
              <a:defRPr sz="2400">
                <a:solidFill>
                  <a:schemeClr val="tx1"/>
                </a:solidFill>
                <a:latin typeface="Times New Roman" panose="02020603050405020304" pitchFamily="18" charset="0"/>
              </a:defRPr>
            </a:lvl5pPr>
            <a:lvl6pPr marL="2651125" defTabSz="1316038" eaLnBrk="0" fontAlgn="base" hangingPunct="0">
              <a:spcBef>
                <a:spcPct val="0"/>
              </a:spcBef>
              <a:spcAft>
                <a:spcPct val="0"/>
              </a:spcAft>
              <a:defRPr sz="2400">
                <a:solidFill>
                  <a:schemeClr val="tx1"/>
                </a:solidFill>
                <a:latin typeface="Times New Roman" panose="02020603050405020304" pitchFamily="18" charset="0"/>
              </a:defRPr>
            </a:lvl6pPr>
            <a:lvl7pPr marL="3108325" defTabSz="1316038" eaLnBrk="0" fontAlgn="base" hangingPunct="0">
              <a:spcBef>
                <a:spcPct val="0"/>
              </a:spcBef>
              <a:spcAft>
                <a:spcPct val="0"/>
              </a:spcAft>
              <a:defRPr sz="2400">
                <a:solidFill>
                  <a:schemeClr val="tx1"/>
                </a:solidFill>
                <a:latin typeface="Times New Roman" panose="02020603050405020304" pitchFamily="18" charset="0"/>
              </a:defRPr>
            </a:lvl7pPr>
            <a:lvl8pPr marL="3565525" defTabSz="1316038" eaLnBrk="0" fontAlgn="base" hangingPunct="0">
              <a:spcBef>
                <a:spcPct val="0"/>
              </a:spcBef>
              <a:spcAft>
                <a:spcPct val="0"/>
              </a:spcAft>
              <a:defRPr sz="2400">
                <a:solidFill>
                  <a:schemeClr val="tx1"/>
                </a:solidFill>
                <a:latin typeface="Times New Roman" panose="02020603050405020304" pitchFamily="18" charset="0"/>
              </a:defRPr>
            </a:lvl8pPr>
            <a:lvl9pPr marL="4022725" defTabSz="131603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800" i="0">
                <a:solidFill>
                  <a:srgbClr val="FFFFFF"/>
                </a:solidFill>
                <a:effectLst>
                  <a:outerShdw blurRad="38100" dist="38100" dir="2700000" algn="tl">
                    <a:srgbClr val="000000"/>
                  </a:outerShdw>
                </a:effectLst>
                <a:latin typeface="Arial" panose="020B0604020202020204" pitchFamily="34" charset="0"/>
              </a:rPr>
              <a:t>DESTINATIONS</a:t>
            </a:r>
          </a:p>
        </p:txBody>
      </p:sp>
    </p:spTree>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90563" y="239713"/>
            <a:ext cx="7772400" cy="433387"/>
          </a:xfrm>
          <a:noFill/>
          <a:ln/>
        </p:spPr>
        <p:txBody>
          <a:bodyPr/>
          <a:lstStyle/>
          <a:p>
            <a:r>
              <a:rPr lang="en-US"/>
              <a:t>Transportation Problem</a:t>
            </a:r>
          </a:p>
        </p:txBody>
      </p:sp>
      <p:sp>
        <p:nvSpPr>
          <p:cNvPr id="10243" name="Rectangle 3"/>
          <p:cNvSpPr>
            <a:spLocks noGrp="1" noChangeArrowheads="1"/>
          </p:cNvSpPr>
          <p:nvPr>
            <p:ph type="body" idx="1"/>
          </p:nvPr>
        </p:nvSpPr>
        <p:spPr>
          <a:xfrm>
            <a:off x="185738" y="1071563"/>
            <a:ext cx="8805862" cy="4681537"/>
          </a:xfrm>
          <a:noFill/>
          <a:ln/>
        </p:spPr>
        <p:txBody>
          <a:bodyPr/>
          <a:lstStyle/>
          <a:p>
            <a:r>
              <a:rPr lang="en-US">
                <a:solidFill>
                  <a:schemeClr val="tx2"/>
                </a:solidFill>
              </a:rPr>
              <a:t>LP Formulation</a:t>
            </a:r>
          </a:p>
          <a:p>
            <a:pPr>
              <a:buFont typeface="Monotype Sorts" pitchFamily="2" charset="2"/>
              <a:buNone/>
            </a:pPr>
            <a:r>
              <a:rPr lang="en-US"/>
              <a:t>		The linear programming formulation in terms of the amounts shipped from the sources to the destinations, </a:t>
            </a:r>
            <a:r>
              <a:rPr lang="en-US" i="1"/>
              <a:t>x</a:t>
            </a:r>
            <a:r>
              <a:rPr lang="en-US" i="1" baseline="-25000"/>
              <a:t>ij </a:t>
            </a:r>
            <a:r>
              <a:rPr lang="en-US"/>
              <a:t>, can be written as:</a:t>
            </a:r>
          </a:p>
          <a:p>
            <a:pPr>
              <a:lnSpc>
                <a:spcPct val="70000"/>
              </a:lnSpc>
              <a:buFont typeface="Monotype Sorts" pitchFamily="2" charset="2"/>
              <a:buNone/>
            </a:pPr>
            <a:r>
              <a:rPr lang="en-US" sz="1000"/>
              <a:t>                     </a:t>
            </a:r>
          </a:p>
          <a:p>
            <a:pPr>
              <a:lnSpc>
                <a:spcPct val="70000"/>
              </a:lnSpc>
              <a:buFont typeface="Monotype Sorts" pitchFamily="2" charset="2"/>
              <a:buNone/>
            </a:pPr>
            <a:r>
              <a:rPr lang="en-US"/>
              <a:t>  Min   </a:t>
            </a:r>
            <a:r>
              <a:rPr lang="en-US">
                <a:latin typeface="Symbol" panose="05050102010706020507" pitchFamily="18" charset="2"/>
              </a:rPr>
              <a:t></a:t>
            </a:r>
            <a:r>
              <a:rPr lang="en-US" i="1"/>
              <a:t>c</a:t>
            </a:r>
            <a:r>
              <a:rPr lang="en-US" i="1" baseline="-25000"/>
              <a:t>ij</a:t>
            </a:r>
            <a:r>
              <a:rPr lang="en-US" i="1"/>
              <a:t>x</a:t>
            </a:r>
            <a:r>
              <a:rPr lang="en-US" i="1" baseline="-25000"/>
              <a:t>ij                    </a:t>
            </a:r>
            <a:r>
              <a:rPr lang="en-US" i="1"/>
              <a:t>(total transportation cost)</a:t>
            </a:r>
            <a:endParaRPr lang="en-US"/>
          </a:p>
          <a:p>
            <a:pPr>
              <a:lnSpc>
                <a:spcPct val="70000"/>
              </a:lnSpc>
              <a:buFont typeface="Monotype Sorts" pitchFamily="2" charset="2"/>
              <a:buNone/>
            </a:pPr>
            <a:r>
              <a:rPr lang="en-US"/>
              <a:t>             </a:t>
            </a:r>
            <a:r>
              <a:rPr lang="en-US" i="1"/>
              <a:t>i j</a:t>
            </a:r>
          </a:p>
          <a:p>
            <a:pPr>
              <a:lnSpc>
                <a:spcPct val="70000"/>
              </a:lnSpc>
              <a:buFont typeface="Monotype Sorts" pitchFamily="2" charset="2"/>
              <a:buNone/>
            </a:pPr>
            <a:endParaRPr lang="en-US" sz="1000"/>
          </a:p>
          <a:p>
            <a:pPr>
              <a:lnSpc>
                <a:spcPct val="70000"/>
              </a:lnSpc>
              <a:buFont typeface="Monotype Sorts" pitchFamily="2" charset="2"/>
              <a:buNone/>
            </a:pPr>
            <a:r>
              <a:rPr lang="en-US"/>
              <a:t>     s.t.    </a:t>
            </a:r>
            <a:r>
              <a:rPr lang="en-US">
                <a:latin typeface="Symbol" panose="05050102010706020507" pitchFamily="18" charset="2"/>
              </a:rPr>
              <a:t></a:t>
            </a:r>
            <a:r>
              <a:rPr lang="en-US" i="1"/>
              <a:t>x</a:t>
            </a:r>
            <a:r>
              <a:rPr lang="en-US" i="1" baseline="-25000"/>
              <a:t>ij</a:t>
            </a:r>
            <a:r>
              <a:rPr lang="en-US"/>
              <a:t> </a:t>
            </a:r>
            <a:r>
              <a:rPr lang="en-US" u="sng"/>
              <a:t>&lt;</a:t>
            </a:r>
            <a:r>
              <a:rPr lang="en-US"/>
              <a:t> </a:t>
            </a:r>
            <a:r>
              <a:rPr lang="en-US" i="1"/>
              <a:t>s</a:t>
            </a:r>
            <a:r>
              <a:rPr lang="en-US" i="1" baseline="-25000"/>
              <a:t>i</a:t>
            </a:r>
            <a:r>
              <a:rPr lang="en-US"/>
              <a:t>  	for each source </a:t>
            </a:r>
            <a:r>
              <a:rPr lang="en-US" i="1"/>
              <a:t>i    </a:t>
            </a:r>
            <a:r>
              <a:rPr lang="en-US" sz="2800" i="1"/>
              <a:t>(supply constraints)</a:t>
            </a:r>
            <a:endParaRPr lang="en-US" sz="2800"/>
          </a:p>
          <a:p>
            <a:pPr>
              <a:lnSpc>
                <a:spcPct val="70000"/>
              </a:lnSpc>
              <a:buFont typeface="Monotype Sorts" pitchFamily="2" charset="2"/>
              <a:buNone/>
            </a:pPr>
            <a:r>
              <a:rPr lang="en-US"/>
              <a:t>              </a:t>
            </a:r>
            <a:r>
              <a:rPr lang="en-US" i="1"/>
              <a:t>j</a:t>
            </a:r>
            <a:r>
              <a:rPr lang="en-US"/>
              <a:t> </a:t>
            </a:r>
          </a:p>
          <a:p>
            <a:pPr>
              <a:lnSpc>
                <a:spcPct val="70000"/>
              </a:lnSpc>
              <a:buFont typeface="Monotype Sorts" pitchFamily="2" charset="2"/>
              <a:buNone/>
            </a:pPr>
            <a:endParaRPr lang="en-US" sz="1000"/>
          </a:p>
          <a:p>
            <a:pPr>
              <a:lnSpc>
                <a:spcPct val="70000"/>
              </a:lnSpc>
              <a:buFont typeface="Monotype Sorts" pitchFamily="2" charset="2"/>
              <a:buNone/>
            </a:pPr>
            <a:r>
              <a:rPr lang="en-US"/>
              <a:t>              </a:t>
            </a:r>
            <a:r>
              <a:rPr lang="en-US">
                <a:latin typeface="Symbol" panose="05050102010706020507" pitchFamily="18" charset="2"/>
              </a:rPr>
              <a:t></a:t>
            </a:r>
            <a:r>
              <a:rPr lang="en-US" i="1"/>
              <a:t>x</a:t>
            </a:r>
            <a:r>
              <a:rPr lang="en-US" i="1" baseline="-25000"/>
              <a:t>ij</a:t>
            </a:r>
            <a:r>
              <a:rPr lang="en-US"/>
              <a:t> = </a:t>
            </a:r>
            <a:r>
              <a:rPr lang="en-US" i="1"/>
              <a:t>d</a:t>
            </a:r>
            <a:r>
              <a:rPr lang="en-US" i="1" baseline="-25000"/>
              <a:t>j</a:t>
            </a:r>
            <a:r>
              <a:rPr lang="en-US" i="1"/>
              <a:t> </a:t>
            </a:r>
            <a:r>
              <a:rPr lang="en-US"/>
              <a:t>        for each destination </a:t>
            </a:r>
            <a:r>
              <a:rPr lang="en-US" i="1"/>
              <a:t>j (demand constraints)</a:t>
            </a:r>
            <a:endParaRPr lang="en-US"/>
          </a:p>
          <a:p>
            <a:pPr>
              <a:lnSpc>
                <a:spcPct val="70000"/>
              </a:lnSpc>
              <a:buFont typeface="Monotype Sorts" pitchFamily="2" charset="2"/>
              <a:buNone/>
            </a:pPr>
            <a:r>
              <a:rPr lang="en-US"/>
              <a:t>              </a:t>
            </a:r>
            <a:r>
              <a:rPr lang="en-US" i="1"/>
              <a:t>i</a:t>
            </a:r>
            <a:endParaRPr lang="en-US"/>
          </a:p>
          <a:p>
            <a:pPr>
              <a:lnSpc>
                <a:spcPct val="70000"/>
              </a:lnSpc>
              <a:buFont typeface="Monotype Sorts" pitchFamily="2" charset="2"/>
              <a:buNone/>
            </a:pPr>
            <a:endParaRPr lang="en-US" sz="1000"/>
          </a:p>
          <a:p>
            <a:pPr>
              <a:lnSpc>
                <a:spcPct val="70000"/>
              </a:lnSpc>
              <a:buFont typeface="Monotype Sorts" pitchFamily="2" charset="2"/>
              <a:buNone/>
            </a:pPr>
            <a:r>
              <a:rPr lang="en-US"/>
              <a:t>              </a:t>
            </a:r>
            <a:r>
              <a:rPr lang="en-US" i="1"/>
              <a:t>x</a:t>
            </a:r>
            <a:r>
              <a:rPr lang="en-US" i="1" baseline="-25000"/>
              <a:t>ij</a:t>
            </a:r>
            <a:r>
              <a:rPr lang="en-US"/>
              <a:t> </a:t>
            </a:r>
            <a:r>
              <a:rPr lang="en-US" u="sng"/>
              <a:t>&gt;</a:t>
            </a:r>
            <a:r>
              <a:rPr lang="en-US"/>
              <a:t> 0 	for all </a:t>
            </a:r>
            <a:r>
              <a:rPr lang="en-US" i="1"/>
              <a:t>i</a:t>
            </a:r>
            <a:r>
              <a:rPr lang="en-US"/>
              <a:t> and </a:t>
            </a:r>
            <a:r>
              <a:rPr lang="en-US" i="1"/>
              <a:t>j (nonnegativity constraints)</a:t>
            </a: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1059120" y="3271680"/>
              <a:ext cx="5996160" cy="1643400"/>
            </p14:xfrm>
          </p:contentPart>
        </mc:Choice>
        <mc:Fallback xmlns="">
          <p:pic>
            <p:nvPicPr>
              <p:cNvPr id="2" name="Ink 1"/>
              <p:cNvPicPr/>
              <p:nvPr/>
            </p:nvPicPr>
            <p:blipFill>
              <a:blip r:embed="rId4"/>
              <a:stretch>
                <a:fillRect/>
              </a:stretch>
            </p:blipFill>
            <p:spPr>
              <a:xfrm>
                <a:off x="1049760" y="3262320"/>
                <a:ext cx="6014880" cy="1662120"/>
              </a:xfrm>
              <a:prstGeom prst="rect">
                <a:avLst/>
              </a:prstGeom>
            </p:spPr>
          </p:pic>
        </mc:Fallback>
      </mc:AlternateContent>
    </p:spTree>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90563" y="201613"/>
            <a:ext cx="7772400" cy="509587"/>
          </a:xfrm>
          <a:noFill/>
          <a:ln/>
        </p:spPr>
        <p:txBody>
          <a:bodyPr/>
          <a:lstStyle/>
          <a:p>
            <a:r>
              <a:rPr lang="en-US"/>
              <a:t>Transportation Problem</a:t>
            </a:r>
          </a:p>
        </p:txBody>
      </p:sp>
      <p:sp>
        <p:nvSpPr>
          <p:cNvPr id="12291" name="Rectangle 3"/>
          <p:cNvSpPr>
            <a:spLocks noGrp="1" noChangeArrowheads="1"/>
          </p:cNvSpPr>
          <p:nvPr>
            <p:ph type="body" idx="1"/>
          </p:nvPr>
        </p:nvSpPr>
        <p:spPr>
          <a:xfrm>
            <a:off x="684213" y="1071563"/>
            <a:ext cx="7772400" cy="4757737"/>
          </a:xfrm>
          <a:noFill/>
          <a:ln/>
        </p:spPr>
        <p:txBody>
          <a:bodyPr/>
          <a:lstStyle/>
          <a:p>
            <a:r>
              <a:rPr lang="en-US"/>
              <a:t>To solve the transportation problem by its special purpose algorithm, it is required that the sum of the supplies at the sources equal the sum of the demands at the destinations.  If the total supply is greater than the total demand, a dummy destination  is added with demand equal to the excess supply, and shipping costs from all sources are zero.  Similarly, if total supply is less than total demand, a dummy source is added. </a:t>
            </a:r>
          </a:p>
          <a:p>
            <a:r>
              <a:rPr lang="en-US"/>
              <a:t>When solving a transportation problem by its special purpose algorithm, unacceptable shipping routes are given a cost of +</a:t>
            </a:r>
            <a:r>
              <a:rPr lang="en-US" i="1"/>
              <a:t>M</a:t>
            </a:r>
            <a:r>
              <a:rPr lang="en-US"/>
              <a:t> (a large number).</a:t>
            </a:r>
          </a:p>
        </p:txBody>
      </p:sp>
    </p:spTree>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84213" y="163513"/>
            <a:ext cx="7772400" cy="585787"/>
          </a:xfrm>
          <a:noFill/>
          <a:ln/>
        </p:spPr>
        <p:txBody>
          <a:bodyPr/>
          <a:lstStyle/>
          <a:p>
            <a:r>
              <a:rPr lang="en-US"/>
              <a:t>Transportation Problem</a:t>
            </a:r>
          </a:p>
        </p:txBody>
      </p:sp>
      <p:sp>
        <p:nvSpPr>
          <p:cNvPr id="13315" name="Rectangle 3"/>
          <p:cNvSpPr>
            <a:spLocks noGrp="1" noChangeArrowheads="1"/>
          </p:cNvSpPr>
          <p:nvPr>
            <p:ph type="body" idx="1"/>
          </p:nvPr>
        </p:nvSpPr>
        <p:spPr>
          <a:xfrm>
            <a:off x="684213" y="1071563"/>
            <a:ext cx="7772400" cy="4757737"/>
          </a:xfrm>
          <a:noFill/>
          <a:ln/>
        </p:spPr>
        <p:txBody>
          <a:bodyPr/>
          <a:lstStyle/>
          <a:p>
            <a:r>
              <a:rPr lang="en-US"/>
              <a:t>A </a:t>
            </a:r>
            <a:r>
              <a:rPr lang="en-US" u="sng"/>
              <a:t>transportation tableau</a:t>
            </a:r>
            <a:r>
              <a:rPr lang="en-US"/>
              <a:t> is given below.  Each cell represents a shipping route (which is an arc on the network and a decision variable in the LP formulation), and the unit shipping costs are given in an upper right hand box in the cell.  </a:t>
            </a:r>
          </a:p>
        </p:txBody>
      </p:sp>
      <p:grpSp>
        <p:nvGrpSpPr>
          <p:cNvPr id="13341" name="Group 29"/>
          <p:cNvGrpSpPr>
            <a:grpSpLocks/>
          </p:cNvGrpSpPr>
          <p:nvPr/>
        </p:nvGrpSpPr>
        <p:grpSpPr bwMode="auto">
          <a:xfrm>
            <a:off x="1416050" y="3198813"/>
            <a:ext cx="6477000" cy="2687637"/>
            <a:chOff x="946" y="2186"/>
            <a:chExt cx="4080" cy="1693"/>
          </a:xfrm>
        </p:grpSpPr>
        <p:sp>
          <p:nvSpPr>
            <p:cNvPr id="13316" name="Rectangle 4"/>
            <p:cNvSpPr>
              <a:spLocks noChangeArrowheads="1"/>
            </p:cNvSpPr>
            <p:nvPr/>
          </p:nvSpPr>
          <p:spPr bwMode="auto">
            <a:xfrm>
              <a:off x="4390" y="2186"/>
              <a:ext cx="63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Supply</a:t>
              </a:r>
            </a:p>
          </p:txBody>
        </p:sp>
        <p:sp>
          <p:nvSpPr>
            <p:cNvPr id="13317" name="Rectangle 5"/>
            <p:cNvSpPr>
              <a:spLocks noChangeArrowheads="1"/>
            </p:cNvSpPr>
            <p:nvPr/>
          </p:nvSpPr>
          <p:spPr bwMode="auto">
            <a:xfrm>
              <a:off x="4558" y="3147"/>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30</a:t>
              </a:r>
            </a:p>
          </p:txBody>
        </p:sp>
        <p:sp>
          <p:nvSpPr>
            <p:cNvPr id="13318" name="Rectangle 6"/>
            <p:cNvSpPr>
              <a:spLocks noChangeArrowheads="1"/>
            </p:cNvSpPr>
            <p:nvPr/>
          </p:nvSpPr>
          <p:spPr bwMode="auto">
            <a:xfrm>
              <a:off x="4558" y="2606"/>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50</a:t>
              </a:r>
            </a:p>
          </p:txBody>
        </p:sp>
        <p:sp>
          <p:nvSpPr>
            <p:cNvPr id="13319" name="Rectangle 7"/>
            <p:cNvSpPr>
              <a:spLocks noChangeArrowheads="1"/>
            </p:cNvSpPr>
            <p:nvPr/>
          </p:nvSpPr>
          <p:spPr bwMode="auto">
            <a:xfrm>
              <a:off x="1679" y="2490"/>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pPr algn="ctr"/>
              <a:endParaRPr lang="en-US"/>
            </a:p>
          </p:txBody>
        </p:sp>
        <p:sp>
          <p:nvSpPr>
            <p:cNvPr id="13320" name="Rectangle 8"/>
            <p:cNvSpPr>
              <a:spLocks noChangeArrowheads="1"/>
            </p:cNvSpPr>
            <p:nvPr/>
          </p:nvSpPr>
          <p:spPr bwMode="auto">
            <a:xfrm>
              <a:off x="2571" y="2490"/>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13321" name="Rectangle 9"/>
            <p:cNvSpPr>
              <a:spLocks noChangeArrowheads="1"/>
            </p:cNvSpPr>
            <p:nvPr/>
          </p:nvSpPr>
          <p:spPr bwMode="auto">
            <a:xfrm>
              <a:off x="1679" y="3023"/>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13322" name="Rectangle 10"/>
            <p:cNvSpPr>
              <a:spLocks noChangeArrowheads="1"/>
            </p:cNvSpPr>
            <p:nvPr/>
          </p:nvSpPr>
          <p:spPr bwMode="auto">
            <a:xfrm>
              <a:off x="3463" y="2490"/>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13323" name="Rectangle 11"/>
            <p:cNvSpPr>
              <a:spLocks noChangeArrowheads="1"/>
            </p:cNvSpPr>
            <p:nvPr/>
          </p:nvSpPr>
          <p:spPr bwMode="auto">
            <a:xfrm>
              <a:off x="2571" y="3023"/>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13324" name="Rectangle 12"/>
            <p:cNvSpPr>
              <a:spLocks noChangeArrowheads="1"/>
            </p:cNvSpPr>
            <p:nvPr/>
          </p:nvSpPr>
          <p:spPr bwMode="auto">
            <a:xfrm>
              <a:off x="3463" y="3023"/>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13325" name="Rectangle 13"/>
            <p:cNvSpPr>
              <a:spLocks noChangeArrowheads="1"/>
            </p:cNvSpPr>
            <p:nvPr/>
          </p:nvSpPr>
          <p:spPr bwMode="auto">
            <a:xfrm>
              <a:off x="4003" y="3023"/>
              <a:ext cx="352" cy="292"/>
            </a:xfrm>
            <a:prstGeom prst="rect">
              <a:avLst/>
            </a:prstGeom>
            <a:solidFill>
              <a:schemeClr val="bg1"/>
            </a:solidFill>
            <a:ln w="12700">
              <a:solidFill>
                <a:srgbClr val="FFFFFF"/>
              </a:solidFill>
              <a:miter lim="800000"/>
              <a:headEnd/>
              <a:tailE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35</a:t>
              </a:r>
            </a:p>
          </p:txBody>
        </p:sp>
        <p:sp>
          <p:nvSpPr>
            <p:cNvPr id="13326" name="Rectangle 14"/>
            <p:cNvSpPr>
              <a:spLocks noChangeArrowheads="1"/>
            </p:cNvSpPr>
            <p:nvPr/>
          </p:nvSpPr>
          <p:spPr bwMode="auto">
            <a:xfrm>
              <a:off x="4003" y="2490"/>
              <a:ext cx="352" cy="292"/>
            </a:xfrm>
            <a:prstGeom prst="rect">
              <a:avLst/>
            </a:prstGeom>
            <a:solidFill>
              <a:schemeClr val="bg1"/>
            </a:solidFill>
            <a:ln w="12700">
              <a:solidFill>
                <a:srgbClr val="FFFFFF"/>
              </a:solidFill>
              <a:miter lim="800000"/>
              <a:headEnd/>
              <a:tailE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20</a:t>
              </a:r>
            </a:p>
          </p:txBody>
        </p:sp>
        <p:sp>
          <p:nvSpPr>
            <p:cNvPr id="13327" name="Rectangle 15"/>
            <p:cNvSpPr>
              <a:spLocks noChangeArrowheads="1"/>
            </p:cNvSpPr>
            <p:nvPr/>
          </p:nvSpPr>
          <p:spPr bwMode="auto">
            <a:xfrm>
              <a:off x="3111" y="3023"/>
              <a:ext cx="352" cy="292"/>
            </a:xfrm>
            <a:prstGeom prst="rect">
              <a:avLst/>
            </a:prstGeom>
            <a:solidFill>
              <a:schemeClr val="bg1"/>
            </a:solidFill>
            <a:ln w="12700">
              <a:solidFill>
                <a:srgbClr val="FFFFFF"/>
              </a:solidFill>
              <a:miter lim="800000"/>
              <a:headEnd/>
              <a:tailE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40</a:t>
              </a:r>
            </a:p>
          </p:txBody>
        </p:sp>
        <p:sp>
          <p:nvSpPr>
            <p:cNvPr id="13328" name="Rectangle 16"/>
            <p:cNvSpPr>
              <a:spLocks noChangeArrowheads="1"/>
            </p:cNvSpPr>
            <p:nvPr/>
          </p:nvSpPr>
          <p:spPr bwMode="auto">
            <a:xfrm>
              <a:off x="3111" y="2490"/>
              <a:ext cx="352" cy="292"/>
            </a:xfrm>
            <a:prstGeom prst="rect">
              <a:avLst/>
            </a:prstGeom>
            <a:solidFill>
              <a:schemeClr val="bg1"/>
            </a:solidFill>
            <a:ln w="12700">
              <a:solidFill>
                <a:srgbClr val="FFFFFF"/>
              </a:solidFill>
              <a:miter lim="800000"/>
              <a:headEnd/>
              <a:tailE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30</a:t>
              </a:r>
            </a:p>
          </p:txBody>
        </p:sp>
        <p:sp>
          <p:nvSpPr>
            <p:cNvPr id="13329" name="Rectangle 17"/>
            <p:cNvSpPr>
              <a:spLocks noChangeArrowheads="1"/>
            </p:cNvSpPr>
            <p:nvPr/>
          </p:nvSpPr>
          <p:spPr bwMode="auto">
            <a:xfrm>
              <a:off x="2219" y="3023"/>
              <a:ext cx="352" cy="292"/>
            </a:xfrm>
            <a:prstGeom prst="rect">
              <a:avLst/>
            </a:prstGeom>
            <a:solidFill>
              <a:schemeClr val="bg1"/>
            </a:solidFill>
            <a:ln w="12700">
              <a:solidFill>
                <a:srgbClr val="FFFFFF"/>
              </a:solidFill>
              <a:miter lim="800000"/>
              <a:headEnd/>
              <a:tailE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30</a:t>
              </a:r>
            </a:p>
          </p:txBody>
        </p:sp>
        <p:sp>
          <p:nvSpPr>
            <p:cNvPr id="13330" name="Rectangle 18"/>
            <p:cNvSpPr>
              <a:spLocks noChangeArrowheads="1"/>
            </p:cNvSpPr>
            <p:nvPr/>
          </p:nvSpPr>
          <p:spPr bwMode="auto">
            <a:xfrm>
              <a:off x="946" y="3615"/>
              <a:ext cx="751"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Demand</a:t>
              </a:r>
            </a:p>
          </p:txBody>
        </p:sp>
        <p:sp>
          <p:nvSpPr>
            <p:cNvPr id="13331" name="Rectangle 19"/>
            <p:cNvSpPr>
              <a:spLocks noChangeArrowheads="1"/>
            </p:cNvSpPr>
            <p:nvPr/>
          </p:nvSpPr>
          <p:spPr bwMode="auto">
            <a:xfrm>
              <a:off x="3754" y="3615"/>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10</a:t>
              </a:r>
            </a:p>
          </p:txBody>
        </p:sp>
        <p:sp>
          <p:nvSpPr>
            <p:cNvPr id="13332" name="Rectangle 20"/>
            <p:cNvSpPr>
              <a:spLocks noChangeArrowheads="1"/>
            </p:cNvSpPr>
            <p:nvPr/>
          </p:nvSpPr>
          <p:spPr bwMode="auto">
            <a:xfrm>
              <a:off x="2854" y="3615"/>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45</a:t>
              </a:r>
            </a:p>
          </p:txBody>
        </p:sp>
        <p:sp>
          <p:nvSpPr>
            <p:cNvPr id="13333" name="Rectangle 21"/>
            <p:cNvSpPr>
              <a:spLocks noChangeArrowheads="1"/>
            </p:cNvSpPr>
            <p:nvPr/>
          </p:nvSpPr>
          <p:spPr bwMode="auto">
            <a:xfrm>
              <a:off x="1954" y="3615"/>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25</a:t>
              </a:r>
            </a:p>
          </p:txBody>
        </p:sp>
        <p:sp>
          <p:nvSpPr>
            <p:cNvPr id="13334" name="Rectangle 22"/>
            <p:cNvSpPr>
              <a:spLocks noChangeArrowheads="1"/>
            </p:cNvSpPr>
            <p:nvPr/>
          </p:nvSpPr>
          <p:spPr bwMode="auto">
            <a:xfrm>
              <a:off x="1186" y="2606"/>
              <a:ext cx="342"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S1</a:t>
              </a:r>
            </a:p>
          </p:txBody>
        </p:sp>
        <p:sp>
          <p:nvSpPr>
            <p:cNvPr id="13335" name="Rectangle 23"/>
            <p:cNvSpPr>
              <a:spLocks noChangeArrowheads="1"/>
            </p:cNvSpPr>
            <p:nvPr/>
          </p:nvSpPr>
          <p:spPr bwMode="auto">
            <a:xfrm>
              <a:off x="1186" y="3147"/>
              <a:ext cx="342"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S2</a:t>
              </a:r>
            </a:p>
          </p:txBody>
        </p:sp>
        <p:sp>
          <p:nvSpPr>
            <p:cNvPr id="13336" name="Rectangle 24"/>
            <p:cNvSpPr>
              <a:spLocks noChangeArrowheads="1"/>
            </p:cNvSpPr>
            <p:nvPr/>
          </p:nvSpPr>
          <p:spPr bwMode="auto">
            <a:xfrm>
              <a:off x="3754" y="2186"/>
              <a:ext cx="351"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D3</a:t>
              </a:r>
            </a:p>
          </p:txBody>
        </p:sp>
        <p:sp>
          <p:nvSpPr>
            <p:cNvPr id="13337" name="Rectangle 25"/>
            <p:cNvSpPr>
              <a:spLocks noChangeArrowheads="1"/>
            </p:cNvSpPr>
            <p:nvPr/>
          </p:nvSpPr>
          <p:spPr bwMode="auto">
            <a:xfrm>
              <a:off x="2854" y="2186"/>
              <a:ext cx="351"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D2</a:t>
              </a:r>
            </a:p>
          </p:txBody>
        </p:sp>
        <p:sp>
          <p:nvSpPr>
            <p:cNvPr id="13338" name="Rectangle 26"/>
            <p:cNvSpPr>
              <a:spLocks noChangeArrowheads="1"/>
            </p:cNvSpPr>
            <p:nvPr/>
          </p:nvSpPr>
          <p:spPr bwMode="auto">
            <a:xfrm>
              <a:off x="1954" y="2186"/>
              <a:ext cx="351"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D1</a:t>
              </a:r>
            </a:p>
          </p:txBody>
        </p:sp>
        <p:sp>
          <p:nvSpPr>
            <p:cNvPr id="13339" name="Rectangle 27"/>
            <p:cNvSpPr>
              <a:spLocks noChangeArrowheads="1"/>
            </p:cNvSpPr>
            <p:nvPr/>
          </p:nvSpPr>
          <p:spPr bwMode="auto">
            <a:xfrm>
              <a:off x="2221" y="2491"/>
              <a:ext cx="352" cy="292"/>
            </a:xfrm>
            <a:prstGeom prst="rect">
              <a:avLst/>
            </a:prstGeom>
            <a:solidFill>
              <a:schemeClr val="bg1"/>
            </a:solidFill>
            <a:ln w="12700">
              <a:solidFill>
                <a:srgbClr val="FFFFFF"/>
              </a:solidFill>
              <a:miter lim="800000"/>
              <a:headEnd/>
              <a:tailE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15</a:t>
              </a:r>
            </a:p>
          </p:txBody>
        </p:sp>
      </p:grpSp>
    </p:spTree>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r>
              <a:rPr lang="en-US"/>
              <a:t>Problem formulation </a:t>
            </a:r>
          </a:p>
        </p:txBody>
      </p:sp>
      <p:sp>
        <p:nvSpPr>
          <p:cNvPr id="125955" name="Rectangle 3"/>
          <p:cNvSpPr>
            <a:spLocks noGrp="1" noChangeArrowheads="1"/>
          </p:cNvSpPr>
          <p:nvPr>
            <p:ph type="body" idx="1"/>
          </p:nvPr>
        </p:nvSpPr>
        <p:spPr/>
        <p:txBody>
          <a:bodyPr/>
          <a:lstStyle/>
          <a:p>
            <a:pPr>
              <a:lnSpc>
                <a:spcPct val="90000"/>
              </a:lnSpc>
            </a:pPr>
            <a:r>
              <a:rPr lang="en-US" sz="2000"/>
              <a:t>The LP model for this problem is as follows:</a:t>
            </a:r>
          </a:p>
          <a:p>
            <a:pPr>
              <a:lnSpc>
                <a:spcPct val="90000"/>
              </a:lnSpc>
              <a:buFont typeface="Monotype Sorts" pitchFamily="2" charset="2"/>
              <a:buNone/>
            </a:pPr>
            <a:r>
              <a:rPr lang="en-US" sz="2000"/>
              <a:t>Min Z = 15 X</a:t>
            </a:r>
            <a:r>
              <a:rPr lang="en-US" sz="2000" baseline="-25000"/>
              <a:t>11</a:t>
            </a:r>
            <a:r>
              <a:rPr lang="en-US" sz="2000"/>
              <a:t> + 30 X</a:t>
            </a:r>
            <a:r>
              <a:rPr lang="en-US" sz="2000" baseline="-25000"/>
              <a:t>12</a:t>
            </a:r>
            <a:r>
              <a:rPr lang="en-US" sz="2000"/>
              <a:t> + 20 X</a:t>
            </a:r>
            <a:r>
              <a:rPr lang="en-US" sz="2000" baseline="-25000"/>
              <a:t>13</a:t>
            </a:r>
            <a:r>
              <a:rPr lang="en-US" sz="2000"/>
              <a:t> + 30 X</a:t>
            </a:r>
            <a:r>
              <a:rPr lang="en-US" sz="2000" baseline="-25000"/>
              <a:t>21</a:t>
            </a:r>
            <a:r>
              <a:rPr lang="en-US" sz="2000"/>
              <a:t> + 40X</a:t>
            </a:r>
            <a:r>
              <a:rPr lang="en-US" sz="2000" baseline="-25000"/>
              <a:t>22</a:t>
            </a:r>
            <a:r>
              <a:rPr lang="en-US" sz="2000"/>
              <a:t> + 35X</a:t>
            </a:r>
            <a:r>
              <a:rPr lang="en-US" sz="2000" baseline="-25000"/>
              <a:t>23</a:t>
            </a:r>
          </a:p>
          <a:p>
            <a:pPr>
              <a:lnSpc>
                <a:spcPct val="90000"/>
              </a:lnSpc>
              <a:buFont typeface="Monotype Sorts" pitchFamily="2" charset="2"/>
              <a:buNone/>
            </a:pPr>
            <a:r>
              <a:rPr lang="en-US" sz="2000"/>
              <a:t>S.t.</a:t>
            </a:r>
          </a:p>
          <a:p>
            <a:pPr>
              <a:lnSpc>
                <a:spcPct val="90000"/>
              </a:lnSpc>
              <a:buFont typeface="Monotype Sorts" pitchFamily="2" charset="2"/>
              <a:buNone/>
            </a:pPr>
            <a:r>
              <a:rPr lang="en-US" sz="2000"/>
              <a:t>X</a:t>
            </a:r>
            <a:r>
              <a:rPr lang="en-US" sz="2000" baseline="-25000"/>
              <a:t>11</a:t>
            </a:r>
            <a:r>
              <a:rPr lang="en-US" sz="2000"/>
              <a:t> + X</a:t>
            </a:r>
            <a:r>
              <a:rPr lang="en-US" sz="2000" baseline="-25000"/>
              <a:t>12</a:t>
            </a:r>
            <a:r>
              <a:rPr lang="en-US" sz="2000"/>
              <a:t> + X</a:t>
            </a:r>
            <a:r>
              <a:rPr lang="en-US" sz="2000" baseline="-25000"/>
              <a:t>13</a:t>
            </a:r>
            <a:r>
              <a:rPr lang="en-US" sz="2000"/>
              <a:t> ≤ 50</a:t>
            </a:r>
          </a:p>
          <a:p>
            <a:pPr>
              <a:lnSpc>
                <a:spcPct val="90000"/>
              </a:lnSpc>
              <a:buFont typeface="Monotype Sorts" pitchFamily="2" charset="2"/>
              <a:buNone/>
            </a:pPr>
            <a:r>
              <a:rPr lang="en-US" sz="2000"/>
              <a:t>                                                      Supply constraints</a:t>
            </a:r>
          </a:p>
          <a:p>
            <a:pPr>
              <a:lnSpc>
                <a:spcPct val="90000"/>
              </a:lnSpc>
              <a:buFont typeface="Monotype Sorts" pitchFamily="2" charset="2"/>
              <a:buNone/>
            </a:pPr>
            <a:r>
              <a:rPr lang="en-US" sz="2000"/>
              <a:t>X</a:t>
            </a:r>
            <a:r>
              <a:rPr lang="en-US" sz="2000" baseline="-25000"/>
              <a:t>21</a:t>
            </a:r>
            <a:r>
              <a:rPr lang="en-US" sz="2000"/>
              <a:t> + X</a:t>
            </a:r>
            <a:r>
              <a:rPr lang="en-US" sz="2000" baseline="-25000"/>
              <a:t>22</a:t>
            </a:r>
            <a:r>
              <a:rPr lang="en-US" sz="2000"/>
              <a:t> + X</a:t>
            </a:r>
            <a:r>
              <a:rPr lang="en-US" sz="2000" baseline="-25000"/>
              <a:t>23</a:t>
            </a:r>
            <a:r>
              <a:rPr lang="en-US" sz="2000"/>
              <a:t> ≤ 30</a:t>
            </a:r>
          </a:p>
          <a:p>
            <a:pPr>
              <a:lnSpc>
                <a:spcPct val="90000"/>
              </a:lnSpc>
              <a:buFont typeface="Monotype Sorts" pitchFamily="2" charset="2"/>
              <a:buNone/>
            </a:pPr>
            <a:endParaRPr lang="en-US" sz="2000"/>
          </a:p>
          <a:p>
            <a:pPr>
              <a:lnSpc>
                <a:spcPct val="90000"/>
              </a:lnSpc>
              <a:buFont typeface="Monotype Sorts" pitchFamily="2" charset="2"/>
              <a:buNone/>
            </a:pPr>
            <a:r>
              <a:rPr lang="en-US" sz="2000"/>
              <a:t>X</a:t>
            </a:r>
            <a:r>
              <a:rPr lang="en-US" sz="2000" baseline="-25000"/>
              <a:t>11</a:t>
            </a:r>
            <a:r>
              <a:rPr lang="en-US" sz="2000"/>
              <a:t> + X</a:t>
            </a:r>
            <a:r>
              <a:rPr lang="en-US" sz="2000" baseline="-25000"/>
              <a:t>21</a:t>
            </a:r>
            <a:r>
              <a:rPr lang="en-US" sz="2000"/>
              <a:t> = 25</a:t>
            </a:r>
          </a:p>
          <a:p>
            <a:pPr>
              <a:lnSpc>
                <a:spcPct val="90000"/>
              </a:lnSpc>
              <a:buFont typeface="Monotype Sorts" pitchFamily="2" charset="2"/>
              <a:buNone/>
            </a:pPr>
            <a:r>
              <a:rPr lang="en-US" sz="2000"/>
              <a:t>X</a:t>
            </a:r>
            <a:r>
              <a:rPr lang="en-US" sz="2000" baseline="-25000"/>
              <a:t>12</a:t>
            </a:r>
            <a:r>
              <a:rPr lang="en-US" sz="2000"/>
              <a:t> + X</a:t>
            </a:r>
            <a:r>
              <a:rPr lang="en-US" sz="2000" baseline="-25000"/>
              <a:t>22 </a:t>
            </a:r>
            <a:r>
              <a:rPr lang="en-US" sz="2000"/>
              <a:t>= 45</a:t>
            </a:r>
          </a:p>
          <a:p>
            <a:pPr>
              <a:lnSpc>
                <a:spcPct val="90000"/>
              </a:lnSpc>
              <a:buFont typeface="Monotype Sorts" pitchFamily="2" charset="2"/>
              <a:buNone/>
            </a:pPr>
            <a:r>
              <a:rPr lang="en-US" sz="2000"/>
              <a:t>X</a:t>
            </a:r>
            <a:r>
              <a:rPr lang="en-US" sz="2000" baseline="-25000"/>
              <a:t>13</a:t>
            </a:r>
            <a:r>
              <a:rPr lang="en-US" sz="2000"/>
              <a:t> + X</a:t>
            </a:r>
            <a:r>
              <a:rPr lang="en-US" sz="2000" baseline="-25000"/>
              <a:t>23</a:t>
            </a:r>
            <a:r>
              <a:rPr lang="en-US" sz="2000"/>
              <a:t> = 10                                demand constraints</a:t>
            </a:r>
          </a:p>
          <a:p>
            <a:pPr>
              <a:lnSpc>
                <a:spcPct val="90000"/>
              </a:lnSpc>
              <a:buFont typeface="Monotype Sorts" pitchFamily="2" charset="2"/>
              <a:buNone/>
            </a:pPr>
            <a:r>
              <a:rPr lang="en-US" sz="2000"/>
              <a:t>X</a:t>
            </a:r>
            <a:r>
              <a:rPr lang="en-US" sz="2000" baseline="-25000"/>
              <a:t>11</a:t>
            </a:r>
            <a:r>
              <a:rPr lang="en-US" sz="2000"/>
              <a:t>, …, X</a:t>
            </a:r>
            <a:r>
              <a:rPr lang="en-US" sz="2000" baseline="-25000"/>
              <a:t>23</a:t>
            </a:r>
            <a:r>
              <a:rPr lang="en-US" sz="2000"/>
              <a:t> </a:t>
            </a:r>
            <a:r>
              <a:rPr lang="en-US" sz="2000">
                <a:sym typeface="Symbol" panose="05050102010706020507" pitchFamily="18" charset="2"/>
              </a:rPr>
              <a:t> 0</a:t>
            </a:r>
          </a:p>
          <a:p>
            <a:pPr>
              <a:lnSpc>
                <a:spcPct val="90000"/>
              </a:lnSpc>
              <a:buFont typeface="Monotype Sorts" pitchFamily="2" charset="2"/>
              <a:buNone/>
            </a:pPr>
            <a:endParaRPr lang="en-US" sz="2000"/>
          </a:p>
          <a:p>
            <a:pPr>
              <a:lnSpc>
                <a:spcPct val="90000"/>
              </a:lnSpc>
              <a:buFont typeface="Monotype Sorts" pitchFamily="2" charset="2"/>
              <a:buNone/>
            </a:pPr>
            <a:endParaRPr lang="en-US" sz="2000"/>
          </a:p>
          <a:p>
            <a:pPr>
              <a:lnSpc>
                <a:spcPct val="90000"/>
              </a:lnSpc>
              <a:buFont typeface="Monotype Sorts" pitchFamily="2" charset="2"/>
              <a:buNone/>
            </a:pPr>
            <a:r>
              <a:rPr lang="en-US" sz="2000"/>
              <a:t> </a:t>
            </a:r>
          </a:p>
        </p:txBody>
      </p:sp>
    </p:spTree>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90563" y="201613"/>
            <a:ext cx="7772400" cy="509587"/>
          </a:xfrm>
          <a:noFill/>
          <a:ln/>
        </p:spPr>
        <p:txBody>
          <a:bodyPr/>
          <a:lstStyle/>
          <a:p>
            <a:r>
              <a:rPr lang="en-US"/>
              <a:t>Transportation Problem</a:t>
            </a:r>
          </a:p>
        </p:txBody>
      </p:sp>
      <p:sp>
        <p:nvSpPr>
          <p:cNvPr id="14339" name="Rectangle 3"/>
          <p:cNvSpPr>
            <a:spLocks noGrp="1" noChangeArrowheads="1"/>
          </p:cNvSpPr>
          <p:nvPr>
            <p:ph type="body" idx="1"/>
          </p:nvPr>
        </p:nvSpPr>
        <p:spPr>
          <a:xfrm>
            <a:off x="684213" y="1071563"/>
            <a:ext cx="7772400" cy="4605337"/>
          </a:xfrm>
          <a:noFill/>
          <a:ln/>
        </p:spPr>
        <p:txBody>
          <a:bodyPr/>
          <a:lstStyle/>
          <a:p>
            <a:r>
              <a:rPr lang="en-US"/>
              <a:t>The transportation problem is solved in two phases:  </a:t>
            </a:r>
          </a:p>
          <a:p>
            <a:pPr lvl="1"/>
            <a:r>
              <a:rPr lang="en-US"/>
              <a:t>Phase I  -- Obtaining an initial feasible solution</a:t>
            </a:r>
          </a:p>
          <a:p>
            <a:pPr lvl="1"/>
            <a:r>
              <a:rPr lang="en-US"/>
              <a:t>Phase II -- Moving toward optimality</a:t>
            </a:r>
          </a:p>
          <a:p>
            <a:r>
              <a:rPr lang="en-US"/>
              <a:t>In Phase I, the Minimum-Cost Procedure can be used to establish an initial basic feasible solution without doing numerous iterations of the simplex method.</a:t>
            </a:r>
          </a:p>
          <a:p>
            <a:r>
              <a:rPr lang="en-US"/>
              <a:t>In Phase II, </a:t>
            </a:r>
            <a:r>
              <a:rPr lang="en-US">
                <a:solidFill>
                  <a:schemeClr val="tx1"/>
                </a:solidFill>
              </a:rPr>
              <a:t>the Stepping Stone, by using the</a:t>
            </a:r>
            <a:r>
              <a:rPr lang="en-US"/>
              <a:t> MODI method for evaluating the reduced costs may be used to move from the initial feasible solution to the optimal one.</a:t>
            </a:r>
          </a:p>
        </p:txBody>
      </p:sp>
    </p:spTree>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r>
              <a:rPr lang="en-US"/>
              <a:t>Initial Tableau</a:t>
            </a:r>
          </a:p>
        </p:txBody>
      </p:sp>
      <p:sp>
        <p:nvSpPr>
          <p:cNvPr id="126979" name="Rectangle 3"/>
          <p:cNvSpPr>
            <a:spLocks noGrp="1" noChangeArrowheads="1"/>
          </p:cNvSpPr>
          <p:nvPr>
            <p:ph type="body" idx="1"/>
          </p:nvPr>
        </p:nvSpPr>
        <p:spPr/>
        <p:txBody>
          <a:bodyPr/>
          <a:lstStyle/>
          <a:p>
            <a:pPr marL="457200" indent="-457200"/>
            <a:r>
              <a:rPr lang="en-US"/>
              <a:t>There are many method for finding the initial tableau for the transportation problem which are:</a:t>
            </a:r>
          </a:p>
          <a:p>
            <a:pPr marL="457200" indent="-457200">
              <a:buFont typeface="Monotype Sorts" pitchFamily="2" charset="2"/>
              <a:buAutoNum type="arabicPeriod"/>
            </a:pPr>
            <a:r>
              <a:rPr lang="en-US">
                <a:solidFill>
                  <a:schemeClr val="accent1"/>
                </a:solidFill>
              </a:rPr>
              <a:t>Northwest corner</a:t>
            </a:r>
          </a:p>
          <a:p>
            <a:pPr marL="457200" indent="-457200">
              <a:buFont typeface="Monotype Sorts" pitchFamily="2" charset="2"/>
              <a:buAutoNum type="arabicPeriod"/>
            </a:pPr>
            <a:r>
              <a:rPr lang="en-US"/>
              <a:t>Minimum cost of the row</a:t>
            </a:r>
          </a:p>
          <a:p>
            <a:pPr marL="457200" indent="-457200">
              <a:buFont typeface="Monotype Sorts" pitchFamily="2" charset="2"/>
              <a:buAutoNum type="arabicPeriod"/>
            </a:pPr>
            <a:r>
              <a:rPr lang="en-US"/>
              <a:t>Minimum cost of the column</a:t>
            </a:r>
          </a:p>
          <a:p>
            <a:pPr marL="457200" indent="-457200">
              <a:buFont typeface="Monotype Sorts" pitchFamily="2" charset="2"/>
              <a:buAutoNum type="arabicPeriod"/>
            </a:pPr>
            <a:r>
              <a:rPr lang="en-US">
                <a:solidFill>
                  <a:schemeClr val="accent1"/>
                </a:solidFill>
              </a:rPr>
              <a:t>Least cost</a:t>
            </a:r>
          </a:p>
          <a:p>
            <a:pPr marL="457200" indent="-457200">
              <a:buFont typeface="Monotype Sorts" pitchFamily="2" charset="2"/>
              <a:buAutoNum type="arabicPeriod"/>
            </a:pPr>
            <a:r>
              <a:rPr lang="en-US"/>
              <a:t>Vogle’s approximation method</a:t>
            </a:r>
          </a:p>
          <a:p>
            <a:pPr marL="457200" indent="-457200">
              <a:buFont typeface="Monotype Sorts" pitchFamily="2" charset="2"/>
              <a:buAutoNum type="arabicPeriod"/>
            </a:pPr>
            <a:r>
              <a:rPr lang="en-US"/>
              <a:t>Russell’s approximation method</a:t>
            </a:r>
          </a:p>
        </p:txBody>
      </p:sp>
    </p:spTree>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r>
              <a:rPr lang="en-US"/>
              <a:t>Northwest corner</a:t>
            </a:r>
          </a:p>
        </p:txBody>
      </p:sp>
      <p:sp>
        <p:nvSpPr>
          <p:cNvPr id="128003" name="Rectangle 3"/>
          <p:cNvSpPr>
            <a:spLocks noGrp="1" noChangeArrowheads="1"/>
          </p:cNvSpPr>
          <p:nvPr>
            <p:ph type="body" idx="1"/>
          </p:nvPr>
        </p:nvSpPr>
        <p:spPr>
          <a:xfrm>
            <a:off x="214313" y="1065213"/>
            <a:ext cx="8751887" cy="5360987"/>
          </a:xfrm>
        </p:spPr>
        <p:txBody>
          <a:bodyPr/>
          <a:lstStyle/>
          <a:p>
            <a:r>
              <a:rPr lang="en-US"/>
              <a:t>Northwest corner: Begin by selecting X</a:t>
            </a:r>
            <a:r>
              <a:rPr lang="en-US" baseline="-25000"/>
              <a:t>11</a:t>
            </a:r>
            <a:r>
              <a:rPr lang="en-US"/>
              <a:t> (that is, start in the northwest corner of the transportation tableau). Therefore, if X</a:t>
            </a:r>
            <a:r>
              <a:rPr lang="en-US" baseline="-25000"/>
              <a:t>ij</a:t>
            </a:r>
            <a:r>
              <a:rPr lang="en-US"/>
              <a:t> was the last basic variable (occupied cell) selected, then select X</a:t>
            </a:r>
            <a:r>
              <a:rPr lang="en-US" baseline="-25000"/>
              <a:t>ij+1</a:t>
            </a:r>
            <a:r>
              <a:rPr lang="en-US"/>
              <a:t> (that is, move one column to the right) if source I has any supply remaining. Otherwise, next select X</a:t>
            </a:r>
            <a:r>
              <a:rPr lang="en-US" baseline="-25000"/>
              <a:t>i+1 j</a:t>
            </a:r>
            <a:r>
              <a:rPr lang="en-US"/>
              <a:t> (that is, move one row down).</a:t>
            </a:r>
            <a:endParaRPr lang="ar-EG">
              <a:cs typeface="Arial" panose="020B0604020202020204" pitchFamily="34" charset="0"/>
            </a:endParaRPr>
          </a:p>
          <a:p>
            <a:pPr>
              <a:buFont typeface="Monotype Sorts" pitchFamily="2" charset="2"/>
              <a:buNone/>
            </a:pPr>
            <a:endParaRPr lang="en-US">
              <a:cs typeface="Arial" panose="020B0604020202020204" pitchFamily="34" charset="0"/>
            </a:endParaRPr>
          </a:p>
        </p:txBody>
      </p:sp>
      <p:grpSp>
        <p:nvGrpSpPr>
          <p:cNvPr id="128004" name="Group 4"/>
          <p:cNvGrpSpPr>
            <a:grpSpLocks/>
          </p:cNvGrpSpPr>
          <p:nvPr/>
        </p:nvGrpSpPr>
        <p:grpSpPr bwMode="auto">
          <a:xfrm>
            <a:off x="1416050" y="3187700"/>
            <a:ext cx="6477000" cy="2687638"/>
            <a:chOff x="946" y="2186"/>
            <a:chExt cx="4080" cy="1693"/>
          </a:xfrm>
        </p:grpSpPr>
        <p:sp>
          <p:nvSpPr>
            <p:cNvPr id="128005" name="Rectangle 5"/>
            <p:cNvSpPr>
              <a:spLocks noChangeArrowheads="1"/>
            </p:cNvSpPr>
            <p:nvPr/>
          </p:nvSpPr>
          <p:spPr bwMode="auto">
            <a:xfrm>
              <a:off x="4390" y="2186"/>
              <a:ext cx="63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Supply</a:t>
              </a:r>
            </a:p>
          </p:txBody>
        </p:sp>
        <p:sp>
          <p:nvSpPr>
            <p:cNvPr id="128006" name="Rectangle 6"/>
            <p:cNvSpPr>
              <a:spLocks noChangeArrowheads="1"/>
            </p:cNvSpPr>
            <p:nvPr/>
          </p:nvSpPr>
          <p:spPr bwMode="auto">
            <a:xfrm>
              <a:off x="4558" y="3147"/>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30</a:t>
              </a:r>
            </a:p>
          </p:txBody>
        </p:sp>
        <p:sp>
          <p:nvSpPr>
            <p:cNvPr id="128007" name="Rectangle 7"/>
            <p:cNvSpPr>
              <a:spLocks noChangeArrowheads="1"/>
            </p:cNvSpPr>
            <p:nvPr/>
          </p:nvSpPr>
          <p:spPr bwMode="auto">
            <a:xfrm>
              <a:off x="4558" y="2606"/>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50</a:t>
              </a:r>
            </a:p>
          </p:txBody>
        </p:sp>
        <p:sp>
          <p:nvSpPr>
            <p:cNvPr id="128008" name="Rectangle 8"/>
            <p:cNvSpPr>
              <a:spLocks noChangeArrowheads="1"/>
            </p:cNvSpPr>
            <p:nvPr/>
          </p:nvSpPr>
          <p:spPr bwMode="auto">
            <a:xfrm>
              <a:off x="1679" y="2490"/>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r>
                <a:rPr lang="en-US"/>
                <a:t>25</a:t>
              </a:r>
            </a:p>
          </p:txBody>
        </p:sp>
        <p:sp>
          <p:nvSpPr>
            <p:cNvPr id="128009" name="Rectangle 9"/>
            <p:cNvSpPr>
              <a:spLocks noChangeArrowheads="1"/>
            </p:cNvSpPr>
            <p:nvPr/>
          </p:nvSpPr>
          <p:spPr bwMode="auto">
            <a:xfrm>
              <a:off x="2571" y="2490"/>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r>
                <a:rPr lang="en-US"/>
                <a:t>25</a:t>
              </a:r>
            </a:p>
          </p:txBody>
        </p:sp>
        <p:sp>
          <p:nvSpPr>
            <p:cNvPr id="128010" name="Rectangle 10"/>
            <p:cNvSpPr>
              <a:spLocks noChangeArrowheads="1"/>
            </p:cNvSpPr>
            <p:nvPr/>
          </p:nvSpPr>
          <p:spPr bwMode="auto">
            <a:xfrm>
              <a:off x="1679" y="3023"/>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128011" name="Rectangle 11"/>
            <p:cNvSpPr>
              <a:spLocks noChangeArrowheads="1"/>
            </p:cNvSpPr>
            <p:nvPr/>
          </p:nvSpPr>
          <p:spPr bwMode="auto">
            <a:xfrm>
              <a:off x="3463" y="2490"/>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128012" name="Rectangle 12"/>
            <p:cNvSpPr>
              <a:spLocks noChangeArrowheads="1"/>
            </p:cNvSpPr>
            <p:nvPr/>
          </p:nvSpPr>
          <p:spPr bwMode="auto">
            <a:xfrm>
              <a:off x="2571" y="3023"/>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r>
                <a:rPr lang="en-US"/>
                <a:t>20</a:t>
              </a:r>
            </a:p>
          </p:txBody>
        </p:sp>
        <p:sp>
          <p:nvSpPr>
            <p:cNvPr id="128013" name="Rectangle 13"/>
            <p:cNvSpPr>
              <a:spLocks noChangeArrowheads="1"/>
            </p:cNvSpPr>
            <p:nvPr/>
          </p:nvSpPr>
          <p:spPr bwMode="auto">
            <a:xfrm>
              <a:off x="3463" y="3023"/>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r>
                <a:rPr lang="en-US"/>
                <a:t>10</a:t>
              </a:r>
            </a:p>
          </p:txBody>
        </p:sp>
        <p:sp>
          <p:nvSpPr>
            <p:cNvPr id="128014" name="Rectangle 14"/>
            <p:cNvSpPr>
              <a:spLocks noChangeArrowheads="1"/>
            </p:cNvSpPr>
            <p:nvPr/>
          </p:nvSpPr>
          <p:spPr bwMode="auto">
            <a:xfrm>
              <a:off x="4003" y="3023"/>
              <a:ext cx="352" cy="292"/>
            </a:xfrm>
            <a:prstGeom prst="rect">
              <a:avLst/>
            </a:prstGeom>
            <a:solidFill>
              <a:schemeClr val="bg1"/>
            </a:solidFill>
            <a:ln w="12700">
              <a:solidFill>
                <a:srgbClr val="FFFFFF"/>
              </a:solidFill>
              <a:miter lim="800000"/>
              <a:headEnd/>
              <a:tailE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35</a:t>
              </a:r>
            </a:p>
          </p:txBody>
        </p:sp>
        <p:sp>
          <p:nvSpPr>
            <p:cNvPr id="128015" name="Rectangle 15"/>
            <p:cNvSpPr>
              <a:spLocks noChangeArrowheads="1"/>
            </p:cNvSpPr>
            <p:nvPr/>
          </p:nvSpPr>
          <p:spPr bwMode="auto">
            <a:xfrm>
              <a:off x="4003" y="2490"/>
              <a:ext cx="352" cy="292"/>
            </a:xfrm>
            <a:prstGeom prst="rect">
              <a:avLst/>
            </a:prstGeom>
            <a:solidFill>
              <a:schemeClr val="bg1"/>
            </a:solidFill>
            <a:ln w="12700">
              <a:solidFill>
                <a:srgbClr val="FFFFFF"/>
              </a:solidFill>
              <a:miter lim="800000"/>
              <a:headEnd/>
              <a:tailE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20</a:t>
              </a:r>
            </a:p>
          </p:txBody>
        </p:sp>
        <p:sp>
          <p:nvSpPr>
            <p:cNvPr id="128016" name="Rectangle 16"/>
            <p:cNvSpPr>
              <a:spLocks noChangeArrowheads="1"/>
            </p:cNvSpPr>
            <p:nvPr/>
          </p:nvSpPr>
          <p:spPr bwMode="auto">
            <a:xfrm>
              <a:off x="3111" y="3023"/>
              <a:ext cx="352" cy="292"/>
            </a:xfrm>
            <a:prstGeom prst="rect">
              <a:avLst/>
            </a:prstGeom>
            <a:solidFill>
              <a:schemeClr val="bg1"/>
            </a:solidFill>
            <a:ln w="12700">
              <a:solidFill>
                <a:srgbClr val="FFFFFF"/>
              </a:solidFill>
              <a:miter lim="800000"/>
              <a:headEnd/>
              <a:tailE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40</a:t>
              </a:r>
            </a:p>
          </p:txBody>
        </p:sp>
        <p:sp>
          <p:nvSpPr>
            <p:cNvPr id="128017" name="Rectangle 17"/>
            <p:cNvSpPr>
              <a:spLocks noChangeArrowheads="1"/>
            </p:cNvSpPr>
            <p:nvPr/>
          </p:nvSpPr>
          <p:spPr bwMode="auto">
            <a:xfrm>
              <a:off x="3111" y="2490"/>
              <a:ext cx="352" cy="292"/>
            </a:xfrm>
            <a:prstGeom prst="rect">
              <a:avLst/>
            </a:prstGeom>
            <a:solidFill>
              <a:schemeClr val="bg1"/>
            </a:solidFill>
            <a:ln w="12700">
              <a:solidFill>
                <a:srgbClr val="FFFFFF"/>
              </a:solidFill>
              <a:miter lim="800000"/>
              <a:headEnd/>
              <a:tailE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30</a:t>
              </a:r>
            </a:p>
          </p:txBody>
        </p:sp>
        <p:sp>
          <p:nvSpPr>
            <p:cNvPr id="128018" name="Rectangle 18"/>
            <p:cNvSpPr>
              <a:spLocks noChangeArrowheads="1"/>
            </p:cNvSpPr>
            <p:nvPr/>
          </p:nvSpPr>
          <p:spPr bwMode="auto">
            <a:xfrm>
              <a:off x="2219" y="3023"/>
              <a:ext cx="352" cy="292"/>
            </a:xfrm>
            <a:prstGeom prst="rect">
              <a:avLst/>
            </a:prstGeom>
            <a:solidFill>
              <a:schemeClr val="bg1"/>
            </a:solidFill>
            <a:ln w="12700">
              <a:solidFill>
                <a:srgbClr val="FFFFFF"/>
              </a:solidFill>
              <a:miter lim="800000"/>
              <a:headEnd/>
              <a:tailE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30</a:t>
              </a:r>
            </a:p>
          </p:txBody>
        </p:sp>
        <p:sp>
          <p:nvSpPr>
            <p:cNvPr id="128019" name="Rectangle 19"/>
            <p:cNvSpPr>
              <a:spLocks noChangeArrowheads="1"/>
            </p:cNvSpPr>
            <p:nvPr/>
          </p:nvSpPr>
          <p:spPr bwMode="auto">
            <a:xfrm>
              <a:off x="946" y="3615"/>
              <a:ext cx="751"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Demand</a:t>
              </a:r>
            </a:p>
          </p:txBody>
        </p:sp>
        <p:sp>
          <p:nvSpPr>
            <p:cNvPr id="128020" name="Rectangle 20"/>
            <p:cNvSpPr>
              <a:spLocks noChangeArrowheads="1"/>
            </p:cNvSpPr>
            <p:nvPr/>
          </p:nvSpPr>
          <p:spPr bwMode="auto">
            <a:xfrm>
              <a:off x="3754" y="3615"/>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10</a:t>
              </a:r>
            </a:p>
          </p:txBody>
        </p:sp>
        <p:sp>
          <p:nvSpPr>
            <p:cNvPr id="128021" name="Rectangle 21"/>
            <p:cNvSpPr>
              <a:spLocks noChangeArrowheads="1"/>
            </p:cNvSpPr>
            <p:nvPr/>
          </p:nvSpPr>
          <p:spPr bwMode="auto">
            <a:xfrm>
              <a:off x="2854" y="3615"/>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45</a:t>
              </a:r>
            </a:p>
          </p:txBody>
        </p:sp>
        <p:sp>
          <p:nvSpPr>
            <p:cNvPr id="128022" name="Rectangle 22"/>
            <p:cNvSpPr>
              <a:spLocks noChangeArrowheads="1"/>
            </p:cNvSpPr>
            <p:nvPr/>
          </p:nvSpPr>
          <p:spPr bwMode="auto">
            <a:xfrm>
              <a:off x="1954" y="3615"/>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25</a:t>
              </a:r>
            </a:p>
          </p:txBody>
        </p:sp>
        <p:sp>
          <p:nvSpPr>
            <p:cNvPr id="128023" name="Rectangle 23"/>
            <p:cNvSpPr>
              <a:spLocks noChangeArrowheads="1"/>
            </p:cNvSpPr>
            <p:nvPr/>
          </p:nvSpPr>
          <p:spPr bwMode="auto">
            <a:xfrm>
              <a:off x="1186" y="2606"/>
              <a:ext cx="342"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S1</a:t>
              </a:r>
            </a:p>
          </p:txBody>
        </p:sp>
        <p:sp>
          <p:nvSpPr>
            <p:cNvPr id="128024" name="Rectangle 24"/>
            <p:cNvSpPr>
              <a:spLocks noChangeArrowheads="1"/>
            </p:cNvSpPr>
            <p:nvPr/>
          </p:nvSpPr>
          <p:spPr bwMode="auto">
            <a:xfrm>
              <a:off x="1186" y="3147"/>
              <a:ext cx="342"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S2</a:t>
              </a:r>
            </a:p>
          </p:txBody>
        </p:sp>
        <p:sp>
          <p:nvSpPr>
            <p:cNvPr id="128025" name="Rectangle 25"/>
            <p:cNvSpPr>
              <a:spLocks noChangeArrowheads="1"/>
            </p:cNvSpPr>
            <p:nvPr/>
          </p:nvSpPr>
          <p:spPr bwMode="auto">
            <a:xfrm>
              <a:off x="3754" y="2186"/>
              <a:ext cx="351"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D3</a:t>
              </a:r>
            </a:p>
          </p:txBody>
        </p:sp>
        <p:sp>
          <p:nvSpPr>
            <p:cNvPr id="128026" name="Rectangle 26"/>
            <p:cNvSpPr>
              <a:spLocks noChangeArrowheads="1"/>
            </p:cNvSpPr>
            <p:nvPr/>
          </p:nvSpPr>
          <p:spPr bwMode="auto">
            <a:xfrm>
              <a:off x="2854" y="2186"/>
              <a:ext cx="351"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D2</a:t>
              </a:r>
            </a:p>
          </p:txBody>
        </p:sp>
        <p:sp>
          <p:nvSpPr>
            <p:cNvPr id="128027" name="Rectangle 27"/>
            <p:cNvSpPr>
              <a:spLocks noChangeArrowheads="1"/>
            </p:cNvSpPr>
            <p:nvPr/>
          </p:nvSpPr>
          <p:spPr bwMode="auto">
            <a:xfrm>
              <a:off x="1954" y="2186"/>
              <a:ext cx="351"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D1</a:t>
              </a:r>
            </a:p>
          </p:txBody>
        </p:sp>
        <p:sp>
          <p:nvSpPr>
            <p:cNvPr id="128028" name="Rectangle 28"/>
            <p:cNvSpPr>
              <a:spLocks noChangeArrowheads="1"/>
            </p:cNvSpPr>
            <p:nvPr/>
          </p:nvSpPr>
          <p:spPr bwMode="auto">
            <a:xfrm>
              <a:off x="2221" y="2491"/>
              <a:ext cx="352" cy="292"/>
            </a:xfrm>
            <a:prstGeom prst="rect">
              <a:avLst/>
            </a:prstGeom>
            <a:solidFill>
              <a:schemeClr val="bg1"/>
            </a:solidFill>
            <a:ln w="12700">
              <a:solidFill>
                <a:srgbClr val="FFFFFF"/>
              </a:solidFill>
              <a:miter lim="800000"/>
              <a:headEnd/>
              <a:tailE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15</a:t>
              </a:r>
            </a:p>
          </p:txBody>
        </p:sp>
      </p:grpSp>
      <p:sp>
        <p:nvSpPr>
          <p:cNvPr id="128029" name="Line 29"/>
          <p:cNvSpPr>
            <a:spLocks noChangeShapeType="1"/>
          </p:cNvSpPr>
          <p:nvPr/>
        </p:nvSpPr>
        <p:spPr bwMode="auto">
          <a:xfrm>
            <a:off x="2767013" y="4286250"/>
            <a:ext cx="154305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8030" name="Line 30"/>
          <p:cNvSpPr>
            <a:spLocks noChangeShapeType="1"/>
          </p:cNvSpPr>
          <p:nvPr/>
        </p:nvSpPr>
        <p:spPr bwMode="auto">
          <a:xfrm>
            <a:off x="4265613" y="4394200"/>
            <a:ext cx="0" cy="3683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8031" name="Line 31"/>
          <p:cNvSpPr>
            <a:spLocks noChangeShapeType="1"/>
          </p:cNvSpPr>
          <p:nvPr/>
        </p:nvSpPr>
        <p:spPr bwMode="auto">
          <a:xfrm>
            <a:off x="4227513" y="5165725"/>
            <a:ext cx="1508125"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8032" name="Text Box 32"/>
          <p:cNvSpPr txBox="1">
            <a:spLocks noChangeArrowheads="1"/>
          </p:cNvSpPr>
          <p:nvPr/>
        </p:nvSpPr>
        <p:spPr bwMode="auto">
          <a:xfrm>
            <a:off x="522288" y="6151563"/>
            <a:ext cx="31718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t>Total cost is $2275</a:t>
            </a:r>
          </a:p>
        </p:txBody>
      </p:sp>
    </p:spTree>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90563" y="201613"/>
            <a:ext cx="7772400" cy="509587"/>
          </a:xfrm>
          <a:noFill/>
          <a:ln/>
        </p:spPr>
        <p:txBody>
          <a:bodyPr/>
          <a:lstStyle/>
          <a:p>
            <a:r>
              <a:rPr lang="en-US"/>
              <a:t>Transportation Algorithm</a:t>
            </a:r>
          </a:p>
        </p:txBody>
      </p:sp>
      <p:sp>
        <p:nvSpPr>
          <p:cNvPr id="15363" name="Rectangle 3"/>
          <p:cNvSpPr>
            <a:spLocks noGrp="1" noChangeArrowheads="1"/>
          </p:cNvSpPr>
          <p:nvPr>
            <p:ph type="body" idx="1"/>
          </p:nvPr>
        </p:nvSpPr>
        <p:spPr>
          <a:xfrm>
            <a:off x="520700" y="1065213"/>
            <a:ext cx="8101013" cy="5384800"/>
          </a:xfrm>
          <a:noFill/>
          <a:ln/>
        </p:spPr>
        <p:txBody>
          <a:bodyPr/>
          <a:lstStyle/>
          <a:p>
            <a:r>
              <a:rPr lang="en-US" sz="2000">
                <a:solidFill>
                  <a:schemeClr val="tx2"/>
                </a:solidFill>
              </a:rPr>
              <a:t>Phase I - Minimum-Cost Method</a:t>
            </a:r>
          </a:p>
          <a:p>
            <a:pPr lvl="1"/>
            <a:r>
              <a:rPr lang="en-US" sz="2000">
                <a:solidFill>
                  <a:schemeClr val="tx2"/>
                </a:solidFill>
              </a:rPr>
              <a:t>Step 1:  </a:t>
            </a:r>
            <a:r>
              <a:rPr lang="en-US" sz="2000"/>
              <a:t>Select the cell with the least cost.  Assign to this cell the minimum of its remaining row supply or remaining column demand.</a:t>
            </a:r>
          </a:p>
          <a:p>
            <a:pPr lvl="1"/>
            <a:r>
              <a:rPr lang="en-US" sz="2000">
                <a:solidFill>
                  <a:schemeClr val="tx2"/>
                </a:solidFill>
              </a:rPr>
              <a:t>Step 2:  </a:t>
            </a:r>
            <a:r>
              <a:rPr lang="en-US" sz="2000"/>
              <a:t>Decrease the row and column availabilities by this amount and remove from consideration all other cells in the row or column with zero availability/demand.  (If both are simultaneously reduced to 0, assign an allocation of 0 to any other unoccupied cell in the row or column before deleting both.) GO TO STEP 1.</a:t>
            </a:r>
          </a:p>
          <a:p>
            <a:pPr lvl="1">
              <a:buFontTx/>
              <a:buNone/>
            </a:pPr>
            <a:endParaRPr lang="en-US" sz="2000"/>
          </a:p>
        </p:txBody>
      </p:sp>
      <p:grpSp>
        <p:nvGrpSpPr>
          <p:cNvPr id="15364" name="Group 4"/>
          <p:cNvGrpSpPr>
            <a:grpSpLocks/>
          </p:cNvGrpSpPr>
          <p:nvPr/>
        </p:nvGrpSpPr>
        <p:grpSpPr bwMode="auto">
          <a:xfrm>
            <a:off x="2438400" y="4170363"/>
            <a:ext cx="6477000" cy="2687637"/>
            <a:chOff x="946" y="2186"/>
            <a:chExt cx="4080" cy="1693"/>
          </a:xfrm>
        </p:grpSpPr>
        <p:sp>
          <p:nvSpPr>
            <p:cNvPr id="15365" name="Rectangle 5"/>
            <p:cNvSpPr>
              <a:spLocks noChangeArrowheads="1"/>
            </p:cNvSpPr>
            <p:nvPr/>
          </p:nvSpPr>
          <p:spPr bwMode="auto">
            <a:xfrm>
              <a:off x="4390" y="2186"/>
              <a:ext cx="63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Supply</a:t>
              </a:r>
            </a:p>
          </p:txBody>
        </p:sp>
        <p:sp>
          <p:nvSpPr>
            <p:cNvPr id="15366" name="Rectangle 6"/>
            <p:cNvSpPr>
              <a:spLocks noChangeArrowheads="1"/>
            </p:cNvSpPr>
            <p:nvPr/>
          </p:nvSpPr>
          <p:spPr bwMode="auto">
            <a:xfrm>
              <a:off x="4558" y="3147"/>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30</a:t>
              </a:r>
            </a:p>
          </p:txBody>
        </p:sp>
        <p:sp>
          <p:nvSpPr>
            <p:cNvPr id="15367" name="Rectangle 7"/>
            <p:cNvSpPr>
              <a:spLocks noChangeArrowheads="1"/>
            </p:cNvSpPr>
            <p:nvPr/>
          </p:nvSpPr>
          <p:spPr bwMode="auto">
            <a:xfrm>
              <a:off x="4558" y="2606"/>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50</a:t>
              </a:r>
            </a:p>
          </p:txBody>
        </p:sp>
        <p:sp>
          <p:nvSpPr>
            <p:cNvPr id="15368" name="Rectangle 8"/>
            <p:cNvSpPr>
              <a:spLocks noChangeArrowheads="1"/>
            </p:cNvSpPr>
            <p:nvPr/>
          </p:nvSpPr>
          <p:spPr bwMode="auto">
            <a:xfrm>
              <a:off x="1679" y="2490"/>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r>
                <a:rPr lang="en-US"/>
                <a:t>25</a:t>
              </a:r>
            </a:p>
          </p:txBody>
        </p:sp>
        <p:sp>
          <p:nvSpPr>
            <p:cNvPr id="15369" name="Rectangle 9"/>
            <p:cNvSpPr>
              <a:spLocks noChangeArrowheads="1"/>
            </p:cNvSpPr>
            <p:nvPr/>
          </p:nvSpPr>
          <p:spPr bwMode="auto">
            <a:xfrm>
              <a:off x="2571" y="2490"/>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r>
                <a:rPr lang="en-US"/>
                <a:t>15</a:t>
              </a:r>
            </a:p>
          </p:txBody>
        </p:sp>
        <p:sp>
          <p:nvSpPr>
            <p:cNvPr id="15370" name="Rectangle 10"/>
            <p:cNvSpPr>
              <a:spLocks noChangeArrowheads="1"/>
            </p:cNvSpPr>
            <p:nvPr/>
          </p:nvSpPr>
          <p:spPr bwMode="auto">
            <a:xfrm>
              <a:off x="1679" y="3023"/>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15371" name="Rectangle 11"/>
            <p:cNvSpPr>
              <a:spLocks noChangeArrowheads="1"/>
            </p:cNvSpPr>
            <p:nvPr/>
          </p:nvSpPr>
          <p:spPr bwMode="auto">
            <a:xfrm>
              <a:off x="3463" y="2490"/>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r>
                <a:rPr lang="en-US"/>
                <a:t>10</a:t>
              </a:r>
            </a:p>
          </p:txBody>
        </p:sp>
        <p:sp>
          <p:nvSpPr>
            <p:cNvPr id="15372" name="Rectangle 12"/>
            <p:cNvSpPr>
              <a:spLocks noChangeArrowheads="1"/>
            </p:cNvSpPr>
            <p:nvPr/>
          </p:nvSpPr>
          <p:spPr bwMode="auto">
            <a:xfrm>
              <a:off x="2571" y="3023"/>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r>
                <a:rPr lang="en-US"/>
                <a:t>30</a:t>
              </a:r>
            </a:p>
          </p:txBody>
        </p:sp>
        <p:sp>
          <p:nvSpPr>
            <p:cNvPr id="15373" name="Rectangle 13"/>
            <p:cNvSpPr>
              <a:spLocks noChangeArrowheads="1"/>
            </p:cNvSpPr>
            <p:nvPr/>
          </p:nvSpPr>
          <p:spPr bwMode="auto">
            <a:xfrm>
              <a:off x="3463" y="3023"/>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15374" name="Rectangle 14"/>
            <p:cNvSpPr>
              <a:spLocks noChangeArrowheads="1"/>
            </p:cNvSpPr>
            <p:nvPr/>
          </p:nvSpPr>
          <p:spPr bwMode="auto">
            <a:xfrm>
              <a:off x="4003" y="3023"/>
              <a:ext cx="352" cy="292"/>
            </a:xfrm>
            <a:prstGeom prst="rect">
              <a:avLst/>
            </a:prstGeom>
            <a:solidFill>
              <a:schemeClr val="bg1"/>
            </a:solidFill>
            <a:ln w="12700">
              <a:solidFill>
                <a:srgbClr val="FFFFFF"/>
              </a:solidFill>
              <a:miter lim="800000"/>
              <a:headEnd/>
              <a:tailE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35</a:t>
              </a:r>
            </a:p>
          </p:txBody>
        </p:sp>
        <p:sp>
          <p:nvSpPr>
            <p:cNvPr id="15375" name="Rectangle 15"/>
            <p:cNvSpPr>
              <a:spLocks noChangeArrowheads="1"/>
            </p:cNvSpPr>
            <p:nvPr/>
          </p:nvSpPr>
          <p:spPr bwMode="auto">
            <a:xfrm>
              <a:off x="4003" y="2490"/>
              <a:ext cx="352" cy="292"/>
            </a:xfrm>
            <a:prstGeom prst="rect">
              <a:avLst/>
            </a:prstGeom>
            <a:solidFill>
              <a:schemeClr val="bg1"/>
            </a:solidFill>
            <a:ln w="12700">
              <a:solidFill>
                <a:srgbClr val="FFFFFF"/>
              </a:solidFill>
              <a:miter lim="800000"/>
              <a:headEnd/>
              <a:tailE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20</a:t>
              </a:r>
            </a:p>
          </p:txBody>
        </p:sp>
        <p:sp>
          <p:nvSpPr>
            <p:cNvPr id="15376" name="Rectangle 16"/>
            <p:cNvSpPr>
              <a:spLocks noChangeArrowheads="1"/>
            </p:cNvSpPr>
            <p:nvPr/>
          </p:nvSpPr>
          <p:spPr bwMode="auto">
            <a:xfrm>
              <a:off x="3111" y="3023"/>
              <a:ext cx="352" cy="292"/>
            </a:xfrm>
            <a:prstGeom prst="rect">
              <a:avLst/>
            </a:prstGeom>
            <a:solidFill>
              <a:schemeClr val="bg1"/>
            </a:solidFill>
            <a:ln w="12700">
              <a:solidFill>
                <a:srgbClr val="FFFFFF"/>
              </a:solidFill>
              <a:miter lim="800000"/>
              <a:headEnd/>
              <a:tailE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40</a:t>
              </a:r>
            </a:p>
          </p:txBody>
        </p:sp>
        <p:sp>
          <p:nvSpPr>
            <p:cNvPr id="15377" name="Rectangle 17"/>
            <p:cNvSpPr>
              <a:spLocks noChangeArrowheads="1"/>
            </p:cNvSpPr>
            <p:nvPr/>
          </p:nvSpPr>
          <p:spPr bwMode="auto">
            <a:xfrm>
              <a:off x="3111" y="2490"/>
              <a:ext cx="352" cy="292"/>
            </a:xfrm>
            <a:prstGeom prst="rect">
              <a:avLst/>
            </a:prstGeom>
            <a:solidFill>
              <a:schemeClr val="bg1"/>
            </a:solidFill>
            <a:ln w="12700">
              <a:solidFill>
                <a:srgbClr val="FFFFFF"/>
              </a:solidFill>
              <a:miter lim="800000"/>
              <a:headEnd/>
              <a:tailE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30</a:t>
              </a:r>
            </a:p>
          </p:txBody>
        </p:sp>
        <p:sp>
          <p:nvSpPr>
            <p:cNvPr id="15378" name="Rectangle 18"/>
            <p:cNvSpPr>
              <a:spLocks noChangeArrowheads="1"/>
            </p:cNvSpPr>
            <p:nvPr/>
          </p:nvSpPr>
          <p:spPr bwMode="auto">
            <a:xfrm>
              <a:off x="2219" y="3023"/>
              <a:ext cx="352" cy="292"/>
            </a:xfrm>
            <a:prstGeom prst="rect">
              <a:avLst/>
            </a:prstGeom>
            <a:solidFill>
              <a:schemeClr val="bg1"/>
            </a:solidFill>
            <a:ln w="12700">
              <a:solidFill>
                <a:srgbClr val="FFFFFF"/>
              </a:solidFill>
              <a:miter lim="800000"/>
              <a:headEnd/>
              <a:tailE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30</a:t>
              </a:r>
            </a:p>
          </p:txBody>
        </p:sp>
        <p:sp>
          <p:nvSpPr>
            <p:cNvPr id="15379" name="Rectangle 19"/>
            <p:cNvSpPr>
              <a:spLocks noChangeArrowheads="1"/>
            </p:cNvSpPr>
            <p:nvPr/>
          </p:nvSpPr>
          <p:spPr bwMode="auto">
            <a:xfrm>
              <a:off x="946" y="3615"/>
              <a:ext cx="751"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Demand</a:t>
              </a:r>
            </a:p>
          </p:txBody>
        </p:sp>
        <p:sp>
          <p:nvSpPr>
            <p:cNvPr id="15380" name="Rectangle 20"/>
            <p:cNvSpPr>
              <a:spLocks noChangeArrowheads="1"/>
            </p:cNvSpPr>
            <p:nvPr/>
          </p:nvSpPr>
          <p:spPr bwMode="auto">
            <a:xfrm>
              <a:off x="3754" y="3615"/>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10</a:t>
              </a:r>
            </a:p>
          </p:txBody>
        </p:sp>
        <p:sp>
          <p:nvSpPr>
            <p:cNvPr id="15381" name="Rectangle 21"/>
            <p:cNvSpPr>
              <a:spLocks noChangeArrowheads="1"/>
            </p:cNvSpPr>
            <p:nvPr/>
          </p:nvSpPr>
          <p:spPr bwMode="auto">
            <a:xfrm>
              <a:off x="2854" y="3615"/>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45</a:t>
              </a:r>
            </a:p>
          </p:txBody>
        </p:sp>
        <p:sp>
          <p:nvSpPr>
            <p:cNvPr id="15382" name="Rectangle 22"/>
            <p:cNvSpPr>
              <a:spLocks noChangeArrowheads="1"/>
            </p:cNvSpPr>
            <p:nvPr/>
          </p:nvSpPr>
          <p:spPr bwMode="auto">
            <a:xfrm>
              <a:off x="1954" y="3615"/>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25</a:t>
              </a:r>
            </a:p>
          </p:txBody>
        </p:sp>
        <p:sp>
          <p:nvSpPr>
            <p:cNvPr id="15383" name="Rectangle 23"/>
            <p:cNvSpPr>
              <a:spLocks noChangeArrowheads="1"/>
            </p:cNvSpPr>
            <p:nvPr/>
          </p:nvSpPr>
          <p:spPr bwMode="auto">
            <a:xfrm>
              <a:off x="1186" y="2606"/>
              <a:ext cx="342"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S1</a:t>
              </a:r>
            </a:p>
          </p:txBody>
        </p:sp>
        <p:sp>
          <p:nvSpPr>
            <p:cNvPr id="15384" name="Rectangle 24"/>
            <p:cNvSpPr>
              <a:spLocks noChangeArrowheads="1"/>
            </p:cNvSpPr>
            <p:nvPr/>
          </p:nvSpPr>
          <p:spPr bwMode="auto">
            <a:xfrm>
              <a:off x="1186" y="3147"/>
              <a:ext cx="342"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S2</a:t>
              </a:r>
            </a:p>
          </p:txBody>
        </p:sp>
        <p:sp>
          <p:nvSpPr>
            <p:cNvPr id="15385" name="Rectangle 25"/>
            <p:cNvSpPr>
              <a:spLocks noChangeArrowheads="1"/>
            </p:cNvSpPr>
            <p:nvPr/>
          </p:nvSpPr>
          <p:spPr bwMode="auto">
            <a:xfrm>
              <a:off x="3754" y="2186"/>
              <a:ext cx="351"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D3</a:t>
              </a:r>
            </a:p>
          </p:txBody>
        </p:sp>
        <p:sp>
          <p:nvSpPr>
            <p:cNvPr id="15386" name="Rectangle 26"/>
            <p:cNvSpPr>
              <a:spLocks noChangeArrowheads="1"/>
            </p:cNvSpPr>
            <p:nvPr/>
          </p:nvSpPr>
          <p:spPr bwMode="auto">
            <a:xfrm>
              <a:off x="2854" y="2186"/>
              <a:ext cx="351"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D2</a:t>
              </a:r>
            </a:p>
          </p:txBody>
        </p:sp>
        <p:sp>
          <p:nvSpPr>
            <p:cNvPr id="15387" name="Rectangle 27"/>
            <p:cNvSpPr>
              <a:spLocks noChangeArrowheads="1"/>
            </p:cNvSpPr>
            <p:nvPr/>
          </p:nvSpPr>
          <p:spPr bwMode="auto">
            <a:xfrm>
              <a:off x="1954" y="2186"/>
              <a:ext cx="351"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D1</a:t>
              </a:r>
            </a:p>
          </p:txBody>
        </p:sp>
        <p:sp>
          <p:nvSpPr>
            <p:cNvPr id="15388" name="Rectangle 28"/>
            <p:cNvSpPr>
              <a:spLocks noChangeArrowheads="1"/>
            </p:cNvSpPr>
            <p:nvPr/>
          </p:nvSpPr>
          <p:spPr bwMode="auto">
            <a:xfrm>
              <a:off x="2221" y="2491"/>
              <a:ext cx="352" cy="292"/>
            </a:xfrm>
            <a:prstGeom prst="rect">
              <a:avLst/>
            </a:prstGeom>
            <a:solidFill>
              <a:schemeClr val="bg1"/>
            </a:solidFill>
            <a:ln w="12700">
              <a:solidFill>
                <a:srgbClr val="FFFFFF"/>
              </a:solidFill>
              <a:miter lim="800000"/>
              <a:headEnd/>
              <a:tailE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15</a:t>
              </a:r>
            </a:p>
          </p:txBody>
        </p:sp>
      </p:grpSp>
      <p:sp>
        <p:nvSpPr>
          <p:cNvPr id="15389" name="Text Box 29"/>
          <p:cNvSpPr txBox="1">
            <a:spLocks noChangeArrowheads="1"/>
          </p:cNvSpPr>
          <p:nvPr/>
        </p:nvSpPr>
        <p:spPr bwMode="auto">
          <a:xfrm>
            <a:off x="617538" y="4821238"/>
            <a:ext cx="100965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b="1">
                <a:solidFill>
                  <a:schemeClr val="accent1"/>
                </a:solidFill>
              </a:rPr>
              <a:t>Total cost is $2225</a:t>
            </a:r>
          </a:p>
        </p:txBody>
      </p:sp>
    </p:spTree>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a:ln/>
        </p:spPr>
        <p:txBody>
          <a:bodyPr/>
          <a:lstStyle/>
          <a:p>
            <a:r>
              <a:rPr lang="en-US"/>
              <a:t>Transportation Algorithm</a:t>
            </a:r>
          </a:p>
        </p:txBody>
      </p:sp>
      <p:sp>
        <p:nvSpPr>
          <p:cNvPr id="16387" name="Rectangle 3"/>
          <p:cNvSpPr>
            <a:spLocks noGrp="1" noChangeArrowheads="1"/>
          </p:cNvSpPr>
          <p:nvPr>
            <p:ph type="body" idx="1"/>
          </p:nvPr>
        </p:nvSpPr>
        <p:spPr>
          <a:noFill/>
          <a:ln/>
        </p:spPr>
        <p:txBody>
          <a:bodyPr/>
          <a:lstStyle/>
          <a:p>
            <a:r>
              <a:rPr lang="en-US">
                <a:solidFill>
                  <a:schemeClr val="tx2"/>
                </a:solidFill>
              </a:rPr>
              <a:t>Phase II - Stepping Stone Method</a:t>
            </a:r>
          </a:p>
          <a:p>
            <a:pPr lvl="1"/>
            <a:r>
              <a:rPr lang="en-US">
                <a:solidFill>
                  <a:schemeClr val="tx2"/>
                </a:solidFill>
              </a:rPr>
              <a:t>Step 1:  </a:t>
            </a:r>
            <a:r>
              <a:rPr lang="en-US"/>
              <a:t>For each unoccupied cell, calculate the reduced cost by the MODI method described below.  		Select the unoccupied cell with the most negative reduced cost.  (For maximization problems select the unoccupied cell with the largest reduced cost.)  If none, STOP.</a:t>
            </a:r>
          </a:p>
          <a:p>
            <a:pPr lvl="1"/>
            <a:r>
              <a:rPr lang="en-US">
                <a:solidFill>
                  <a:schemeClr val="tx2"/>
                </a:solidFill>
              </a:rPr>
              <a:t>Step 2:  </a:t>
            </a:r>
            <a:r>
              <a:rPr lang="en-US"/>
              <a:t>For this unoccupied cell generate a stepping stone path by forming a closed loop with this cell and occupied cells by drawing connecting alternating horizontal and vertical lines between them.  </a:t>
            </a:r>
          </a:p>
          <a:p>
            <a:pPr lvl="1">
              <a:buFontTx/>
              <a:buNone/>
            </a:pPr>
            <a:r>
              <a:rPr lang="en-US"/>
              <a:t>			Determine the minimum allocation where a subtraction is to be made along this path. </a:t>
            </a:r>
          </a:p>
        </p:txBody>
      </p:sp>
    </p:spTree>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noFill/>
          <a:ln/>
        </p:spPr>
        <p:txBody>
          <a:bodyPr/>
          <a:lstStyle/>
          <a:p>
            <a:r>
              <a:rPr lang="en-US"/>
              <a:t>Transportation Algorithm</a:t>
            </a:r>
          </a:p>
        </p:txBody>
      </p:sp>
      <p:sp>
        <p:nvSpPr>
          <p:cNvPr id="17411" name="Rectangle 3"/>
          <p:cNvSpPr>
            <a:spLocks noGrp="1" noChangeArrowheads="1"/>
          </p:cNvSpPr>
          <p:nvPr>
            <p:ph type="body" idx="1"/>
          </p:nvPr>
        </p:nvSpPr>
        <p:spPr>
          <a:noFill/>
          <a:ln/>
        </p:spPr>
        <p:txBody>
          <a:bodyPr/>
          <a:lstStyle/>
          <a:p>
            <a:r>
              <a:rPr lang="en-US">
                <a:solidFill>
                  <a:schemeClr val="tx2"/>
                </a:solidFill>
              </a:rPr>
              <a:t>Phase II - Stepping Stone Method (continued)</a:t>
            </a:r>
          </a:p>
          <a:p>
            <a:pPr lvl="1"/>
            <a:r>
              <a:rPr lang="en-US">
                <a:solidFill>
                  <a:schemeClr val="tx2"/>
                </a:solidFill>
              </a:rPr>
              <a:t>Step 3:  </a:t>
            </a:r>
            <a:r>
              <a:rPr lang="en-US"/>
              <a:t>Add this allocation to all cells where additions are to be made, and subtract this allocation to all cells where subtractions are to be made along the stepping stone path. </a:t>
            </a:r>
          </a:p>
          <a:p>
            <a:pPr lvl="1">
              <a:buFontTx/>
              <a:buNone/>
            </a:pPr>
            <a:r>
              <a:rPr lang="en-US"/>
              <a:t>	 		(Note:  An occupied cell on the stepping stone path now becomes 0 (unoccupied).  If more than one cell becomes 0, make only one unoccupied; make the others occupied with 0's.)  </a:t>
            </a:r>
          </a:p>
          <a:p>
            <a:pPr lvl="1">
              <a:buFontTx/>
              <a:buNone/>
            </a:pPr>
            <a:r>
              <a:rPr lang="en-US"/>
              <a:t>			GO TO STEP 1.</a:t>
            </a:r>
          </a:p>
        </p:txBody>
      </p:sp>
    </p:spTree>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noFill/>
          <a:ln/>
        </p:spPr>
        <p:txBody>
          <a:bodyPr/>
          <a:lstStyle/>
          <a:p>
            <a:r>
              <a:rPr lang="en-US"/>
              <a:t>Transportation Algorithm</a:t>
            </a:r>
          </a:p>
        </p:txBody>
      </p:sp>
      <p:sp>
        <p:nvSpPr>
          <p:cNvPr id="18435" name="Rectangle 3"/>
          <p:cNvSpPr>
            <a:spLocks noGrp="1" noChangeArrowheads="1"/>
          </p:cNvSpPr>
          <p:nvPr>
            <p:ph type="body" idx="1"/>
          </p:nvPr>
        </p:nvSpPr>
        <p:spPr>
          <a:noFill/>
          <a:ln/>
        </p:spPr>
        <p:txBody>
          <a:bodyPr/>
          <a:lstStyle/>
          <a:p>
            <a:r>
              <a:rPr lang="en-US">
                <a:solidFill>
                  <a:schemeClr val="tx2"/>
                </a:solidFill>
              </a:rPr>
              <a:t>MODI Method (for obtaining reduced costs)</a:t>
            </a:r>
          </a:p>
          <a:p>
            <a:pPr>
              <a:buFont typeface="Monotype Sorts" pitchFamily="2" charset="2"/>
              <a:buNone/>
            </a:pPr>
            <a:r>
              <a:rPr lang="en-US"/>
              <a:t>		Associate a number, </a:t>
            </a:r>
            <a:r>
              <a:rPr lang="en-US" i="1"/>
              <a:t>u</a:t>
            </a:r>
            <a:r>
              <a:rPr lang="en-US" i="1" baseline="-25000"/>
              <a:t>i</a:t>
            </a:r>
            <a:r>
              <a:rPr lang="en-US"/>
              <a:t>, with each row and </a:t>
            </a:r>
            <a:r>
              <a:rPr lang="en-US" i="1"/>
              <a:t>v</a:t>
            </a:r>
            <a:r>
              <a:rPr lang="en-US" i="1" baseline="-25000"/>
              <a:t>j</a:t>
            </a:r>
            <a:r>
              <a:rPr lang="en-US"/>
              <a:t> with each column.</a:t>
            </a:r>
          </a:p>
          <a:p>
            <a:pPr lvl="1"/>
            <a:r>
              <a:rPr lang="en-US">
                <a:solidFill>
                  <a:schemeClr val="tx2"/>
                </a:solidFill>
              </a:rPr>
              <a:t>Step 1:  </a:t>
            </a:r>
            <a:r>
              <a:rPr lang="en-US"/>
              <a:t>Set </a:t>
            </a:r>
            <a:r>
              <a:rPr lang="en-US" i="1"/>
              <a:t>u</a:t>
            </a:r>
            <a:r>
              <a:rPr lang="en-US" baseline="-25000"/>
              <a:t>1</a:t>
            </a:r>
            <a:r>
              <a:rPr lang="en-US"/>
              <a:t> = 0.</a:t>
            </a:r>
          </a:p>
          <a:p>
            <a:pPr lvl="1"/>
            <a:r>
              <a:rPr lang="en-US">
                <a:solidFill>
                  <a:schemeClr val="tx2"/>
                </a:solidFill>
              </a:rPr>
              <a:t>Step 2:  </a:t>
            </a:r>
            <a:r>
              <a:rPr lang="en-US"/>
              <a:t>Calculate the remaining </a:t>
            </a:r>
            <a:r>
              <a:rPr lang="en-US" i="1"/>
              <a:t>u</a:t>
            </a:r>
            <a:r>
              <a:rPr lang="en-US" i="1" baseline="-25000"/>
              <a:t>i</a:t>
            </a:r>
            <a:r>
              <a:rPr lang="en-US"/>
              <a:t>'s and </a:t>
            </a:r>
            <a:r>
              <a:rPr lang="en-US" i="1"/>
              <a:t>v</a:t>
            </a:r>
            <a:r>
              <a:rPr lang="en-US" i="1" baseline="-25000"/>
              <a:t>j</a:t>
            </a:r>
            <a:r>
              <a:rPr lang="en-US"/>
              <a:t>'s by solving the relationship </a:t>
            </a:r>
            <a:r>
              <a:rPr lang="en-US" i="1"/>
              <a:t>c</a:t>
            </a:r>
            <a:r>
              <a:rPr lang="en-US" i="1" baseline="-25000"/>
              <a:t>ij</a:t>
            </a:r>
            <a:r>
              <a:rPr lang="en-US"/>
              <a:t> = </a:t>
            </a:r>
            <a:r>
              <a:rPr lang="en-US" i="1"/>
              <a:t>u</a:t>
            </a:r>
            <a:r>
              <a:rPr lang="en-US" i="1" baseline="-25000"/>
              <a:t>i</a:t>
            </a:r>
            <a:r>
              <a:rPr lang="en-US"/>
              <a:t> + </a:t>
            </a:r>
            <a:r>
              <a:rPr lang="en-US" i="1"/>
              <a:t>v</a:t>
            </a:r>
            <a:r>
              <a:rPr lang="en-US" i="1" baseline="-25000"/>
              <a:t>j</a:t>
            </a:r>
            <a:r>
              <a:rPr lang="en-US"/>
              <a:t> for occupied cells.</a:t>
            </a:r>
          </a:p>
          <a:p>
            <a:pPr lvl="1"/>
            <a:r>
              <a:rPr lang="en-US">
                <a:solidFill>
                  <a:schemeClr val="tx2"/>
                </a:solidFill>
              </a:rPr>
              <a:t>Step 3:  </a:t>
            </a:r>
            <a:r>
              <a:rPr lang="en-US"/>
              <a:t>For unoccupied cells (</a:t>
            </a:r>
            <a:r>
              <a:rPr lang="en-US" i="1"/>
              <a:t>i</a:t>
            </a:r>
            <a:r>
              <a:rPr lang="en-US"/>
              <a:t>,</a:t>
            </a:r>
            <a:r>
              <a:rPr lang="en-US" i="1"/>
              <a:t>j</a:t>
            </a:r>
            <a:r>
              <a:rPr lang="en-US"/>
              <a:t>), the reduced cost  =  </a:t>
            </a:r>
            <a:r>
              <a:rPr lang="en-US" i="1"/>
              <a:t>c</a:t>
            </a:r>
            <a:r>
              <a:rPr lang="en-US" i="1" baseline="-25000"/>
              <a:t>ij</a:t>
            </a:r>
            <a:r>
              <a:rPr lang="en-US"/>
              <a:t> - </a:t>
            </a:r>
            <a:r>
              <a:rPr lang="en-US" i="1"/>
              <a:t>u</a:t>
            </a:r>
            <a:r>
              <a:rPr lang="en-US" i="1" baseline="-25000"/>
              <a:t>i</a:t>
            </a:r>
            <a:r>
              <a:rPr lang="en-US"/>
              <a:t> - </a:t>
            </a:r>
            <a:r>
              <a:rPr lang="en-US" i="1"/>
              <a:t>v</a:t>
            </a:r>
            <a:r>
              <a:rPr lang="en-US" i="1" baseline="-25000"/>
              <a:t>j</a:t>
            </a:r>
            <a:r>
              <a:rPr lang="en-US"/>
              <a:t>.</a:t>
            </a:r>
          </a:p>
        </p:txBody>
      </p:sp>
    </p:spTree>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noFill/>
          <a:ln/>
        </p:spPr>
        <p:txBody>
          <a:bodyPr/>
          <a:lstStyle/>
          <a:p>
            <a:r>
              <a:rPr lang="en-US"/>
              <a:t>Example: BBC</a:t>
            </a:r>
          </a:p>
        </p:txBody>
      </p:sp>
      <p:sp>
        <p:nvSpPr>
          <p:cNvPr id="19459" name="Rectangle 3"/>
          <p:cNvSpPr>
            <a:spLocks noGrp="1" noChangeArrowheads="1"/>
          </p:cNvSpPr>
          <p:nvPr>
            <p:ph type="body" idx="1"/>
          </p:nvPr>
        </p:nvSpPr>
        <p:spPr>
          <a:noFill/>
          <a:ln/>
        </p:spPr>
        <p:txBody>
          <a:bodyPr/>
          <a:lstStyle/>
          <a:p>
            <a:pPr>
              <a:buFont typeface="Monotype Sorts" pitchFamily="2" charset="2"/>
              <a:buNone/>
            </a:pPr>
            <a:r>
              <a:rPr lang="en-US"/>
              <a:t>		Building Brick Company (BBC) has orders for 80 tons of bricks at three suburban locations as follows:  Northwood -- 25 tons, Westwood -- 45 tons, and Eastwood -- 10 tons.  BBC has two plants, each of which can produce 50 tons per week.  </a:t>
            </a:r>
          </a:p>
          <a:p>
            <a:pPr>
              <a:buFont typeface="Monotype Sorts" pitchFamily="2" charset="2"/>
              <a:buNone/>
            </a:pPr>
            <a:r>
              <a:rPr lang="en-US"/>
              <a:t>		How should end of week shipments be made to fill the above orders given the following delivery cost per ton:</a:t>
            </a:r>
          </a:p>
          <a:p>
            <a:pPr>
              <a:buFont typeface="Monotype Sorts" pitchFamily="2" charset="2"/>
              <a:buNone/>
            </a:pPr>
            <a:r>
              <a:rPr lang="en-US"/>
              <a:t>                      	    </a:t>
            </a:r>
            <a:r>
              <a:rPr lang="en-US" u="sng"/>
              <a:t>Northwood</a:t>
            </a:r>
            <a:r>
              <a:rPr lang="en-US"/>
              <a:t>     </a:t>
            </a:r>
            <a:r>
              <a:rPr lang="en-US" u="sng"/>
              <a:t>Westwood</a:t>
            </a:r>
            <a:r>
              <a:rPr lang="en-US"/>
              <a:t>     </a:t>
            </a:r>
            <a:r>
              <a:rPr lang="en-US" u="sng"/>
              <a:t>Eastwood</a:t>
            </a:r>
            <a:endParaRPr lang="en-US"/>
          </a:p>
          <a:p>
            <a:pPr>
              <a:buFont typeface="Monotype Sorts" pitchFamily="2" charset="2"/>
              <a:buNone/>
            </a:pPr>
            <a:r>
              <a:rPr lang="en-US"/>
              <a:t>	       Plant 1             24      	              30 	             40</a:t>
            </a:r>
          </a:p>
          <a:p>
            <a:pPr>
              <a:buFont typeface="Monotype Sorts" pitchFamily="2" charset="2"/>
              <a:buNone/>
            </a:pPr>
            <a:r>
              <a:rPr lang="en-US"/>
              <a:t>            Plant 2        	 30            	  40 	             42</a:t>
            </a:r>
          </a:p>
          <a:p>
            <a:pPr>
              <a:buFont typeface="Monotype Sorts" pitchFamily="2" charset="2"/>
              <a:buNone/>
            </a:pPr>
            <a:endParaRPr lang="en-US"/>
          </a:p>
        </p:txBody>
      </p:sp>
    </p:spTree>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noFill/>
          <a:ln/>
        </p:spPr>
        <p:txBody>
          <a:bodyPr/>
          <a:lstStyle/>
          <a:p>
            <a:r>
              <a:rPr lang="en-US"/>
              <a:t>Example: BBC</a:t>
            </a:r>
          </a:p>
        </p:txBody>
      </p:sp>
      <p:sp>
        <p:nvSpPr>
          <p:cNvPr id="20483" name="Rectangle 3"/>
          <p:cNvSpPr>
            <a:spLocks noGrp="1" noChangeArrowheads="1"/>
          </p:cNvSpPr>
          <p:nvPr>
            <p:ph type="body" idx="1"/>
          </p:nvPr>
        </p:nvSpPr>
        <p:spPr>
          <a:noFill/>
          <a:ln/>
        </p:spPr>
        <p:txBody>
          <a:bodyPr/>
          <a:lstStyle/>
          <a:p>
            <a:r>
              <a:rPr lang="en-US">
                <a:solidFill>
                  <a:schemeClr val="tx2"/>
                </a:solidFill>
              </a:rPr>
              <a:t>Initial Transportation Tableau</a:t>
            </a:r>
          </a:p>
          <a:p>
            <a:pPr>
              <a:buFont typeface="Monotype Sorts" pitchFamily="2" charset="2"/>
              <a:buNone/>
            </a:pPr>
            <a:r>
              <a:rPr lang="en-US"/>
              <a:t>		Since total supply = 100 and total demand = 80, a dummy destination is created with demand of 20 and 0 unit costs.</a:t>
            </a:r>
          </a:p>
          <a:p>
            <a:pPr>
              <a:buFont typeface="Monotype Sorts" pitchFamily="2" charset="2"/>
              <a:buNone/>
            </a:pPr>
            <a:endParaRPr lang="en-US"/>
          </a:p>
          <a:p>
            <a:pPr>
              <a:buFont typeface="Monotype Sorts" pitchFamily="2" charset="2"/>
              <a:buNone/>
            </a:pPr>
            <a:endParaRPr lang="en-US"/>
          </a:p>
          <a:p>
            <a:pPr>
              <a:buFont typeface="Monotype Sorts" pitchFamily="2" charset="2"/>
              <a:buNone/>
            </a:pPr>
            <a:endParaRPr lang="en-US"/>
          </a:p>
        </p:txBody>
      </p:sp>
      <p:grpSp>
        <p:nvGrpSpPr>
          <p:cNvPr id="20515" name="Group 35"/>
          <p:cNvGrpSpPr>
            <a:grpSpLocks/>
          </p:cNvGrpSpPr>
          <p:nvPr/>
        </p:nvGrpSpPr>
        <p:grpSpPr bwMode="auto">
          <a:xfrm>
            <a:off x="749300" y="2779713"/>
            <a:ext cx="7772400" cy="2687637"/>
            <a:chOff x="418" y="1850"/>
            <a:chExt cx="4896" cy="1693"/>
          </a:xfrm>
        </p:grpSpPr>
        <p:sp>
          <p:nvSpPr>
            <p:cNvPr id="20484" name="Rectangle 4"/>
            <p:cNvSpPr>
              <a:spLocks noChangeArrowheads="1"/>
            </p:cNvSpPr>
            <p:nvPr/>
          </p:nvSpPr>
          <p:spPr bwMode="auto">
            <a:xfrm>
              <a:off x="1103" y="2154"/>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20485" name="Rectangle 5"/>
            <p:cNvSpPr>
              <a:spLocks noChangeArrowheads="1"/>
            </p:cNvSpPr>
            <p:nvPr/>
          </p:nvSpPr>
          <p:spPr bwMode="auto">
            <a:xfrm>
              <a:off x="1995" y="2154"/>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20486" name="Rectangle 6"/>
            <p:cNvSpPr>
              <a:spLocks noChangeArrowheads="1"/>
            </p:cNvSpPr>
            <p:nvPr/>
          </p:nvSpPr>
          <p:spPr bwMode="auto">
            <a:xfrm>
              <a:off x="1103" y="2687"/>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20487" name="Rectangle 7"/>
            <p:cNvSpPr>
              <a:spLocks noChangeArrowheads="1"/>
            </p:cNvSpPr>
            <p:nvPr/>
          </p:nvSpPr>
          <p:spPr bwMode="auto">
            <a:xfrm>
              <a:off x="2883" y="2154"/>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20488" name="Rectangle 8"/>
            <p:cNvSpPr>
              <a:spLocks noChangeArrowheads="1"/>
            </p:cNvSpPr>
            <p:nvPr/>
          </p:nvSpPr>
          <p:spPr bwMode="auto">
            <a:xfrm>
              <a:off x="3771" y="2154"/>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20489" name="Rectangle 9"/>
            <p:cNvSpPr>
              <a:spLocks noChangeArrowheads="1"/>
            </p:cNvSpPr>
            <p:nvPr/>
          </p:nvSpPr>
          <p:spPr bwMode="auto">
            <a:xfrm>
              <a:off x="1995" y="2687"/>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20490" name="Rectangle 10"/>
            <p:cNvSpPr>
              <a:spLocks noChangeArrowheads="1"/>
            </p:cNvSpPr>
            <p:nvPr/>
          </p:nvSpPr>
          <p:spPr bwMode="auto">
            <a:xfrm>
              <a:off x="2883" y="2687"/>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20491" name="Rectangle 11"/>
            <p:cNvSpPr>
              <a:spLocks noChangeArrowheads="1"/>
            </p:cNvSpPr>
            <p:nvPr/>
          </p:nvSpPr>
          <p:spPr bwMode="auto">
            <a:xfrm>
              <a:off x="3771" y="2687"/>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20492" name="Rectangle 12"/>
            <p:cNvSpPr>
              <a:spLocks noChangeArrowheads="1"/>
            </p:cNvSpPr>
            <p:nvPr/>
          </p:nvSpPr>
          <p:spPr bwMode="auto">
            <a:xfrm>
              <a:off x="3419" y="2687"/>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42</a:t>
              </a:r>
            </a:p>
          </p:txBody>
        </p:sp>
        <p:sp>
          <p:nvSpPr>
            <p:cNvPr id="20493" name="Rectangle 13"/>
            <p:cNvSpPr>
              <a:spLocks noChangeArrowheads="1"/>
            </p:cNvSpPr>
            <p:nvPr/>
          </p:nvSpPr>
          <p:spPr bwMode="auto">
            <a:xfrm>
              <a:off x="3419" y="2154"/>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40</a:t>
              </a:r>
            </a:p>
          </p:txBody>
        </p:sp>
        <p:sp>
          <p:nvSpPr>
            <p:cNvPr id="20494" name="Rectangle 14"/>
            <p:cNvSpPr>
              <a:spLocks noChangeArrowheads="1"/>
            </p:cNvSpPr>
            <p:nvPr/>
          </p:nvSpPr>
          <p:spPr bwMode="auto">
            <a:xfrm>
              <a:off x="4311" y="2154"/>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0</a:t>
              </a:r>
            </a:p>
          </p:txBody>
        </p:sp>
        <p:sp>
          <p:nvSpPr>
            <p:cNvPr id="20495" name="Rectangle 15"/>
            <p:cNvSpPr>
              <a:spLocks noChangeArrowheads="1"/>
            </p:cNvSpPr>
            <p:nvPr/>
          </p:nvSpPr>
          <p:spPr bwMode="auto">
            <a:xfrm>
              <a:off x="4311" y="2687"/>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0</a:t>
              </a:r>
            </a:p>
          </p:txBody>
        </p:sp>
        <p:sp>
          <p:nvSpPr>
            <p:cNvPr id="20496" name="Rectangle 16"/>
            <p:cNvSpPr>
              <a:spLocks noChangeArrowheads="1"/>
            </p:cNvSpPr>
            <p:nvPr/>
          </p:nvSpPr>
          <p:spPr bwMode="auto">
            <a:xfrm>
              <a:off x="2531" y="2687"/>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40</a:t>
              </a:r>
            </a:p>
          </p:txBody>
        </p:sp>
        <p:sp>
          <p:nvSpPr>
            <p:cNvPr id="20497" name="Rectangle 17"/>
            <p:cNvSpPr>
              <a:spLocks noChangeArrowheads="1"/>
            </p:cNvSpPr>
            <p:nvPr/>
          </p:nvSpPr>
          <p:spPr bwMode="auto">
            <a:xfrm>
              <a:off x="2531" y="2154"/>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30</a:t>
              </a:r>
            </a:p>
          </p:txBody>
        </p:sp>
        <p:sp>
          <p:nvSpPr>
            <p:cNvPr id="20498" name="Rectangle 18"/>
            <p:cNvSpPr>
              <a:spLocks noChangeArrowheads="1"/>
            </p:cNvSpPr>
            <p:nvPr/>
          </p:nvSpPr>
          <p:spPr bwMode="auto">
            <a:xfrm>
              <a:off x="1643" y="2687"/>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30</a:t>
              </a:r>
            </a:p>
          </p:txBody>
        </p:sp>
        <p:sp>
          <p:nvSpPr>
            <p:cNvPr id="20499" name="Rectangle 19"/>
            <p:cNvSpPr>
              <a:spLocks noChangeArrowheads="1"/>
            </p:cNvSpPr>
            <p:nvPr/>
          </p:nvSpPr>
          <p:spPr bwMode="auto">
            <a:xfrm>
              <a:off x="418" y="3279"/>
              <a:ext cx="751"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Demand</a:t>
              </a:r>
            </a:p>
          </p:txBody>
        </p:sp>
        <p:sp>
          <p:nvSpPr>
            <p:cNvPr id="20500" name="Rectangle 20"/>
            <p:cNvSpPr>
              <a:spLocks noChangeArrowheads="1"/>
            </p:cNvSpPr>
            <p:nvPr/>
          </p:nvSpPr>
          <p:spPr bwMode="auto">
            <a:xfrm>
              <a:off x="4678" y="1850"/>
              <a:ext cx="63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Supply</a:t>
              </a:r>
            </a:p>
          </p:txBody>
        </p:sp>
        <p:sp>
          <p:nvSpPr>
            <p:cNvPr id="20501" name="Rectangle 21"/>
            <p:cNvSpPr>
              <a:spLocks noChangeArrowheads="1"/>
            </p:cNvSpPr>
            <p:nvPr/>
          </p:nvSpPr>
          <p:spPr bwMode="auto">
            <a:xfrm>
              <a:off x="4846" y="2811"/>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50</a:t>
              </a:r>
            </a:p>
          </p:txBody>
        </p:sp>
        <p:sp>
          <p:nvSpPr>
            <p:cNvPr id="20502" name="Rectangle 22"/>
            <p:cNvSpPr>
              <a:spLocks noChangeArrowheads="1"/>
            </p:cNvSpPr>
            <p:nvPr/>
          </p:nvSpPr>
          <p:spPr bwMode="auto">
            <a:xfrm>
              <a:off x="4846" y="2270"/>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50</a:t>
              </a:r>
            </a:p>
          </p:txBody>
        </p:sp>
        <p:sp>
          <p:nvSpPr>
            <p:cNvPr id="20503" name="Rectangle 23"/>
            <p:cNvSpPr>
              <a:spLocks noChangeArrowheads="1"/>
            </p:cNvSpPr>
            <p:nvPr/>
          </p:nvSpPr>
          <p:spPr bwMode="auto">
            <a:xfrm>
              <a:off x="4078" y="3279"/>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20</a:t>
              </a:r>
            </a:p>
          </p:txBody>
        </p:sp>
        <p:sp>
          <p:nvSpPr>
            <p:cNvPr id="20504" name="Rectangle 24"/>
            <p:cNvSpPr>
              <a:spLocks noChangeArrowheads="1"/>
            </p:cNvSpPr>
            <p:nvPr/>
          </p:nvSpPr>
          <p:spPr bwMode="auto">
            <a:xfrm>
              <a:off x="3178" y="3279"/>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10</a:t>
              </a:r>
            </a:p>
          </p:txBody>
        </p:sp>
        <p:sp>
          <p:nvSpPr>
            <p:cNvPr id="20505" name="Rectangle 25"/>
            <p:cNvSpPr>
              <a:spLocks noChangeArrowheads="1"/>
            </p:cNvSpPr>
            <p:nvPr/>
          </p:nvSpPr>
          <p:spPr bwMode="auto">
            <a:xfrm>
              <a:off x="2278" y="3279"/>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45</a:t>
              </a:r>
            </a:p>
          </p:txBody>
        </p:sp>
        <p:sp>
          <p:nvSpPr>
            <p:cNvPr id="20506" name="Rectangle 26"/>
            <p:cNvSpPr>
              <a:spLocks noChangeArrowheads="1"/>
            </p:cNvSpPr>
            <p:nvPr/>
          </p:nvSpPr>
          <p:spPr bwMode="auto">
            <a:xfrm>
              <a:off x="1378" y="3279"/>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25</a:t>
              </a:r>
            </a:p>
          </p:txBody>
        </p:sp>
        <p:sp>
          <p:nvSpPr>
            <p:cNvPr id="20507" name="Rectangle 27"/>
            <p:cNvSpPr>
              <a:spLocks noChangeArrowheads="1"/>
            </p:cNvSpPr>
            <p:nvPr/>
          </p:nvSpPr>
          <p:spPr bwMode="auto">
            <a:xfrm>
              <a:off x="3898" y="1850"/>
              <a:ext cx="697"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Dummy</a:t>
              </a:r>
            </a:p>
          </p:txBody>
        </p:sp>
        <p:sp>
          <p:nvSpPr>
            <p:cNvPr id="20508" name="Rectangle 28"/>
            <p:cNvSpPr>
              <a:spLocks noChangeArrowheads="1"/>
            </p:cNvSpPr>
            <p:nvPr/>
          </p:nvSpPr>
          <p:spPr bwMode="auto">
            <a:xfrm>
              <a:off x="418" y="2270"/>
              <a:ext cx="64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Plant 1</a:t>
              </a:r>
            </a:p>
          </p:txBody>
        </p:sp>
        <p:sp>
          <p:nvSpPr>
            <p:cNvPr id="20509" name="Rectangle 29"/>
            <p:cNvSpPr>
              <a:spLocks noChangeArrowheads="1"/>
            </p:cNvSpPr>
            <p:nvPr/>
          </p:nvSpPr>
          <p:spPr bwMode="auto">
            <a:xfrm>
              <a:off x="418" y="2811"/>
              <a:ext cx="64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Plant 2</a:t>
              </a:r>
            </a:p>
          </p:txBody>
        </p:sp>
        <p:sp>
          <p:nvSpPr>
            <p:cNvPr id="20510" name="Rectangle 30"/>
            <p:cNvSpPr>
              <a:spLocks noChangeArrowheads="1"/>
            </p:cNvSpPr>
            <p:nvPr/>
          </p:nvSpPr>
          <p:spPr bwMode="auto">
            <a:xfrm>
              <a:off x="2938" y="1850"/>
              <a:ext cx="849"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Eastwood</a:t>
              </a:r>
            </a:p>
          </p:txBody>
        </p:sp>
        <p:sp>
          <p:nvSpPr>
            <p:cNvPr id="20511" name="Rectangle 31"/>
            <p:cNvSpPr>
              <a:spLocks noChangeArrowheads="1"/>
            </p:cNvSpPr>
            <p:nvPr/>
          </p:nvSpPr>
          <p:spPr bwMode="auto">
            <a:xfrm>
              <a:off x="1990" y="1850"/>
              <a:ext cx="893"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Westwood</a:t>
              </a:r>
            </a:p>
          </p:txBody>
        </p:sp>
        <p:sp>
          <p:nvSpPr>
            <p:cNvPr id="20512" name="Rectangle 32"/>
            <p:cNvSpPr>
              <a:spLocks noChangeArrowheads="1"/>
            </p:cNvSpPr>
            <p:nvPr/>
          </p:nvSpPr>
          <p:spPr bwMode="auto">
            <a:xfrm>
              <a:off x="1090" y="1850"/>
              <a:ext cx="920"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Northwood</a:t>
              </a:r>
            </a:p>
          </p:txBody>
        </p:sp>
        <p:sp>
          <p:nvSpPr>
            <p:cNvPr id="20513" name="Rectangle 33"/>
            <p:cNvSpPr>
              <a:spLocks noChangeArrowheads="1"/>
            </p:cNvSpPr>
            <p:nvPr/>
          </p:nvSpPr>
          <p:spPr bwMode="auto">
            <a:xfrm>
              <a:off x="1643" y="2155"/>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24</a:t>
              </a:r>
            </a:p>
          </p:txBody>
        </p:sp>
      </p:grpSp>
    </p:spTree>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noFill/>
          <a:ln/>
        </p:spPr>
        <p:txBody>
          <a:bodyPr/>
          <a:lstStyle/>
          <a:p>
            <a:r>
              <a:rPr lang="en-US"/>
              <a:t>Example: BBC</a:t>
            </a:r>
          </a:p>
        </p:txBody>
      </p:sp>
      <p:sp>
        <p:nvSpPr>
          <p:cNvPr id="21507" name="Rectangle 3"/>
          <p:cNvSpPr>
            <a:spLocks noGrp="1" noChangeArrowheads="1"/>
          </p:cNvSpPr>
          <p:nvPr>
            <p:ph type="body" idx="1"/>
          </p:nvPr>
        </p:nvSpPr>
        <p:spPr>
          <a:noFill/>
          <a:ln/>
        </p:spPr>
        <p:txBody>
          <a:bodyPr/>
          <a:lstStyle/>
          <a:p>
            <a:r>
              <a:rPr lang="en-US">
                <a:solidFill>
                  <a:schemeClr val="tx2"/>
                </a:solidFill>
              </a:rPr>
              <a:t>Least Cost Starting Procedure</a:t>
            </a:r>
          </a:p>
          <a:p>
            <a:pPr lvl="1"/>
            <a:r>
              <a:rPr lang="en-US">
                <a:solidFill>
                  <a:schemeClr val="tx2"/>
                </a:solidFill>
              </a:rPr>
              <a:t>Iteration 1:  </a:t>
            </a:r>
            <a:r>
              <a:rPr lang="en-US"/>
              <a:t>Tie for least cost (0), arbitrarily select </a:t>
            </a:r>
            <a:r>
              <a:rPr lang="en-US" i="1"/>
              <a:t>x</a:t>
            </a:r>
            <a:r>
              <a:rPr lang="en-US" baseline="-25000"/>
              <a:t>14</a:t>
            </a:r>
            <a:r>
              <a:rPr lang="en-US"/>
              <a:t>.  Allocate 20.  Reduce </a:t>
            </a:r>
            <a:r>
              <a:rPr lang="en-US" i="1"/>
              <a:t>s</a:t>
            </a:r>
            <a:r>
              <a:rPr lang="en-US" baseline="-25000"/>
              <a:t>1</a:t>
            </a:r>
            <a:r>
              <a:rPr lang="en-US"/>
              <a:t> by 20 to 30 and delete the Dummy column.</a:t>
            </a:r>
          </a:p>
          <a:p>
            <a:pPr lvl="1"/>
            <a:r>
              <a:rPr lang="en-US">
                <a:solidFill>
                  <a:schemeClr val="tx2"/>
                </a:solidFill>
              </a:rPr>
              <a:t>Iteration 2:  </a:t>
            </a:r>
            <a:r>
              <a:rPr lang="en-US"/>
              <a:t>Of the remaining cells the least cost is 24 for </a:t>
            </a:r>
            <a:r>
              <a:rPr lang="en-US" i="1"/>
              <a:t>x</a:t>
            </a:r>
            <a:r>
              <a:rPr lang="en-US" baseline="-25000"/>
              <a:t>11</a:t>
            </a:r>
            <a:r>
              <a:rPr lang="en-US"/>
              <a:t>.  Allocate 25.  Reduce </a:t>
            </a:r>
            <a:r>
              <a:rPr lang="en-US" i="1"/>
              <a:t>s</a:t>
            </a:r>
            <a:r>
              <a:rPr lang="en-US" baseline="-25000"/>
              <a:t>1</a:t>
            </a:r>
            <a:r>
              <a:rPr lang="en-US"/>
              <a:t> by 25 to 5 and eliminate the Northwood column.</a:t>
            </a:r>
          </a:p>
          <a:p>
            <a:pPr lvl="1"/>
            <a:r>
              <a:rPr lang="en-US">
                <a:solidFill>
                  <a:schemeClr val="tx2"/>
                </a:solidFill>
              </a:rPr>
              <a:t>Iteration 3:  </a:t>
            </a:r>
            <a:r>
              <a:rPr lang="en-US"/>
              <a:t>Of the remaining cells the least cost is 30 for </a:t>
            </a:r>
            <a:r>
              <a:rPr lang="en-US" i="1"/>
              <a:t>x</a:t>
            </a:r>
            <a:r>
              <a:rPr lang="en-US" baseline="-25000"/>
              <a:t>12</a:t>
            </a:r>
            <a:r>
              <a:rPr lang="en-US"/>
              <a:t>.  Allocate 5.  Reduce the Westwood column to 40 and eliminate the Plant 1 row.</a:t>
            </a:r>
          </a:p>
          <a:p>
            <a:pPr lvl="1"/>
            <a:r>
              <a:rPr lang="en-US">
                <a:solidFill>
                  <a:schemeClr val="tx2"/>
                </a:solidFill>
              </a:rPr>
              <a:t>Iteration 4:  </a:t>
            </a:r>
            <a:r>
              <a:rPr lang="en-US"/>
              <a:t>Since there is only one row with two cells left, make the final allocations of 40 and 10 to </a:t>
            </a:r>
            <a:r>
              <a:rPr lang="en-US" i="1"/>
              <a:t>x</a:t>
            </a:r>
            <a:r>
              <a:rPr lang="en-US" baseline="-25000"/>
              <a:t>22</a:t>
            </a:r>
            <a:r>
              <a:rPr lang="en-US"/>
              <a:t> and </a:t>
            </a:r>
            <a:r>
              <a:rPr lang="en-US" i="1"/>
              <a:t>x</a:t>
            </a:r>
            <a:r>
              <a:rPr lang="en-US" baseline="-25000"/>
              <a:t>23</a:t>
            </a:r>
            <a:r>
              <a:rPr lang="en-US"/>
              <a:t>, respectively.</a:t>
            </a:r>
          </a:p>
        </p:txBody>
      </p:sp>
    </p:spTree>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r>
              <a:rPr lang="en-US"/>
              <a:t>Example: BBC</a:t>
            </a:r>
          </a:p>
        </p:txBody>
      </p:sp>
      <p:sp>
        <p:nvSpPr>
          <p:cNvPr id="130051" name="Rectangle 3"/>
          <p:cNvSpPr>
            <a:spLocks noGrp="1" noChangeArrowheads="1"/>
          </p:cNvSpPr>
          <p:nvPr>
            <p:ph type="body" idx="1"/>
          </p:nvPr>
        </p:nvSpPr>
        <p:spPr/>
        <p:txBody>
          <a:bodyPr/>
          <a:lstStyle/>
          <a:p>
            <a:r>
              <a:rPr lang="en-US"/>
              <a:t>Initial tableau</a:t>
            </a:r>
          </a:p>
          <a:p>
            <a:pPr>
              <a:buFont typeface="Monotype Sorts" pitchFamily="2" charset="2"/>
              <a:buNone/>
            </a:pPr>
            <a:endParaRPr lang="en-US"/>
          </a:p>
        </p:txBody>
      </p:sp>
      <p:grpSp>
        <p:nvGrpSpPr>
          <p:cNvPr id="130052" name="Group 4"/>
          <p:cNvGrpSpPr>
            <a:grpSpLocks/>
          </p:cNvGrpSpPr>
          <p:nvPr/>
        </p:nvGrpSpPr>
        <p:grpSpPr bwMode="auto">
          <a:xfrm>
            <a:off x="749300" y="2068513"/>
            <a:ext cx="7772400" cy="2687637"/>
            <a:chOff x="418" y="1850"/>
            <a:chExt cx="4896" cy="1693"/>
          </a:xfrm>
        </p:grpSpPr>
        <p:sp>
          <p:nvSpPr>
            <p:cNvPr id="130053" name="Rectangle 5"/>
            <p:cNvSpPr>
              <a:spLocks noChangeArrowheads="1"/>
            </p:cNvSpPr>
            <p:nvPr/>
          </p:nvSpPr>
          <p:spPr bwMode="auto">
            <a:xfrm>
              <a:off x="1103" y="2154"/>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r>
                <a:rPr lang="en-US"/>
                <a:t>25</a:t>
              </a:r>
            </a:p>
          </p:txBody>
        </p:sp>
        <p:sp>
          <p:nvSpPr>
            <p:cNvPr id="130054" name="Rectangle 6"/>
            <p:cNvSpPr>
              <a:spLocks noChangeArrowheads="1"/>
            </p:cNvSpPr>
            <p:nvPr/>
          </p:nvSpPr>
          <p:spPr bwMode="auto">
            <a:xfrm>
              <a:off x="1995" y="2154"/>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r>
                <a:rPr lang="en-US"/>
                <a:t>5</a:t>
              </a:r>
            </a:p>
          </p:txBody>
        </p:sp>
        <p:sp>
          <p:nvSpPr>
            <p:cNvPr id="130055" name="Rectangle 7"/>
            <p:cNvSpPr>
              <a:spLocks noChangeArrowheads="1"/>
            </p:cNvSpPr>
            <p:nvPr/>
          </p:nvSpPr>
          <p:spPr bwMode="auto">
            <a:xfrm>
              <a:off x="1103" y="2687"/>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130056" name="Rectangle 8"/>
            <p:cNvSpPr>
              <a:spLocks noChangeArrowheads="1"/>
            </p:cNvSpPr>
            <p:nvPr/>
          </p:nvSpPr>
          <p:spPr bwMode="auto">
            <a:xfrm>
              <a:off x="2883" y="2154"/>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130057" name="Rectangle 9"/>
            <p:cNvSpPr>
              <a:spLocks noChangeArrowheads="1"/>
            </p:cNvSpPr>
            <p:nvPr/>
          </p:nvSpPr>
          <p:spPr bwMode="auto">
            <a:xfrm>
              <a:off x="3771" y="2154"/>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r>
                <a:rPr lang="en-US"/>
                <a:t>20</a:t>
              </a:r>
            </a:p>
          </p:txBody>
        </p:sp>
        <p:sp>
          <p:nvSpPr>
            <p:cNvPr id="130058" name="Rectangle 10"/>
            <p:cNvSpPr>
              <a:spLocks noChangeArrowheads="1"/>
            </p:cNvSpPr>
            <p:nvPr/>
          </p:nvSpPr>
          <p:spPr bwMode="auto">
            <a:xfrm>
              <a:off x="1995" y="2687"/>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r>
                <a:rPr lang="en-US"/>
                <a:t>40</a:t>
              </a:r>
            </a:p>
          </p:txBody>
        </p:sp>
        <p:sp>
          <p:nvSpPr>
            <p:cNvPr id="130059" name="Rectangle 11"/>
            <p:cNvSpPr>
              <a:spLocks noChangeArrowheads="1"/>
            </p:cNvSpPr>
            <p:nvPr/>
          </p:nvSpPr>
          <p:spPr bwMode="auto">
            <a:xfrm>
              <a:off x="2883" y="2687"/>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r>
                <a:rPr lang="en-US"/>
                <a:t>10</a:t>
              </a:r>
            </a:p>
          </p:txBody>
        </p:sp>
        <p:sp>
          <p:nvSpPr>
            <p:cNvPr id="130060" name="Rectangle 12"/>
            <p:cNvSpPr>
              <a:spLocks noChangeArrowheads="1"/>
            </p:cNvSpPr>
            <p:nvPr/>
          </p:nvSpPr>
          <p:spPr bwMode="auto">
            <a:xfrm>
              <a:off x="3771" y="2687"/>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130061" name="Rectangle 13"/>
            <p:cNvSpPr>
              <a:spLocks noChangeArrowheads="1"/>
            </p:cNvSpPr>
            <p:nvPr/>
          </p:nvSpPr>
          <p:spPr bwMode="auto">
            <a:xfrm>
              <a:off x="3419" y="2687"/>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42</a:t>
              </a:r>
            </a:p>
          </p:txBody>
        </p:sp>
        <p:sp>
          <p:nvSpPr>
            <p:cNvPr id="130062" name="Rectangle 14"/>
            <p:cNvSpPr>
              <a:spLocks noChangeArrowheads="1"/>
            </p:cNvSpPr>
            <p:nvPr/>
          </p:nvSpPr>
          <p:spPr bwMode="auto">
            <a:xfrm>
              <a:off x="3419" y="2154"/>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40</a:t>
              </a:r>
            </a:p>
          </p:txBody>
        </p:sp>
        <p:sp>
          <p:nvSpPr>
            <p:cNvPr id="130063" name="Rectangle 15"/>
            <p:cNvSpPr>
              <a:spLocks noChangeArrowheads="1"/>
            </p:cNvSpPr>
            <p:nvPr/>
          </p:nvSpPr>
          <p:spPr bwMode="auto">
            <a:xfrm>
              <a:off x="4311" y="2154"/>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0</a:t>
              </a:r>
            </a:p>
          </p:txBody>
        </p:sp>
        <p:sp>
          <p:nvSpPr>
            <p:cNvPr id="130064" name="Rectangle 16"/>
            <p:cNvSpPr>
              <a:spLocks noChangeArrowheads="1"/>
            </p:cNvSpPr>
            <p:nvPr/>
          </p:nvSpPr>
          <p:spPr bwMode="auto">
            <a:xfrm>
              <a:off x="4311" y="2687"/>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0</a:t>
              </a:r>
            </a:p>
          </p:txBody>
        </p:sp>
        <p:sp>
          <p:nvSpPr>
            <p:cNvPr id="130065" name="Rectangle 17"/>
            <p:cNvSpPr>
              <a:spLocks noChangeArrowheads="1"/>
            </p:cNvSpPr>
            <p:nvPr/>
          </p:nvSpPr>
          <p:spPr bwMode="auto">
            <a:xfrm>
              <a:off x="2531" y="2687"/>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40</a:t>
              </a:r>
            </a:p>
          </p:txBody>
        </p:sp>
        <p:sp>
          <p:nvSpPr>
            <p:cNvPr id="130066" name="Rectangle 18"/>
            <p:cNvSpPr>
              <a:spLocks noChangeArrowheads="1"/>
            </p:cNvSpPr>
            <p:nvPr/>
          </p:nvSpPr>
          <p:spPr bwMode="auto">
            <a:xfrm>
              <a:off x="2531" y="2154"/>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30</a:t>
              </a:r>
            </a:p>
          </p:txBody>
        </p:sp>
        <p:sp>
          <p:nvSpPr>
            <p:cNvPr id="130067" name="Rectangle 19"/>
            <p:cNvSpPr>
              <a:spLocks noChangeArrowheads="1"/>
            </p:cNvSpPr>
            <p:nvPr/>
          </p:nvSpPr>
          <p:spPr bwMode="auto">
            <a:xfrm>
              <a:off x="1643" y="2687"/>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30</a:t>
              </a:r>
            </a:p>
          </p:txBody>
        </p:sp>
        <p:sp>
          <p:nvSpPr>
            <p:cNvPr id="130068" name="Rectangle 20"/>
            <p:cNvSpPr>
              <a:spLocks noChangeArrowheads="1"/>
            </p:cNvSpPr>
            <p:nvPr/>
          </p:nvSpPr>
          <p:spPr bwMode="auto">
            <a:xfrm>
              <a:off x="418" y="3279"/>
              <a:ext cx="751"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Demand</a:t>
              </a:r>
            </a:p>
          </p:txBody>
        </p:sp>
        <p:sp>
          <p:nvSpPr>
            <p:cNvPr id="130069" name="Rectangle 21"/>
            <p:cNvSpPr>
              <a:spLocks noChangeArrowheads="1"/>
            </p:cNvSpPr>
            <p:nvPr/>
          </p:nvSpPr>
          <p:spPr bwMode="auto">
            <a:xfrm>
              <a:off x="4678" y="1850"/>
              <a:ext cx="63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Supply</a:t>
              </a:r>
            </a:p>
          </p:txBody>
        </p:sp>
        <p:sp>
          <p:nvSpPr>
            <p:cNvPr id="130070" name="Rectangle 22"/>
            <p:cNvSpPr>
              <a:spLocks noChangeArrowheads="1"/>
            </p:cNvSpPr>
            <p:nvPr/>
          </p:nvSpPr>
          <p:spPr bwMode="auto">
            <a:xfrm>
              <a:off x="4846" y="2811"/>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50</a:t>
              </a:r>
            </a:p>
          </p:txBody>
        </p:sp>
        <p:sp>
          <p:nvSpPr>
            <p:cNvPr id="130071" name="Rectangle 23"/>
            <p:cNvSpPr>
              <a:spLocks noChangeArrowheads="1"/>
            </p:cNvSpPr>
            <p:nvPr/>
          </p:nvSpPr>
          <p:spPr bwMode="auto">
            <a:xfrm>
              <a:off x="4846" y="2270"/>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50</a:t>
              </a:r>
            </a:p>
          </p:txBody>
        </p:sp>
        <p:sp>
          <p:nvSpPr>
            <p:cNvPr id="130072" name="Rectangle 24"/>
            <p:cNvSpPr>
              <a:spLocks noChangeArrowheads="1"/>
            </p:cNvSpPr>
            <p:nvPr/>
          </p:nvSpPr>
          <p:spPr bwMode="auto">
            <a:xfrm>
              <a:off x="4078" y="3279"/>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20</a:t>
              </a:r>
            </a:p>
          </p:txBody>
        </p:sp>
        <p:sp>
          <p:nvSpPr>
            <p:cNvPr id="130073" name="Rectangle 25"/>
            <p:cNvSpPr>
              <a:spLocks noChangeArrowheads="1"/>
            </p:cNvSpPr>
            <p:nvPr/>
          </p:nvSpPr>
          <p:spPr bwMode="auto">
            <a:xfrm>
              <a:off x="3178" y="3279"/>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10</a:t>
              </a:r>
            </a:p>
          </p:txBody>
        </p:sp>
        <p:sp>
          <p:nvSpPr>
            <p:cNvPr id="130074" name="Rectangle 26"/>
            <p:cNvSpPr>
              <a:spLocks noChangeArrowheads="1"/>
            </p:cNvSpPr>
            <p:nvPr/>
          </p:nvSpPr>
          <p:spPr bwMode="auto">
            <a:xfrm>
              <a:off x="2278" y="3279"/>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45</a:t>
              </a:r>
            </a:p>
          </p:txBody>
        </p:sp>
        <p:sp>
          <p:nvSpPr>
            <p:cNvPr id="130075" name="Rectangle 27"/>
            <p:cNvSpPr>
              <a:spLocks noChangeArrowheads="1"/>
            </p:cNvSpPr>
            <p:nvPr/>
          </p:nvSpPr>
          <p:spPr bwMode="auto">
            <a:xfrm>
              <a:off x="1378" y="3279"/>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25</a:t>
              </a:r>
            </a:p>
          </p:txBody>
        </p:sp>
        <p:sp>
          <p:nvSpPr>
            <p:cNvPr id="130076" name="Rectangle 28"/>
            <p:cNvSpPr>
              <a:spLocks noChangeArrowheads="1"/>
            </p:cNvSpPr>
            <p:nvPr/>
          </p:nvSpPr>
          <p:spPr bwMode="auto">
            <a:xfrm>
              <a:off x="3898" y="1850"/>
              <a:ext cx="697"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Dummy</a:t>
              </a:r>
            </a:p>
          </p:txBody>
        </p:sp>
        <p:sp>
          <p:nvSpPr>
            <p:cNvPr id="130077" name="Rectangle 29"/>
            <p:cNvSpPr>
              <a:spLocks noChangeArrowheads="1"/>
            </p:cNvSpPr>
            <p:nvPr/>
          </p:nvSpPr>
          <p:spPr bwMode="auto">
            <a:xfrm>
              <a:off x="418" y="2270"/>
              <a:ext cx="64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Plant 1</a:t>
              </a:r>
            </a:p>
          </p:txBody>
        </p:sp>
        <p:sp>
          <p:nvSpPr>
            <p:cNvPr id="130078" name="Rectangle 30"/>
            <p:cNvSpPr>
              <a:spLocks noChangeArrowheads="1"/>
            </p:cNvSpPr>
            <p:nvPr/>
          </p:nvSpPr>
          <p:spPr bwMode="auto">
            <a:xfrm>
              <a:off x="418" y="2811"/>
              <a:ext cx="64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Plant 2</a:t>
              </a:r>
            </a:p>
          </p:txBody>
        </p:sp>
        <p:sp>
          <p:nvSpPr>
            <p:cNvPr id="130079" name="Rectangle 31"/>
            <p:cNvSpPr>
              <a:spLocks noChangeArrowheads="1"/>
            </p:cNvSpPr>
            <p:nvPr/>
          </p:nvSpPr>
          <p:spPr bwMode="auto">
            <a:xfrm>
              <a:off x="2938" y="1850"/>
              <a:ext cx="849"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Eastwood</a:t>
              </a:r>
            </a:p>
          </p:txBody>
        </p:sp>
        <p:sp>
          <p:nvSpPr>
            <p:cNvPr id="130080" name="Rectangle 32"/>
            <p:cNvSpPr>
              <a:spLocks noChangeArrowheads="1"/>
            </p:cNvSpPr>
            <p:nvPr/>
          </p:nvSpPr>
          <p:spPr bwMode="auto">
            <a:xfrm>
              <a:off x="1990" y="1850"/>
              <a:ext cx="893"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Westwood</a:t>
              </a:r>
            </a:p>
          </p:txBody>
        </p:sp>
        <p:sp>
          <p:nvSpPr>
            <p:cNvPr id="130081" name="Rectangle 33"/>
            <p:cNvSpPr>
              <a:spLocks noChangeArrowheads="1"/>
            </p:cNvSpPr>
            <p:nvPr/>
          </p:nvSpPr>
          <p:spPr bwMode="auto">
            <a:xfrm>
              <a:off x="1090" y="1850"/>
              <a:ext cx="920"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Northwood</a:t>
              </a:r>
            </a:p>
          </p:txBody>
        </p:sp>
        <p:sp>
          <p:nvSpPr>
            <p:cNvPr id="130082" name="Rectangle 34"/>
            <p:cNvSpPr>
              <a:spLocks noChangeArrowheads="1"/>
            </p:cNvSpPr>
            <p:nvPr/>
          </p:nvSpPr>
          <p:spPr bwMode="auto">
            <a:xfrm>
              <a:off x="1643" y="2155"/>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24</a:t>
              </a:r>
            </a:p>
          </p:txBody>
        </p:sp>
      </p:grpSp>
      <p:sp>
        <p:nvSpPr>
          <p:cNvPr id="130083" name="Text Box 35"/>
          <p:cNvSpPr txBox="1">
            <a:spLocks noChangeArrowheads="1"/>
          </p:cNvSpPr>
          <p:nvPr/>
        </p:nvSpPr>
        <p:spPr bwMode="auto">
          <a:xfrm>
            <a:off x="569913" y="5332413"/>
            <a:ext cx="54038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b="1">
                <a:solidFill>
                  <a:schemeClr val="accent1"/>
                </a:solidFill>
              </a:rPr>
              <a:t>Total transportation cost is $2770</a:t>
            </a:r>
          </a:p>
        </p:txBody>
      </p:sp>
    </p:spTree>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noFill/>
          <a:ln/>
        </p:spPr>
        <p:txBody>
          <a:bodyPr/>
          <a:lstStyle/>
          <a:p>
            <a:r>
              <a:rPr lang="en-US"/>
              <a:t>Example: BBC</a:t>
            </a:r>
          </a:p>
        </p:txBody>
      </p:sp>
      <p:sp>
        <p:nvSpPr>
          <p:cNvPr id="22531" name="Rectangle 3"/>
          <p:cNvSpPr>
            <a:spLocks noGrp="1" noChangeArrowheads="1"/>
          </p:cNvSpPr>
          <p:nvPr>
            <p:ph type="body" idx="1"/>
          </p:nvPr>
        </p:nvSpPr>
        <p:spPr>
          <a:noFill/>
          <a:ln/>
        </p:spPr>
        <p:txBody>
          <a:bodyPr/>
          <a:lstStyle/>
          <a:p>
            <a:r>
              <a:rPr lang="en-US">
                <a:solidFill>
                  <a:schemeClr val="tx2"/>
                </a:solidFill>
              </a:rPr>
              <a:t>Iteration 1</a:t>
            </a:r>
          </a:p>
          <a:p>
            <a:pPr lvl="1"/>
            <a:r>
              <a:rPr lang="en-US">
                <a:solidFill>
                  <a:schemeClr val="tx2"/>
                </a:solidFill>
              </a:rPr>
              <a:t>MODI Method</a:t>
            </a:r>
            <a:endParaRPr lang="en-US"/>
          </a:p>
          <a:p>
            <a:pPr>
              <a:buFont typeface="Monotype Sorts" pitchFamily="2" charset="2"/>
              <a:buNone/>
            </a:pPr>
            <a:r>
              <a:rPr lang="en-US"/>
              <a:t>		1. Set </a:t>
            </a:r>
            <a:r>
              <a:rPr lang="en-US" i="1"/>
              <a:t>u</a:t>
            </a:r>
            <a:r>
              <a:rPr lang="en-US" baseline="-25000"/>
              <a:t>1</a:t>
            </a:r>
            <a:r>
              <a:rPr lang="en-US"/>
              <a:t> = 0</a:t>
            </a:r>
          </a:p>
          <a:p>
            <a:pPr>
              <a:buFont typeface="Monotype Sorts" pitchFamily="2" charset="2"/>
              <a:buNone/>
            </a:pPr>
            <a:r>
              <a:rPr lang="en-US"/>
              <a:t>		2. Since </a:t>
            </a:r>
            <a:r>
              <a:rPr lang="en-US" i="1"/>
              <a:t>u</a:t>
            </a:r>
            <a:r>
              <a:rPr lang="en-US" baseline="-25000"/>
              <a:t>1</a:t>
            </a:r>
            <a:r>
              <a:rPr lang="en-US"/>
              <a:t> + </a:t>
            </a:r>
            <a:r>
              <a:rPr lang="en-US" i="1"/>
              <a:t>v</a:t>
            </a:r>
            <a:r>
              <a:rPr lang="en-US" i="1" baseline="-25000"/>
              <a:t>j</a:t>
            </a:r>
            <a:r>
              <a:rPr lang="en-US"/>
              <a:t> = </a:t>
            </a:r>
            <a:r>
              <a:rPr lang="en-US" i="1"/>
              <a:t>c</a:t>
            </a:r>
            <a:r>
              <a:rPr lang="en-US" baseline="-25000"/>
              <a:t>1</a:t>
            </a:r>
            <a:r>
              <a:rPr lang="en-US" i="1" baseline="-25000"/>
              <a:t>j</a:t>
            </a:r>
            <a:r>
              <a:rPr lang="en-US"/>
              <a:t> for occupied cells in row 1, then</a:t>
            </a:r>
          </a:p>
          <a:p>
            <a:pPr>
              <a:buFont typeface="Monotype Sorts" pitchFamily="2" charset="2"/>
              <a:buNone/>
            </a:pPr>
            <a:r>
              <a:rPr lang="en-US"/>
              <a:t>       	    </a:t>
            </a:r>
            <a:r>
              <a:rPr lang="en-US" i="1"/>
              <a:t>v</a:t>
            </a:r>
            <a:r>
              <a:rPr lang="en-US" baseline="-25000"/>
              <a:t>1</a:t>
            </a:r>
            <a:r>
              <a:rPr lang="en-US"/>
              <a:t> = 24, </a:t>
            </a:r>
            <a:r>
              <a:rPr lang="en-US" i="1"/>
              <a:t>v</a:t>
            </a:r>
            <a:r>
              <a:rPr lang="en-US" baseline="-25000"/>
              <a:t>2</a:t>
            </a:r>
            <a:r>
              <a:rPr lang="en-US"/>
              <a:t> = 30, </a:t>
            </a:r>
            <a:r>
              <a:rPr lang="en-US" i="1"/>
              <a:t>v</a:t>
            </a:r>
            <a:r>
              <a:rPr lang="en-US" baseline="-25000"/>
              <a:t>4</a:t>
            </a:r>
            <a:r>
              <a:rPr lang="en-US"/>
              <a:t> = 0.</a:t>
            </a:r>
          </a:p>
          <a:p>
            <a:pPr>
              <a:buFont typeface="Monotype Sorts" pitchFamily="2" charset="2"/>
              <a:buNone/>
            </a:pPr>
            <a:r>
              <a:rPr lang="en-US"/>
              <a:t>		3. Since </a:t>
            </a:r>
            <a:r>
              <a:rPr lang="en-US" i="1"/>
              <a:t>u</a:t>
            </a:r>
            <a:r>
              <a:rPr lang="en-US" i="1" baseline="-25000"/>
              <a:t>i</a:t>
            </a:r>
            <a:r>
              <a:rPr lang="en-US"/>
              <a:t> + </a:t>
            </a:r>
            <a:r>
              <a:rPr lang="en-US" i="1"/>
              <a:t>v</a:t>
            </a:r>
            <a:r>
              <a:rPr lang="en-US" baseline="-25000"/>
              <a:t>2</a:t>
            </a:r>
            <a:r>
              <a:rPr lang="en-US"/>
              <a:t> = </a:t>
            </a:r>
            <a:r>
              <a:rPr lang="en-US" i="1"/>
              <a:t>c</a:t>
            </a:r>
            <a:r>
              <a:rPr lang="en-US" i="1" baseline="-25000"/>
              <a:t>i</a:t>
            </a:r>
            <a:r>
              <a:rPr lang="en-US" baseline="-25000"/>
              <a:t>2</a:t>
            </a:r>
            <a:r>
              <a:rPr lang="en-US"/>
              <a:t> for occupied cells in column 2, 	    then </a:t>
            </a:r>
            <a:r>
              <a:rPr lang="en-US" i="1"/>
              <a:t>u</a:t>
            </a:r>
            <a:r>
              <a:rPr lang="en-US" baseline="-25000"/>
              <a:t>2</a:t>
            </a:r>
            <a:r>
              <a:rPr lang="en-US"/>
              <a:t> + 30 = 40, hence </a:t>
            </a:r>
            <a:r>
              <a:rPr lang="en-US" i="1"/>
              <a:t>u</a:t>
            </a:r>
            <a:r>
              <a:rPr lang="en-US" baseline="-25000"/>
              <a:t>2</a:t>
            </a:r>
            <a:r>
              <a:rPr lang="en-US"/>
              <a:t> = 10.</a:t>
            </a:r>
          </a:p>
          <a:p>
            <a:pPr>
              <a:buFont typeface="Monotype Sorts" pitchFamily="2" charset="2"/>
              <a:buNone/>
            </a:pPr>
            <a:r>
              <a:rPr lang="en-US"/>
              <a:t>		4. Since </a:t>
            </a:r>
            <a:r>
              <a:rPr lang="en-US" i="1"/>
              <a:t>u</a:t>
            </a:r>
            <a:r>
              <a:rPr lang="en-US" baseline="-25000"/>
              <a:t>2</a:t>
            </a:r>
            <a:r>
              <a:rPr lang="en-US"/>
              <a:t> + </a:t>
            </a:r>
            <a:r>
              <a:rPr lang="en-US" i="1"/>
              <a:t>v</a:t>
            </a:r>
            <a:r>
              <a:rPr lang="en-US" i="1" baseline="-25000"/>
              <a:t>j</a:t>
            </a:r>
            <a:r>
              <a:rPr lang="en-US"/>
              <a:t> = </a:t>
            </a:r>
            <a:r>
              <a:rPr lang="en-US" i="1"/>
              <a:t>c</a:t>
            </a:r>
            <a:r>
              <a:rPr lang="en-US" baseline="-25000"/>
              <a:t>2</a:t>
            </a:r>
            <a:r>
              <a:rPr lang="en-US" i="1" baseline="-25000"/>
              <a:t>j</a:t>
            </a:r>
            <a:r>
              <a:rPr lang="en-US"/>
              <a:t> for occupied cells in row 2, then</a:t>
            </a:r>
          </a:p>
          <a:p>
            <a:pPr>
              <a:buFont typeface="Monotype Sorts" pitchFamily="2" charset="2"/>
              <a:buNone/>
            </a:pPr>
            <a:r>
              <a:rPr lang="en-US"/>
              <a:t>       	    10 + </a:t>
            </a:r>
            <a:r>
              <a:rPr lang="en-US" i="1"/>
              <a:t>v</a:t>
            </a:r>
            <a:r>
              <a:rPr lang="en-US" baseline="-25000"/>
              <a:t>3</a:t>
            </a:r>
            <a:r>
              <a:rPr lang="en-US"/>
              <a:t> = 42, hence </a:t>
            </a:r>
            <a:r>
              <a:rPr lang="en-US" i="1"/>
              <a:t>v</a:t>
            </a:r>
            <a:r>
              <a:rPr lang="en-US" baseline="-25000"/>
              <a:t>3</a:t>
            </a:r>
            <a:r>
              <a:rPr lang="en-US"/>
              <a:t> = 32.</a:t>
            </a:r>
          </a:p>
        </p:txBody>
      </p:sp>
    </p:spTree>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noFill/>
          <a:ln/>
        </p:spPr>
        <p:txBody>
          <a:bodyPr/>
          <a:lstStyle/>
          <a:p>
            <a:r>
              <a:rPr lang="en-US"/>
              <a:t>Example: BBC</a:t>
            </a:r>
          </a:p>
        </p:txBody>
      </p:sp>
      <p:sp>
        <p:nvSpPr>
          <p:cNvPr id="23555" name="Rectangle 3"/>
          <p:cNvSpPr>
            <a:spLocks noGrp="1" noChangeArrowheads="1"/>
          </p:cNvSpPr>
          <p:nvPr>
            <p:ph type="body" idx="1"/>
          </p:nvPr>
        </p:nvSpPr>
        <p:spPr>
          <a:noFill/>
          <a:ln/>
        </p:spPr>
        <p:txBody>
          <a:bodyPr/>
          <a:lstStyle/>
          <a:p>
            <a:r>
              <a:rPr lang="en-US">
                <a:solidFill>
                  <a:schemeClr val="tx2"/>
                </a:solidFill>
              </a:rPr>
              <a:t>Iteration 1</a:t>
            </a:r>
          </a:p>
          <a:p>
            <a:pPr lvl="1"/>
            <a:r>
              <a:rPr lang="en-US">
                <a:solidFill>
                  <a:schemeClr val="tx2"/>
                </a:solidFill>
              </a:rPr>
              <a:t>MODI Method (continued)</a:t>
            </a:r>
          </a:p>
          <a:p>
            <a:pPr>
              <a:buFont typeface="Monotype Sorts" pitchFamily="2" charset="2"/>
              <a:buNone/>
            </a:pPr>
            <a:r>
              <a:rPr lang="en-US"/>
              <a:t>		Calculate the reduced costs (circled numbers on the 	next slide) by </a:t>
            </a:r>
            <a:r>
              <a:rPr lang="en-US" i="1"/>
              <a:t>c</a:t>
            </a:r>
            <a:r>
              <a:rPr lang="en-US" i="1" baseline="-25000"/>
              <a:t>ij</a:t>
            </a:r>
            <a:r>
              <a:rPr lang="en-US"/>
              <a:t> - </a:t>
            </a:r>
            <a:r>
              <a:rPr lang="en-US" i="1"/>
              <a:t>u</a:t>
            </a:r>
            <a:r>
              <a:rPr lang="en-US" i="1" baseline="-25000"/>
              <a:t>i</a:t>
            </a:r>
            <a:r>
              <a:rPr lang="en-US"/>
              <a:t> + </a:t>
            </a:r>
            <a:r>
              <a:rPr lang="en-US" i="1"/>
              <a:t>v</a:t>
            </a:r>
            <a:r>
              <a:rPr lang="en-US" i="1" baseline="-25000"/>
              <a:t>j</a:t>
            </a:r>
            <a:r>
              <a:rPr lang="en-US"/>
              <a:t>.</a:t>
            </a:r>
          </a:p>
          <a:p>
            <a:pPr>
              <a:buFont typeface="Monotype Sorts" pitchFamily="2" charset="2"/>
              <a:buNone/>
            </a:pPr>
            <a:endParaRPr lang="en-US" sz="1000"/>
          </a:p>
          <a:p>
            <a:pPr>
              <a:buFont typeface="Monotype Sorts" pitchFamily="2" charset="2"/>
              <a:buNone/>
            </a:pPr>
            <a:r>
              <a:rPr lang="en-US"/>
              <a:t>             	</a:t>
            </a:r>
            <a:r>
              <a:rPr lang="en-US" u="sng"/>
              <a:t>Unoccupied Cell</a:t>
            </a:r>
            <a:r>
              <a:rPr lang="en-US"/>
              <a:t>         </a:t>
            </a:r>
            <a:r>
              <a:rPr lang="en-US" u="sng"/>
              <a:t>Reduced Cost</a:t>
            </a:r>
            <a:endParaRPr lang="en-US"/>
          </a:p>
          <a:p>
            <a:pPr>
              <a:buFont typeface="Monotype Sorts" pitchFamily="2" charset="2"/>
              <a:buNone/>
            </a:pPr>
            <a:r>
              <a:rPr lang="en-US"/>
              <a:t>             		(1,3)                  40 -  0 - 32 =    8</a:t>
            </a:r>
          </a:p>
          <a:p>
            <a:pPr>
              <a:buFont typeface="Monotype Sorts" pitchFamily="2" charset="2"/>
              <a:buNone/>
            </a:pPr>
            <a:r>
              <a:rPr lang="en-US"/>
              <a:t>                		(2,1)                  30 - 24 -10 =   -4</a:t>
            </a:r>
          </a:p>
          <a:p>
            <a:pPr>
              <a:buFont typeface="Monotype Sorts" pitchFamily="2" charset="2"/>
              <a:buNone/>
            </a:pPr>
            <a:r>
              <a:rPr lang="en-US"/>
              <a:t>                  		(2,4)                    0 - 10 -  0 = </a:t>
            </a:r>
            <a:r>
              <a:rPr lang="en-US">
                <a:solidFill>
                  <a:schemeClr val="accent1"/>
                </a:solidFill>
              </a:rPr>
              <a:t>-10</a:t>
            </a:r>
          </a:p>
        </p:txBody>
      </p:sp>
      <p:sp>
        <p:nvSpPr>
          <p:cNvPr id="23556" name="Text Box 4"/>
          <p:cNvSpPr txBox="1">
            <a:spLocks noChangeArrowheads="1"/>
          </p:cNvSpPr>
          <p:nvPr/>
        </p:nvSpPr>
        <p:spPr bwMode="auto">
          <a:xfrm>
            <a:off x="214313" y="4610100"/>
            <a:ext cx="8597900" cy="2014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b="1" i="0">
                <a:solidFill>
                  <a:schemeClr val="accent1"/>
                </a:solidFill>
              </a:rPr>
              <a:t>Since some of the reduced cost are negative, the current solution is not optimal.</a:t>
            </a:r>
            <a:endParaRPr lang="ar-EG" b="1" i="0">
              <a:solidFill>
                <a:schemeClr val="accent1"/>
              </a:solidFill>
              <a:cs typeface="Arial" panose="020B0604020202020204" pitchFamily="34" charset="0"/>
            </a:endParaRPr>
          </a:p>
          <a:p>
            <a:pPr>
              <a:spcBef>
                <a:spcPct val="50000"/>
              </a:spcBef>
              <a:buFontTx/>
              <a:buChar char="•"/>
            </a:pPr>
            <a:r>
              <a:rPr lang="en-US" b="1" i="0">
                <a:solidFill>
                  <a:schemeClr val="accent1"/>
                </a:solidFill>
              </a:rPr>
              <a:t> Cell (2,4) has the most negative; therefore, it will be the basic variable that must be occupied in the next iteration.</a:t>
            </a:r>
            <a:endParaRPr lang="en-US" b="1" i="0">
              <a:solidFill>
                <a:schemeClr val="accent1"/>
              </a:solidFill>
              <a:cs typeface="Arial" panose="020B0604020202020204" pitchFamily="34" charset="0"/>
            </a:endParaRPr>
          </a:p>
        </p:txBody>
      </p:sp>
    </p:spTree>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noFill/>
          <a:ln/>
        </p:spPr>
        <p:txBody>
          <a:bodyPr/>
          <a:lstStyle/>
          <a:p>
            <a:r>
              <a:rPr lang="en-US"/>
              <a:t>Example: BBC</a:t>
            </a:r>
          </a:p>
        </p:txBody>
      </p:sp>
      <p:sp>
        <p:nvSpPr>
          <p:cNvPr id="24579" name="Rectangle 3"/>
          <p:cNvSpPr>
            <a:spLocks noGrp="1" noChangeArrowheads="1"/>
          </p:cNvSpPr>
          <p:nvPr>
            <p:ph type="body" idx="1"/>
          </p:nvPr>
        </p:nvSpPr>
        <p:spPr>
          <a:noFill/>
          <a:ln/>
        </p:spPr>
        <p:txBody>
          <a:bodyPr/>
          <a:lstStyle/>
          <a:p>
            <a:r>
              <a:rPr lang="en-US">
                <a:solidFill>
                  <a:schemeClr val="tx2"/>
                </a:solidFill>
              </a:rPr>
              <a:t>Iteration 1 Tableau</a:t>
            </a:r>
          </a:p>
        </p:txBody>
      </p:sp>
      <p:grpSp>
        <p:nvGrpSpPr>
          <p:cNvPr id="24615" name="Group 39"/>
          <p:cNvGrpSpPr>
            <a:grpSpLocks/>
          </p:cNvGrpSpPr>
          <p:nvPr/>
        </p:nvGrpSpPr>
        <p:grpSpPr bwMode="auto">
          <a:xfrm>
            <a:off x="868363" y="1909763"/>
            <a:ext cx="7543800" cy="2747962"/>
            <a:chOff x="610" y="1293"/>
            <a:chExt cx="4752" cy="1731"/>
          </a:xfrm>
        </p:grpSpPr>
        <p:sp>
          <p:nvSpPr>
            <p:cNvPr id="24580" name="Rectangle 4"/>
            <p:cNvSpPr>
              <a:spLocks noChangeArrowheads="1"/>
            </p:cNvSpPr>
            <p:nvPr/>
          </p:nvSpPr>
          <p:spPr bwMode="auto">
            <a:xfrm>
              <a:off x="1303" y="1634"/>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90488" tIns="44450" rIns="90488" bIns="44450" anchor="ctr"/>
            <a:lstStyle/>
            <a:p>
              <a:pPr algn="ctr"/>
              <a:r>
                <a:rPr lang="en-US" sz="2400" i="0">
                  <a:solidFill>
                    <a:srgbClr val="FFFFFF"/>
                  </a:solidFill>
                  <a:effectLst>
                    <a:outerShdw blurRad="38100" dist="38100" dir="2700000" algn="tl">
                      <a:srgbClr val="000000"/>
                    </a:outerShdw>
                  </a:effectLst>
                </a:rPr>
                <a:t>25</a:t>
              </a:r>
              <a:r>
                <a:rPr lang="en-US" sz="2400" i="0"/>
                <a:t>     </a:t>
              </a:r>
            </a:p>
          </p:txBody>
        </p:sp>
        <p:sp>
          <p:nvSpPr>
            <p:cNvPr id="24581" name="Rectangle 5"/>
            <p:cNvSpPr>
              <a:spLocks noChangeArrowheads="1"/>
            </p:cNvSpPr>
            <p:nvPr/>
          </p:nvSpPr>
          <p:spPr bwMode="auto">
            <a:xfrm>
              <a:off x="2187" y="1634"/>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90488" tIns="44450" rIns="90488" bIns="44450" anchor="ctr"/>
            <a:lstStyle/>
            <a:p>
              <a:pPr algn="ctr"/>
              <a:r>
                <a:rPr lang="en-US" sz="2400" i="0">
                  <a:solidFill>
                    <a:srgbClr val="FFFFFF"/>
                  </a:solidFill>
                  <a:effectLst>
                    <a:outerShdw blurRad="38100" dist="38100" dir="2700000" algn="tl">
                      <a:srgbClr val="000000"/>
                    </a:outerShdw>
                  </a:effectLst>
                </a:rPr>
                <a:t>5   </a:t>
              </a:r>
            </a:p>
          </p:txBody>
        </p:sp>
        <p:sp>
          <p:nvSpPr>
            <p:cNvPr id="24582" name="Rectangle 6"/>
            <p:cNvSpPr>
              <a:spLocks noChangeArrowheads="1"/>
            </p:cNvSpPr>
            <p:nvPr/>
          </p:nvSpPr>
          <p:spPr bwMode="auto">
            <a:xfrm>
              <a:off x="1305" y="2167"/>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90488" tIns="44450" rIns="90488" bIns="44450" anchor="ctr"/>
            <a:lstStyle/>
            <a:p>
              <a:pPr algn="ctr"/>
              <a:r>
                <a:rPr lang="en-US" sz="2400" i="0">
                  <a:solidFill>
                    <a:srgbClr val="FFFFFF"/>
                  </a:solidFill>
                  <a:effectLst>
                    <a:outerShdw blurRad="38100" dist="38100" dir="2700000" algn="tl">
                      <a:srgbClr val="000000"/>
                    </a:outerShdw>
                  </a:effectLst>
                </a:rPr>
                <a:t>-4       </a:t>
              </a:r>
            </a:p>
          </p:txBody>
        </p:sp>
        <p:sp>
          <p:nvSpPr>
            <p:cNvPr id="24583" name="Rectangle 7"/>
            <p:cNvSpPr>
              <a:spLocks noChangeArrowheads="1"/>
            </p:cNvSpPr>
            <p:nvPr/>
          </p:nvSpPr>
          <p:spPr bwMode="auto">
            <a:xfrm>
              <a:off x="3075" y="1634"/>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90488" tIns="44450" rIns="90488" bIns="44450" anchor="ctr"/>
            <a:lstStyle/>
            <a:p>
              <a:pPr algn="ctr"/>
              <a:r>
                <a:rPr lang="en-US" sz="2400" i="0">
                  <a:solidFill>
                    <a:srgbClr val="FFFFFF"/>
                  </a:solidFill>
                  <a:effectLst>
                    <a:outerShdw blurRad="38100" dist="38100" dir="2700000" algn="tl">
                      <a:srgbClr val="000000"/>
                    </a:outerShdw>
                  </a:effectLst>
                </a:rPr>
                <a:t>+8       </a:t>
              </a:r>
            </a:p>
          </p:txBody>
        </p:sp>
        <p:sp>
          <p:nvSpPr>
            <p:cNvPr id="24584" name="Rectangle 8"/>
            <p:cNvSpPr>
              <a:spLocks noChangeArrowheads="1"/>
            </p:cNvSpPr>
            <p:nvPr/>
          </p:nvSpPr>
          <p:spPr bwMode="auto">
            <a:xfrm>
              <a:off x="3959" y="1634"/>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90488" tIns="44450" rIns="90488" bIns="44450" anchor="ctr"/>
            <a:lstStyle/>
            <a:p>
              <a:pPr algn="ctr"/>
              <a:r>
                <a:rPr lang="en-US" sz="2400" i="0">
                  <a:solidFill>
                    <a:srgbClr val="FFFFFF"/>
                  </a:solidFill>
                  <a:effectLst>
                    <a:outerShdw blurRad="38100" dist="38100" dir="2700000" algn="tl">
                      <a:srgbClr val="000000"/>
                    </a:outerShdw>
                  </a:effectLst>
                </a:rPr>
                <a:t>20     </a:t>
              </a:r>
            </a:p>
          </p:txBody>
        </p:sp>
        <p:sp>
          <p:nvSpPr>
            <p:cNvPr id="24585" name="Rectangle 9"/>
            <p:cNvSpPr>
              <a:spLocks noChangeArrowheads="1"/>
            </p:cNvSpPr>
            <p:nvPr/>
          </p:nvSpPr>
          <p:spPr bwMode="auto">
            <a:xfrm>
              <a:off x="2187" y="2167"/>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90488" tIns="44450" rIns="90488" bIns="44450" anchor="ctr"/>
            <a:lstStyle/>
            <a:p>
              <a:pPr algn="ctr"/>
              <a:r>
                <a:rPr lang="en-US" sz="2400" i="0">
                  <a:solidFill>
                    <a:srgbClr val="FFFFFF"/>
                  </a:solidFill>
                  <a:effectLst>
                    <a:outerShdw blurRad="38100" dist="38100" dir="2700000" algn="tl">
                      <a:srgbClr val="000000"/>
                    </a:outerShdw>
                  </a:effectLst>
                </a:rPr>
                <a:t>40     </a:t>
              </a:r>
            </a:p>
          </p:txBody>
        </p:sp>
        <p:sp>
          <p:nvSpPr>
            <p:cNvPr id="24586" name="Rectangle 10"/>
            <p:cNvSpPr>
              <a:spLocks noChangeArrowheads="1"/>
            </p:cNvSpPr>
            <p:nvPr/>
          </p:nvSpPr>
          <p:spPr bwMode="auto">
            <a:xfrm>
              <a:off x="3075" y="2167"/>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90488" tIns="44450" rIns="90488" bIns="44450" anchor="ctr"/>
            <a:lstStyle/>
            <a:p>
              <a:pPr algn="ctr"/>
              <a:r>
                <a:rPr lang="en-US" sz="2400" i="0">
                  <a:solidFill>
                    <a:srgbClr val="FFFFFF"/>
                  </a:solidFill>
                  <a:effectLst>
                    <a:outerShdw blurRad="38100" dist="38100" dir="2700000" algn="tl">
                      <a:srgbClr val="000000"/>
                    </a:outerShdw>
                  </a:effectLst>
                </a:rPr>
                <a:t>10     </a:t>
              </a:r>
            </a:p>
          </p:txBody>
        </p:sp>
        <p:sp>
          <p:nvSpPr>
            <p:cNvPr id="24587" name="Rectangle 11"/>
            <p:cNvSpPr>
              <a:spLocks noChangeArrowheads="1"/>
            </p:cNvSpPr>
            <p:nvPr/>
          </p:nvSpPr>
          <p:spPr bwMode="auto">
            <a:xfrm>
              <a:off x="3959" y="2167"/>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90488" tIns="44450" rIns="90488" bIns="44450" anchor="ctr"/>
            <a:lstStyle/>
            <a:p>
              <a:pPr algn="ctr"/>
              <a:r>
                <a:rPr lang="en-US" sz="2400" i="0">
                  <a:solidFill>
                    <a:srgbClr val="FFFFFF"/>
                  </a:solidFill>
                  <a:effectLst>
                    <a:outerShdw blurRad="38100" dist="38100" dir="2700000" algn="tl">
                      <a:srgbClr val="000000"/>
                    </a:outerShdw>
                  </a:effectLst>
                </a:rPr>
                <a:t>-10       </a:t>
              </a:r>
            </a:p>
          </p:txBody>
        </p:sp>
        <p:sp>
          <p:nvSpPr>
            <p:cNvPr id="24588" name="Rectangle 12"/>
            <p:cNvSpPr>
              <a:spLocks noChangeArrowheads="1"/>
            </p:cNvSpPr>
            <p:nvPr/>
          </p:nvSpPr>
          <p:spPr bwMode="auto">
            <a:xfrm>
              <a:off x="3607" y="2167"/>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42</a:t>
              </a:r>
            </a:p>
          </p:txBody>
        </p:sp>
        <p:sp>
          <p:nvSpPr>
            <p:cNvPr id="24589" name="Rectangle 13"/>
            <p:cNvSpPr>
              <a:spLocks noChangeArrowheads="1"/>
            </p:cNvSpPr>
            <p:nvPr/>
          </p:nvSpPr>
          <p:spPr bwMode="auto">
            <a:xfrm>
              <a:off x="3607" y="1634"/>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40</a:t>
              </a:r>
            </a:p>
          </p:txBody>
        </p:sp>
        <p:sp>
          <p:nvSpPr>
            <p:cNvPr id="24590" name="Rectangle 14"/>
            <p:cNvSpPr>
              <a:spLocks noChangeArrowheads="1"/>
            </p:cNvSpPr>
            <p:nvPr/>
          </p:nvSpPr>
          <p:spPr bwMode="auto">
            <a:xfrm>
              <a:off x="4499" y="1634"/>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0</a:t>
              </a:r>
            </a:p>
          </p:txBody>
        </p:sp>
        <p:sp>
          <p:nvSpPr>
            <p:cNvPr id="24591" name="Rectangle 15"/>
            <p:cNvSpPr>
              <a:spLocks noChangeArrowheads="1"/>
            </p:cNvSpPr>
            <p:nvPr/>
          </p:nvSpPr>
          <p:spPr bwMode="auto">
            <a:xfrm>
              <a:off x="4499" y="2167"/>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0</a:t>
              </a:r>
            </a:p>
          </p:txBody>
        </p:sp>
        <p:sp>
          <p:nvSpPr>
            <p:cNvPr id="24592" name="Rectangle 16"/>
            <p:cNvSpPr>
              <a:spLocks noChangeArrowheads="1"/>
            </p:cNvSpPr>
            <p:nvPr/>
          </p:nvSpPr>
          <p:spPr bwMode="auto">
            <a:xfrm>
              <a:off x="2723" y="2167"/>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40</a:t>
              </a:r>
            </a:p>
          </p:txBody>
        </p:sp>
        <p:sp>
          <p:nvSpPr>
            <p:cNvPr id="24593" name="Rectangle 17"/>
            <p:cNvSpPr>
              <a:spLocks noChangeArrowheads="1"/>
            </p:cNvSpPr>
            <p:nvPr/>
          </p:nvSpPr>
          <p:spPr bwMode="auto">
            <a:xfrm>
              <a:off x="2723" y="1634"/>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30</a:t>
              </a:r>
            </a:p>
          </p:txBody>
        </p:sp>
        <p:sp>
          <p:nvSpPr>
            <p:cNvPr id="24594" name="Rectangle 18"/>
            <p:cNvSpPr>
              <a:spLocks noChangeArrowheads="1"/>
            </p:cNvSpPr>
            <p:nvPr/>
          </p:nvSpPr>
          <p:spPr bwMode="auto">
            <a:xfrm>
              <a:off x="1835" y="2167"/>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30</a:t>
              </a:r>
            </a:p>
          </p:txBody>
        </p:sp>
        <p:sp>
          <p:nvSpPr>
            <p:cNvPr id="24595" name="Rectangle 19"/>
            <p:cNvSpPr>
              <a:spLocks noChangeArrowheads="1"/>
            </p:cNvSpPr>
            <p:nvPr/>
          </p:nvSpPr>
          <p:spPr bwMode="auto">
            <a:xfrm>
              <a:off x="850" y="2722"/>
              <a:ext cx="270"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solidFill>
                    <a:srgbClr val="FFFFFF"/>
                  </a:solidFill>
                  <a:effectLst>
                    <a:outerShdw blurRad="38100" dist="38100" dir="2700000" algn="tl">
                      <a:srgbClr val="000000"/>
                    </a:outerShdw>
                  </a:effectLst>
                  <a:latin typeface="Arial" panose="020B0604020202020204" pitchFamily="34" charset="0"/>
                </a:rPr>
                <a:t>v</a:t>
              </a:r>
              <a:r>
                <a:rPr lang="en-US" baseline="-25000">
                  <a:solidFill>
                    <a:srgbClr val="FFFFFF"/>
                  </a:solidFill>
                  <a:effectLst>
                    <a:outerShdw blurRad="38100" dist="38100" dir="2700000" algn="tl">
                      <a:srgbClr val="000000"/>
                    </a:outerShdw>
                  </a:effectLst>
                  <a:latin typeface="Arial" panose="020B0604020202020204" pitchFamily="34" charset="0"/>
                </a:rPr>
                <a:t>j</a:t>
              </a:r>
            </a:p>
          </p:txBody>
        </p:sp>
        <p:sp>
          <p:nvSpPr>
            <p:cNvPr id="24596" name="Rectangle 20"/>
            <p:cNvSpPr>
              <a:spLocks noChangeArrowheads="1"/>
            </p:cNvSpPr>
            <p:nvPr/>
          </p:nvSpPr>
          <p:spPr bwMode="auto">
            <a:xfrm>
              <a:off x="5014" y="1293"/>
              <a:ext cx="281"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solidFill>
                    <a:srgbClr val="FFFFFF"/>
                  </a:solidFill>
                  <a:effectLst>
                    <a:outerShdw blurRad="38100" dist="38100" dir="2700000" algn="tl">
                      <a:srgbClr val="000000"/>
                    </a:outerShdw>
                  </a:effectLst>
                  <a:latin typeface="Arial" panose="020B0604020202020204" pitchFamily="34" charset="0"/>
                </a:rPr>
                <a:t>u</a:t>
              </a:r>
              <a:r>
                <a:rPr lang="en-US" baseline="-25000">
                  <a:solidFill>
                    <a:srgbClr val="FFFFFF"/>
                  </a:solidFill>
                  <a:effectLst>
                    <a:outerShdw blurRad="38100" dist="38100" dir="2700000" algn="tl">
                      <a:srgbClr val="000000"/>
                    </a:outerShdw>
                  </a:effectLst>
                  <a:latin typeface="Arial" panose="020B0604020202020204" pitchFamily="34" charset="0"/>
                </a:rPr>
                <a:t>i</a:t>
              </a:r>
            </a:p>
          </p:txBody>
        </p:sp>
        <p:sp>
          <p:nvSpPr>
            <p:cNvPr id="24597" name="Rectangle 21"/>
            <p:cNvSpPr>
              <a:spLocks noChangeArrowheads="1"/>
            </p:cNvSpPr>
            <p:nvPr/>
          </p:nvSpPr>
          <p:spPr bwMode="auto">
            <a:xfrm>
              <a:off x="5038" y="2283"/>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10</a:t>
              </a:r>
            </a:p>
          </p:txBody>
        </p:sp>
        <p:sp>
          <p:nvSpPr>
            <p:cNvPr id="24598" name="Rectangle 22"/>
            <p:cNvSpPr>
              <a:spLocks noChangeArrowheads="1"/>
            </p:cNvSpPr>
            <p:nvPr/>
          </p:nvSpPr>
          <p:spPr bwMode="auto">
            <a:xfrm>
              <a:off x="5038" y="1742"/>
              <a:ext cx="279"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 0</a:t>
              </a:r>
            </a:p>
          </p:txBody>
        </p:sp>
        <p:sp>
          <p:nvSpPr>
            <p:cNvPr id="24599" name="Rectangle 23"/>
            <p:cNvSpPr>
              <a:spLocks noChangeArrowheads="1"/>
            </p:cNvSpPr>
            <p:nvPr/>
          </p:nvSpPr>
          <p:spPr bwMode="auto">
            <a:xfrm>
              <a:off x="4270" y="2751"/>
              <a:ext cx="235"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0</a:t>
              </a:r>
            </a:p>
          </p:txBody>
        </p:sp>
        <p:sp>
          <p:nvSpPr>
            <p:cNvPr id="24600" name="Rectangle 24"/>
            <p:cNvSpPr>
              <a:spLocks noChangeArrowheads="1"/>
            </p:cNvSpPr>
            <p:nvPr/>
          </p:nvSpPr>
          <p:spPr bwMode="auto">
            <a:xfrm>
              <a:off x="3370" y="2751"/>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32</a:t>
              </a:r>
            </a:p>
          </p:txBody>
        </p:sp>
        <p:sp>
          <p:nvSpPr>
            <p:cNvPr id="24601" name="Rectangle 25"/>
            <p:cNvSpPr>
              <a:spLocks noChangeArrowheads="1"/>
            </p:cNvSpPr>
            <p:nvPr/>
          </p:nvSpPr>
          <p:spPr bwMode="auto">
            <a:xfrm>
              <a:off x="2470" y="2751"/>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30</a:t>
              </a:r>
            </a:p>
          </p:txBody>
        </p:sp>
        <p:sp>
          <p:nvSpPr>
            <p:cNvPr id="24602" name="Rectangle 26"/>
            <p:cNvSpPr>
              <a:spLocks noChangeArrowheads="1"/>
            </p:cNvSpPr>
            <p:nvPr/>
          </p:nvSpPr>
          <p:spPr bwMode="auto">
            <a:xfrm>
              <a:off x="1570" y="2751"/>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24</a:t>
              </a:r>
            </a:p>
          </p:txBody>
        </p:sp>
        <p:sp>
          <p:nvSpPr>
            <p:cNvPr id="24603" name="Rectangle 27"/>
            <p:cNvSpPr>
              <a:spLocks noChangeArrowheads="1"/>
            </p:cNvSpPr>
            <p:nvPr/>
          </p:nvSpPr>
          <p:spPr bwMode="auto">
            <a:xfrm>
              <a:off x="4090" y="1322"/>
              <a:ext cx="697"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Dummy</a:t>
              </a:r>
            </a:p>
          </p:txBody>
        </p:sp>
        <p:sp>
          <p:nvSpPr>
            <p:cNvPr id="24604" name="Rectangle 28"/>
            <p:cNvSpPr>
              <a:spLocks noChangeArrowheads="1"/>
            </p:cNvSpPr>
            <p:nvPr/>
          </p:nvSpPr>
          <p:spPr bwMode="auto">
            <a:xfrm>
              <a:off x="610" y="1742"/>
              <a:ext cx="64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Plant 1</a:t>
              </a:r>
            </a:p>
          </p:txBody>
        </p:sp>
        <p:sp>
          <p:nvSpPr>
            <p:cNvPr id="24605" name="Rectangle 29"/>
            <p:cNvSpPr>
              <a:spLocks noChangeArrowheads="1"/>
            </p:cNvSpPr>
            <p:nvPr/>
          </p:nvSpPr>
          <p:spPr bwMode="auto">
            <a:xfrm>
              <a:off x="610" y="2283"/>
              <a:ext cx="64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Plant 2</a:t>
              </a:r>
            </a:p>
          </p:txBody>
        </p:sp>
        <p:sp>
          <p:nvSpPr>
            <p:cNvPr id="24606" name="Rectangle 30"/>
            <p:cNvSpPr>
              <a:spLocks noChangeArrowheads="1"/>
            </p:cNvSpPr>
            <p:nvPr/>
          </p:nvSpPr>
          <p:spPr bwMode="auto">
            <a:xfrm>
              <a:off x="3130" y="1322"/>
              <a:ext cx="849"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Eastwood</a:t>
              </a:r>
            </a:p>
          </p:txBody>
        </p:sp>
        <p:sp>
          <p:nvSpPr>
            <p:cNvPr id="24607" name="Rectangle 31"/>
            <p:cNvSpPr>
              <a:spLocks noChangeArrowheads="1"/>
            </p:cNvSpPr>
            <p:nvPr/>
          </p:nvSpPr>
          <p:spPr bwMode="auto">
            <a:xfrm>
              <a:off x="2182" y="1322"/>
              <a:ext cx="893"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Westwood</a:t>
              </a:r>
            </a:p>
          </p:txBody>
        </p:sp>
        <p:sp>
          <p:nvSpPr>
            <p:cNvPr id="24608" name="Rectangle 32"/>
            <p:cNvSpPr>
              <a:spLocks noChangeArrowheads="1"/>
            </p:cNvSpPr>
            <p:nvPr/>
          </p:nvSpPr>
          <p:spPr bwMode="auto">
            <a:xfrm>
              <a:off x="1282" y="1322"/>
              <a:ext cx="920"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Northwood</a:t>
              </a:r>
            </a:p>
          </p:txBody>
        </p:sp>
        <p:sp>
          <p:nvSpPr>
            <p:cNvPr id="24609" name="Rectangle 33"/>
            <p:cNvSpPr>
              <a:spLocks noChangeArrowheads="1"/>
            </p:cNvSpPr>
            <p:nvPr/>
          </p:nvSpPr>
          <p:spPr bwMode="auto">
            <a:xfrm>
              <a:off x="1835" y="1635"/>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24</a:t>
              </a:r>
            </a:p>
          </p:txBody>
        </p:sp>
        <p:sp>
          <p:nvSpPr>
            <p:cNvPr id="24611" name="Oval 35"/>
            <p:cNvSpPr>
              <a:spLocks noChangeArrowheads="1"/>
            </p:cNvSpPr>
            <p:nvPr/>
          </p:nvSpPr>
          <p:spPr bwMode="auto">
            <a:xfrm>
              <a:off x="1405" y="2248"/>
              <a:ext cx="376" cy="376"/>
            </a:xfrm>
            <a:prstGeom prst="ellips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en-US"/>
            </a:p>
          </p:txBody>
        </p:sp>
        <p:sp>
          <p:nvSpPr>
            <p:cNvPr id="24612" name="Oval 36"/>
            <p:cNvSpPr>
              <a:spLocks noChangeArrowheads="1"/>
            </p:cNvSpPr>
            <p:nvPr/>
          </p:nvSpPr>
          <p:spPr bwMode="auto">
            <a:xfrm>
              <a:off x="3184" y="1716"/>
              <a:ext cx="376" cy="376"/>
            </a:xfrm>
            <a:prstGeom prst="ellips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en-US"/>
            </a:p>
          </p:txBody>
        </p:sp>
        <p:sp>
          <p:nvSpPr>
            <p:cNvPr id="24613" name="Oval 37"/>
            <p:cNvSpPr>
              <a:spLocks noChangeArrowheads="1"/>
            </p:cNvSpPr>
            <p:nvPr/>
          </p:nvSpPr>
          <p:spPr bwMode="auto">
            <a:xfrm>
              <a:off x="4064" y="2252"/>
              <a:ext cx="376" cy="376"/>
            </a:xfrm>
            <a:prstGeom prst="ellips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en-US"/>
            </a:p>
          </p:txBody>
        </p:sp>
      </p:grpSp>
    </p:spTree>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noFill/>
          <a:ln/>
        </p:spPr>
        <p:txBody>
          <a:bodyPr/>
          <a:lstStyle/>
          <a:p>
            <a:r>
              <a:rPr lang="en-US"/>
              <a:t>Example:  BBC</a:t>
            </a:r>
          </a:p>
        </p:txBody>
      </p:sp>
      <p:sp>
        <p:nvSpPr>
          <p:cNvPr id="25603" name="Rectangle 3"/>
          <p:cNvSpPr>
            <a:spLocks noGrp="1" noChangeArrowheads="1"/>
          </p:cNvSpPr>
          <p:nvPr>
            <p:ph type="body" idx="1"/>
          </p:nvPr>
        </p:nvSpPr>
        <p:spPr>
          <a:noFill/>
          <a:ln/>
        </p:spPr>
        <p:txBody>
          <a:bodyPr/>
          <a:lstStyle/>
          <a:p>
            <a:r>
              <a:rPr lang="en-US">
                <a:solidFill>
                  <a:schemeClr val="tx2"/>
                </a:solidFill>
              </a:rPr>
              <a:t>Iteration 1</a:t>
            </a:r>
          </a:p>
          <a:p>
            <a:pPr lvl="1"/>
            <a:r>
              <a:rPr lang="en-US">
                <a:solidFill>
                  <a:schemeClr val="tx2"/>
                </a:solidFill>
              </a:rPr>
              <a:t> Stepping Stone Method</a:t>
            </a:r>
          </a:p>
          <a:p>
            <a:pPr>
              <a:buFont typeface="Monotype Sorts" pitchFamily="2" charset="2"/>
              <a:buNone/>
            </a:pPr>
            <a:r>
              <a:rPr lang="en-US"/>
              <a:t>		The stepping stone path for cell (2,4) is (2,4), (1,4), (1,2), (2,2).  The allocations in the subtraction cells are 20 and 40, respectively.  The minimum is 20, and hence reallocate 20 along this path.  Thus for the next tableau:</a:t>
            </a:r>
          </a:p>
          <a:p>
            <a:pPr>
              <a:buFont typeface="Monotype Sorts" pitchFamily="2" charset="2"/>
              <a:buNone/>
            </a:pPr>
            <a:r>
              <a:rPr lang="en-US"/>
              <a:t>		</a:t>
            </a:r>
            <a:r>
              <a:rPr lang="en-US" i="1"/>
              <a:t>x</a:t>
            </a:r>
            <a:r>
              <a:rPr lang="en-US" baseline="-25000"/>
              <a:t>24</a:t>
            </a:r>
            <a:r>
              <a:rPr lang="en-US"/>
              <a:t>  =   0 + 20 = 20  (0 is its current allocation)</a:t>
            </a:r>
          </a:p>
          <a:p>
            <a:pPr>
              <a:buFont typeface="Monotype Sorts" pitchFamily="2" charset="2"/>
              <a:buNone/>
            </a:pPr>
            <a:r>
              <a:rPr lang="en-US"/>
              <a:t>          	</a:t>
            </a:r>
            <a:r>
              <a:rPr lang="en-US" i="1"/>
              <a:t>x</a:t>
            </a:r>
            <a:r>
              <a:rPr lang="en-US" baseline="-25000"/>
              <a:t>14</a:t>
            </a:r>
            <a:r>
              <a:rPr lang="en-US"/>
              <a:t>  =  20 - 20 =   0  (blank for the next tableau)</a:t>
            </a:r>
          </a:p>
          <a:p>
            <a:pPr>
              <a:buFont typeface="Monotype Sorts" pitchFamily="2" charset="2"/>
              <a:buNone/>
            </a:pPr>
            <a:r>
              <a:rPr lang="en-US"/>
              <a:t>          	</a:t>
            </a:r>
            <a:r>
              <a:rPr lang="en-US" i="1"/>
              <a:t>x</a:t>
            </a:r>
            <a:r>
              <a:rPr lang="en-US" baseline="-25000"/>
              <a:t>12</a:t>
            </a:r>
            <a:r>
              <a:rPr lang="en-US"/>
              <a:t>  =   5 + 20 = 25</a:t>
            </a:r>
          </a:p>
          <a:p>
            <a:pPr>
              <a:buFont typeface="Monotype Sorts" pitchFamily="2" charset="2"/>
              <a:buNone/>
            </a:pPr>
            <a:r>
              <a:rPr lang="en-US"/>
              <a:t>          	</a:t>
            </a:r>
            <a:r>
              <a:rPr lang="en-US" i="1"/>
              <a:t>x</a:t>
            </a:r>
            <a:r>
              <a:rPr lang="en-US" baseline="-25000"/>
              <a:t>22</a:t>
            </a:r>
            <a:r>
              <a:rPr lang="en-US"/>
              <a:t>  =  40 - 20 = 20</a:t>
            </a:r>
          </a:p>
          <a:p>
            <a:pPr>
              <a:buFont typeface="Monotype Sorts" pitchFamily="2" charset="2"/>
              <a:buNone/>
            </a:pPr>
            <a:r>
              <a:rPr lang="en-US"/>
              <a:t>          	The other occupied cells remain the same.</a:t>
            </a:r>
          </a:p>
        </p:txBody>
      </p:sp>
    </p:spTree>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r>
              <a:rPr lang="en-US"/>
              <a:t>Example: BBC</a:t>
            </a:r>
          </a:p>
        </p:txBody>
      </p:sp>
      <p:sp>
        <p:nvSpPr>
          <p:cNvPr id="129027" name="Rectangle 3"/>
          <p:cNvSpPr>
            <a:spLocks noGrp="1" noChangeArrowheads="1"/>
          </p:cNvSpPr>
          <p:nvPr>
            <p:ph type="body" idx="1"/>
          </p:nvPr>
        </p:nvSpPr>
        <p:spPr/>
        <p:txBody>
          <a:bodyPr/>
          <a:lstStyle/>
          <a:p>
            <a:endParaRPr lang="en-US"/>
          </a:p>
        </p:txBody>
      </p:sp>
      <p:grpSp>
        <p:nvGrpSpPr>
          <p:cNvPr id="129062" name="Group 38"/>
          <p:cNvGrpSpPr>
            <a:grpSpLocks/>
          </p:cNvGrpSpPr>
          <p:nvPr/>
        </p:nvGrpSpPr>
        <p:grpSpPr bwMode="auto">
          <a:xfrm>
            <a:off x="749300" y="2068513"/>
            <a:ext cx="7772400" cy="2687637"/>
            <a:chOff x="418" y="1850"/>
            <a:chExt cx="4896" cy="1693"/>
          </a:xfrm>
        </p:grpSpPr>
        <p:sp>
          <p:nvSpPr>
            <p:cNvPr id="129063" name="Rectangle 39"/>
            <p:cNvSpPr>
              <a:spLocks noChangeArrowheads="1"/>
            </p:cNvSpPr>
            <p:nvPr/>
          </p:nvSpPr>
          <p:spPr bwMode="auto">
            <a:xfrm>
              <a:off x="1103" y="2154"/>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r>
                <a:rPr lang="en-US"/>
                <a:t>25</a:t>
              </a:r>
            </a:p>
          </p:txBody>
        </p:sp>
        <p:sp>
          <p:nvSpPr>
            <p:cNvPr id="129064" name="Rectangle 40"/>
            <p:cNvSpPr>
              <a:spLocks noChangeArrowheads="1"/>
            </p:cNvSpPr>
            <p:nvPr/>
          </p:nvSpPr>
          <p:spPr bwMode="auto">
            <a:xfrm>
              <a:off x="1995" y="2154"/>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r>
                <a:rPr lang="en-US"/>
                <a:t>25</a:t>
              </a:r>
            </a:p>
          </p:txBody>
        </p:sp>
        <p:sp>
          <p:nvSpPr>
            <p:cNvPr id="129065" name="Rectangle 41"/>
            <p:cNvSpPr>
              <a:spLocks noChangeArrowheads="1"/>
            </p:cNvSpPr>
            <p:nvPr/>
          </p:nvSpPr>
          <p:spPr bwMode="auto">
            <a:xfrm>
              <a:off x="1103" y="2687"/>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129066" name="Rectangle 42"/>
            <p:cNvSpPr>
              <a:spLocks noChangeArrowheads="1"/>
            </p:cNvSpPr>
            <p:nvPr/>
          </p:nvSpPr>
          <p:spPr bwMode="auto">
            <a:xfrm>
              <a:off x="2883" y="2154"/>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129067" name="Rectangle 43"/>
            <p:cNvSpPr>
              <a:spLocks noChangeArrowheads="1"/>
            </p:cNvSpPr>
            <p:nvPr/>
          </p:nvSpPr>
          <p:spPr bwMode="auto">
            <a:xfrm>
              <a:off x="3771" y="2154"/>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129068" name="Rectangle 44"/>
            <p:cNvSpPr>
              <a:spLocks noChangeArrowheads="1"/>
            </p:cNvSpPr>
            <p:nvPr/>
          </p:nvSpPr>
          <p:spPr bwMode="auto">
            <a:xfrm>
              <a:off x="1995" y="2687"/>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r>
                <a:rPr lang="en-US"/>
                <a:t>20</a:t>
              </a:r>
            </a:p>
          </p:txBody>
        </p:sp>
        <p:sp>
          <p:nvSpPr>
            <p:cNvPr id="129069" name="Rectangle 45"/>
            <p:cNvSpPr>
              <a:spLocks noChangeArrowheads="1"/>
            </p:cNvSpPr>
            <p:nvPr/>
          </p:nvSpPr>
          <p:spPr bwMode="auto">
            <a:xfrm>
              <a:off x="2883" y="2687"/>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r>
                <a:rPr lang="en-US"/>
                <a:t>10</a:t>
              </a:r>
            </a:p>
          </p:txBody>
        </p:sp>
        <p:sp>
          <p:nvSpPr>
            <p:cNvPr id="129070" name="Rectangle 46"/>
            <p:cNvSpPr>
              <a:spLocks noChangeArrowheads="1"/>
            </p:cNvSpPr>
            <p:nvPr/>
          </p:nvSpPr>
          <p:spPr bwMode="auto">
            <a:xfrm>
              <a:off x="3771" y="2687"/>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r>
                <a:rPr lang="en-US"/>
                <a:t>20</a:t>
              </a:r>
            </a:p>
          </p:txBody>
        </p:sp>
        <p:sp>
          <p:nvSpPr>
            <p:cNvPr id="129071" name="Rectangle 47"/>
            <p:cNvSpPr>
              <a:spLocks noChangeArrowheads="1"/>
            </p:cNvSpPr>
            <p:nvPr/>
          </p:nvSpPr>
          <p:spPr bwMode="auto">
            <a:xfrm>
              <a:off x="3419" y="2687"/>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42</a:t>
              </a:r>
            </a:p>
          </p:txBody>
        </p:sp>
        <p:sp>
          <p:nvSpPr>
            <p:cNvPr id="129072" name="Rectangle 48"/>
            <p:cNvSpPr>
              <a:spLocks noChangeArrowheads="1"/>
            </p:cNvSpPr>
            <p:nvPr/>
          </p:nvSpPr>
          <p:spPr bwMode="auto">
            <a:xfrm>
              <a:off x="3419" y="2154"/>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40</a:t>
              </a:r>
            </a:p>
          </p:txBody>
        </p:sp>
        <p:sp>
          <p:nvSpPr>
            <p:cNvPr id="129073" name="Rectangle 49"/>
            <p:cNvSpPr>
              <a:spLocks noChangeArrowheads="1"/>
            </p:cNvSpPr>
            <p:nvPr/>
          </p:nvSpPr>
          <p:spPr bwMode="auto">
            <a:xfrm>
              <a:off x="4311" y="2154"/>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0</a:t>
              </a:r>
            </a:p>
          </p:txBody>
        </p:sp>
        <p:sp>
          <p:nvSpPr>
            <p:cNvPr id="129074" name="Rectangle 50"/>
            <p:cNvSpPr>
              <a:spLocks noChangeArrowheads="1"/>
            </p:cNvSpPr>
            <p:nvPr/>
          </p:nvSpPr>
          <p:spPr bwMode="auto">
            <a:xfrm>
              <a:off x="4311" y="2687"/>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0</a:t>
              </a:r>
            </a:p>
          </p:txBody>
        </p:sp>
        <p:sp>
          <p:nvSpPr>
            <p:cNvPr id="129075" name="Rectangle 51"/>
            <p:cNvSpPr>
              <a:spLocks noChangeArrowheads="1"/>
            </p:cNvSpPr>
            <p:nvPr/>
          </p:nvSpPr>
          <p:spPr bwMode="auto">
            <a:xfrm>
              <a:off x="2531" y="2687"/>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40</a:t>
              </a:r>
            </a:p>
          </p:txBody>
        </p:sp>
        <p:sp>
          <p:nvSpPr>
            <p:cNvPr id="129076" name="Rectangle 52"/>
            <p:cNvSpPr>
              <a:spLocks noChangeArrowheads="1"/>
            </p:cNvSpPr>
            <p:nvPr/>
          </p:nvSpPr>
          <p:spPr bwMode="auto">
            <a:xfrm>
              <a:off x="2531" y="2154"/>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30</a:t>
              </a:r>
            </a:p>
          </p:txBody>
        </p:sp>
        <p:sp>
          <p:nvSpPr>
            <p:cNvPr id="129077" name="Rectangle 53"/>
            <p:cNvSpPr>
              <a:spLocks noChangeArrowheads="1"/>
            </p:cNvSpPr>
            <p:nvPr/>
          </p:nvSpPr>
          <p:spPr bwMode="auto">
            <a:xfrm>
              <a:off x="1643" y="2687"/>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30</a:t>
              </a:r>
            </a:p>
          </p:txBody>
        </p:sp>
        <p:sp>
          <p:nvSpPr>
            <p:cNvPr id="129078" name="Rectangle 54"/>
            <p:cNvSpPr>
              <a:spLocks noChangeArrowheads="1"/>
            </p:cNvSpPr>
            <p:nvPr/>
          </p:nvSpPr>
          <p:spPr bwMode="auto">
            <a:xfrm>
              <a:off x="418" y="3279"/>
              <a:ext cx="751"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Demand</a:t>
              </a:r>
            </a:p>
          </p:txBody>
        </p:sp>
        <p:sp>
          <p:nvSpPr>
            <p:cNvPr id="129079" name="Rectangle 55"/>
            <p:cNvSpPr>
              <a:spLocks noChangeArrowheads="1"/>
            </p:cNvSpPr>
            <p:nvPr/>
          </p:nvSpPr>
          <p:spPr bwMode="auto">
            <a:xfrm>
              <a:off x="4678" y="1850"/>
              <a:ext cx="63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Supply</a:t>
              </a:r>
            </a:p>
          </p:txBody>
        </p:sp>
        <p:sp>
          <p:nvSpPr>
            <p:cNvPr id="129080" name="Rectangle 56"/>
            <p:cNvSpPr>
              <a:spLocks noChangeArrowheads="1"/>
            </p:cNvSpPr>
            <p:nvPr/>
          </p:nvSpPr>
          <p:spPr bwMode="auto">
            <a:xfrm>
              <a:off x="4846" y="2811"/>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50</a:t>
              </a:r>
            </a:p>
          </p:txBody>
        </p:sp>
        <p:sp>
          <p:nvSpPr>
            <p:cNvPr id="129081" name="Rectangle 57"/>
            <p:cNvSpPr>
              <a:spLocks noChangeArrowheads="1"/>
            </p:cNvSpPr>
            <p:nvPr/>
          </p:nvSpPr>
          <p:spPr bwMode="auto">
            <a:xfrm>
              <a:off x="4846" y="2270"/>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50</a:t>
              </a:r>
            </a:p>
          </p:txBody>
        </p:sp>
        <p:sp>
          <p:nvSpPr>
            <p:cNvPr id="129082" name="Rectangle 58"/>
            <p:cNvSpPr>
              <a:spLocks noChangeArrowheads="1"/>
            </p:cNvSpPr>
            <p:nvPr/>
          </p:nvSpPr>
          <p:spPr bwMode="auto">
            <a:xfrm>
              <a:off x="4078" y="3279"/>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20</a:t>
              </a:r>
            </a:p>
          </p:txBody>
        </p:sp>
        <p:sp>
          <p:nvSpPr>
            <p:cNvPr id="129083" name="Rectangle 59"/>
            <p:cNvSpPr>
              <a:spLocks noChangeArrowheads="1"/>
            </p:cNvSpPr>
            <p:nvPr/>
          </p:nvSpPr>
          <p:spPr bwMode="auto">
            <a:xfrm>
              <a:off x="3178" y="3279"/>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10</a:t>
              </a:r>
            </a:p>
          </p:txBody>
        </p:sp>
        <p:sp>
          <p:nvSpPr>
            <p:cNvPr id="129084" name="Rectangle 60"/>
            <p:cNvSpPr>
              <a:spLocks noChangeArrowheads="1"/>
            </p:cNvSpPr>
            <p:nvPr/>
          </p:nvSpPr>
          <p:spPr bwMode="auto">
            <a:xfrm>
              <a:off x="2278" y="3279"/>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45</a:t>
              </a:r>
            </a:p>
          </p:txBody>
        </p:sp>
        <p:sp>
          <p:nvSpPr>
            <p:cNvPr id="129085" name="Rectangle 61"/>
            <p:cNvSpPr>
              <a:spLocks noChangeArrowheads="1"/>
            </p:cNvSpPr>
            <p:nvPr/>
          </p:nvSpPr>
          <p:spPr bwMode="auto">
            <a:xfrm>
              <a:off x="1378" y="3279"/>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25</a:t>
              </a:r>
            </a:p>
          </p:txBody>
        </p:sp>
        <p:sp>
          <p:nvSpPr>
            <p:cNvPr id="129086" name="Rectangle 62"/>
            <p:cNvSpPr>
              <a:spLocks noChangeArrowheads="1"/>
            </p:cNvSpPr>
            <p:nvPr/>
          </p:nvSpPr>
          <p:spPr bwMode="auto">
            <a:xfrm>
              <a:off x="3898" y="1850"/>
              <a:ext cx="697"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Dummy</a:t>
              </a:r>
            </a:p>
          </p:txBody>
        </p:sp>
        <p:sp>
          <p:nvSpPr>
            <p:cNvPr id="129087" name="Rectangle 63"/>
            <p:cNvSpPr>
              <a:spLocks noChangeArrowheads="1"/>
            </p:cNvSpPr>
            <p:nvPr/>
          </p:nvSpPr>
          <p:spPr bwMode="auto">
            <a:xfrm>
              <a:off x="418" y="2270"/>
              <a:ext cx="64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Plant 1</a:t>
              </a:r>
            </a:p>
          </p:txBody>
        </p:sp>
        <p:sp>
          <p:nvSpPr>
            <p:cNvPr id="129088" name="Rectangle 64"/>
            <p:cNvSpPr>
              <a:spLocks noChangeArrowheads="1"/>
            </p:cNvSpPr>
            <p:nvPr/>
          </p:nvSpPr>
          <p:spPr bwMode="auto">
            <a:xfrm>
              <a:off x="418" y="2811"/>
              <a:ext cx="64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Plant 2</a:t>
              </a:r>
            </a:p>
          </p:txBody>
        </p:sp>
        <p:sp>
          <p:nvSpPr>
            <p:cNvPr id="129089" name="Rectangle 65"/>
            <p:cNvSpPr>
              <a:spLocks noChangeArrowheads="1"/>
            </p:cNvSpPr>
            <p:nvPr/>
          </p:nvSpPr>
          <p:spPr bwMode="auto">
            <a:xfrm>
              <a:off x="2938" y="1850"/>
              <a:ext cx="849"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Eastwood</a:t>
              </a:r>
            </a:p>
          </p:txBody>
        </p:sp>
        <p:sp>
          <p:nvSpPr>
            <p:cNvPr id="129090" name="Rectangle 66"/>
            <p:cNvSpPr>
              <a:spLocks noChangeArrowheads="1"/>
            </p:cNvSpPr>
            <p:nvPr/>
          </p:nvSpPr>
          <p:spPr bwMode="auto">
            <a:xfrm>
              <a:off x="1990" y="1850"/>
              <a:ext cx="893"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Westwood</a:t>
              </a:r>
            </a:p>
          </p:txBody>
        </p:sp>
        <p:sp>
          <p:nvSpPr>
            <p:cNvPr id="129091" name="Rectangle 67"/>
            <p:cNvSpPr>
              <a:spLocks noChangeArrowheads="1"/>
            </p:cNvSpPr>
            <p:nvPr/>
          </p:nvSpPr>
          <p:spPr bwMode="auto">
            <a:xfrm>
              <a:off x="1090" y="1850"/>
              <a:ext cx="920"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Northwood</a:t>
              </a:r>
            </a:p>
          </p:txBody>
        </p:sp>
        <p:sp>
          <p:nvSpPr>
            <p:cNvPr id="129092" name="Rectangle 68"/>
            <p:cNvSpPr>
              <a:spLocks noChangeArrowheads="1"/>
            </p:cNvSpPr>
            <p:nvPr/>
          </p:nvSpPr>
          <p:spPr bwMode="auto">
            <a:xfrm>
              <a:off x="1643" y="2155"/>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24</a:t>
              </a:r>
            </a:p>
          </p:txBody>
        </p:sp>
      </p:grpSp>
      <p:sp>
        <p:nvSpPr>
          <p:cNvPr id="129093" name="Text Box 69"/>
          <p:cNvSpPr txBox="1">
            <a:spLocks noChangeArrowheads="1"/>
          </p:cNvSpPr>
          <p:nvPr/>
        </p:nvSpPr>
        <p:spPr bwMode="auto">
          <a:xfrm>
            <a:off x="914400" y="5308600"/>
            <a:ext cx="78406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t>Total transportation cost is $2570 = 2770 – 10 (20)</a:t>
            </a:r>
          </a:p>
        </p:txBody>
      </p:sp>
      <p:sp>
        <p:nvSpPr>
          <p:cNvPr id="129094" name="Text Box 70"/>
          <p:cNvSpPr txBox="1">
            <a:spLocks noChangeArrowheads="1"/>
          </p:cNvSpPr>
          <p:nvPr/>
        </p:nvSpPr>
        <p:spPr bwMode="auto">
          <a:xfrm>
            <a:off x="2933700" y="6035675"/>
            <a:ext cx="250666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400" b="1">
                <a:solidFill>
                  <a:schemeClr val="accent1"/>
                </a:solidFill>
              </a:rPr>
              <a:t>Reduced cost of cell (2,4)</a:t>
            </a:r>
          </a:p>
        </p:txBody>
      </p:sp>
      <p:sp>
        <p:nvSpPr>
          <p:cNvPr id="129095" name="Line 71"/>
          <p:cNvSpPr>
            <a:spLocks noChangeShapeType="1"/>
          </p:cNvSpPr>
          <p:nvPr/>
        </p:nvSpPr>
        <p:spPr bwMode="auto">
          <a:xfrm>
            <a:off x="6769100" y="5748338"/>
            <a:ext cx="0" cy="5810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9096" name="Line 72"/>
          <p:cNvSpPr>
            <a:spLocks noChangeShapeType="1"/>
          </p:cNvSpPr>
          <p:nvPr/>
        </p:nvSpPr>
        <p:spPr bwMode="auto">
          <a:xfrm flipH="1">
            <a:off x="5618163" y="6342063"/>
            <a:ext cx="1150937"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9097" name="Text Box 73"/>
          <p:cNvSpPr txBox="1">
            <a:spLocks noChangeArrowheads="1"/>
          </p:cNvSpPr>
          <p:nvPr/>
        </p:nvSpPr>
        <p:spPr bwMode="auto">
          <a:xfrm>
            <a:off x="7777163" y="4643438"/>
            <a:ext cx="1366837"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b="1">
                <a:solidFill>
                  <a:schemeClr val="accent1"/>
                </a:solidFill>
              </a:rPr>
              <a:t>New quantity</a:t>
            </a:r>
          </a:p>
        </p:txBody>
      </p:sp>
      <p:sp>
        <p:nvSpPr>
          <p:cNvPr id="129098" name="Line 74"/>
          <p:cNvSpPr>
            <a:spLocks noChangeShapeType="1"/>
          </p:cNvSpPr>
          <p:nvPr/>
        </p:nvSpPr>
        <p:spPr bwMode="auto">
          <a:xfrm flipV="1">
            <a:off x="7304088" y="4999038"/>
            <a:ext cx="0" cy="3921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9099" name="Line 75"/>
          <p:cNvSpPr>
            <a:spLocks noChangeShapeType="1"/>
          </p:cNvSpPr>
          <p:nvPr/>
        </p:nvSpPr>
        <p:spPr bwMode="auto">
          <a:xfrm>
            <a:off x="7304088" y="4999038"/>
            <a:ext cx="511175"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noFill/>
          <a:ln/>
        </p:spPr>
        <p:txBody>
          <a:bodyPr/>
          <a:lstStyle/>
          <a:p>
            <a:r>
              <a:rPr lang="en-US"/>
              <a:t>Example:  BBC</a:t>
            </a:r>
          </a:p>
        </p:txBody>
      </p:sp>
      <p:sp>
        <p:nvSpPr>
          <p:cNvPr id="26627" name="Rectangle 3"/>
          <p:cNvSpPr>
            <a:spLocks noGrp="1" noChangeArrowheads="1"/>
          </p:cNvSpPr>
          <p:nvPr>
            <p:ph type="body" idx="1"/>
          </p:nvPr>
        </p:nvSpPr>
        <p:spPr>
          <a:noFill/>
          <a:ln/>
        </p:spPr>
        <p:txBody>
          <a:bodyPr/>
          <a:lstStyle/>
          <a:p>
            <a:r>
              <a:rPr lang="en-US">
                <a:solidFill>
                  <a:schemeClr val="tx2"/>
                </a:solidFill>
              </a:rPr>
              <a:t>Iteration 2</a:t>
            </a:r>
          </a:p>
          <a:p>
            <a:pPr lvl="1"/>
            <a:r>
              <a:rPr lang="en-US">
                <a:solidFill>
                  <a:schemeClr val="tx2"/>
                </a:solidFill>
              </a:rPr>
              <a:t>MODI Method</a:t>
            </a:r>
            <a:endParaRPr lang="en-US"/>
          </a:p>
          <a:p>
            <a:pPr>
              <a:buFont typeface="Monotype Sorts" pitchFamily="2" charset="2"/>
              <a:buNone/>
            </a:pPr>
            <a:r>
              <a:rPr lang="en-US"/>
              <a:t>			The reduced costs are found by calculating     	the </a:t>
            </a:r>
            <a:r>
              <a:rPr lang="en-US" i="1"/>
              <a:t>u</a:t>
            </a:r>
            <a:r>
              <a:rPr lang="en-US" i="1" baseline="-25000"/>
              <a:t>i</a:t>
            </a:r>
            <a:r>
              <a:rPr lang="en-US"/>
              <a:t>'s and </a:t>
            </a:r>
            <a:r>
              <a:rPr lang="en-US" i="1"/>
              <a:t>v</a:t>
            </a:r>
            <a:r>
              <a:rPr lang="en-US" i="1" baseline="-25000"/>
              <a:t>j</a:t>
            </a:r>
            <a:r>
              <a:rPr lang="en-US"/>
              <a:t>'s for this tableau.</a:t>
            </a:r>
          </a:p>
          <a:p>
            <a:pPr>
              <a:buFont typeface="Monotype Sorts" pitchFamily="2" charset="2"/>
              <a:buNone/>
            </a:pPr>
            <a:r>
              <a:rPr lang="en-US"/>
              <a:t>		1. Set </a:t>
            </a:r>
            <a:r>
              <a:rPr lang="en-US" i="1"/>
              <a:t>u</a:t>
            </a:r>
            <a:r>
              <a:rPr lang="en-US" baseline="-25000"/>
              <a:t>1</a:t>
            </a:r>
            <a:r>
              <a:rPr lang="en-US"/>
              <a:t> = 0.</a:t>
            </a:r>
          </a:p>
          <a:p>
            <a:pPr>
              <a:buFont typeface="Monotype Sorts" pitchFamily="2" charset="2"/>
              <a:buNone/>
            </a:pPr>
            <a:r>
              <a:rPr lang="en-US"/>
              <a:t>		2. Since </a:t>
            </a:r>
            <a:r>
              <a:rPr lang="en-US" i="1"/>
              <a:t>u</a:t>
            </a:r>
            <a:r>
              <a:rPr lang="en-US" baseline="-25000"/>
              <a:t>1</a:t>
            </a:r>
            <a:r>
              <a:rPr lang="en-US"/>
              <a:t> + </a:t>
            </a:r>
            <a:r>
              <a:rPr lang="en-US" i="1"/>
              <a:t>v</a:t>
            </a:r>
            <a:r>
              <a:rPr lang="en-US" i="1" baseline="-25000"/>
              <a:t>j</a:t>
            </a:r>
            <a:r>
              <a:rPr lang="en-US"/>
              <a:t> = </a:t>
            </a:r>
            <a:r>
              <a:rPr lang="en-US" i="1"/>
              <a:t>c</a:t>
            </a:r>
            <a:r>
              <a:rPr lang="en-US" i="1" baseline="-25000"/>
              <a:t>ij</a:t>
            </a:r>
            <a:r>
              <a:rPr lang="en-US"/>
              <a:t> for occupied cells in row 1, then</a:t>
            </a:r>
          </a:p>
          <a:p>
            <a:pPr>
              <a:buFont typeface="Monotype Sorts" pitchFamily="2" charset="2"/>
              <a:buNone/>
            </a:pPr>
            <a:r>
              <a:rPr lang="en-US"/>
              <a:t>       	    </a:t>
            </a:r>
            <a:r>
              <a:rPr lang="en-US" i="1"/>
              <a:t>v</a:t>
            </a:r>
            <a:r>
              <a:rPr lang="en-US" baseline="-25000"/>
              <a:t>1</a:t>
            </a:r>
            <a:r>
              <a:rPr lang="en-US"/>
              <a:t> = 24, </a:t>
            </a:r>
            <a:r>
              <a:rPr lang="en-US" i="1"/>
              <a:t>v</a:t>
            </a:r>
            <a:r>
              <a:rPr lang="en-US" baseline="-25000"/>
              <a:t>2</a:t>
            </a:r>
            <a:r>
              <a:rPr lang="en-US"/>
              <a:t> = 30.</a:t>
            </a:r>
          </a:p>
          <a:p>
            <a:pPr>
              <a:buFont typeface="Monotype Sorts" pitchFamily="2" charset="2"/>
              <a:buNone/>
            </a:pPr>
            <a:r>
              <a:rPr lang="en-US"/>
              <a:t>		3. Since </a:t>
            </a:r>
            <a:r>
              <a:rPr lang="en-US" i="1"/>
              <a:t>u</a:t>
            </a:r>
            <a:r>
              <a:rPr lang="en-US" i="1" baseline="-25000"/>
              <a:t>i</a:t>
            </a:r>
            <a:r>
              <a:rPr lang="en-US"/>
              <a:t> + </a:t>
            </a:r>
            <a:r>
              <a:rPr lang="en-US" i="1"/>
              <a:t>v</a:t>
            </a:r>
            <a:r>
              <a:rPr lang="en-US" baseline="-25000"/>
              <a:t>2</a:t>
            </a:r>
            <a:r>
              <a:rPr lang="en-US"/>
              <a:t> = </a:t>
            </a:r>
            <a:r>
              <a:rPr lang="en-US" i="1"/>
              <a:t>c</a:t>
            </a:r>
            <a:r>
              <a:rPr lang="en-US" i="1" baseline="-25000"/>
              <a:t>i</a:t>
            </a:r>
            <a:r>
              <a:rPr lang="en-US" baseline="-25000"/>
              <a:t>2</a:t>
            </a:r>
            <a:r>
              <a:rPr lang="en-US"/>
              <a:t> for occupied cells in column 2, 	    then </a:t>
            </a:r>
            <a:r>
              <a:rPr lang="en-US" i="1"/>
              <a:t>u</a:t>
            </a:r>
            <a:r>
              <a:rPr lang="en-US" baseline="-25000"/>
              <a:t>2</a:t>
            </a:r>
            <a:r>
              <a:rPr lang="en-US"/>
              <a:t> + 30 = 40, or </a:t>
            </a:r>
            <a:r>
              <a:rPr lang="en-US" i="1"/>
              <a:t>u</a:t>
            </a:r>
            <a:r>
              <a:rPr lang="en-US" baseline="-25000"/>
              <a:t>2</a:t>
            </a:r>
            <a:r>
              <a:rPr lang="en-US"/>
              <a:t> = 10.</a:t>
            </a:r>
          </a:p>
          <a:p>
            <a:pPr>
              <a:buFont typeface="Monotype Sorts" pitchFamily="2" charset="2"/>
              <a:buNone/>
            </a:pPr>
            <a:r>
              <a:rPr lang="en-US"/>
              <a:t>		4. Since </a:t>
            </a:r>
            <a:r>
              <a:rPr lang="en-US" i="1"/>
              <a:t>u</a:t>
            </a:r>
            <a:r>
              <a:rPr lang="en-US" baseline="-25000"/>
              <a:t>2</a:t>
            </a:r>
            <a:r>
              <a:rPr lang="en-US"/>
              <a:t> + </a:t>
            </a:r>
            <a:r>
              <a:rPr lang="en-US" i="1"/>
              <a:t>v</a:t>
            </a:r>
            <a:r>
              <a:rPr lang="en-US" i="1" baseline="-25000"/>
              <a:t>j</a:t>
            </a:r>
            <a:r>
              <a:rPr lang="en-US"/>
              <a:t> = </a:t>
            </a:r>
            <a:r>
              <a:rPr lang="en-US" i="1"/>
              <a:t>c</a:t>
            </a:r>
            <a:r>
              <a:rPr lang="en-US" baseline="-25000"/>
              <a:t>2</a:t>
            </a:r>
            <a:r>
              <a:rPr lang="en-US" i="1" baseline="-25000"/>
              <a:t>j</a:t>
            </a:r>
            <a:r>
              <a:rPr lang="en-US"/>
              <a:t> for occupied cells in row 2, then</a:t>
            </a:r>
          </a:p>
          <a:p>
            <a:pPr>
              <a:buFont typeface="Monotype Sorts" pitchFamily="2" charset="2"/>
              <a:buNone/>
            </a:pPr>
            <a:r>
              <a:rPr lang="en-US"/>
              <a:t>          	    10 + </a:t>
            </a:r>
            <a:r>
              <a:rPr lang="en-US" i="1"/>
              <a:t>v</a:t>
            </a:r>
            <a:r>
              <a:rPr lang="en-US" baseline="-25000"/>
              <a:t>3</a:t>
            </a:r>
            <a:r>
              <a:rPr lang="en-US"/>
              <a:t> = 42 or </a:t>
            </a:r>
            <a:r>
              <a:rPr lang="en-US" i="1"/>
              <a:t>v</a:t>
            </a:r>
            <a:r>
              <a:rPr lang="en-US" baseline="-25000"/>
              <a:t>3</a:t>
            </a:r>
            <a:r>
              <a:rPr lang="en-US"/>
              <a:t> = 32; and, 10 + </a:t>
            </a:r>
            <a:r>
              <a:rPr lang="en-US" i="1"/>
              <a:t>v</a:t>
            </a:r>
            <a:r>
              <a:rPr lang="en-US" baseline="-25000"/>
              <a:t>4</a:t>
            </a:r>
            <a:r>
              <a:rPr lang="en-US"/>
              <a:t> = 0 or </a:t>
            </a:r>
            <a:r>
              <a:rPr lang="en-US" i="1"/>
              <a:t>v</a:t>
            </a:r>
            <a:r>
              <a:rPr lang="en-US" baseline="-25000"/>
              <a:t>4</a:t>
            </a:r>
            <a:r>
              <a:rPr lang="en-US"/>
              <a:t> = -10.</a:t>
            </a:r>
          </a:p>
        </p:txBody>
      </p:sp>
    </p:spTree>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noFill/>
          <a:ln/>
        </p:spPr>
        <p:txBody>
          <a:bodyPr/>
          <a:lstStyle/>
          <a:p>
            <a:r>
              <a:rPr lang="en-US"/>
              <a:t>Example:  BBC</a:t>
            </a:r>
          </a:p>
        </p:txBody>
      </p:sp>
      <p:sp>
        <p:nvSpPr>
          <p:cNvPr id="27651" name="Rectangle 3"/>
          <p:cNvSpPr>
            <a:spLocks noGrp="1" noChangeArrowheads="1"/>
          </p:cNvSpPr>
          <p:nvPr>
            <p:ph type="body" idx="1"/>
          </p:nvPr>
        </p:nvSpPr>
        <p:spPr>
          <a:noFill/>
          <a:ln/>
        </p:spPr>
        <p:txBody>
          <a:bodyPr/>
          <a:lstStyle/>
          <a:p>
            <a:r>
              <a:rPr lang="en-US">
                <a:solidFill>
                  <a:schemeClr val="tx2"/>
                </a:solidFill>
              </a:rPr>
              <a:t>Iteration 2</a:t>
            </a:r>
          </a:p>
          <a:p>
            <a:pPr lvl="1"/>
            <a:r>
              <a:rPr lang="en-US">
                <a:solidFill>
                  <a:schemeClr val="tx2"/>
                </a:solidFill>
              </a:rPr>
              <a:t>MODI Method (continued)</a:t>
            </a:r>
          </a:p>
          <a:p>
            <a:pPr>
              <a:buFont typeface="Monotype Sorts" pitchFamily="2" charset="2"/>
              <a:buNone/>
            </a:pPr>
            <a:r>
              <a:rPr lang="en-US"/>
              <a:t>		Calculate the reduced costs (circled numbers on the  	next slide) by </a:t>
            </a:r>
            <a:r>
              <a:rPr lang="en-US" i="1"/>
              <a:t>c</a:t>
            </a:r>
            <a:r>
              <a:rPr lang="en-US" i="1" baseline="-25000"/>
              <a:t>ij</a:t>
            </a:r>
            <a:r>
              <a:rPr lang="en-US" i="1"/>
              <a:t> </a:t>
            </a:r>
            <a:r>
              <a:rPr lang="en-US"/>
              <a:t>- u</a:t>
            </a:r>
            <a:r>
              <a:rPr lang="en-US" i="1" baseline="-25000"/>
              <a:t>i</a:t>
            </a:r>
            <a:r>
              <a:rPr lang="en-US"/>
              <a:t> + </a:t>
            </a:r>
            <a:r>
              <a:rPr lang="en-US" i="1"/>
              <a:t>v</a:t>
            </a:r>
            <a:r>
              <a:rPr lang="en-US" i="1" baseline="-25000"/>
              <a:t>j</a:t>
            </a:r>
            <a:r>
              <a:rPr lang="en-US"/>
              <a:t>.</a:t>
            </a:r>
          </a:p>
          <a:p>
            <a:pPr>
              <a:buFont typeface="Monotype Sorts" pitchFamily="2" charset="2"/>
              <a:buNone/>
            </a:pPr>
            <a:endParaRPr lang="en-US" sz="1000"/>
          </a:p>
          <a:p>
            <a:pPr>
              <a:buFont typeface="Monotype Sorts" pitchFamily="2" charset="2"/>
              <a:buNone/>
            </a:pPr>
            <a:r>
              <a:rPr lang="en-US"/>
              <a:t>            	</a:t>
            </a:r>
            <a:r>
              <a:rPr lang="en-US" u="sng"/>
              <a:t>Unoccupied Cell</a:t>
            </a:r>
            <a:r>
              <a:rPr lang="en-US"/>
              <a:t>         </a:t>
            </a:r>
            <a:r>
              <a:rPr lang="en-US" u="sng"/>
              <a:t>Reduced Cost</a:t>
            </a:r>
            <a:endParaRPr lang="en-US"/>
          </a:p>
          <a:p>
            <a:pPr>
              <a:buFont typeface="Monotype Sorts" pitchFamily="2" charset="2"/>
              <a:buNone/>
            </a:pPr>
            <a:r>
              <a:rPr lang="en-US"/>
              <a:t>                		(1,3)           	40 -   0 -    32  =    8</a:t>
            </a:r>
          </a:p>
          <a:p>
            <a:pPr>
              <a:buFont typeface="Monotype Sorts" pitchFamily="2" charset="2"/>
              <a:buNone/>
            </a:pPr>
            <a:r>
              <a:rPr lang="en-US"/>
              <a:t>                		(1,4)            	  0 -   0 - (-10) =  10</a:t>
            </a:r>
          </a:p>
          <a:p>
            <a:pPr>
              <a:buFont typeface="Monotype Sorts" pitchFamily="2" charset="2"/>
              <a:buNone/>
            </a:pPr>
            <a:r>
              <a:rPr lang="en-US"/>
              <a:t>                		(2,1)           	30 - 10 -    24  =   -4</a:t>
            </a:r>
          </a:p>
          <a:p>
            <a:pPr>
              <a:buFont typeface="Monotype Sorts" pitchFamily="2" charset="2"/>
              <a:buNone/>
            </a:pPr>
            <a:endParaRPr lang="en-US"/>
          </a:p>
        </p:txBody>
      </p:sp>
      <p:sp>
        <p:nvSpPr>
          <p:cNvPr id="27652" name="Text Box 4"/>
          <p:cNvSpPr txBox="1">
            <a:spLocks noChangeArrowheads="1"/>
          </p:cNvSpPr>
          <p:nvPr/>
        </p:nvSpPr>
        <p:spPr bwMode="auto">
          <a:xfrm>
            <a:off x="1009650" y="4797425"/>
            <a:ext cx="7732713" cy="158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b="1" i="0">
                <a:solidFill>
                  <a:schemeClr val="accent1"/>
                </a:solidFill>
              </a:rPr>
              <a:t>Since there is still negative reduced cost for cell (2,1), the solution is not optimal.</a:t>
            </a:r>
          </a:p>
          <a:p>
            <a:pPr>
              <a:spcBef>
                <a:spcPct val="50000"/>
              </a:spcBef>
            </a:pPr>
            <a:r>
              <a:rPr lang="en-US" b="1" i="0">
                <a:solidFill>
                  <a:schemeClr val="accent1"/>
                </a:solidFill>
              </a:rPr>
              <a:t>Cell (2,1) must be occupied</a:t>
            </a:r>
          </a:p>
        </p:txBody>
      </p:sp>
    </p:spTree>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noFill/>
          <a:ln/>
        </p:spPr>
        <p:txBody>
          <a:bodyPr/>
          <a:lstStyle/>
          <a:p>
            <a:r>
              <a:rPr lang="en-US"/>
              <a:t>Example:  BBC</a:t>
            </a:r>
          </a:p>
        </p:txBody>
      </p:sp>
      <p:sp>
        <p:nvSpPr>
          <p:cNvPr id="28675" name="Rectangle 3"/>
          <p:cNvSpPr>
            <a:spLocks noGrp="1" noChangeArrowheads="1"/>
          </p:cNvSpPr>
          <p:nvPr>
            <p:ph type="body" idx="1"/>
          </p:nvPr>
        </p:nvSpPr>
        <p:spPr>
          <a:noFill/>
          <a:ln/>
        </p:spPr>
        <p:txBody>
          <a:bodyPr/>
          <a:lstStyle/>
          <a:p>
            <a:r>
              <a:rPr lang="en-US">
                <a:solidFill>
                  <a:schemeClr val="tx2"/>
                </a:solidFill>
              </a:rPr>
              <a:t>Iteration 2 Tableau</a:t>
            </a:r>
          </a:p>
        </p:txBody>
      </p:sp>
      <p:grpSp>
        <p:nvGrpSpPr>
          <p:cNvPr id="28711" name="Group 39"/>
          <p:cNvGrpSpPr>
            <a:grpSpLocks/>
          </p:cNvGrpSpPr>
          <p:nvPr/>
        </p:nvGrpSpPr>
        <p:grpSpPr bwMode="auto">
          <a:xfrm>
            <a:off x="912813" y="1819275"/>
            <a:ext cx="7543800" cy="2747963"/>
            <a:chOff x="610" y="1245"/>
            <a:chExt cx="4752" cy="1731"/>
          </a:xfrm>
        </p:grpSpPr>
        <p:sp>
          <p:nvSpPr>
            <p:cNvPr id="28676" name="Rectangle 4"/>
            <p:cNvSpPr>
              <a:spLocks noChangeArrowheads="1"/>
            </p:cNvSpPr>
            <p:nvPr/>
          </p:nvSpPr>
          <p:spPr bwMode="auto">
            <a:xfrm>
              <a:off x="1291" y="1586"/>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90488" tIns="44450" rIns="90488" bIns="44450" anchor="ctr"/>
            <a:lstStyle/>
            <a:p>
              <a:pPr algn="ctr"/>
              <a:r>
                <a:rPr lang="en-US" sz="2400" i="0">
                  <a:solidFill>
                    <a:srgbClr val="FFFFFF"/>
                  </a:solidFill>
                  <a:effectLst>
                    <a:outerShdw blurRad="38100" dist="38100" dir="2700000" algn="tl">
                      <a:srgbClr val="000000"/>
                    </a:outerShdw>
                  </a:effectLst>
                </a:rPr>
                <a:t>25</a:t>
              </a:r>
              <a:r>
                <a:rPr lang="en-US" sz="2400" i="0"/>
                <a:t>     </a:t>
              </a:r>
            </a:p>
          </p:txBody>
        </p:sp>
        <p:sp>
          <p:nvSpPr>
            <p:cNvPr id="28677" name="Rectangle 5"/>
            <p:cNvSpPr>
              <a:spLocks noChangeArrowheads="1"/>
            </p:cNvSpPr>
            <p:nvPr/>
          </p:nvSpPr>
          <p:spPr bwMode="auto">
            <a:xfrm>
              <a:off x="2179" y="1586"/>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90488" tIns="44450" rIns="90488" bIns="44450" anchor="ctr"/>
            <a:lstStyle/>
            <a:p>
              <a:pPr algn="ctr"/>
              <a:r>
                <a:rPr lang="en-US" sz="2400" i="0">
                  <a:solidFill>
                    <a:srgbClr val="FFFFFF"/>
                  </a:solidFill>
                  <a:effectLst>
                    <a:outerShdw blurRad="38100" dist="38100" dir="2700000" algn="tl">
                      <a:srgbClr val="000000"/>
                    </a:outerShdw>
                  </a:effectLst>
                </a:rPr>
                <a:t>25     </a:t>
              </a:r>
            </a:p>
          </p:txBody>
        </p:sp>
        <p:sp>
          <p:nvSpPr>
            <p:cNvPr id="28678" name="Rectangle 6"/>
            <p:cNvSpPr>
              <a:spLocks noChangeArrowheads="1"/>
            </p:cNvSpPr>
            <p:nvPr/>
          </p:nvSpPr>
          <p:spPr bwMode="auto">
            <a:xfrm>
              <a:off x="1291" y="2119"/>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90488" tIns="44450" rIns="90488" bIns="44450" anchor="ctr"/>
            <a:lstStyle/>
            <a:p>
              <a:pPr algn="ctr"/>
              <a:r>
                <a:rPr lang="en-US" sz="2400" i="0">
                  <a:solidFill>
                    <a:srgbClr val="FFFFFF"/>
                  </a:solidFill>
                  <a:effectLst>
                    <a:outerShdw blurRad="38100" dist="38100" dir="2700000" algn="tl">
                      <a:srgbClr val="000000"/>
                    </a:outerShdw>
                  </a:effectLst>
                </a:rPr>
                <a:t>-4       </a:t>
              </a:r>
            </a:p>
          </p:txBody>
        </p:sp>
        <p:sp>
          <p:nvSpPr>
            <p:cNvPr id="28679" name="Rectangle 7"/>
            <p:cNvSpPr>
              <a:spLocks noChangeArrowheads="1"/>
            </p:cNvSpPr>
            <p:nvPr/>
          </p:nvSpPr>
          <p:spPr bwMode="auto">
            <a:xfrm>
              <a:off x="3071" y="1586"/>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90488" tIns="44450" rIns="90488" bIns="44450" anchor="ctr"/>
            <a:lstStyle/>
            <a:p>
              <a:pPr algn="ctr"/>
              <a:r>
                <a:rPr lang="en-US" sz="2400" i="0">
                  <a:solidFill>
                    <a:srgbClr val="FFFFFF"/>
                  </a:solidFill>
                  <a:effectLst>
                    <a:outerShdw blurRad="38100" dist="38100" dir="2700000" algn="tl">
                      <a:srgbClr val="000000"/>
                    </a:outerShdw>
                  </a:effectLst>
                </a:rPr>
                <a:t>+8       </a:t>
              </a:r>
            </a:p>
          </p:txBody>
        </p:sp>
        <p:sp>
          <p:nvSpPr>
            <p:cNvPr id="28680" name="Rectangle 8"/>
            <p:cNvSpPr>
              <a:spLocks noChangeArrowheads="1"/>
            </p:cNvSpPr>
            <p:nvPr/>
          </p:nvSpPr>
          <p:spPr bwMode="auto">
            <a:xfrm>
              <a:off x="3959" y="1586"/>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90488" tIns="44450" rIns="90488" bIns="44450" anchor="ctr"/>
            <a:lstStyle/>
            <a:p>
              <a:pPr algn="ctr"/>
              <a:r>
                <a:rPr lang="en-US" sz="2400" i="0">
                  <a:solidFill>
                    <a:srgbClr val="FFFFFF"/>
                  </a:solidFill>
                  <a:effectLst>
                    <a:outerShdw blurRad="38100" dist="38100" dir="2700000" algn="tl">
                      <a:srgbClr val="000000"/>
                    </a:outerShdw>
                  </a:effectLst>
                </a:rPr>
                <a:t>+10        </a:t>
              </a:r>
            </a:p>
          </p:txBody>
        </p:sp>
        <p:sp>
          <p:nvSpPr>
            <p:cNvPr id="28681" name="Rectangle 9"/>
            <p:cNvSpPr>
              <a:spLocks noChangeArrowheads="1"/>
            </p:cNvSpPr>
            <p:nvPr/>
          </p:nvSpPr>
          <p:spPr bwMode="auto">
            <a:xfrm>
              <a:off x="2179" y="2119"/>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90488" tIns="44450" rIns="90488" bIns="44450" anchor="ctr"/>
            <a:lstStyle/>
            <a:p>
              <a:pPr algn="ctr"/>
              <a:r>
                <a:rPr lang="en-US" sz="2400" i="0">
                  <a:solidFill>
                    <a:srgbClr val="FFFFFF"/>
                  </a:solidFill>
                  <a:effectLst>
                    <a:outerShdw blurRad="38100" dist="38100" dir="2700000" algn="tl">
                      <a:srgbClr val="000000"/>
                    </a:outerShdw>
                  </a:effectLst>
                </a:rPr>
                <a:t>20     </a:t>
              </a:r>
            </a:p>
          </p:txBody>
        </p:sp>
        <p:sp>
          <p:nvSpPr>
            <p:cNvPr id="28682" name="Rectangle 10"/>
            <p:cNvSpPr>
              <a:spLocks noChangeArrowheads="1"/>
            </p:cNvSpPr>
            <p:nvPr/>
          </p:nvSpPr>
          <p:spPr bwMode="auto">
            <a:xfrm>
              <a:off x="3067" y="2119"/>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90488" tIns="44450" rIns="90488" bIns="44450" anchor="ctr"/>
            <a:lstStyle/>
            <a:p>
              <a:pPr algn="ctr"/>
              <a:r>
                <a:rPr lang="en-US" sz="2400" i="0">
                  <a:solidFill>
                    <a:srgbClr val="FFFFFF"/>
                  </a:solidFill>
                  <a:effectLst>
                    <a:outerShdw blurRad="38100" dist="38100" dir="2700000" algn="tl">
                      <a:srgbClr val="000000"/>
                    </a:outerShdw>
                  </a:effectLst>
                </a:rPr>
                <a:t>10     </a:t>
              </a:r>
            </a:p>
          </p:txBody>
        </p:sp>
        <p:sp>
          <p:nvSpPr>
            <p:cNvPr id="28683" name="Rectangle 11"/>
            <p:cNvSpPr>
              <a:spLocks noChangeArrowheads="1"/>
            </p:cNvSpPr>
            <p:nvPr/>
          </p:nvSpPr>
          <p:spPr bwMode="auto">
            <a:xfrm>
              <a:off x="3959" y="2119"/>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90488" tIns="44450" rIns="90488" bIns="44450" anchor="ctr"/>
            <a:lstStyle/>
            <a:p>
              <a:pPr algn="ctr"/>
              <a:r>
                <a:rPr lang="en-US" sz="2400" i="0">
                  <a:solidFill>
                    <a:srgbClr val="FFFFFF"/>
                  </a:solidFill>
                  <a:effectLst>
                    <a:outerShdw blurRad="38100" dist="38100" dir="2700000" algn="tl">
                      <a:srgbClr val="000000"/>
                    </a:outerShdw>
                  </a:effectLst>
                </a:rPr>
                <a:t>20     </a:t>
              </a:r>
            </a:p>
          </p:txBody>
        </p:sp>
        <p:sp>
          <p:nvSpPr>
            <p:cNvPr id="28684" name="Rectangle 12"/>
            <p:cNvSpPr>
              <a:spLocks noChangeArrowheads="1"/>
            </p:cNvSpPr>
            <p:nvPr/>
          </p:nvSpPr>
          <p:spPr bwMode="auto">
            <a:xfrm>
              <a:off x="3607" y="2119"/>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42</a:t>
              </a:r>
            </a:p>
          </p:txBody>
        </p:sp>
        <p:sp>
          <p:nvSpPr>
            <p:cNvPr id="28685" name="Rectangle 13"/>
            <p:cNvSpPr>
              <a:spLocks noChangeArrowheads="1"/>
            </p:cNvSpPr>
            <p:nvPr/>
          </p:nvSpPr>
          <p:spPr bwMode="auto">
            <a:xfrm>
              <a:off x="3607" y="1586"/>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40</a:t>
              </a:r>
            </a:p>
          </p:txBody>
        </p:sp>
        <p:sp>
          <p:nvSpPr>
            <p:cNvPr id="28686" name="Rectangle 14"/>
            <p:cNvSpPr>
              <a:spLocks noChangeArrowheads="1"/>
            </p:cNvSpPr>
            <p:nvPr/>
          </p:nvSpPr>
          <p:spPr bwMode="auto">
            <a:xfrm>
              <a:off x="4499" y="1586"/>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0</a:t>
              </a:r>
            </a:p>
          </p:txBody>
        </p:sp>
        <p:sp>
          <p:nvSpPr>
            <p:cNvPr id="28687" name="Rectangle 15"/>
            <p:cNvSpPr>
              <a:spLocks noChangeArrowheads="1"/>
            </p:cNvSpPr>
            <p:nvPr/>
          </p:nvSpPr>
          <p:spPr bwMode="auto">
            <a:xfrm>
              <a:off x="4499" y="2119"/>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0</a:t>
              </a:r>
            </a:p>
          </p:txBody>
        </p:sp>
        <p:sp>
          <p:nvSpPr>
            <p:cNvPr id="28688" name="Rectangle 16"/>
            <p:cNvSpPr>
              <a:spLocks noChangeArrowheads="1"/>
            </p:cNvSpPr>
            <p:nvPr/>
          </p:nvSpPr>
          <p:spPr bwMode="auto">
            <a:xfrm>
              <a:off x="2715" y="2119"/>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40</a:t>
              </a:r>
            </a:p>
          </p:txBody>
        </p:sp>
        <p:sp>
          <p:nvSpPr>
            <p:cNvPr id="28689" name="Rectangle 17"/>
            <p:cNvSpPr>
              <a:spLocks noChangeArrowheads="1"/>
            </p:cNvSpPr>
            <p:nvPr/>
          </p:nvSpPr>
          <p:spPr bwMode="auto">
            <a:xfrm>
              <a:off x="2719" y="1586"/>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30</a:t>
              </a:r>
            </a:p>
          </p:txBody>
        </p:sp>
        <p:sp>
          <p:nvSpPr>
            <p:cNvPr id="28690" name="Rectangle 18"/>
            <p:cNvSpPr>
              <a:spLocks noChangeArrowheads="1"/>
            </p:cNvSpPr>
            <p:nvPr/>
          </p:nvSpPr>
          <p:spPr bwMode="auto">
            <a:xfrm>
              <a:off x="1827" y="2119"/>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30</a:t>
              </a:r>
            </a:p>
          </p:txBody>
        </p:sp>
        <p:sp>
          <p:nvSpPr>
            <p:cNvPr id="28691" name="Rectangle 19"/>
            <p:cNvSpPr>
              <a:spLocks noChangeArrowheads="1"/>
            </p:cNvSpPr>
            <p:nvPr/>
          </p:nvSpPr>
          <p:spPr bwMode="auto">
            <a:xfrm>
              <a:off x="850" y="2674"/>
              <a:ext cx="270"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solidFill>
                    <a:srgbClr val="FFFFFF"/>
                  </a:solidFill>
                  <a:effectLst>
                    <a:outerShdw blurRad="38100" dist="38100" dir="2700000" algn="tl">
                      <a:srgbClr val="000000"/>
                    </a:outerShdw>
                  </a:effectLst>
                  <a:latin typeface="Arial" panose="020B0604020202020204" pitchFamily="34" charset="0"/>
                </a:rPr>
                <a:t>v</a:t>
              </a:r>
              <a:r>
                <a:rPr lang="en-US" baseline="-25000">
                  <a:solidFill>
                    <a:srgbClr val="FFFFFF"/>
                  </a:solidFill>
                  <a:effectLst>
                    <a:outerShdw blurRad="38100" dist="38100" dir="2700000" algn="tl">
                      <a:srgbClr val="000000"/>
                    </a:outerShdw>
                  </a:effectLst>
                  <a:latin typeface="Arial" panose="020B0604020202020204" pitchFamily="34" charset="0"/>
                </a:rPr>
                <a:t>j</a:t>
              </a:r>
            </a:p>
          </p:txBody>
        </p:sp>
        <p:sp>
          <p:nvSpPr>
            <p:cNvPr id="28692" name="Rectangle 20"/>
            <p:cNvSpPr>
              <a:spLocks noChangeArrowheads="1"/>
            </p:cNvSpPr>
            <p:nvPr/>
          </p:nvSpPr>
          <p:spPr bwMode="auto">
            <a:xfrm>
              <a:off x="5014" y="1245"/>
              <a:ext cx="281"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solidFill>
                    <a:srgbClr val="FFFFFF"/>
                  </a:solidFill>
                  <a:effectLst>
                    <a:outerShdw blurRad="38100" dist="38100" dir="2700000" algn="tl">
                      <a:srgbClr val="000000"/>
                    </a:outerShdw>
                  </a:effectLst>
                  <a:latin typeface="Arial" panose="020B0604020202020204" pitchFamily="34" charset="0"/>
                </a:rPr>
                <a:t>u</a:t>
              </a:r>
              <a:r>
                <a:rPr lang="en-US" baseline="-25000">
                  <a:solidFill>
                    <a:srgbClr val="FFFFFF"/>
                  </a:solidFill>
                  <a:effectLst>
                    <a:outerShdw blurRad="38100" dist="38100" dir="2700000" algn="tl">
                      <a:srgbClr val="000000"/>
                    </a:outerShdw>
                  </a:effectLst>
                  <a:latin typeface="Arial" panose="020B0604020202020204" pitchFamily="34" charset="0"/>
                </a:rPr>
                <a:t>i</a:t>
              </a:r>
            </a:p>
          </p:txBody>
        </p:sp>
        <p:sp>
          <p:nvSpPr>
            <p:cNvPr id="28693" name="Rectangle 21"/>
            <p:cNvSpPr>
              <a:spLocks noChangeArrowheads="1"/>
            </p:cNvSpPr>
            <p:nvPr/>
          </p:nvSpPr>
          <p:spPr bwMode="auto">
            <a:xfrm>
              <a:off x="5038" y="2235"/>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10</a:t>
              </a:r>
            </a:p>
          </p:txBody>
        </p:sp>
        <p:sp>
          <p:nvSpPr>
            <p:cNvPr id="28694" name="Rectangle 22"/>
            <p:cNvSpPr>
              <a:spLocks noChangeArrowheads="1"/>
            </p:cNvSpPr>
            <p:nvPr/>
          </p:nvSpPr>
          <p:spPr bwMode="auto">
            <a:xfrm>
              <a:off x="5038" y="1694"/>
              <a:ext cx="279"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 0</a:t>
              </a:r>
            </a:p>
          </p:txBody>
        </p:sp>
        <p:sp>
          <p:nvSpPr>
            <p:cNvPr id="28695" name="Rectangle 23"/>
            <p:cNvSpPr>
              <a:spLocks noChangeArrowheads="1"/>
            </p:cNvSpPr>
            <p:nvPr/>
          </p:nvSpPr>
          <p:spPr bwMode="auto">
            <a:xfrm>
              <a:off x="4270" y="2703"/>
              <a:ext cx="288"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-6</a:t>
              </a:r>
            </a:p>
          </p:txBody>
        </p:sp>
        <p:sp>
          <p:nvSpPr>
            <p:cNvPr id="28696" name="Rectangle 24"/>
            <p:cNvSpPr>
              <a:spLocks noChangeArrowheads="1"/>
            </p:cNvSpPr>
            <p:nvPr/>
          </p:nvSpPr>
          <p:spPr bwMode="auto">
            <a:xfrm>
              <a:off x="3370" y="2703"/>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36</a:t>
              </a:r>
            </a:p>
          </p:txBody>
        </p:sp>
        <p:sp>
          <p:nvSpPr>
            <p:cNvPr id="28697" name="Rectangle 25"/>
            <p:cNvSpPr>
              <a:spLocks noChangeArrowheads="1"/>
            </p:cNvSpPr>
            <p:nvPr/>
          </p:nvSpPr>
          <p:spPr bwMode="auto">
            <a:xfrm>
              <a:off x="2470" y="2703"/>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30</a:t>
              </a:r>
            </a:p>
          </p:txBody>
        </p:sp>
        <p:sp>
          <p:nvSpPr>
            <p:cNvPr id="28698" name="Rectangle 26"/>
            <p:cNvSpPr>
              <a:spLocks noChangeArrowheads="1"/>
            </p:cNvSpPr>
            <p:nvPr/>
          </p:nvSpPr>
          <p:spPr bwMode="auto">
            <a:xfrm>
              <a:off x="1570" y="2703"/>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24</a:t>
              </a:r>
            </a:p>
          </p:txBody>
        </p:sp>
        <p:sp>
          <p:nvSpPr>
            <p:cNvPr id="28699" name="Rectangle 27"/>
            <p:cNvSpPr>
              <a:spLocks noChangeArrowheads="1"/>
            </p:cNvSpPr>
            <p:nvPr/>
          </p:nvSpPr>
          <p:spPr bwMode="auto">
            <a:xfrm>
              <a:off x="4090" y="1274"/>
              <a:ext cx="697"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Dummy</a:t>
              </a:r>
            </a:p>
          </p:txBody>
        </p:sp>
        <p:sp>
          <p:nvSpPr>
            <p:cNvPr id="28700" name="Rectangle 28"/>
            <p:cNvSpPr>
              <a:spLocks noChangeArrowheads="1"/>
            </p:cNvSpPr>
            <p:nvPr/>
          </p:nvSpPr>
          <p:spPr bwMode="auto">
            <a:xfrm>
              <a:off x="610" y="1694"/>
              <a:ext cx="64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Plant 1</a:t>
              </a:r>
            </a:p>
          </p:txBody>
        </p:sp>
        <p:sp>
          <p:nvSpPr>
            <p:cNvPr id="28701" name="Rectangle 29"/>
            <p:cNvSpPr>
              <a:spLocks noChangeArrowheads="1"/>
            </p:cNvSpPr>
            <p:nvPr/>
          </p:nvSpPr>
          <p:spPr bwMode="auto">
            <a:xfrm>
              <a:off x="610" y="2235"/>
              <a:ext cx="64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Plant 2</a:t>
              </a:r>
            </a:p>
          </p:txBody>
        </p:sp>
        <p:sp>
          <p:nvSpPr>
            <p:cNvPr id="28702" name="Rectangle 30"/>
            <p:cNvSpPr>
              <a:spLocks noChangeArrowheads="1"/>
            </p:cNvSpPr>
            <p:nvPr/>
          </p:nvSpPr>
          <p:spPr bwMode="auto">
            <a:xfrm>
              <a:off x="3130" y="1274"/>
              <a:ext cx="849"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Eastwood</a:t>
              </a:r>
            </a:p>
          </p:txBody>
        </p:sp>
        <p:sp>
          <p:nvSpPr>
            <p:cNvPr id="28703" name="Rectangle 31"/>
            <p:cNvSpPr>
              <a:spLocks noChangeArrowheads="1"/>
            </p:cNvSpPr>
            <p:nvPr/>
          </p:nvSpPr>
          <p:spPr bwMode="auto">
            <a:xfrm>
              <a:off x="2182" y="1274"/>
              <a:ext cx="893"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Westwood</a:t>
              </a:r>
            </a:p>
          </p:txBody>
        </p:sp>
        <p:sp>
          <p:nvSpPr>
            <p:cNvPr id="28704" name="Rectangle 32"/>
            <p:cNvSpPr>
              <a:spLocks noChangeArrowheads="1"/>
            </p:cNvSpPr>
            <p:nvPr/>
          </p:nvSpPr>
          <p:spPr bwMode="auto">
            <a:xfrm>
              <a:off x="1282" y="1274"/>
              <a:ext cx="920"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Northwood</a:t>
              </a:r>
            </a:p>
          </p:txBody>
        </p:sp>
        <p:sp>
          <p:nvSpPr>
            <p:cNvPr id="28705" name="Rectangle 33"/>
            <p:cNvSpPr>
              <a:spLocks noChangeArrowheads="1"/>
            </p:cNvSpPr>
            <p:nvPr/>
          </p:nvSpPr>
          <p:spPr bwMode="auto">
            <a:xfrm>
              <a:off x="1827" y="1587"/>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24</a:t>
              </a:r>
            </a:p>
          </p:txBody>
        </p:sp>
        <p:sp>
          <p:nvSpPr>
            <p:cNvPr id="28707" name="Oval 35"/>
            <p:cNvSpPr>
              <a:spLocks noChangeArrowheads="1"/>
            </p:cNvSpPr>
            <p:nvPr/>
          </p:nvSpPr>
          <p:spPr bwMode="auto">
            <a:xfrm>
              <a:off x="1396" y="2204"/>
              <a:ext cx="376" cy="376"/>
            </a:xfrm>
            <a:prstGeom prst="ellips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en-US"/>
            </a:p>
          </p:txBody>
        </p:sp>
        <p:sp>
          <p:nvSpPr>
            <p:cNvPr id="28708" name="Oval 36"/>
            <p:cNvSpPr>
              <a:spLocks noChangeArrowheads="1"/>
            </p:cNvSpPr>
            <p:nvPr/>
          </p:nvSpPr>
          <p:spPr bwMode="auto">
            <a:xfrm>
              <a:off x="3176" y="1664"/>
              <a:ext cx="376" cy="376"/>
            </a:xfrm>
            <a:prstGeom prst="ellips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en-US"/>
            </a:p>
          </p:txBody>
        </p:sp>
        <p:sp>
          <p:nvSpPr>
            <p:cNvPr id="28709" name="Oval 37"/>
            <p:cNvSpPr>
              <a:spLocks noChangeArrowheads="1"/>
            </p:cNvSpPr>
            <p:nvPr/>
          </p:nvSpPr>
          <p:spPr bwMode="auto">
            <a:xfrm>
              <a:off x="4044" y="1668"/>
              <a:ext cx="376" cy="376"/>
            </a:xfrm>
            <a:prstGeom prst="ellips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en-US"/>
            </a:p>
          </p:txBody>
        </p:sp>
      </p:grpSp>
    </p:spTree>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noFill/>
          <a:ln/>
        </p:spPr>
        <p:txBody>
          <a:bodyPr/>
          <a:lstStyle/>
          <a:p>
            <a:r>
              <a:rPr lang="en-US"/>
              <a:t>Example:  BBC</a:t>
            </a:r>
          </a:p>
        </p:txBody>
      </p:sp>
      <p:sp>
        <p:nvSpPr>
          <p:cNvPr id="29699" name="Rectangle 3"/>
          <p:cNvSpPr>
            <a:spLocks noGrp="1" noChangeArrowheads="1"/>
          </p:cNvSpPr>
          <p:nvPr>
            <p:ph type="body" idx="1"/>
          </p:nvPr>
        </p:nvSpPr>
        <p:spPr>
          <a:xfrm>
            <a:off x="533400" y="1014413"/>
            <a:ext cx="8101013" cy="5310187"/>
          </a:xfrm>
          <a:noFill/>
          <a:ln/>
        </p:spPr>
        <p:txBody>
          <a:bodyPr/>
          <a:lstStyle/>
          <a:p>
            <a:r>
              <a:rPr lang="en-US">
                <a:solidFill>
                  <a:schemeClr val="tx2"/>
                </a:solidFill>
              </a:rPr>
              <a:t>Iteration 2</a:t>
            </a:r>
          </a:p>
          <a:p>
            <a:pPr lvl="1"/>
            <a:r>
              <a:rPr lang="en-US">
                <a:solidFill>
                  <a:schemeClr val="tx2"/>
                </a:solidFill>
              </a:rPr>
              <a:t>Stepping Stone Method</a:t>
            </a:r>
          </a:p>
          <a:p>
            <a:pPr>
              <a:buFont typeface="Monotype Sorts" pitchFamily="2" charset="2"/>
              <a:buNone/>
            </a:pPr>
            <a:r>
              <a:rPr lang="en-US"/>
              <a:t>		The most negative reduced cost is = -4 determined by </a:t>
            </a:r>
            <a:r>
              <a:rPr lang="en-US" i="1"/>
              <a:t>x</a:t>
            </a:r>
            <a:r>
              <a:rPr lang="en-US" baseline="-25000"/>
              <a:t>21</a:t>
            </a:r>
            <a:r>
              <a:rPr lang="en-US"/>
              <a:t>.  The stepping stone path for this cell is (2,1),(1,1),(1,2),(2,2).  The allocations in the subtraction cells are 25 and 20 respectively.  Thus the new solution is obtained by reallocating 20 on the stepping stone path.  Thus for the next tableau:</a:t>
            </a:r>
          </a:p>
          <a:p>
            <a:pPr>
              <a:buFont typeface="Monotype Sorts" pitchFamily="2" charset="2"/>
              <a:buNone/>
            </a:pPr>
            <a:r>
              <a:rPr lang="en-US"/>
              <a:t>             </a:t>
            </a:r>
            <a:r>
              <a:rPr lang="en-US" i="1"/>
              <a:t>x</a:t>
            </a:r>
            <a:r>
              <a:rPr lang="en-US" baseline="-25000"/>
              <a:t>21</a:t>
            </a:r>
            <a:r>
              <a:rPr lang="en-US"/>
              <a:t> =   0 + 20 = 20   (0 is its current allocation)</a:t>
            </a:r>
          </a:p>
          <a:p>
            <a:pPr>
              <a:buFont typeface="Monotype Sorts" pitchFamily="2" charset="2"/>
              <a:buNone/>
            </a:pPr>
            <a:r>
              <a:rPr lang="en-US"/>
              <a:t>             </a:t>
            </a:r>
            <a:r>
              <a:rPr lang="en-US" i="1"/>
              <a:t>x</a:t>
            </a:r>
            <a:r>
              <a:rPr lang="en-US" baseline="-25000"/>
              <a:t>11</a:t>
            </a:r>
            <a:r>
              <a:rPr lang="en-US"/>
              <a:t> = 25 -  20 =   5</a:t>
            </a:r>
          </a:p>
          <a:p>
            <a:pPr>
              <a:buFont typeface="Monotype Sorts" pitchFamily="2" charset="2"/>
              <a:buNone/>
            </a:pPr>
            <a:r>
              <a:rPr lang="en-US"/>
              <a:t>             </a:t>
            </a:r>
            <a:r>
              <a:rPr lang="en-US" i="1"/>
              <a:t>x</a:t>
            </a:r>
            <a:r>
              <a:rPr lang="en-US" baseline="-25000"/>
              <a:t>12</a:t>
            </a:r>
            <a:r>
              <a:rPr lang="en-US"/>
              <a:t> = 25 + 20 = 45</a:t>
            </a:r>
          </a:p>
          <a:p>
            <a:pPr>
              <a:buFont typeface="Monotype Sorts" pitchFamily="2" charset="2"/>
              <a:buNone/>
            </a:pPr>
            <a:r>
              <a:rPr lang="en-US"/>
              <a:t>             </a:t>
            </a:r>
            <a:r>
              <a:rPr lang="en-US" i="1"/>
              <a:t>x</a:t>
            </a:r>
            <a:r>
              <a:rPr lang="en-US" baseline="-25000"/>
              <a:t>22</a:t>
            </a:r>
            <a:r>
              <a:rPr lang="en-US"/>
              <a:t> = 20 -  20 =   0   (blank for the next tableau)</a:t>
            </a:r>
          </a:p>
          <a:p>
            <a:pPr>
              <a:buFont typeface="Monotype Sorts" pitchFamily="2" charset="2"/>
              <a:buNone/>
            </a:pPr>
            <a:r>
              <a:rPr lang="en-US"/>
              <a:t>             The other occupied cells remain the same.</a:t>
            </a:r>
          </a:p>
        </p:txBody>
      </p:sp>
    </p:spTree>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r>
              <a:rPr lang="en-US"/>
              <a:t>Example:  BBC</a:t>
            </a:r>
          </a:p>
        </p:txBody>
      </p:sp>
      <p:sp>
        <p:nvSpPr>
          <p:cNvPr id="131075" name="Rectangle 3"/>
          <p:cNvSpPr>
            <a:spLocks noGrp="1" noChangeArrowheads="1"/>
          </p:cNvSpPr>
          <p:nvPr>
            <p:ph type="body" idx="1"/>
          </p:nvPr>
        </p:nvSpPr>
        <p:spPr/>
        <p:txBody>
          <a:bodyPr/>
          <a:lstStyle/>
          <a:p>
            <a:endParaRPr lang="en-US"/>
          </a:p>
        </p:txBody>
      </p:sp>
      <p:grpSp>
        <p:nvGrpSpPr>
          <p:cNvPr id="131107" name="Group 35"/>
          <p:cNvGrpSpPr>
            <a:grpSpLocks/>
          </p:cNvGrpSpPr>
          <p:nvPr/>
        </p:nvGrpSpPr>
        <p:grpSpPr bwMode="auto">
          <a:xfrm>
            <a:off x="749300" y="2068513"/>
            <a:ext cx="7772400" cy="2687637"/>
            <a:chOff x="418" y="1850"/>
            <a:chExt cx="4896" cy="1693"/>
          </a:xfrm>
        </p:grpSpPr>
        <p:sp>
          <p:nvSpPr>
            <p:cNvPr id="131108" name="Rectangle 36"/>
            <p:cNvSpPr>
              <a:spLocks noChangeArrowheads="1"/>
            </p:cNvSpPr>
            <p:nvPr/>
          </p:nvSpPr>
          <p:spPr bwMode="auto">
            <a:xfrm>
              <a:off x="1103" y="2154"/>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r>
                <a:rPr lang="en-US"/>
                <a:t>5</a:t>
              </a:r>
            </a:p>
          </p:txBody>
        </p:sp>
        <p:sp>
          <p:nvSpPr>
            <p:cNvPr id="131109" name="Rectangle 37"/>
            <p:cNvSpPr>
              <a:spLocks noChangeArrowheads="1"/>
            </p:cNvSpPr>
            <p:nvPr/>
          </p:nvSpPr>
          <p:spPr bwMode="auto">
            <a:xfrm>
              <a:off x="1995" y="2154"/>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r>
                <a:rPr lang="en-US"/>
                <a:t>45</a:t>
              </a:r>
            </a:p>
          </p:txBody>
        </p:sp>
        <p:sp>
          <p:nvSpPr>
            <p:cNvPr id="131110" name="Rectangle 38"/>
            <p:cNvSpPr>
              <a:spLocks noChangeArrowheads="1"/>
            </p:cNvSpPr>
            <p:nvPr/>
          </p:nvSpPr>
          <p:spPr bwMode="auto">
            <a:xfrm>
              <a:off x="1103" y="2687"/>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r>
                <a:rPr lang="en-US"/>
                <a:t>20</a:t>
              </a:r>
            </a:p>
          </p:txBody>
        </p:sp>
        <p:sp>
          <p:nvSpPr>
            <p:cNvPr id="131111" name="Rectangle 39"/>
            <p:cNvSpPr>
              <a:spLocks noChangeArrowheads="1"/>
            </p:cNvSpPr>
            <p:nvPr/>
          </p:nvSpPr>
          <p:spPr bwMode="auto">
            <a:xfrm>
              <a:off x="2883" y="2154"/>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131112" name="Rectangle 40"/>
            <p:cNvSpPr>
              <a:spLocks noChangeArrowheads="1"/>
            </p:cNvSpPr>
            <p:nvPr/>
          </p:nvSpPr>
          <p:spPr bwMode="auto">
            <a:xfrm>
              <a:off x="3771" y="2154"/>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131113" name="Rectangle 41"/>
            <p:cNvSpPr>
              <a:spLocks noChangeArrowheads="1"/>
            </p:cNvSpPr>
            <p:nvPr/>
          </p:nvSpPr>
          <p:spPr bwMode="auto">
            <a:xfrm>
              <a:off x="1995" y="2687"/>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endParaRPr lang="en-US"/>
            </a:p>
          </p:txBody>
        </p:sp>
        <p:sp>
          <p:nvSpPr>
            <p:cNvPr id="131114" name="Rectangle 42"/>
            <p:cNvSpPr>
              <a:spLocks noChangeArrowheads="1"/>
            </p:cNvSpPr>
            <p:nvPr/>
          </p:nvSpPr>
          <p:spPr bwMode="auto">
            <a:xfrm>
              <a:off x="2883" y="2687"/>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r>
                <a:rPr lang="en-US"/>
                <a:t>10</a:t>
              </a:r>
            </a:p>
          </p:txBody>
        </p:sp>
        <p:sp>
          <p:nvSpPr>
            <p:cNvPr id="131115" name="Rectangle 43"/>
            <p:cNvSpPr>
              <a:spLocks noChangeArrowheads="1"/>
            </p:cNvSpPr>
            <p:nvPr/>
          </p:nvSpPr>
          <p:spPr bwMode="auto">
            <a:xfrm>
              <a:off x="3771" y="2687"/>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anchor="ctr"/>
            <a:lstStyle/>
            <a:p>
              <a:r>
                <a:rPr lang="en-US"/>
                <a:t>20</a:t>
              </a:r>
            </a:p>
          </p:txBody>
        </p:sp>
        <p:sp>
          <p:nvSpPr>
            <p:cNvPr id="131116" name="Rectangle 44"/>
            <p:cNvSpPr>
              <a:spLocks noChangeArrowheads="1"/>
            </p:cNvSpPr>
            <p:nvPr/>
          </p:nvSpPr>
          <p:spPr bwMode="auto">
            <a:xfrm>
              <a:off x="3419" y="2687"/>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42</a:t>
              </a:r>
            </a:p>
          </p:txBody>
        </p:sp>
        <p:sp>
          <p:nvSpPr>
            <p:cNvPr id="131117" name="Rectangle 45"/>
            <p:cNvSpPr>
              <a:spLocks noChangeArrowheads="1"/>
            </p:cNvSpPr>
            <p:nvPr/>
          </p:nvSpPr>
          <p:spPr bwMode="auto">
            <a:xfrm>
              <a:off x="3419" y="2154"/>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40</a:t>
              </a:r>
            </a:p>
          </p:txBody>
        </p:sp>
        <p:sp>
          <p:nvSpPr>
            <p:cNvPr id="131118" name="Rectangle 46"/>
            <p:cNvSpPr>
              <a:spLocks noChangeArrowheads="1"/>
            </p:cNvSpPr>
            <p:nvPr/>
          </p:nvSpPr>
          <p:spPr bwMode="auto">
            <a:xfrm>
              <a:off x="4311" y="2154"/>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0</a:t>
              </a:r>
            </a:p>
          </p:txBody>
        </p:sp>
        <p:sp>
          <p:nvSpPr>
            <p:cNvPr id="131119" name="Rectangle 47"/>
            <p:cNvSpPr>
              <a:spLocks noChangeArrowheads="1"/>
            </p:cNvSpPr>
            <p:nvPr/>
          </p:nvSpPr>
          <p:spPr bwMode="auto">
            <a:xfrm>
              <a:off x="4311" y="2687"/>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0</a:t>
              </a:r>
            </a:p>
          </p:txBody>
        </p:sp>
        <p:sp>
          <p:nvSpPr>
            <p:cNvPr id="131120" name="Rectangle 48"/>
            <p:cNvSpPr>
              <a:spLocks noChangeArrowheads="1"/>
            </p:cNvSpPr>
            <p:nvPr/>
          </p:nvSpPr>
          <p:spPr bwMode="auto">
            <a:xfrm>
              <a:off x="2531" y="2687"/>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40</a:t>
              </a:r>
            </a:p>
          </p:txBody>
        </p:sp>
        <p:sp>
          <p:nvSpPr>
            <p:cNvPr id="131121" name="Rectangle 49"/>
            <p:cNvSpPr>
              <a:spLocks noChangeArrowheads="1"/>
            </p:cNvSpPr>
            <p:nvPr/>
          </p:nvSpPr>
          <p:spPr bwMode="auto">
            <a:xfrm>
              <a:off x="2531" y="2154"/>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30</a:t>
              </a:r>
            </a:p>
          </p:txBody>
        </p:sp>
        <p:sp>
          <p:nvSpPr>
            <p:cNvPr id="131122" name="Rectangle 50"/>
            <p:cNvSpPr>
              <a:spLocks noChangeArrowheads="1"/>
            </p:cNvSpPr>
            <p:nvPr/>
          </p:nvSpPr>
          <p:spPr bwMode="auto">
            <a:xfrm>
              <a:off x="1643" y="2687"/>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30</a:t>
              </a:r>
            </a:p>
          </p:txBody>
        </p:sp>
        <p:sp>
          <p:nvSpPr>
            <p:cNvPr id="131123" name="Rectangle 51"/>
            <p:cNvSpPr>
              <a:spLocks noChangeArrowheads="1"/>
            </p:cNvSpPr>
            <p:nvPr/>
          </p:nvSpPr>
          <p:spPr bwMode="auto">
            <a:xfrm>
              <a:off x="418" y="3279"/>
              <a:ext cx="751"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Demand</a:t>
              </a:r>
            </a:p>
          </p:txBody>
        </p:sp>
        <p:sp>
          <p:nvSpPr>
            <p:cNvPr id="131124" name="Rectangle 52"/>
            <p:cNvSpPr>
              <a:spLocks noChangeArrowheads="1"/>
            </p:cNvSpPr>
            <p:nvPr/>
          </p:nvSpPr>
          <p:spPr bwMode="auto">
            <a:xfrm>
              <a:off x="4678" y="1850"/>
              <a:ext cx="636"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Supply</a:t>
              </a:r>
            </a:p>
          </p:txBody>
        </p:sp>
        <p:sp>
          <p:nvSpPr>
            <p:cNvPr id="131125" name="Rectangle 53"/>
            <p:cNvSpPr>
              <a:spLocks noChangeArrowheads="1"/>
            </p:cNvSpPr>
            <p:nvPr/>
          </p:nvSpPr>
          <p:spPr bwMode="auto">
            <a:xfrm>
              <a:off x="4846" y="2811"/>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50</a:t>
              </a:r>
            </a:p>
          </p:txBody>
        </p:sp>
        <p:sp>
          <p:nvSpPr>
            <p:cNvPr id="131126" name="Rectangle 54"/>
            <p:cNvSpPr>
              <a:spLocks noChangeArrowheads="1"/>
            </p:cNvSpPr>
            <p:nvPr/>
          </p:nvSpPr>
          <p:spPr bwMode="auto">
            <a:xfrm>
              <a:off x="4846" y="2270"/>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50</a:t>
              </a:r>
            </a:p>
          </p:txBody>
        </p:sp>
        <p:sp>
          <p:nvSpPr>
            <p:cNvPr id="131127" name="Rectangle 55"/>
            <p:cNvSpPr>
              <a:spLocks noChangeArrowheads="1"/>
            </p:cNvSpPr>
            <p:nvPr/>
          </p:nvSpPr>
          <p:spPr bwMode="auto">
            <a:xfrm>
              <a:off x="4078" y="3279"/>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20</a:t>
              </a:r>
            </a:p>
          </p:txBody>
        </p:sp>
        <p:sp>
          <p:nvSpPr>
            <p:cNvPr id="131128" name="Rectangle 56"/>
            <p:cNvSpPr>
              <a:spLocks noChangeArrowheads="1"/>
            </p:cNvSpPr>
            <p:nvPr/>
          </p:nvSpPr>
          <p:spPr bwMode="auto">
            <a:xfrm>
              <a:off x="3178" y="3279"/>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10</a:t>
              </a:r>
            </a:p>
          </p:txBody>
        </p:sp>
        <p:sp>
          <p:nvSpPr>
            <p:cNvPr id="131129" name="Rectangle 57"/>
            <p:cNvSpPr>
              <a:spLocks noChangeArrowheads="1"/>
            </p:cNvSpPr>
            <p:nvPr/>
          </p:nvSpPr>
          <p:spPr bwMode="auto">
            <a:xfrm>
              <a:off x="2278" y="3279"/>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45</a:t>
              </a:r>
            </a:p>
          </p:txBody>
        </p:sp>
        <p:sp>
          <p:nvSpPr>
            <p:cNvPr id="131130" name="Rectangle 58"/>
            <p:cNvSpPr>
              <a:spLocks noChangeArrowheads="1"/>
            </p:cNvSpPr>
            <p:nvPr/>
          </p:nvSpPr>
          <p:spPr bwMode="auto">
            <a:xfrm>
              <a:off x="1378" y="3279"/>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25</a:t>
              </a:r>
            </a:p>
          </p:txBody>
        </p:sp>
        <p:sp>
          <p:nvSpPr>
            <p:cNvPr id="131131" name="Rectangle 59"/>
            <p:cNvSpPr>
              <a:spLocks noChangeArrowheads="1"/>
            </p:cNvSpPr>
            <p:nvPr/>
          </p:nvSpPr>
          <p:spPr bwMode="auto">
            <a:xfrm>
              <a:off x="3898" y="1850"/>
              <a:ext cx="697"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Dummy</a:t>
              </a:r>
            </a:p>
          </p:txBody>
        </p:sp>
        <p:sp>
          <p:nvSpPr>
            <p:cNvPr id="131132" name="Rectangle 60"/>
            <p:cNvSpPr>
              <a:spLocks noChangeArrowheads="1"/>
            </p:cNvSpPr>
            <p:nvPr/>
          </p:nvSpPr>
          <p:spPr bwMode="auto">
            <a:xfrm>
              <a:off x="418" y="2270"/>
              <a:ext cx="64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Plant 1</a:t>
              </a:r>
            </a:p>
          </p:txBody>
        </p:sp>
        <p:sp>
          <p:nvSpPr>
            <p:cNvPr id="131133" name="Rectangle 61"/>
            <p:cNvSpPr>
              <a:spLocks noChangeArrowheads="1"/>
            </p:cNvSpPr>
            <p:nvPr/>
          </p:nvSpPr>
          <p:spPr bwMode="auto">
            <a:xfrm>
              <a:off x="418" y="2811"/>
              <a:ext cx="64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Plant 2</a:t>
              </a:r>
            </a:p>
          </p:txBody>
        </p:sp>
        <p:sp>
          <p:nvSpPr>
            <p:cNvPr id="131134" name="Rectangle 62"/>
            <p:cNvSpPr>
              <a:spLocks noChangeArrowheads="1"/>
            </p:cNvSpPr>
            <p:nvPr/>
          </p:nvSpPr>
          <p:spPr bwMode="auto">
            <a:xfrm>
              <a:off x="2938" y="1850"/>
              <a:ext cx="849"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Eastwood</a:t>
              </a:r>
            </a:p>
          </p:txBody>
        </p:sp>
        <p:sp>
          <p:nvSpPr>
            <p:cNvPr id="131135" name="Rectangle 63"/>
            <p:cNvSpPr>
              <a:spLocks noChangeArrowheads="1"/>
            </p:cNvSpPr>
            <p:nvPr/>
          </p:nvSpPr>
          <p:spPr bwMode="auto">
            <a:xfrm>
              <a:off x="1990" y="1850"/>
              <a:ext cx="893"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Westwood</a:t>
              </a:r>
            </a:p>
          </p:txBody>
        </p:sp>
        <p:sp>
          <p:nvSpPr>
            <p:cNvPr id="131136" name="Rectangle 64"/>
            <p:cNvSpPr>
              <a:spLocks noChangeArrowheads="1"/>
            </p:cNvSpPr>
            <p:nvPr/>
          </p:nvSpPr>
          <p:spPr bwMode="auto">
            <a:xfrm>
              <a:off x="1090" y="1850"/>
              <a:ext cx="920"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Northwood</a:t>
              </a:r>
            </a:p>
          </p:txBody>
        </p:sp>
        <p:sp>
          <p:nvSpPr>
            <p:cNvPr id="131137" name="Rectangle 65"/>
            <p:cNvSpPr>
              <a:spLocks noChangeArrowheads="1"/>
            </p:cNvSpPr>
            <p:nvPr/>
          </p:nvSpPr>
          <p:spPr bwMode="auto">
            <a:xfrm>
              <a:off x="1643" y="2155"/>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24</a:t>
              </a:r>
            </a:p>
          </p:txBody>
        </p:sp>
      </p:grpSp>
      <p:sp>
        <p:nvSpPr>
          <p:cNvPr id="131138" name="Text Box 66"/>
          <p:cNvSpPr txBox="1">
            <a:spLocks noChangeArrowheads="1"/>
          </p:cNvSpPr>
          <p:nvPr/>
        </p:nvSpPr>
        <p:spPr bwMode="auto">
          <a:xfrm>
            <a:off x="925513" y="5213350"/>
            <a:ext cx="6153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t>Total cost is $2490 = 2570 -</a:t>
            </a:r>
            <a:r>
              <a:rPr lang="ar-EG">
                <a:cs typeface="Arial" panose="020B0604020202020204" pitchFamily="34" charset="0"/>
              </a:rPr>
              <a:t> </a:t>
            </a:r>
            <a:r>
              <a:rPr lang="en-US">
                <a:cs typeface="Arial" panose="020B0604020202020204" pitchFamily="34" charset="0"/>
              </a:rPr>
              <a:t> 4(20)</a:t>
            </a:r>
          </a:p>
        </p:txBody>
      </p:sp>
    </p:spTree>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noFill/>
          <a:ln/>
        </p:spPr>
        <p:txBody>
          <a:bodyPr/>
          <a:lstStyle/>
          <a:p>
            <a:r>
              <a:rPr lang="en-US"/>
              <a:t>Example:  BBC</a:t>
            </a:r>
          </a:p>
        </p:txBody>
      </p:sp>
      <p:sp>
        <p:nvSpPr>
          <p:cNvPr id="30723" name="Rectangle 3"/>
          <p:cNvSpPr>
            <a:spLocks noGrp="1" noChangeArrowheads="1"/>
          </p:cNvSpPr>
          <p:nvPr>
            <p:ph type="body" idx="1"/>
          </p:nvPr>
        </p:nvSpPr>
        <p:spPr>
          <a:noFill/>
          <a:ln/>
        </p:spPr>
        <p:txBody>
          <a:bodyPr/>
          <a:lstStyle/>
          <a:p>
            <a:r>
              <a:rPr lang="en-US">
                <a:solidFill>
                  <a:schemeClr val="tx2"/>
                </a:solidFill>
              </a:rPr>
              <a:t>Iteration 3</a:t>
            </a:r>
          </a:p>
          <a:p>
            <a:pPr lvl="1"/>
            <a:r>
              <a:rPr lang="en-US">
                <a:solidFill>
                  <a:schemeClr val="tx2"/>
                </a:solidFill>
              </a:rPr>
              <a:t>MODI Method</a:t>
            </a:r>
          </a:p>
          <a:p>
            <a:pPr>
              <a:buFont typeface="Monotype Sorts" pitchFamily="2" charset="2"/>
              <a:buNone/>
            </a:pPr>
            <a:r>
              <a:rPr lang="en-US"/>
              <a:t>			The reduced costs are found by calculating 	the </a:t>
            </a:r>
            <a:r>
              <a:rPr lang="en-US" i="1"/>
              <a:t>u</a:t>
            </a:r>
            <a:r>
              <a:rPr lang="en-US" i="1" baseline="-25000"/>
              <a:t>i</a:t>
            </a:r>
            <a:r>
              <a:rPr lang="en-US"/>
              <a:t>'s and </a:t>
            </a:r>
            <a:r>
              <a:rPr lang="en-US" i="1"/>
              <a:t>v</a:t>
            </a:r>
            <a:r>
              <a:rPr lang="en-US" i="1" baseline="-25000"/>
              <a:t>j</a:t>
            </a:r>
            <a:r>
              <a:rPr lang="en-US"/>
              <a:t>'s for this tableau.</a:t>
            </a:r>
          </a:p>
          <a:p>
            <a:pPr>
              <a:buFont typeface="Monotype Sorts" pitchFamily="2" charset="2"/>
              <a:buNone/>
            </a:pPr>
            <a:r>
              <a:rPr lang="en-US"/>
              <a:t>		1. Set </a:t>
            </a:r>
            <a:r>
              <a:rPr lang="en-US" i="1"/>
              <a:t>u</a:t>
            </a:r>
            <a:r>
              <a:rPr lang="en-US" baseline="-25000"/>
              <a:t>1</a:t>
            </a:r>
            <a:r>
              <a:rPr lang="en-US"/>
              <a:t> = 0</a:t>
            </a:r>
          </a:p>
          <a:p>
            <a:pPr>
              <a:buFont typeface="Monotype Sorts" pitchFamily="2" charset="2"/>
              <a:buNone/>
            </a:pPr>
            <a:r>
              <a:rPr lang="en-US"/>
              <a:t>		2. Since </a:t>
            </a:r>
            <a:r>
              <a:rPr lang="en-US" i="1"/>
              <a:t>u</a:t>
            </a:r>
            <a:r>
              <a:rPr lang="en-US" baseline="-25000"/>
              <a:t>1</a:t>
            </a:r>
            <a:r>
              <a:rPr lang="en-US"/>
              <a:t> + </a:t>
            </a:r>
            <a:r>
              <a:rPr lang="en-US" i="1"/>
              <a:t>v</a:t>
            </a:r>
            <a:r>
              <a:rPr lang="en-US" i="1" baseline="-25000"/>
              <a:t>j</a:t>
            </a:r>
            <a:r>
              <a:rPr lang="en-US"/>
              <a:t> = </a:t>
            </a:r>
            <a:r>
              <a:rPr lang="en-US" i="1"/>
              <a:t>c</a:t>
            </a:r>
            <a:r>
              <a:rPr lang="en-US" baseline="-25000"/>
              <a:t>1</a:t>
            </a:r>
            <a:r>
              <a:rPr lang="en-US" i="1" baseline="-25000"/>
              <a:t>j</a:t>
            </a:r>
            <a:r>
              <a:rPr lang="en-US"/>
              <a:t> for occupied cells in row 1, then</a:t>
            </a:r>
          </a:p>
          <a:p>
            <a:pPr>
              <a:buFont typeface="Monotype Sorts" pitchFamily="2" charset="2"/>
              <a:buNone/>
            </a:pPr>
            <a:r>
              <a:rPr lang="en-US"/>
              <a:t>       	    </a:t>
            </a:r>
            <a:r>
              <a:rPr lang="en-US" i="1"/>
              <a:t>v</a:t>
            </a:r>
            <a:r>
              <a:rPr lang="en-US" baseline="-25000"/>
              <a:t>1</a:t>
            </a:r>
            <a:r>
              <a:rPr lang="en-US"/>
              <a:t> = 24 and </a:t>
            </a:r>
            <a:r>
              <a:rPr lang="en-US" i="1"/>
              <a:t>v</a:t>
            </a:r>
            <a:r>
              <a:rPr lang="en-US" baseline="-25000"/>
              <a:t>2</a:t>
            </a:r>
            <a:r>
              <a:rPr lang="en-US"/>
              <a:t> = 30.</a:t>
            </a:r>
          </a:p>
          <a:p>
            <a:pPr>
              <a:buFont typeface="Monotype Sorts" pitchFamily="2" charset="2"/>
              <a:buNone/>
            </a:pPr>
            <a:r>
              <a:rPr lang="en-US"/>
              <a:t>		3. Since </a:t>
            </a:r>
            <a:r>
              <a:rPr lang="en-US" i="1"/>
              <a:t>u</a:t>
            </a:r>
            <a:r>
              <a:rPr lang="en-US" i="1" baseline="-25000"/>
              <a:t>i</a:t>
            </a:r>
            <a:r>
              <a:rPr lang="en-US"/>
              <a:t> + </a:t>
            </a:r>
            <a:r>
              <a:rPr lang="en-US" i="1"/>
              <a:t>v</a:t>
            </a:r>
            <a:r>
              <a:rPr lang="en-US" baseline="-25000"/>
              <a:t>1</a:t>
            </a:r>
            <a:r>
              <a:rPr lang="en-US"/>
              <a:t> = </a:t>
            </a:r>
            <a:r>
              <a:rPr lang="en-US" i="1"/>
              <a:t>c</a:t>
            </a:r>
            <a:r>
              <a:rPr lang="en-US" i="1" baseline="-25000"/>
              <a:t>i</a:t>
            </a:r>
            <a:r>
              <a:rPr lang="en-US" baseline="-25000"/>
              <a:t>1</a:t>
            </a:r>
            <a:r>
              <a:rPr lang="en-US"/>
              <a:t> for occupied cells in column 2, 	    then </a:t>
            </a:r>
            <a:r>
              <a:rPr lang="en-US" i="1"/>
              <a:t>u</a:t>
            </a:r>
            <a:r>
              <a:rPr lang="en-US" baseline="-25000"/>
              <a:t>2</a:t>
            </a:r>
            <a:r>
              <a:rPr lang="en-US"/>
              <a:t> + 24 = 30 or </a:t>
            </a:r>
            <a:r>
              <a:rPr lang="en-US" i="1"/>
              <a:t>u</a:t>
            </a:r>
            <a:r>
              <a:rPr lang="en-US" baseline="-25000"/>
              <a:t>2</a:t>
            </a:r>
            <a:r>
              <a:rPr lang="en-US"/>
              <a:t> = 6. </a:t>
            </a:r>
          </a:p>
          <a:p>
            <a:pPr>
              <a:buFont typeface="Monotype Sorts" pitchFamily="2" charset="2"/>
              <a:buNone/>
            </a:pPr>
            <a:r>
              <a:rPr lang="en-US"/>
              <a:t>		4. Since </a:t>
            </a:r>
            <a:r>
              <a:rPr lang="en-US" i="1"/>
              <a:t>u</a:t>
            </a:r>
            <a:r>
              <a:rPr lang="en-US" baseline="-25000"/>
              <a:t>2</a:t>
            </a:r>
            <a:r>
              <a:rPr lang="en-US"/>
              <a:t> + </a:t>
            </a:r>
            <a:r>
              <a:rPr lang="en-US" i="1"/>
              <a:t>v</a:t>
            </a:r>
            <a:r>
              <a:rPr lang="en-US" i="1" baseline="-25000"/>
              <a:t>j</a:t>
            </a:r>
            <a:r>
              <a:rPr lang="en-US"/>
              <a:t> = </a:t>
            </a:r>
            <a:r>
              <a:rPr lang="en-US" i="1"/>
              <a:t>c</a:t>
            </a:r>
            <a:r>
              <a:rPr lang="en-US" baseline="-25000"/>
              <a:t>2</a:t>
            </a:r>
            <a:r>
              <a:rPr lang="en-US" i="1" baseline="-25000"/>
              <a:t>j</a:t>
            </a:r>
            <a:r>
              <a:rPr lang="en-US"/>
              <a:t> for occupied cells in row 2, then</a:t>
            </a:r>
          </a:p>
          <a:p>
            <a:pPr>
              <a:buFont typeface="Monotype Sorts" pitchFamily="2" charset="2"/>
              <a:buNone/>
            </a:pPr>
            <a:r>
              <a:rPr lang="en-US"/>
              <a:t>       	    6 + </a:t>
            </a:r>
            <a:r>
              <a:rPr lang="en-US" i="1"/>
              <a:t>v</a:t>
            </a:r>
            <a:r>
              <a:rPr lang="en-US" baseline="-25000"/>
              <a:t>3</a:t>
            </a:r>
            <a:r>
              <a:rPr lang="en-US"/>
              <a:t> = 42 or </a:t>
            </a:r>
            <a:r>
              <a:rPr lang="en-US" i="1"/>
              <a:t>v</a:t>
            </a:r>
            <a:r>
              <a:rPr lang="en-US" baseline="-25000"/>
              <a:t>3</a:t>
            </a:r>
            <a:r>
              <a:rPr lang="en-US"/>
              <a:t> = 36, and 6 + </a:t>
            </a:r>
            <a:r>
              <a:rPr lang="en-US" i="1"/>
              <a:t>v</a:t>
            </a:r>
            <a:r>
              <a:rPr lang="en-US" baseline="-25000"/>
              <a:t>4</a:t>
            </a:r>
            <a:r>
              <a:rPr lang="en-US"/>
              <a:t> = 0 or </a:t>
            </a:r>
            <a:r>
              <a:rPr lang="en-US" i="1"/>
              <a:t>v</a:t>
            </a:r>
            <a:r>
              <a:rPr lang="en-US" baseline="-25000"/>
              <a:t>4</a:t>
            </a:r>
            <a:r>
              <a:rPr lang="en-US"/>
              <a:t> = -6. </a:t>
            </a:r>
          </a:p>
        </p:txBody>
      </p:sp>
    </p:spTree>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noFill/>
          <a:ln/>
        </p:spPr>
        <p:txBody>
          <a:bodyPr/>
          <a:lstStyle/>
          <a:p>
            <a:r>
              <a:rPr lang="en-US"/>
              <a:t>Example:  BBC</a:t>
            </a:r>
          </a:p>
        </p:txBody>
      </p:sp>
      <p:sp>
        <p:nvSpPr>
          <p:cNvPr id="31747" name="Rectangle 3"/>
          <p:cNvSpPr>
            <a:spLocks noGrp="1" noChangeArrowheads="1"/>
          </p:cNvSpPr>
          <p:nvPr>
            <p:ph type="body" idx="1"/>
          </p:nvPr>
        </p:nvSpPr>
        <p:spPr>
          <a:noFill/>
          <a:ln/>
        </p:spPr>
        <p:txBody>
          <a:bodyPr/>
          <a:lstStyle/>
          <a:p>
            <a:r>
              <a:rPr lang="en-US">
                <a:solidFill>
                  <a:schemeClr val="tx2"/>
                </a:solidFill>
              </a:rPr>
              <a:t>Iteration 3</a:t>
            </a:r>
          </a:p>
          <a:p>
            <a:pPr lvl="1"/>
            <a:r>
              <a:rPr lang="en-US">
                <a:solidFill>
                  <a:schemeClr val="tx2"/>
                </a:solidFill>
              </a:rPr>
              <a:t>MODI Method (continued)</a:t>
            </a:r>
          </a:p>
          <a:p>
            <a:pPr>
              <a:buFont typeface="Monotype Sorts" pitchFamily="2" charset="2"/>
              <a:buNone/>
            </a:pPr>
            <a:r>
              <a:rPr lang="en-US"/>
              <a:t>		Calculate the reduced costs (circled numbers on the 	next slide) by </a:t>
            </a:r>
            <a:r>
              <a:rPr lang="en-US" i="1"/>
              <a:t>c</a:t>
            </a:r>
            <a:r>
              <a:rPr lang="en-US" i="1" baseline="-25000"/>
              <a:t>ij</a:t>
            </a:r>
            <a:r>
              <a:rPr lang="en-US"/>
              <a:t> - </a:t>
            </a:r>
            <a:r>
              <a:rPr lang="en-US" i="1"/>
              <a:t>u</a:t>
            </a:r>
            <a:r>
              <a:rPr lang="en-US" i="1" baseline="-25000"/>
              <a:t>i</a:t>
            </a:r>
            <a:r>
              <a:rPr lang="en-US"/>
              <a:t> + </a:t>
            </a:r>
            <a:r>
              <a:rPr lang="en-US" i="1"/>
              <a:t>v</a:t>
            </a:r>
            <a:r>
              <a:rPr lang="en-US" i="1" baseline="-25000"/>
              <a:t>j</a:t>
            </a:r>
            <a:r>
              <a:rPr lang="en-US"/>
              <a:t>.</a:t>
            </a:r>
          </a:p>
          <a:p>
            <a:pPr>
              <a:buFont typeface="Monotype Sorts" pitchFamily="2" charset="2"/>
              <a:buNone/>
            </a:pPr>
            <a:endParaRPr lang="en-US" sz="1000"/>
          </a:p>
          <a:p>
            <a:pPr>
              <a:buFont typeface="Monotype Sorts" pitchFamily="2" charset="2"/>
              <a:buNone/>
            </a:pPr>
            <a:r>
              <a:rPr lang="en-US"/>
              <a:t>            	 </a:t>
            </a:r>
            <a:r>
              <a:rPr lang="en-US" u="sng"/>
              <a:t>Unoccupied Cell</a:t>
            </a:r>
            <a:r>
              <a:rPr lang="en-US"/>
              <a:t>        </a:t>
            </a:r>
            <a:r>
              <a:rPr lang="en-US" u="sng"/>
              <a:t>Reduced Cost</a:t>
            </a:r>
            <a:endParaRPr lang="en-US"/>
          </a:p>
          <a:p>
            <a:pPr>
              <a:buFont typeface="Monotype Sorts" pitchFamily="2" charset="2"/>
              <a:buNone/>
            </a:pPr>
            <a:r>
              <a:rPr lang="en-US"/>
              <a:t>             		(1,3)          	  40 - 0 -  36  =  4</a:t>
            </a:r>
          </a:p>
          <a:p>
            <a:pPr>
              <a:buFont typeface="Monotype Sorts" pitchFamily="2" charset="2"/>
              <a:buNone/>
            </a:pPr>
            <a:r>
              <a:rPr lang="en-US"/>
              <a:t>                  		(1,4)            	    0 - 0 - (-6) =  6</a:t>
            </a:r>
          </a:p>
          <a:p>
            <a:pPr>
              <a:buFont typeface="Monotype Sorts" pitchFamily="2" charset="2"/>
              <a:buNone/>
            </a:pPr>
            <a:r>
              <a:rPr lang="en-US"/>
              <a:t>                  		(2,2)          	  40 - 6 -  30  =  4</a:t>
            </a:r>
          </a:p>
          <a:p>
            <a:pPr>
              <a:buFont typeface="Monotype Sorts" pitchFamily="2" charset="2"/>
              <a:buNone/>
            </a:pPr>
            <a:endParaRPr lang="en-US"/>
          </a:p>
        </p:txBody>
      </p:sp>
      <p:sp>
        <p:nvSpPr>
          <p:cNvPr id="31748" name="Text Box 4"/>
          <p:cNvSpPr txBox="1">
            <a:spLocks noChangeArrowheads="1"/>
          </p:cNvSpPr>
          <p:nvPr/>
        </p:nvSpPr>
        <p:spPr bwMode="auto">
          <a:xfrm>
            <a:off x="368300" y="5510213"/>
            <a:ext cx="765968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t>Since all the reduced cost are nonnegative, the current solution is optimal</a:t>
            </a:r>
          </a:p>
        </p:txBody>
      </p:sp>
    </p:spTree>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noFill/>
          <a:ln/>
        </p:spPr>
        <p:txBody>
          <a:bodyPr/>
          <a:lstStyle/>
          <a:p>
            <a:r>
              <a:rPr lang="en-US"/>
              <a:t>Example:  BBC</a:t>
            </a:r>
          </a:p>
        </p:txBody>
      </p:sp>
      <p:sp>
        <p:nvSpPr>
          <p:cNvPr id="32771" name="Rectangle 3"/>
          <p:cNvSpPr>
            <a:spLocks noGrp="1" noChangeArrowheads="1"/>
          </p:cNvSpPr>
          <p:nvPr>
            <p:ph type="body" idx="1"/>
          </p:nvPr>
        </p:nvSpPr>
        <p:spPr>
          <a:xfrm>
            <a:off x="520700" y="1065213"/>
            <a:ext cx="8101013" cy="1541462"/>
          </a:xfrm>
          <a:noFill/>
          <a:ln/>
        </p:spPr>
        <p:txBody>
          <a:bodyPr/>
          <a:lstStyle/>
          <a:p>
            <a:r>
              <a:rPr lang="en-US">
                <a:solidFill>
                  <a:schemeClr val="tx2"/>
                </a:solidFill>
              </a:rPr>
              <a:t>Iteration 3 Tableau</a:t>
            </a:r>
          </a:p>
          <a:p>
            <a:pPr>
              <a:buFont typeface="Monotype Sorts" pitchFamily="2" charset="2"/>
              <a:buNone/>
            </a:pPr>
            <a:r>
              <a:rPr lang="en-US"/>
              <a:t>		Since all the reduced costs are non-negative, this is the optimal tableau.</a:t>
            </a:r>
          </a:p>
        </p:txBody>
      </p:sp>
      <p:grpSp>
        <p:nvGrpSpPr>
          <p:cNvPr id="32806" name="Group 38"/>
          <p:cNvGrpSpPr>
            <a:grpSpLocks/>
          </p:cNvGrpSpPr>
          <p:nvPr/>
        </p:nvGrpSpPr>
        <p:grpSpPr bwMode="auto">
          <a:xfrm>
            <a:off x="896938" y="2509838"/>
            <a:ext cx="7472362" cy="2747962"/>
            <a:chOff x="610" y="1581"/>
            <a:chExt cx="4707" cy="1731"/>
          </a:xfrm>
        </p:grpSpPr>
        <p:sp>
          <p:nvSpPr>
            <p:cNvPr id="32772" name="Rectangle 4"/>
            <p:cNvSpPr>
              <a:spLocks noChangeArrowheads="1"/>
            </p:cNvSpPr>
            <p:nvPr/>
          </p:nvSpPr>
          <p:spPr bwMode="auto">
            <a:xfrm>
              <a:off x="1287" y="1922"/>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90488" tIns="44450" rIns="90488" bIns="44450" anchor="ctr"/>
            <a:lstStyle/>
            <a:p>
              <a:pPr algn="ctr"/>
              <a:r>
                <a:rPr lang="en-US" sz="2400" i="0">
                  <a:solidFill>
                    <a:srgbClr val="FFFFFF"/>
                  </a:solidFill>
                  <a:effectLst>
                    <a:outerShdw blurRad="38100" dist="38100" dir="2700000" algn="tl">
                      <a:srgbClr val="000000"/>
                    </a:outerShdw>
                  </a:effectLst>
                </a:rPr>
                <a:t>5</a:t>
              </a:r>
              <a:r>
                <a:rPr lang="en-US" sz="2400" i="0"/>
                <a:t>     </a:t>
              </a:r>
            </a:p>
          </p:txBody>
        </p:sp>
        <p:sp>
          <p:nvSpPr>
            <p:cNvPr id="32773" name="Rectangle 5"/>
            <p:cNvSpPr>
              <a:spLocks noChangeArrowheads="1"/>
            </p:cNvSpPr>
            <p:nvPr/>
          </p:nvSpPr>
          <p:spPr bwMode="auto">
            <a:xfrm>
              <a:off x="2179" y="1922"/>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90488" tIns="44450" rIns="90488" bIns="44450" anchor="ctr"/>
            <a:lstStyle/>
            <a:p>
              <a:pPr algn="ctr"/>
              <a:r>
                <a:rPr lang="en-US" sz="2400" i="0">
                  <a:solidFill>
                    <a:srgbClr val="FFFFFF"/>
                  </a:solidFill>
                  <a:effectLst>
                    <a:outerShdw blurRad="38100" dist="38100" dir="2700000" algn="tl">
                      <a:srgbClr val="000000"/>
                    </a:outerShdw>
                  </a:effectLst>
                </a:rPr>
                <a:t>45     </a:t>
              </a:r>
            </a:p>
          </p:txBody>
        </p:sp>
        <p:sp>
          <p:nvSpPr>
            <p:cNvPr id="32774" name="Rectangle 6"/>
            <p:cNvSpPr>
              <a:spLocks noChangeArrowheads="1"/>
            </p:cNvSpPr>
            <p:nvPr/>
          </p:nvSpPr>
          <p:spPr bwMode="auto">
            <a:xfrm>
              <a:off x="1287" y="2455"/>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90488" tIns="44450" rIns="90488" bIns="44450" anchor="ctr"/>
            <a:lstStyle/>
            <a:p>
              <a:pPr algn="ctr"/>
              <a:r>
                <a:rPr lang="en-US" sz="2400" i="0">
                  <a:solidFill>
                    <a:srgbClr val="FFFFFF"/>
                  </a:solidFill>
                  <a:effectLst>
                    <a:outerShdw blurRad="38100" dist="38100" dir="2700000" algn="tl">
                      <a:srgbClr val="000000"/>
                    </a:outerShdw>
                  </a:effectLst>
                </a:rPr>
                <a:t>20    </a:t>
              </a:r>
            </a:p>
          </p:txBody>
        </p:sp>
        <p:sp>
          <p:nvSpPr>
            <p:cNvPr id="32775" name="Rectangle 7"/>
            <p:cNvSpPr>
              <a:spLocks noChangeArrowheads="1"/>
            </p:cNvSpPr>
            <p:nvPr/>
          </p:nvSpPr>
          <p:spPr bwMode="auto">
            <a:xfrm>
              <a:off x="3071" y="1922"/>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90488" tIns="44450" rIns="90488" bIns="44450" anchor="ctr"/>
            <a:lstStyle/>
            <a:p>
              <a:pPr algn="ctr"/>
              <a:r>
                <a:rPr lang="en-US" sz="2400" i="0">
                  <a:solidFill>
                    <a:srgbClr val="FFFFFF"/>
                  </a:solidFill>
                  <a:effectLst>
                    <a:outerShdw blurRad="38100" dist="38100" dir="2700000" algn="tl">
                      <a:srgbClr val="000000"/>
                    </a:outerShdw>
                  </a:effectLst>
                </a:rPr>
                <a:t>+4       </a:t>
              </a:r>
            </a:p>
          </p:txBody>
        </p:sp>
        <p:sp>
          <p:nvSpPr>
            <p:cNvPr id="32776" name="Rectangle 8"/>
            <p:cNvSpPr>
              <a:spLocks noChangeArrowheads="1"/>
            </p:cNvSpPr>
            <p:nvPr/>
          </p:nvSpPr>
          <p:spPr bwMode="auto">
            <a:xfrm>
              <a:off x="3963" y="1922"/>
              <a:ext cx="892" cy="533"/>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90488" tIns="44450" rIns="90488" bIns="44450" anchor="ctr"/>
            <a:lstStyle/>
            <a:p>
              <a:pPr algn="ctr"/>
              <a:r>
                <a:rPr lang="en-US" sz="2400" i="0">
                  <a:solidFill>
                    <a:srgbClr val="FFFFFF"/>
                  </a:solidFill>
                  <a:effectLst>
                    <a:outerShdw blurRad="38100" dist="38100" dir="2700000" algn="tl">
                      <a:srgbClr val="000000"/>
                    </a:outerShdw>
                  </a:effectLst>
                </a:rPr>
                <a:t>+6       </a:t>
              </a:r>
            </a:p>
          </p:txBody>
        </p:sp>
        <p:sp>
          <p:nvSpPr>
            <p:cNvPr id="32777" name="Rectangle 9"/>
            <p:cNvSpPr>
              <a:spLocks noChangeArrowheads="1"/>
            </p:cNvSpPr>
            <p:nvPr/>
          </p:nvSpPr>
          <p:spPr bwMode="auto">
            <a:xfrm>
              <a:off x="2179" y="2455"/>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90488" tIns="44450" rIns="90488" bIns="44450" anchor="ctr"/>
            <a:lstStyle/>
            <a:p>
              <a:pPr algn="ctr"/>
              <a:r>
                <a:rPr lang="en-US" sz="2400" i="0">
                  <a:solidFill>
                    <a:srgbClr val="FFFFFF"/>
                  </a:solidFill>
                  <a:effectLst>
                    <a:outerShdw blurRad="38100" dist="38100" dir="2700000" algn="tl">
                      <a:srgbClr val="000000"/>
                    </a:outerShdw>
                  </a:effectLst>
                </a:rPr>
                <a:t>+4      </a:t>
              </a:r>
            </a:p>
          </p:txBody>
        </p:sp>
        <p:sp>
          <p:nvSpPr>
            <p:cNvPr id="32778" name="Rectangle 10"/>
            <p:cNvSpPr>
              <a:spLocks noChangeArrowheads="1"/>
            </p:cNvSpPr>
            <p:nvPr/>
          </p:nvSpPr>
          <p:spPr bwMode="auto">
            <a:xfrm>
              <a:off x="3071" y="2455"/>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90488" tIns="44450" rIns="90488" bIns="44450" anchor="ctr"/>
            <a:lstStyle/>
            <a:p>
              <a:pPr algn="ctr"/>
              <a:r>
                <a:rPr lang="en-US" sz="2400" i="0">
                  <a:solidFill>
                    <a:srgbClr val="FFFFFF"/>
                  </a:solidFill>
                  <a:effectLst>
                    <a:outerShdw blurRad="38100" dist="38100" dir="2700000" algn="tl">
                      <a:srgbClr val="000000"/>
                    </a:outerShdw>
                  </a:effectLst>
                </a:rPr>
                <a:t>10     </a:t>
              </a:r>
            </a:p>
          </p:txBody>
        </p:sp>
        <p:sp>
          <p:nvSpPr>
            <p:cNvPr id="32779" name="Rectangle 11"/>
            <p:cNvSpPr>
              <a:spLocks noChangeArrowheads="1"/>
            </p:cNvSpPr>
            <p:nvPr/>
          </p:nvSpPr>
          <p:spPr bwMode="auto">
            <a:xfrm>
              <a:off x="3963" y="2455"/>
              <a:ext cx="892" cy="53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90488" tIns="44450" rIns="90488" bIns="44450" anchor="ctr"/>
            <a:lstStyle/>
            <a:p>
              <a:pPr algn="ctr"/>
              <a:r>
                <a:rPr lang="en-US" sz="2400" i="0">
                  <a:solidFill>
                    <a:srgbClr val="FFFFFF"/>
                  </a:solidFill>
                  <a:effectLst>
                    <a:outerShdw blurRad="38100" dist="38100" dir="2700000" algn="tl">
                      <a:srgbClr val="000000"/>
                    </a:outerShdw>
                  </a:effectLst>
                </a:rPr>
                <a:t>20     </a:t>
              </a:r>
            </a:p>
          </p:txBody>
        </p:sp>
        <p:sp>
          <p:nvSpPr>
            <p:cNvPr id="32780" name="Rectangle 12"/>
            <p:cNvSpPr>
              <a:spLocks noChangeArrowheads="1"/>
            </p:cNvSpPr>
            <p:nvPr/>
          </p:nvSpPr>
          <p:spPr bwMode="auto">
            <a:xfrm>
              <a:off x="3611" y="2455"/>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42</a:t>
              </a:r>
            </a:p>
          </p:txBody>
        </p:sp>
        <p:sp>
          <p:nvSpPr>
            <p:cNvPr id="32781" name="Rectangle 13"/>
            <p:cNvSpPr>
              <a:spLocks noChangeArrowheads="1"/>
            </p:cNvSpPr>
            <p:nvPr/>
          </p:nvSpPr>
          <p:spPr bwMode="auto">
            <a:xfrm>
              <a:off x="3611" y="1922"/>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40</a:t>
              </a:r>
            </a:p>
          </p:txBody>
        </p:sp>
        <p:sp>
          <p:nvSpPr>
            <p:cNvPr id="32782" name="Rectangle 14"/>
            <p:cNvSpPr>
              <a:spLocks noChangeArrowheads="1"/>
            </p:cNvSpPr>
            <p:nvPr/>
          </p:nvSpPr>
          <p:spPr bwMode="auto">
            <a:xfrm>
              <a:off x="4503" y="1922"/>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0</a:t>
              </a:r>
            </a:p>
          </p:txBody>
        </p:sp>
        <p:sp>
          <p:nvSpPr>
            <p:cNvPr id="32783" name="Rectangle 15"/>
            <p:cNvSpPr>
              <a:spLocks noChangeArrowheads="1"/>
            </p:cNvSpPr>
            <p:nvPr/>
          </p:nvSpPr>
          <p:spPr bwMode="auto">
            <a:xfrm>
              <a:off x="4503" y="2455"/>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0</a:t>
              </a:r>
            </a:p>
          </p:txBody>
        </p:sp>
        <p:sp>
          <p:nvSpPr>
            <p:cNvPr id="32784" name="Rectangle 16"/>
            <p:cNvSpPr>
              <a:spLocks noChangeArrowheads="1"/>
            </p:cNvSpPr>
            <p:nvPr/>
          </p:nvSpPr>
          <p:spPr bwMode="auto">
            <a:xfrm>
              <a:off x="2719" y="2455"/>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40</a:t>
              </a:r>
            </a:p>
          </p:txBody>
        </p:sp>
        <p:sp>
          <p:nvSpPr>
            <p:cNvPr id="32785" name="Rectangle 17"/>
            <p:cNvSpPr>
              <a:spLocks noChangeArrowheads="1"/>
            </p:cNvSpPr>
            <p:nvPr/>
          </p:nvSpPr>
          <p:spPr bwMode="auto">
            <a:xfrm>
              <a:off x="2719" y="1922"/>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30</a:t>
              </a:r>
            </a:p>
          </p:txBody>
        </p:sp>
        <p:sp>
          <p:nvSpPr>
            <p:cNvPr id="32786" name="Rectangle 18"/>
            <p:cNvSpPr>
              <a:spLocks noChangeArrowheads="1"/>
            </p:cNvSpPr>
            <p:nvPr/>
          </p:nvSpPr>
          <p:spPr bwMode="auto">
            <a:xfrm>
              <a:off x="1827" y="2455"/>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30</a:t>
              </a:r>
            </a:p>
          </p:txBody>
        </p:sp>
        <p:sp>
          <p:nvSpPr>
            <p:cNvPr id="32787" name="Rectangle 19"/>
            <p:cNvSpPr>
              <a:spLocks noChangeArrowheads="1"/>
            </p:cNvSpPr>
            <p:nvPr/>
          </p:nvSpPr>
          <p:spPr bwMode="auto">
            <a:xfrm>
              <a:off x="850" y="3010"/>
              <a:ext cx="270"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solidFill>
                    <a:srgbClr val="FFFFFF"/>
                  </a:solidFill>
                  <a:effectLst>
                    <a:outerShdw blurRad="38100" dist="38100" dir="2700000" algn="tl">
                      <a:srgbClr val="000000"/>
                    </a:outerShdw>
                  </a:effectLst>
                  <a:latin typeface="Arial" panose="020B0604020202020204" pitchFamily="34" charset="0"/>
                </a:rPr>
                <a:t>v</a:t>
              </a:r>
              <a:r>
                <a:rPr lang="en-US" baseline="-25000">
                  <a:solidFill>
                    <a:srgbClr val="FFFFFF"/>
                  </a:solidFill>
                  <a:effectLst>
                    <a:outerShdw blurRad="38100" dist="38100" dir="2700000" algn="tl">
                      <a:srgbClr val="000000"/>
                    </a:outerShdw>
                  </a:effectLst>
                  <a:latin typeface="Arial" panose="020B0604020202020204" pitchFamily="34" charset="0"/>
                </a:rPr>
                <a:t>j</a:t>
              </a:r>
            </a:p>
          </p:txBody>
        </p:sp>
        <p:sp>
          <p:nvSpPr>
            <p:cNvPr id="32788" name="Rectangle 20"/>
            <p:cNvSpPr>
              <a:spLocks noChangeArrowheads="1"/>
            </p:cNvSpPr>
            <p:nvPr/>
          </p:nvSpPr>
          <p:spPr bwMode="auto">
            <a:xfrm>
              <a:off x="5014" y="1581"/>
              <a:ext cx="281"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solidFill>
                    <a:srgbClr val="FFFFFF"/>
                  </a:solidFill>
                  <a:effectLst>
                    <a:outerShdw blurRad="38100" dist="38100" dir="2700000" algn="tl">
                      <a:srgbClr val="000000"/>
                    </a:outerShdw>
                  </a:effectLst>
                  <a:latin typeface="Arial" panose="020B0604020202020204" pitchFamily="34" charset="0"/>
                </a:rPr>
                <a:t>u</a:t>
              </a:r>
              <a:r>
                <a:rPr lang="en-US" baseline="-25000">
                  <a:solidFill>
                    <a:srgbClr val="FFFFFF"/>
                  </a:solidFill>
                  <a:effectLst>
                    <a:outerShdw blurRad="38100" dist="38100" dir="2700000" algn="tl">
                      <a:srgbClr val="000000"/>
                    </a:outerShdw>
                  </a:effectLst>
                  <a:latin typeface="Arial" panose="020B0604020202020204" pitchFamily="34" charset="0"/>
                </a:rPr>
                <a:t>i</a:t>
              </a:r>
            </a:p>
          </p:txBody>
        </p:sp>
        <p:sp>
          <p:nvSpPr>
            <p:cNvPr id="32789" name="Rectangle 21"/>
            <p:cNvSpPr>
              <a:spLocks noChangeArrowheads="1"/>
            </p:cNvSpPr>
            <p:nvPr/>
          </p:nvSpPr>
          <p:spPr bwMode="auto">
            <a:xfrm>
              <a:off x="5038" y="2571"/>
              <a:ext cx="279"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 6</a:t>
              </a:r>
            </a:p>
          </p:txBody>
        </p:sp>
        <p:sp>
          <p:nvSpPr>
            <p:cNvPr id="32790" name="Rectangle 22"/>
            <p:cNvSpPr>
              <a:spLocks noChangeArrowheads="1"/>
            </p:cNvSpPr>
            <p:nvPr/>
          </p:nvSpPr>
          <p:spPr bwMode="auto">
            <a:xfrm>
              <a:off x="5038" y="2030"/>
              <a:ext cx="279"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 0</a:t>
              </a:r>
            </a:p>
          </p:txBody>
        </p:sp>
        <p:sp>
          <p:nvSpPr>
            <p:cNvPr id="32791" name="Rectangle 23"/>
            <p:cNvSpPr>
              <a:spLocks noChangeArrowheads="1"/>
            </p:cNvSpPr>
            <p:nvPr/>
          </p:nvSpPr>
          <p:spPr bwMode="auto">
            <a:xfrm>
              <a:off x="4270" y="3039"/>
              <a:ext cx="288"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-6</a:t>
              </a:r>
            </a:p>
          </p:txBody>
        </p:sp>
        <p:sp>
          <p:nvSpPr>
            <p:cNvPr id="32792" name="Rectangle 24"/>
            <p:cNvSpPr>
              <a:spLocks noChangeArrowheads="1"/>
            </p:cNvSpPr>
            <p:nvPr/>
          </p:nvSpPr>
          <p:spPr bwMode="auto">
            <a:xfrm>
              <a:off x="3370" y="3039"/>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36</a:t>
              </a:r>
            </a:p>
          </p:txBody>
        </p:sp>
        <p:sp>
          <p:nvSpPr>
            <p:cNvPr id="32793" name="Rectangle 25"/>
            <p:cNvSpPr>
              <a:spLocks noChangeArrowheads="1"/>
            </p:cNvSpPr>
            <p:nvPr/>
          </p:nvSpPr>
          <p:spPr bwMode="auto">
            <a:xfrm>
              <a:off x="2470" y="3039"/>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30</a:t>
              </a:r>
            </a:p>
          </p:txBody>
        </p:sp>
        <p:sp>
          <p:nvSpPr>
            <p:cNvPr id="32794" name="Rectangle 26"/>
            <p:cNvSpPr>
              <a:spLocks noChangeArrowheads="1"/>
            </p:cNvSpPr>
            <p:nvPr/>
          </p:nvSpPr>
          <p:spPr bwMode="auto">
            <a:xfrm>
              <a:off x="1570" y="3039"/>
              <a:ext cx="32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24</a:t>
              </a:r>
            </a:p>
          </p:txBody>
        </p:sp>
        <p:sp>
          <p:nvSpPr>
            <p:cNvPr id="32795" name="Rectangle 27"/>
            <p:cNvSpPr>
              <a:spLocks noChangeArrowheads="1"/>
            </p:cNvSpPr>
            <p:nvPr/>
          </p:nvSpPr>
          <p:spPr bwMode="auto">
            <a:xfrm>
              <a:off x="4090" y="1610"/>
              <a:ext cx="697"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Dummy</a:t>
              </a:r>
            </a:p>
          </p:txBody>
        </p:sp>
        <p:sp>
          <p:nvSpPr>
            <p:cNvPr id="32796" name="Rectangle 28"/>
            <p:cNvSpPr>
              <a:spLocks noChangeArrowheads="1"/>
            </p:cNvSpPr>
            <p:nvPr/>
          </p:nvSpPr>
          <p:spPr bwMode="auto">
            <a:xfrm>
              <a:off x="610" y="2030"/>
              <a:ext cx="64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Plant 1</a:t>
              </a:r>
            </a:p>
          </p:txBody>
        </p:sp>
        <p:sp>
          <p:nvSpPr>
            <p:cNvPr id="32797" name="Rectangle 29"/>
            <p:cNvSpPr>
              <a:spLocks noChangeArrowheads="1"/>
            </p:cNvSpPr>
            <p:nvPr/>
          </p:nvSpPr>
          <p:spPr bwMode="auto">
            <a:xfrm>
              <a:off x="610" y="2571"/>
              <a:ext cx="644"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Plant 2</a:t>
              </a:r>
            </a:p>
          </p:txBody>
        </p:sp>
        <p:sp>
          <p:nvSpPr>
            <p:cNvPr id="32798" name="Rectangle 30"/>
            <p:cNvSpPr>
              <a:spLocks noChangeArrowheads="1"/>
            </p:cNvSpPr>
            <p:nvPr/>
          </p:nvSpPr>
          <p:spPr bwMode="auto">
            <a:xfrm>
              <a:off x="3130" y="1610"/>
              <a:ext cx="849"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Eastwood</a:t>
              </a:r>
            </a:p>
          </p:txBody>
        </p:sp>
        <p:sp>
          <p:nvSpPr>
            <p:cNvPr id="32799" name="Rectangle 31"/>
            <p:cNvSpPr>
              <a:spLocks noChangeArrowheads="1"/>
            </p:cNvSpPr>
            <p:nvPr/>
          </p:nvSpPr>
          <p:spPr bwMode="auto">
            <a:xfrm>
              <a:off x="2182" y="1610"/>
              <a:ext cx="893"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Westwood</a:t>
              </a:r>
            </a:p>
          </p:txBody>
        </p:sp>
        <p:sp>
          <p:nvSpPr>
            <p:cNvPr id="32800" name="Rectangle 32"/>
            <p:cNvSpPr>
              <a:spLocks noChangeArrowheads="1"/>
            </p:cNvSpPr>
            <p:nvPr/>
          </p:nvSpPr>
          <p:spPr bwMode="auto">
            <a:xfrm>
              <a:off x="1282" y="1610"/>
              <a:ext cx="920" cy="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5888" tIns="57150" rIns="115888" bIns="57150">
              <a:spAutoFit/>
            </a:bodyP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Northwood</a:t>
              </a:r>
            </a:p>
          </p:txBody>
        </p:sp>
        <p:sp>
          <p:nvSpPr>
            <p:cNvPr id="32801" name="Rectangle 33"/>
            <p:cNvSpPr>
              <a:spLocks noChangeArrowheads="1"/>
            </p:cNvSpPr>
            <p:nvPr/>
          </p:nvSpPr>
          <p:spPr bwMode="auto">
            <a:xfrm>
              <a:off x="1827" y="1923"/>
              <a:ext cx="352" cy="292"/>
            </a:xfrm>
            <a:prstGeom prst="rect">
              <a:avLst/>
            </a:prstGeom>
            <a:solidFill>
              <a:schemeClr val="bg1"/>
            </a:solidFill>
            <a:ln w="12700">
              <a:solidFill>
                <a:srgbClr val="FFFFFF"/>
              </a:solidFill>
              <a:miter lim="800000"/>
              <a:headEnd/>
              <a:tailEnd/>
            </a:ln>
            <a:effectLst>
              <a:outerShdw dist="17961" dir="2700000" algn="ctr" rotWithShape="0">
                <a:srgbClr val="000000"/>
              </a:outerShdw>
            </a:effectLst>
          </p:spPr>
          <p:txBody>
            <a:bodyPr wrap="none" lIns="115888" tIns="57150" rIns="115888" bIns="57150" anchor="ctr"/>
            <a:lstStyle>
              <a:lvl1pPr defTabSz="1428750">
                <a:defRPr sz="2400">
                  <a:solidFill>
                    <a:schemeClr val="tx1"/>
                  </a:solidFill>
                  <a:latin typeface="Times New Roman" panose="02020603050405020304" pitchFamily="18" charset="0"/>
                </a:defRPr>
              </a:lvl1pPr>
              <a:lvl2pPr marL="571500" defTabSz="1428750">
                <a:defRPr sz="2400">
                  <a:solidFill>
                    <a:schemeClr val="tx1"/>
                  </a:solidFill>
                  <a:latin typeface="Times New Roman" panose="02020603050405020304" pitchFamily="18" charset="0"/>
                </a:defRPr>
              </a:lvl2pPr>
              <a:lvl3pPr marL="1143000" defTabSz="1428750">
                <a:defRPr sz="2400">
                  <a:solidFill>
                    <a:schemeClr val="tx1"/>
                  </a:solidFill>
                  <a:latin typeface="Times New Roman" panose="02020603050405020304" pitchFamily="18" charset="0"/>
                </a:defRPr>
              </a:lvl3pPr>
              <a:lvl4pPr marL="1714500" defTabSz="1428750">
                <a:defRPr sz="2400">
                  <a:solidFill>
                    <a:schemeClr val="tx1"/>
                  </a:solidFill>
                  <a:latin typeface="Times New Roman" panose="02020603050405020304" pitchFamily="18" charset="0"/>
                </a:defRPr>
              </a:lvl4pPr>
              <a:lvl5pPr marL="2286000" defTabSz="1428750">
                <a:defRPr sz="2400">
                  <a:solidFill>
                    <a:schemeClr val="tx1"/>
                  </a:solidFill>
                  <a:latin typeface="Times New Roman" panose="02020603050405020304" pitchFamily="18" charset="0"/>
                </a:defRPr>
              </a:lvl5pPr>
              <a:lvl6pPr marL="2743200" defTabSz="1428750" eaLnBrk="0" fontAlgn="base" hangingPunct="0">
                <a:spcBef>
                  <a:spcPct val="0"/>
                </a:spcBef>
                <a:spcAft>
                  <a:spcPct val="0"/>
                </a:spcAft>
                <a:defRPr sz="2400">
                  <a:solidFill>
                    <a:schemeClr val="tx1"/>
                  </a:solidFill>
                  <a:latin typeface="Times New Roman" panose="02020603050405020304" pitchFamily="18" charset="0"/>
                </a:defRPr>
              </a:lvl6pPr>
              <a:lvl7pPr marL="3200400" defTabSz="1428750" eaLnBrk="0" fontAlgn="base" hangingPunct="0">
                <a:spcBef>
                  <a:spcPct val="0"/>
                </a:spcBef>
                <a:spcAft>
                  <a:spcPct val="0"/>
                </a:spcAft>
                <a:defRPr sz="2400">
                  <a:solidFill>
                    <a:schemeClr val="tx1"/>
                  </a:solidFill>
                  <a:latin typeface="Times New Roman" panose="02020603050405020304" pitchFamily="18" charset="0"/>
                </a:defRPr>
              </a:lvl7pPr>
              <a:lvl8pPr marL="3657600" defTabSz="1428750" eaLnBrk="0" fontAlgn="base" hangingPunct="0">
                <a:spcBef>
                  <a:spcPct val="0"/>
                </a:spcBef>
                <a:spcAft>
                  <a:spcPct val="0"/>
                </a:spcAft>
                <a:defRPr sz="2400">
                  <a:solidFill>
                    <a:schemeClr val="tx1"/>
                  </a:solidFill>
                  <a:latin typeface="Times New Roman" panose="02020603050405020304" pitchFamily="18" charset="0"/>
                </a:defRPr>
              </a:lvl8pPr>
              <a:lvl9pPr marL="4114800" defTabSz="142875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24</a:t>
              </a:r>
            </a:p>
          </p:txBody>
        </p:sp>
        <p:sp>
          <p:nvSpPr>
            <p:cNvPr id="32803" name="Oval 35"/>
            <p:cNvSpPr>
              <a:spLocks noChangeArrowheads="1"/>
            </p:cNvSpPr>
            <p:nvPr/>
          </p:nvSpPr>
          <p:spPr bwMode="auto">
            <a:xfrm>
              <a:off x="2308" y="2548"/>
              <a:ext cx="376" cy="376"/>
            </a:xfrm>
            <a:prstGeom prst="ellips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en-US"/>
            </a:p>
          </p:txBody>
        </p:sp>
        <p:sp>
          <p:nvSpPr>
            <p:cNvPr id="32804" name="Oval 36"/>
            <p:cNvSpPr>
              <a:spLocks noChangeArrowheads="1"/>
            </p:cNvSpPr>
            <p:nvPr/>
          </p:nvSpPr>
          <p:spPr bwMode="auto">
            <a:xfrm>
              <a:off x="3176" y="2004"/>
              <a:ext cx="376" cy="376"/>
            </a:xfrm>
            <a:prstGeom prst="ellips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en-US"/>
            </a:p>
          </p:txBody>
        </p:sp>
        <p:sp>
          <p:nvSpPr>
            <p:cNvPr id="32805" name="Oval 37"/>
            <p:cNvSpPr>
              <a:spLocks noChangeArrowheads="1"/>
            </p:cNvSpPr>
            <p:nvPr/>
          </p:nvSpPr>
          <p:spPr bwMode="auto">
            <a:xfrm>
              <a:off x="4064" y="1996"/>
              <a:ext cx="376" cy="376"/>
            </a:xfrm>
            <a:prstGeom prst="ellips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en-US"/>
            </a:p>
          </p:txBody>
        </p:sp>
      </p:grpSp>
    </p:spTree>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noFill/>
          <a:ln/>
        </p:spPr>
        <p:txBody>
          <a:bodyPr/>
          <a:lstStyle/>
          <a:p>
            <a:r>
              <a:rPr lang="en-US"/>
              <a:t>Example:  BBC</a:t>
            </a:r>
          </a:p>
        </p:txBody>
      </p:sp>
      <p:sp>
        <p:nvSpPr>
          <p:cNvPr id="33795" name="Rectangle 3"/>
          <p:cNvSpPr>
            <a:spLocks noGrp="1" noChangeArrowheads="1"/>
          </p:cNvSpPr>
          <p:nvPr>
            <p:ph type="body" idx="1"/>
          </p:nvPr>
        </p:nvSpPr>
        <p:spPr>
          <a:noFill/>
          <a:ln/>
        </p:spPr>
        <p:txBody>
          <a:bodyPr/>
          <a:lstStyle/>
          <a:p>
            <a:r>
              <a:rPr lang="en-US">
                <a:solidFill>
                  <a:schemeClr val="tx2"/>
                </a:solidFill>
              </a:rPr>
              <a:t>Optimal Solution</a:t>
            </a:r>
          </a:p>
          <a:p>
            <a:pPr>
              <a:buFont typeface="Monotype Sorts" pitchFamily="2" charset="2"/>
              <a:buNone/>
            </a:pPr>
            <a:endParaRPr lang="en-US" sz="1000"/>
          </a:p>
          <a:p>
            <a:pPr>
              <a:buFont typeface="Monotype Sorts" pitchFamily="2" charset="2"/>
              <a:buNone/>
            </a:pPr>
            <a:r>
              <a:rPr lang="en-US"/>
              <a:t>             	 </a:t>
            </a:r>
            <a:r>
              <a:rPr lang="en-US" u="sng"/>
              <a:t>From</a:t>
            </a:r>
            <a:r>
              <a:rPr lang="en-US"/>
              <a:t>             </a:t>
            </a:r>
            <a:r>
              <a:rPr lang="en-US" u="sng"/>
              <a:t>To</a:t>
            </a:r>
            <a:r>
              <a:rPr lang="en-US"/>
              <a:t>           </a:t>
            </a:r>
            <a:r>
              <a:rPr lang="en-US" u="sng"/>
              <a:t>Amount</a:t>
            </a:r>
            <a:r>
              <a:rPr lang="en-US"/>
              <a:t>    </a:t>
            </a:r>
            <a:r>
              <a:rPr lang="en-US" u="sng"/>
              <a:t>Cost</a:t>
            </a:r>
            <a:endParaRPr lang="en-US"/>
          </a:p>
          <a:p>
            <a:pPr>
              <a:buFont typeface="Monotype Sorts" pitchFamily="2" charset="2"/>
              <a:buNone/>
            </a:pPr>
            <a:r>
              <a:rPr lang="en-US"/>
              <a:t>			Plant 1    Northwood         5            120</a:t>
            </a:r>
          </a:p>
          <a:p>
            <a:pPr>
              <a:buFont typeface="Monotype Sorts" pitchFamily="2" charset="2"/>
              <a:buNone/>
            </a:pPr>
            <a:r>
              <a:rPr lang="en-US"/>
              <a:t>             	Plant 1    Westwood         45         1,350</a:t>
            </a:r>
          </a:p>
          <a:p>
            <a:pPr>
              <a:buFont typeface="Monotype Sorts" pitchFamily="2" charset="2"/>
              <a:buNone/>
            </a:pPr>
            <a:r>
              <a:rPr lang="en-US"/>
              <a:t>             	Plant 2    Northwood       20            600</a:t>
            </a:r>
          </a:p>
          <a:p>
            <a:pPr>
              <a:buFont typeface="Monotype Sorts" pitchFamily="2" charset="2"/>
              <a:buNone/>
            </a:pPr>
            <a:r>
              <a:rPr lang="en-US"/>
              <a:t>             	Plant 2    Eastwood          10            </a:t>
            </a:r>
            <a:r>
              <a:rPr lang="en-US" u="sng"/>
              <a:t>420</a:t>
            </a:r>
            <a:endParaRPr lang="en-US"/>
          </a:p>
          <a:p>
            <a:pPr>
              <a:buFont typeface="Monotype Sorts" pitchFamily="2" charset="2"/>
              <a:buNone/>
            </a:pPr>
            <a:r>
              <a:rPr lang="en-US"/>
              <a:t>					      Total Cost  =  $2,490</a:t>
            </a:r>
          </a:p>
          <a:p>
            <a:pPr>
              <a:buFont typeface="Monotype Sorts" pitchFamily="2" charset="2"/>
              <a:buNone/>
            </a:pPr>
            <a:endParaRPr lang="en-US"/>
          </a:p>
        </p:txBody>
      </p:sp>
    </p:spTree>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noFill/>
          <a:ln/>
        </p:spPr>
        <p:txBody>
          <a:bodyPr/>
          <a:lstStyle/>
          <a:p>
            <a:r>
              <a:rPr lang="en-US" dirty="0"/>
              <a:t>Assignment Problem</a:t>
            </a:r>
          </a:p>
        </p:txBody>
      </p:sp>
      <p:sp>
        <p:nvSpPr>
          <p:cNvPr id="34819" name="Rectangle 3"/>
          <p:cNvSpPr>
            <a:spLocks noGrp="1" noChangeArrowheads="1"/>
          </p:cNvSpPr>
          <p:nvPr>
            <p:ph type="body" idx="1"/>
          </p:nvPr>
        </p:nvSpPr>
        <p:spPr>
          <a:noFill/>
          <a:ln/>
        </p:spPr>
        <p:txBody>
          <a:bodyPr/>
          <a:lstStyle/>
          <a:p>
            <a:r>
              <a:rPr lang="en-US" dirty="0"/>
              <a:t>An </a:t>
            </a:r>
            <a:r>
              <a:rPr lang="en-US" u="sng" dirty="0"/>
              <a:t>assignment problem</a:t>
            </a:r>
            <a:r>
              <a:rPr lang="en-US" dirty="0"/>
              <a:t> seeks to minimize the total cost assignment of </a:t>
            </a:r>
            <a:r>
              <a:rPr lang="en-US" i="1" dirty="0"/>
              <a:t>m</a:t>
            </a:r>
            <a:r>
              <a:rPr lang="en-US" dirty="0"/>
              <a:t> workers to </a:t>
            </a:r>
            <a:r>
              <a:rPr lang="en-US" i="1" dirty="0"/>
              <a:t>m</a:t>
            </a:r>
            <a:r>
              <a:rPr lang="en-US" dirty="0"/>
              <a:t> jobs, given that the cost of worker </a:t>
            </a:r>
            <a:r>
              <a:rPr lang="en-US" i="1" dirty="0" err="1"/>
              <a:t>i</a:t>
            </a:r>
            <a:r>
              <a:rPr lang="en-US" dirty="0"/>
              <a:t> performing job </a:t>
            </a:r>
            <a:r>
              <a:rPr lang="en-US" i="1" dirty="0"/>
              <a:t>j</a:t>
            </a:r>
            <a:r>
              <a:rPr lang="en-US" dirty="0"/>
              <a:t> is </a:t>
            </a:r>
            <a:r>
              <a:rPr lang="en-US" i="1" dirty="0" err="1"/>
              <a:t>c</a:t>
            </a:r>
            <a:r>
              <a:rPr lang="en-US" i="1" baseline="-25000" dirty="0" err="1"/>
              <a:t>ij</a:t>
            </a:r>
            <a:r>
              <a:rPr lang="en-US" dirty="0"/>
              <a:t>.  </a:t>
            </a:r>
          </a:p>
          <a:p>
            <a:r>
              <a:rPr lang="en-US" dirty="0"/>
              <a:t>It assumes all workers are assigned and each job is performed. </a:t>
            </a:r>
          </a:p>
          <a:p>
            <a:r>
              <a:rPr lang="en-US" dirty="0"/>
              <a:t>An assignment problem is a special case of a </a:t>
            </a:r>
            <a:r>
              <a:rPr lang="en-US" u="sng" dirty="0"/>
              <a:t>transportation problem</a:t>
            </a:r>
            <a:r>
              <a:rPr lang="en-US" dirty="0"/>
              <a:t> in which all supplies and all demands are equal to 1;  hence assignment problems may be solved as linear programs.</a:t>
            </a:r>
          </a:p>
          <a:p>
            <a:r>
              <a:rPr lang="en-US" dirty="0"/>
              <a:t>The </a:t>
            </a:r>
            <a:r>
              <a:rPr lang="en-US" u="sng" dirty="0"/>
              <a:t>network representation</a:t>
            </a:r>
            <a:r>
              <a:rPr lang="en-US" dirty="0"/>
              <a:t> of an assignment problem with three workers and three jobs is shown on the next slide.</a:t>
            </a:r>
          </a:p>
        </p:txBody>
      </p:sp>
    </p:spTree>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p:spPr>
        <p:txBody>
          <a:bodyPr/>
          <a:lstStyle/>
          <a:p>
            <a:r>
              <a:rPr lang="en-US"/>
              <a:t>Assignment Problem</a:t>
            </a:r>
          </a:p>
        </p:txBody>
      </p:sp>
      <p:sp>
        <p:nvSpPr>
          <p:cNvPr id="35843" name="Rectangle 3"/>
          <p:cNvSpPr>
            <a:spLocks noGrp="1" noChangeArrowheads="1"/>
          </p:cNvSpPr>
          <p:nvPr>
            <p:ph type="body" idx="1"/>
          </p:nvPr>
        </p:nvSpPr>
        <p:spPr>
          <a:noFill/>
          <a:ln/>
        </p:spPr>
        <p:txBody>
          <a:bodyPr/>
          <a:lstStyle/>
          <a:p>
            <a:r>
              <a:rPr lang="en-US">
                <a:solidFill>
                  <a:schemeClr val="tx2"/>
                </a:solidFill>
              </a:rPr>
              <a:t>Network Representation</a:t>
            </a:r>
          </a:p>
        </p:txBody>
      </p:sp>
      <p:sp>
        <p:nvSpPr>
          <p:cNvPr id="35844" name="Oval 4"/>
          <p:cNvSpPr>
            <a:spLocks noChangeArrowheads="1"/>
          </p:cNvSpPr>
          <p:nvPr/>
        </p:nvSpPr>
        <p:spPr bwMode="auto">
          <a:xfrm>
            <a:off x="2224088" y="3467100"/>
            <a:ext cx="682625" cy="681038"/>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119062" tIns="60325" rIns="119062" bIns="60325" anchor="ct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2</a:t>
            </a:r>
          </a:p>
        </p:txBody>
      </p:sp>
      <p:sp>
        <p:nvSpPr>
          <p:cNvPr id="35845" name="Oval 5"/>
          <p:cNvSpPr>
            <a:spLocks noChangeArrowheads="1"/>
          </p:cNvSpPr>
          <p:nvPr/>
        </p:nvSpPr>
        <p:spPr bwMode="auto">
          <a:xfrm>
            <a:off x="2224088" y="5053013"/>
            <a:ext cx="682625" cy="681037"/>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119062" tIns="60325" rIns="119062" bIns="60325" anchor="ct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3</a:t>
            </a:r>
          </a:p>
        </p:txBody>
      </p:sp>
      <p:sp>
        <p:nvSpPr>
          <p:cNvPr id="35846" name="Oval 6"/>
          <p:cNvSpPr>
            <a:spLocks noChangeArrowheads="1"/>
          </p:cNvSpPr>
          <p:nvPr/>
        </p:nvSpPr>
        <p:spPr bwMode="auto">
          <a:xfrm>
            <a:off x="6186488" y="1882775"/>
            <a:ext cx="682625" cy="681038"/>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119062" tIns="60325" rIns="119062" bIns="60325" anchor="ct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1</a:t>
            </a:r>
          </a:p>
        </p:txBody>
      </p:sp>
      <p:sp>
        <p:nvSpPr>
          <p:cNvPr id="35847" name="Oval 7"/>
          <p:cNvSpPr>
            <a:spLocks noChangeArrowheads="1"/>
          </p:cNvSpPr>
          <p:nvPr/>
        </p:nvSpPr>
        <p:spPr bwMode="auto">
          <a:xfrm>
            <a:off x="6186488" y="3467100"/>
            <a:ext cx="682625" cy="681038"/>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119062" tIns="60325" rIns="119062" bIns="60325" anchor="ct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2</a:t>
            </a:r>
          </a:p>
        </p:txBody>
      </p:sp>
      <p:sp>
        <p:nvSpPr>
          <p:cNvPr id="35848" name="Oval 8"/>
          <p:cNvSpPr>
            <a:spLocks noChangeArrowheads="1"/>
          </p:cNvSpPr>
          <p:nvPr/>
        </p:nvSpPr>
        <p:spPr bwMode="auto">
          <a:xfrm>
            <a:off x="6186488" y="5053013"/>
            <a:ext cx="682625" cy="681037"/>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119062" tIns="60325" rIns="119062" bIns="60325" anchor="ct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3</a:t>
            </a:r>
          </a:p>
        </p:txBody>
      </p:sp>
      <p:sp>
        <p:nvSpPr>
          <p:cNvPr id="35849" name="Oval 9"/>
          <p:cNvSpPr>
            <a:spLocks noChangeArrowheads="1"/>
          </p:cNvSpPr>
          <p:nvPr/>
        </p:nvSpPr>
        <p:spPr bwMode="auto">
          <a:xfrm>
            <a:off x="2224088" y="1882775"/>
            <a:ext cx="682625" cy="681038"/>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119062" tIns="60325" rIns="119062" bIns="60325" anchor="ct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1800" i="0">
                <a:solidFill>
                  <a:srgbClr val="FFFFFF"/>
                </a:solidFill>
                <a:effectLst>
                  <a:outerShdw blurRad="38100" dist="38100" dir="2700000" algn="tl">
                    <a:srgbClr val="000000"/>
                  </a:outerShdw>
                </a:effectLst>
                <a:latin typeface="Arial" panose="020B0604020202020204" pitchFamily="34" charset="0"/>
              </a:rPr>
              <a:t>1</a:t>
            </a:r>
          </a:p>
        </p:txBody>
      </p:sp>
      <p:sp>
        <p:nvSpPr>
          <p:cNvPr id="35850" name="Line 10"/>
          <p:cNvSpPr>
            <a:spLocks noChangeShapeType="1"/>
          </p:cNvSpPr>
          <p:nvPr/>
        </p:nvSpPr>
        <p:spPr bwMode="auto">
          <a:xfrm>
            <a:off x="2919413" y="2273300"/>
            <a:ext cx="3254375" cy="0"/>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5851" name="Line 11"/>
          <p:cNvSpPr>
            <a:spLocks noChangeShapeType="1"/>
          </p:cNvSpPr>
          <p:nvPr/>
        </p:nvSpPr>
        <p:spPr bwMode="auto">
          <a:xfrm>
            <a:off x="2919413" y="2279650"/>
            <a:ext cx="3254375" cy="1571625"/>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5852" name="Line 12"/>
          <p:cNvSpPr>
            <a:spLocks noChangeShapeType="1"/>
          </p:cNvSpPr>
          <p:nvPr/>
        </p:nvSpPr>
        <p:spPr bwMode="auto">
          <a:xfrm>
            <a:off x="2919413" y="2279650"/>
            <a:ext cx="3254375" cy="3057525"/>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5853" name="Line 13"/>
          <p:cNvSpPr>
            <a:spLocks noChangeShapeType="1"/>
          </p:cNvSpPr>
          <p:nvPr/>
        </p:nvSpPr>
        <p:spPr bwMode="auto">
          <a:xfrm flipV="1">
            <a:off x="2919413" y="2266950"/>
            <a:ext cx="3254375" cy="1597025"/>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5854" name="Line 14"/>
          <p:cNvSpPr>
            <a:spLocks noChangeShapeType="1"/>
          </p:cNvSpPr>
          <p:nvPr/>
        </p:nvSpPr>
        <p:spPr bwMode="auto">
          <a:xfrm>
            <a:off x="2919413" y="3857625"/>
            <a:ext cx="3254375" cy="0"/>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5855" name="Line 15"/>
          <p:cNvSpPr>
            <a:spLocks noChangeShapeType="1"/>
          </p:cNvSpPr>
          <p:nvPr/>
        </p:nvSpPr>
        <p:spPr bwMode="auto">
          <a:xfrm>
            <a:off x="2919413" y="3863975"/>
            <a:ext cx="3254375" cy="1473200"/>
          </a:xfrm>
          <a:prstGeom prst="line">
            <a:avLst/>
          </a:prstGeom>
          <a:noFill/>
          <a:ln w="127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56" name="Line 16"/>
          <p:cNvSpPr>
            <a:spLocks noChangeShapeType="1"/>
          </p:cNvSpPr>
          <p:nvPr/>
        </p:nvSpPr>
        <p:spPr bwMode="auto">
          <a:xfrm flipV="1">
            <a:off x="2919413" y="2266950"/>
            <a:ext cx="3254375" cy="3082925"/>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5857" name="Line 17"/>
          <p:cNvSpPr>
            <a:spLocks noChangeShapeType="1"/>
          </p:cNvSpPr>
          <p:nvPr/>
        </p:nvSpPr>
        <p:spPr bwMode="auto">
          <a:xfrm flipV="1">
            <a:off x="2919413" y="3851275"/>
            <a:ext cx="3254375" cy="1498600"/>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5858" name="Line 18"/>
          <p:cNvSpPr>
            <a:spLocks noChangeShapeType="1"/>
          </p:cNvSpPr>
          <p:nvPr/>
        </p:nvSpPr>
        <p:spPr bwMode="auto">
          <a:xfrm>
            <a:off x="2919413" y="5343525"/>
            <a:ext cx="3254375" cy="0"/>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35859" name="Rectangle 19"/>
          <p:cNvSpPr>
            <a:spLocks noChangeArrowheads="1"/>
          </p:cNvSpPr>
          <p:nvPr/>
        </p:nvSpPr>
        <p:spPr bwMode="auto">
          <a:xfrm>
            <a:off x="2894013" y="1808163"/>
            <a:ext cx="547687"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11</a:t>
            </a:r>
          </a:p>
        </p:txBody>
      </p:sp>
      <p:sp>
        <p:nvSpPr>
          <p:cNvPr id="35860" name="Rectangle 20"/>
          <p:cNvSpPr>
            <a:spLocks noChangeArrowheads="1"/>
          </p:cNvSpPr>
          <p:nvPr/>
        </p:nvSpPr>
        <p:spPr bwMode="auto">
          <a:xfrm>
            <a:off x="3287713" y="2181225"/>
            <a:ext cx="549275"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12</a:t>
            </a:r>
          </a:p>
        </p:txBody>
      </p:sp>
      <p:sp>
        <p:nvSpPr>
          <p:cNvPr id="35861" name="Rectangle 21"/>
          <p:cNvSpPr>
            <a:spLocks noChangeArrowheads="1"/>
          </p:cNvSpPr>
          <p:nvPr/>
        </p:nvSpPr>
        <p:spPr bwMode="auto">
          <a:xfrm>
            <a:off x="2770188" y="2455863"/>
            <a:ext cx="549275"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13</a:t>
            </a:r>
          </a:p>
        </p:txBody>
      </p:sp>
      <p:sp>
        <p:nvSpPr>
          <p:cNvPr id="35862" name="Rectangle 22"/>
          <p:cNvSpPr>
            <a:spLocks noChangeArrowheads="1"/>
          </p:cNvSpPr>
          <p:nvPr/>
        </p:nvSpPr>
        <p:spPr bwMode="auto">
          <a:xfrm>
            <a:off x="2894013" y="3217863"/>
            <a:ext cx="547687"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21</a:t>
            </a:r>
          </a:p>
        </p:txBody>
      </p:sp>
      <p:sp>
        <p:nvSpPr>
          <p:cNvPr id="35863" name="Rectangle 23"/>
          <p:cNvSpPr>
            <a:spLocks noChangeArrowheads="1"/>
          </p:cNvSpPr>
          <p:nvPr/>
        </p:nvSpPr>
        <p:spPr bwMode="auto">
          <a:xfrm>
            <a:off x="3363913" y="3470275"/>
            <a:ext cx="549275"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22</a:t>
            </a:r>
          </a:p>
        </p:txBody>
      </p:sp>
      <p:sp>
        <p:nvSpPr>
          <p:cNvPr id="35864" name="Rectangle 24"/>
          <p:cNvSpPr>
            <a:spLocks noChangeArrowheads="1"/>
          </p:cNvSpPr>
          <p:nvPr/>
        </p:nvSpPr>
        <p:spPr bwMode="auto">
          <a:xfrm>
            <a:off x="2894013" y="3965575"/>
            <a:ext cx="547687"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23</a:t>
            </a:r>
          </a:p>
        </p:txBody>
      </p:sp>
      <p:sp>
        <p:nvSpPr>
          <p:cNvPr id="35865" name="Rectangle 25"/>
          <p:cNvSpPr>
            <a:spLocks noChangeArrowheads="1"/>
          </p:cNvSpPr>
          <p:nvPr/>
        </p:nvSpPr>
        <p:spPr bwMode="auto">
          <a:xfrm>
            <a:off x="2792413" y="4681538"/>
            <a:ext cx="549275"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31</a:t>
            </a:r>
          </a:p>
        </p:txBody>
      </p:sp>
      <p:sp>
        <p:nvSpPr>
          <p:cNvPr id="35866" name="Rectangle 26"/>
          <p:cNvSpPr>
            <a:spLocks noChangeArrowheads="1"/>
          </p:cNvSpPr>
          <p:nvPr/>
        </p:nvSpPr>
        <p:spPr bwMode="auto">
          <a:xfrm>
            <a:off x="3562350" y="4483100"/>
            <a:ext cx="550863"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32</a:t>
            </a:r>
          </a:p>
        </p:txBody>
      </p:sp>
      <p:sp>
        <p:nvSpPr>
          <p:cNvPr id="35867" name="Rectangle 27"/>
          <p:cNvSpPr>
            <a:spLocks noChangeArrowheads="1"/>
          </p:cNvSpPr>
          <p:nvPr/>
        </p:nvSpPr>
        <p:spPr bwMode="auto">
          <a:xfrm>
            <a:off x="2894013" y="5253038"/>
            <a:ext cx="547687"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33</a:t>
            </a:r>
          </a:p>
        </p:txBody>
      </p:sp>
      <p:sp>
        <p:nvSpPr>
          <p:cNvPr id="35868" name="Rectangle 28"/>
          <p:cNvSpPr>
            <a:spLocks noChangeArrowheads="1"/>
          </p:cNvSpPr>
          <p:nvPr/>
        </p:nvSpPr>
        <p:spPr bwMode="auto">
          <a:xfrm>
            <a:off x="1771650" y="5900738"/>
            <a:ext cx="1554163"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WORKERS</a:t>
            </a:r>
          </a:p>
        </p:txBody>
      </p:sp>
      <p:sp>
        <p:nvSpPr>
          <p:cNvPr id="35869" name="Rectangle 29"/>
          <p:cNvSpPr>
            <a:spLocks noChangeArrowheads="1"/>
          </p:cNvSpPr>
          <p:nvPr/>
        </p:nvSpPr>
        <p:spPr bwMode="auto">
          <a:xfrm>
            <a:off x="6084888" y="5900738"/>
            <a:ext cx="901700"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JOBS</a:t>
            </a:r>
          </a:p>
        </p:txBody>
      </p:sp>
    </p:spTree>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a:lstStyle/>
          <a:p>
            <a:r>
              <a:rPr lang="en-US"/>
              <a:t>Assignment Problem</a:t>
            </a:r>
          </a:p>
        </p:txBody>
      </p:sp>
      <p:sp>
        <p:nvSpPr>
          <p:cNvPr id="36867" name="Rectangle 3"/>
          <p:cNvSpPr>
            <a:spLocks noGrp="1" noChangeArrowheads="1"/>
          </p:cNvSpPr>
          <p:nvPr>
            <p:ph type="body" idx="1"/>
          </p:nvPr>
        </p:nvSpPr>
        <p:spPr>
          <a:noFill/>
          <a:ln/>
        </p:spPr>
        <p:txBody>
          <a:bodyPr/>
          <a:lstStyle/>
          <a:p>
            <a:r>
              <a:rPr lang="en-US">
                <a:solidFill>
                  <a:schemeClr val="tx2"/>
                </a:solidFill>
              </a:rPr>
              <a:t>Linear Programming Formulation</a:t>
            </a:r>
          </a:p>
          <a:p>
            <a:pPr>
              <a:lnSpc>
                <a:spcPct val="65000"/>
              </a:lnSpc>
              <a:buFont typeface="Monotype Sorts" pitchFamily="2" charset="2"/>
              <a:buNone/>
            </a:pPr>
            <a:r>
              <a:rPr lang="en-US"/>
              <a:t> 	                      </a:t>
            </a:r>
          </a:p>
          <a:p>
            <a:pPr>
              <a:lnSpc>
                <a:spcPct val="65000"/>
              </a:lnSpc>
              <a:buFont typeface="Monotype Sorts" pitchFamily="2" charset="2"/>
              <a:buNone/>
            </a:pPr>
            <a:r>
              <a:rPr lang="en-US"/>
              <a:t>			    Min  </a:t>
            </a:r>
            <a:r>
              <a:rPr lang="en-US">
                <a:latin typeface="Symbol" panose="05050102010706020507" pitchFamily="18" charset="2"/>
              </a:rPr>
              <a:t></a:t>
            </a:r>
            <a:r>
              <a:rPr lang="en-US" i="1"/>
              <a:t>c</a:t>
            </a:r>
            <a:r>
              <a:rPr lang="en-US" i="1" baseline="-25000"/>
              <a:t>ij</a:t>
            </a:r>
            <a:r>
              <a:rPr lang="en-US" i="1"/>
              <a:t>x</a:t>
            </a:r>
            <a:r>
              <a:rPr lang="en-US" i="1" baseline="-25000"/>
              <a:t>ij</a:t>
            </a:r>
            <a:endParaRPr lang="en-US"/>
          </a:p>
          <a:p>
            <a:pPr>
              <a:lnSpc>
                <a:spcPct val="65000"/>
              </a:lnSpc>
              <a:buFont typeface="Monotype Sorts" pitchFamily="2" charset="2"/>
              <a:buNone/>
            </a:pPr>
            <a:r>
              <a:rPr lang="en-US" i="1"/>
              <a:t>                                     i j</a:t>
            </a:r>
          </a:p>
          <a:p>
            <a:pPr>
              <a:lnSpc>
                <a:spcPct val="65000"/>
              </a:lnSpc>
              <a:buFont typeface="Monotype Sorts" pitchFamily="2" charset="2"/>
              <a:buNone/>
            </a:pPr>
            <a:endParaRPr lang="en-US" sz="1000"/>
          </a:p>
          <a:p>
            <a:pPr>
              <a:lnSpc>
                <a:spcPct val="65000"/>
              </a:lnSpc>
              <a:buFont typeface="Monotype Sorts" pitchFamily="2" charset="2"/>
              <a:buNone/>
            </a:pPr>
            <a:r>
              <a:rPr lang="en-US"/>
              <a:t>                            s.t.    </a:t>
            </a:r>
            <a:r>
              <a:rPr lang="en-US">
                <a:latin typeface="Symbol" panose="05050102010706020507" pitchFamily="18" charset="2"/>
              </a:rPr>
              <a:t></a:t>
            </a:r>
            <a:r>
              <a:rPr lang="en-US" i="1"/>
              <a:t>x</a:t>
            </a:r>
            <a:r>
              <a:rPr lang="en-US" baseline="-25000"/>
              <a:t>ij</a:t>
            </a:r>
            <a:r>
              <a:rPr lang="en-US"/>
              <a:t> = 1            for each worker </a:t>
            </a:r>
            <a:r>
              <a:rPr lang="en-US" i="1"/>
              <a:t>i</a:t>
            </a:r>
            <a:endParaRPr lang="en-US"/>
          </a:p>
          <a:p>
            <a:pPr>
              <a:lnSpc>
                <a:spcPct val="65000"/>
              </a:lnSpc>
              <a:buFont typeface="Monotype Sorts" pitchFamily="2" charset="2"/>
              <a:buNone/>
            </a:pPr>
            <a:r>
              <a:rPr lang="en-US"/>
              <a:t>                                     </a:t>
            </a:r>
            <a:r>
              <a:rPr lang="en-US" i="1"/>
              <a:t>j</a:t>
            </a:r>
            <a:r>
              <a:rPr lang="en-US"/>
              <a:t> </a:t>
            </a:r>
          </a:p>
          <a:p>
            <a:pPr>
              <a:lnSpc>
                <a:spcPct val="65000"/>
              </a:lnSpc>
              <a:buFont typeface="Monotype Sorts" pitchFamily="2" charset="2"/>
              <a:buNone/>
            </a:pPr>
            <a:endParaRPr lang="en-US" sz="1000"/>
          </a:p>
          <a:p>
            <a:pPr>
              <a:lnSpc>
                <a:spcPct val="65000"/>
              </a:lnSpc>
              <a:buFont typeface="Monotype Sorts" pitchFamily="2" charset="2"/>
              <a:buNone/>
            </a:pPr>
            <a:r>
              <a:rPr lang="en-US"/>
              <a:t>                                     </a:t>
            </a:r>
            <a:r>
              <a:rPr lang="en-US">
                <a:latin typeface="Symbol" panose="05050102010706020507" pitchFamily="18" charset="2"/>
              </a:rPr>
              <a:t></a:t>
            </a:r>
            <a:r>
              <a:rPr lang="en-US" i="1"/>
              <a:t>x</a:t>
            </a:r>
            <a:r>
              <a:rPr lang="en-US" i="1" baseline="-25000"/>
              <a:t>ij</a:t>
            </a:r>
            <a:r>
              <a:rPr lang="en-US"/>
              <a:t> = 1            for each job </a:t>
            </a:r>
            <a:r>
              <a:rPr lang="en-US" i="1"/>
              <a:t>j</a:t>
            </a:r>
            <a:endParaRPr lang="en-US"/>
          </a:p>
          <a:p>
            <a:pPr>
              <a:lnSpc>
                <a:spcPct val="65000"/>
              </a:lnSpc>
              <a:buFont typeface="Monotype Sorts" pitchFamily="2" charset="2"/>
              <a:buNone/>
            </a:pPr>
            <a:r>
              <a:rPr lang="en-US"/>
              <a:t>                                     </a:t>
            </a:r>
            <a:r>
              <a:rPr lang="en-US" i="1"/>
              <a:t>i</a:t>
            </a:r>
            <a:endParaRPr lang="en-US"/>
          </a:p>
          <a:p>
            <a:pPr>
              <a:buFont typeface="Monotype Sorts" pitchFamily="2" charset="2"/>
              <a:buNone/>
            </a:pPr>
            <a:r>
              <a:rPr lang="en-US"/>
              <a:t>                                        </a:t>
            </a:r>
            <a:r>
              <a:rPr lang="en-US" i="1"/>
              <a:t>x</a:t>
            </a:r>
            <a:r>
              <a:rPr lang="en-US" i="1" baseline="-25000"/>
              <a:t>ij</a:t>
            </a:r>
            <a:r>
              <a:rPr lang="en-US"/>
              <a:t> = 0 or 1    for all </a:t>
            </a:r>
            <a:r>
              <a:rPr lang="en-US" i="1"/>
              <a:t>i</a:t>
            </a:r>
            <a:r>
              <a:rPr lang="en-US"/>
              <a:t> and </a:t>
            </a:r>
            <a:r>
              <a:rPr lang="en-US" i="1"/>
              <a:t>j</a:t>
            </a:r>
            <a:r>
              <a:rPr lang="en-US"/>
              <a:t>.</a:t>
            </a:r>
          </a:p>
          <a:p>
            <a:pPr>
              <a:buFont typeface="Monotype Sorts" pitchFamily="2" charset="2"/>
              <a:buNone/>
            </a:pPr>
            <a:endParaRPr lang="en-US" sz="1000"/>
          </a:p>
          <a:p>
            <a:pPr lvl="1"/>
            <a:r>
              <a:rPr lang="en-US">
                <a:solidFill>
                  <a:schemeClr val="tx2"/>
                </a:solidFill>
              </a:rPr>
              <a:t>Note:  </a:t>
            </a:r>
            <a:r>
              <a:rPr lang="en-US"/>
              <a:t>A modification to the right-hand side of the first constraint set can be made if a worker is permitted to work more than 1 job.</a:t>
            </a:r>
          </a:p>
        </p:txBody>
      </p:sp>
    </p:spTree>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a:noFill/>
          <a:ln/>
        </p:spPr>
        <p:txBody>
          <a:bodyPr lIns="92075" tIns="46038" rIns="92075" bIns="46038"/>
          <a:lstStyle/>
          <a:p>
            <a:r>
              <a:rPr lang="en-US"/>
              <a:t>Example:  Hungry Owner</a:t>
            </a:r>
          </a:p>
        </p:txBody>
      </p:sp>
      <p:sp>
        <p:nvSpPr>
          <p:cNvPr id="135171" name="Rectangle 3"/>
          <p:cNvSpPr>
            <a:spLocks noGrp="1" noChangeArrowheads="1"/>
          </p:cNvSpPr>
          <p:nvPr>
            <p:ph type="body" idx="1"/>
          </p:nvPr>
        </p:nvSpPr>
        <p:spPr>
          <a:xfrm>
            <a:off x="533400" y="862013"/>
            <a:ext cx="8101013" cy="5005387"/>
          </a:xfrm>
          <a:noFill/>
          <a:ln/>
        </p:spPr>
        <p:txBody>
          <a:bodyPr lIns="92075" tIns="46038" rIns="92075" bIns="46038"/>
          <a:lstStyle/>
          <a:p>
            <a:pPr>
              <a:buFont typeface="Monotype Sorts" pitchFamily="2" charset="2"/>
              <a:buNone/>
            </a:pPr>
            <a:r>
              <a:rPr lang="en-US"/>
              <a:t>		A contractor pays his subcontractors a fixed fee plus mileage for work performed.  On a given day the contractor is faced with three electrical jobs associated with various projects.  Given below are the distances between the subcontractors and the projects.</a:t>
            </a:r>
          </a:p>
          <a:p>
            <a:pPr>
              <a:buFont typeface="Monotype Sorts" pitchFamily="2" charset="2"/>
              <a:buNone/>
            </a:pPr>
            <a:r>
              <a:rPr lang="en-US"/>
              <a:t>                                            		   </a:t>
            </a:r>
            <a:r>
              <a:rPr lang="en-US" u="sng"/>
              <a:t>Project</a:t>
            </a:r>
            <a:endParaRPr lang="en-US"/>
          </a:p>
          <a:p>
            <a:pPr>
              <a:buFont typeface="Monotype Sorts" pitchFamily="2" charset="2"/>
              <a:buNone/>
            </a:pPr>
            <a:r>
              <a:rPr lang="en-US"/>
              <a:t>					            </a:t>
            </a:r>
            <a:r>
              <a:rPr lang="en-US" u="sng"/>
              <a:t>A</a:t>
            </a:r>
            <a:r>
              <a:rPr lang="en-US"/>
              <a:t>     </a:t>
            </a:r>
            <a:r>
              <a:rPr lang="en-US" u="sng"/>
              <a:t>B</a:t>
            </a:r>
            <a:r>
              <a:rPr lang="en-US"/>
              <a:t>     </a:t>
            </a:r>
            <a:r>
              <a:rPr lang="en-US" u="sng"/>
              <a:t>C</a:t>
            </a:r>
            <a:r>
              <a:rPr lang="en-US"/>
              <a:t> </a:t>
            </a:r>
          </a:p>
          <a:p>
            <a:pPr>
              <a:buFont typeface="Monotype Sorts" pitchFamily="2" charset="2"/>
              <a:buNone/>
            </a:pPr>
            <a:r>
              <a:rPr lang="en-US"/>
              <a:t>				 Westside      50    36    16</a:t>
            </a:r>
          </a:p>
          <a:p>
            <a:pPr>
              <a:buFont typeface="Monotype Sorts" pitchFamily="2" charset="2"/>
              <a:buNone/>
            </a:pPr>
            <a:r>
              <a:rPr lang="en-US"/>
              <a:t>      </a:t>
            </a:r>
            <a:r>
              <a:rPr lang="en-US" u="sng"/>
              <a:t>Subcontractors </a:t>
            </a:r>
            <a:r>
              <a:rPr lang="en-US"/>
              <a:t>  Federated      28    30    18 </a:t>
            </a:r>
          </a:p>
          <a:p>
            <a:pPr>
              <a:buFont typeface="Monotype Sorts" pitchFamily="2" charset="2"/>
              <a:buNone/>
            </a:pPr>
            <a:r>
              <a:rPr lang="en-US"/>
              <a:t>				    Goliath      35    32    20</a:t>
            </a:r>
          </a:p>
          <a:p>
            <a:pPr>
              <a:buFont typeface="Monotype Sorts" pitchFamily="2" charset="2"/>
              <a:buNone/>
            </a:pPr>
            <a:r>
              <a:rPr lang="en-US"/>
              <a:t>                      		Universal      25    25    14</a:t>
            </a:r>
          </a:p>
          <a:p>
            <a:pPr>
              <a:buFont typeface="Monotype Sorts" pitchFamily="2" charset="2"/>
              <a:buNone/>
            </a:pPr>
            <a:r>
              <a:rPr lang="en-US"/>
              <a:t>	How should the contractors be assigned to minimize total distance (and total cost)?</a:t>
            </a:r>
          </a:p>
        </p:txBody>
      </p:sp>
    </p:spTree>
  </p:cSld>
  <p:clrMapOvr>
    <a:masterClrMapping/>
  </p:clrMapOvr>
  <p:transition>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a:noFill/>
          <a:ln/>
        </p:spPr>
        <p:txBody>
          <a:bodyPr lIns="92075" tIns="46038" rIns="92075" bIns="46038"/>
          <a:lstStyle/>
          <a:p>
            <a:r>
              <a:rPr lang="en-US"/>
              <a:t>Example:  Hungry Owner</a:t>
            </a:r>
          </a:p>
        </p:txBody>
      </p:sp>
      <p:sp>
        <p:nvSpPr>
          <p:cNvPr id="136195" name="Rectangle 3"/>
          <p:cNvSpPr>
            <a:spLocks noGrp="1" noChangeArrowheads="1"/>
          </p:cNvSpPr>
          <p:nvPr>
            <p:ph type="body" idx="1"/>
          </p:nvPr>
        </p:nvSpPr>
        <p:spPr>
          <a:noFill/>
          <a:ln/>
        </p:spPr>
        <p:txBody>
          <a:bodyPr lIns="92075" tIns="46038" rIns="92075" bIns="46038"/>
          <a:lstStyle/>
          <a:p>
            <a:r>
              <a:rPr lang="en-US">
                <a:solidFill>
                  <a:schemeClr val="tx2"/>
                </a:solidFill>
              </a:rPr>
              <a:t>Network Representation</a:t>
            </a:r>
          </a:p>
          <a:p>
            <a:pPr>
              <a:buFont typeface="Monotype Sorts" pitchFamily="2" charset="2"/>
              <a:buNone/>
            </a:pPr>
            <a:endParaRPr lang="en-US">
              <a:solidFill>
                <a:schemeClr val="tx2"/>
              </a:solidFill>
            </a:endParaRPr>
          </a:p>
        </p:txBody>
      </p:sp>
      <p:sp>
        <p:nvSpPr>
          <p:cNvPr id="136196" name="Line 4"/>
          <p:cNvSpPr>
            <a:spLocks noChangeShapeType="1"/>
          </p:cNvSpPr>
          <p:nvPr/>
        </p:nvSpPr>
        <p:spPr bwMode="auto">
          <a:xfrm>
            <a:off x="2992438" y="2063750"/>
            <a:ext cx="3311525" cy="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a:lstStyle/>
          <a:p>
            <a:endParaRPr lang="en-US"/>
          </a:p>
        </p:txBody>
      </p:sp>
      <p:sp>
        <p:nvSpPr>
          <p:cNvPr id="136197" name="Line 5"/>
          <p:cNvSpPr>
            <a:spLocks noChangeShapeType="1"/>
          </p:cNvSpPr>
          <p:nvPr/>
        </p:nvSpPr>
        <p:spPr bwMode="auto">
          <a:xfrm flipV="1">
            <a:off x="2990850" y="2063750"/>
            <a:ext cx="3311525" cy="149860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a:lstStyle/>
          <a:p>
            <a:endParaRPr lang="en-US"/>
          </a:p>
        </p:txBody>
      </p:sp>
      <p:sp>
        <p:nvSpPr>
          <p:cNvPr id="136198" name="Line 6"/>
          <p:cNvSpPr>
            <a:spLocks noChangeShapeType="1"/>
          </p:cNvSpPr>
          <p:nvPr/>
        </p:nvSpPr>
        <p:spPr bwMode="auto">
          <a:xfrm flipV="1">
            <a:off x="2990850" y="2063750"/>
            <a:ext cx="3311525" cy="283845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a:lstStyle/>
          <a:p>
            <a:endParaRPr lang="en-US"/>
          </a:p>
        </p:txBody>
      </p:sp>
      <p:sp>
        <p:nvSpPr>
          <p:cNvPr id="136199" name="Line 7"/>
          <p:cNvSpPr>
            <a:spLocks noChangeShapeType="1"/>
          </p:cNvSpPr>
          <p:nvPr/>
        </p:nvSpPr>
        <p:spPr bwMode="auto">
          <a:xfrm flipV="1">
            <a:off x="2990850" y="2063750"/>
            <a:ext cx="3311525" cy="4098925"/>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a:lstStyle/>
          <a:p>
            <a:endParaRPr lang="en-US"/>
          </a:p>
        </p:txBody>
      </p:sp>
      <p:sp>
        <p:nvSpPr>
          <p:cNvPr id="136200" name="Rectangle 8"/>
          <p:cNvSpPr>
            <a:spLocks noChangeArrowheads="1"/>
          </p:cNvSpPr>
          <p:nvPr/>
        </p:nvSpPr>
        <p:spPr bwMode="auto">
          <a:xfrm>
            <a:off x="3082925" y="1754188"/>
            <a:ext cx="4191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3" rIns="96838" bIns="49213">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50</a:t>
            </a:r>
          </a:p>
        </p:txBody>
      </p:sp>
      <p:sp>
        <p:nvSpPr>
          <p:cNvPr id="136201" name="Rectangle 9"/>
          <p:cNvSpPr>
            <a:spLocks noChangeArrowheads="1"/>
          </p:cNvSpPr>
          <p:nvPr/>
        </p:nvSpPr>
        <p:spPr bwMode="auto">
          <a:xfrm>
            <a:off x="3602038" y="2063750"/>
            <a:ext cx="4191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3" rIns="96838" bIns="49213">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36</a:t>
            </a:r>
          </a:p>
        </p:txBody>
      </p:sp>
      <p:sp>
        <p:nvSpPr>
          <p:cNvPr id="136202" name="Rectangle 10"/>
          <p:cNvSpPr>
            <a:spLocks noChangeArrowheads="1"/>
          </p:cNvSpPr>
          <p:nvPr/>
        </p:nvSpPr>
        <p:spPr bwMode="auto">
          <a:xfrm>
            <a:off x="3832225" y="2535238"/>
            <a:ext cx="4191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3" rIns="96838" bIns="49213">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16</a:t>
            </a:r>
          </a:p>
        </p:txBody>
      </p:sp>
      <p:sp>
        <p:nvSpPr>
          <p:cNvPr id="136203" name="Rectangle 11"/>
          <p:cNvSpPr>
            <a:spLocks noChangeArrowheads="1"/>
          </p:cNvSpPr>
          <p:nvPr/>
        </p:nvSpPr>
        <p:spPr bwMode="auto">
          <a:xfrm>
            <a:off x="3038475" y="3078163"/>
            <a:ext cx="4191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3" rIns="96838" bIns="49213">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28</a:t>
            </a:r>
          </a:p>
        </p:txBody>
      </p:sp>
      <p:sp>
        <p:nvSpPr>
          <p:cNvPr id="136204" name="Rectangle 12"/>
          <p:cNvSpPr>
            <a:spLocks noChangeArrowheads="1"/>
          </p:cNvSpPr>
          <p:nvPr/>
        </p:nvSpPr>
        <p:spPr bwMode="auto">
          <a:xfrm>
            <a:off x="3521075" y="3251200"/>
            <a:ext cx="4191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3" rIns="96838" bIns="49213">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30</a:t>
            </a:r>
          </a:p>
        </p:txBody>
      </p:sp>
      <p:sp>
        <p:nvSpPr>
          <p:cNvPr id="136205" name="Rectangle 13"/>
          <p:cNvSpPr>
            <a:spLocks noChangeArrowheads="1"/>
          </p:cNvSpPr>
          <p:nvPr/>
        </p:nvSpPr>
        <p:spPr bwMode="auto">
          <a:xfrm>
            <a:off x="3598863" y="3563938"/>
            <a:ext cx="4191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3" rIns="96838" bIns="49213">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18</a:t>
            </a:r>
          </a:p>
        </p:txBody>
      </p:sp>
      <p:sp>
        <p:nvSpPr>
          <p:cNvPr id="136206" name="Rectangle 14"/>
          <p:cNvSpPr>
            <a:spLocks noChangeArrowheads="1"/>
          </p:cNvSpPr>
          <p:nvPr/>
        </p:nvSpPr>
        <p:spPr bwMode="auto">
          <a:xfrm>
            <a:off x="2989263" y="4322763"/>
            <a:ext cx="4191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3" rIns="96838" bIns="49213">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35</a:t>
            </a:r>
          </a:p>
        </p:txBody>
      </p:sp>
      <p:sp>
        <p:nvSpPr>
          <p:cNvPr id="136207" name="Rectangle 15"/>
          <p:cNvSpPr>
            <a:spLocks noChangeArrowheads="1"/>
          </p:cNvSpPr>
          <p:nvPr/>
        </p:nvSpPr>
        <p:spPr bwMode="auto">
          <a:xfrm>
            <a:off x="3598863" y="4278313"/>
            <a:ext cx="4191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3" rIns="96838" bIns="49213">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32</a:t>
            </a:r>
          </a:p>
        </p:txBody>
      </p:sp>
      <p:sp>
        <p:nvSpPr>
          <p:cNvPr id="136208" name="Rectangle 16"/>
          <p:cNvSpPr>
            <a:spLocks noChangeArrowheads="1"/>
          </p:cNvSpPr>
          <p:nvPr/>
        </p:nvSpPr>
        <p:spPr bwMode="auto">
          <a:xfrm>
            <a:off x="3598863" y="4591050"/>
            <a:ext cx="4191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3" rIns="96838" bIns="49213">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20</a:t>
            </a:r>
          </a:p>
        </p:txBody>
      </p:sp>
      <p:sp>
        <p:nvSpPr>
          <p:cNvPr id="136209" name="Rectangle 17"/>
          <p:cNvSpPr>
            <a:spLocks noChangeArrowheads="1"/>
          </p:cNvSpPr>
          <p:nvPr/>
        </p:nvSpPr>
        <p:spPr bwMode="auto">
          <a:xfrm>
            <a:off x="2913063" y="5538788"/>
            <a:ext cx="4191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3" rIns="96838" bIns="49213">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25</a:t>
            </a:r>
          </a:p>
        </p:txBody>
      </p:sp>
      <p:sp>
        <p:nvSpPr>
          <p:cNvPr id="136210" name="Rectangle 18"/>
          <p:cNvSpPr>
            <a:spLocks noChangeArrowheads="1"/>
          </p:cNvSpPr>
          <p:nvPr/>
        </p:nvSpPr>
        <p:spPr bwMode="auto">
          <a:xfrm>
            <a:off x="3679825" y="5527675"/>
            <a:ext cx="4191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3" rIns="96838" bIns="49213">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25</a:t>
            </a:r>
          </a:p>
        </p:txBody>
      </p:sp>
      <p:sp>
        <p:nvSpPr>
          <p:cNvPr id="136211" name="Rectangle 19"/>
          <p:cNvSpPr>
            <a:spLocks noChangeArrowheads="1"/>
          </p:cNvSpPr>
          <p:nvPr/>
        </p:nvSpPr>
        <p:spPr bwMode="auto">
          <a:xfrm>
            <a:off x="3759200" y="5838825"/>
            <a:ext cx="4191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3" rIns="96838" bIns="49213">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14</a:t>
            </a:r>
          </a:p>
        </p:txBody>
      </p:sp>
      <p:sp>
        <p:nvSpPr>
          <p:cNvPr id="136212" name="Line 20"/>
          <p:cNvSpPr>
            <a:spLocks noChangeShapeType="1"/>
          </p:cNvSpPr>
          <p:nvPr/>
        </p:nvSpPr>
        <p:spPr bwMode="auto">
          <a:xfrm flipV="1">
            <a:off x="2990850" y="3562350"/>
            <a:ext cx="3390900" cy="1588"/>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a:lstStyle/>
          <a:p>
            <a:endParaRPr lang="en-US"/>
          </a:p>
        </p:txBody>
      </p:sp>
      <p:sp>
        <p:nvSpPr>
          <p:cNvPr id="136213" name="Line 21"/>
          <p:cNvSpPr>
            <a:spLocks noChangeShapeType="1"/>
          </p:cNvSpPr>
          <p:nvPr/>
        </p:nvSpPr>
        <p:spPr bwMode="auto">
          <a:xfrm>
            <a:off x="3006725" y="4903788"/>
            <a:ext cx="3375025" cy="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a:lstStyle/>
          <a:p>
            <a:endParaRPr lang="en-US"/>
          </a:p>
        </p:txBody>
      </p:sp>
      <p:sp>
        <p:nvSpPr>
          <p:cNvPr id="136214" name="Line 22"/>
          <p:cNvSpPr>
            <a:spLocks noChangeShapeType="1"/>
          </p:cNvSpPr>
          <p:nvPr/>
        </p:nvSpPr>
        <p:spPr bwMode="auto">
          <a:xfrm flipV="1">
            <a:off x="3001963" y="4905375"/>
            <a:ext cx="3378200" cy="1258888"/>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a:lstStyle/>
          <a:p>
            <a:endParaRPr lang="en-US"/>
          </a:p>
        </p:txBody>
      </p:sp>
      <p:sp>
        <p:nvSpPr>
          <p:cNvPr id="136215" name="Line 23"/>
          <p:cNvSpPr>
            <a:spLocks noChangeShapeType="1"/>
          </p:cNvSpPr>
          <p:nvPr/>
        </p:nvSpPr>
        <p:spPr bwMode="auto">
          <a:xfrm>
            <a:off x="2992438" y="3565525"/>
            <a:ext cx="3389312" cy="1338263"/>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a:lstStyle/>
          <a:p>
            <a:endParaRPr lang="en-US"/>
          </a:p>
        </p:txBody>
      </p:sp>
      <p:sp>
        <p:nvSpPr>
          <p:cNvPr id="136216" name="Line 24"/>
          <p:cNvSpPr>
            <a:spLocks noChangeShapeType="1"/>
          </p:cNvSpPr>
          <p:nvPr/>
        </p:nvSpPr>
        <p:spPr bwMode="auto">
          <a:xfrm>
            <a:off x="3001963" y="2063750"/>
            <a:ext cx="3379787" cy="2840038"/>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a:lstStyle/>
          <a:p>
            <a:endParaRPr lang="en-US"/>
          </a:p>
        </p:txBody>
      </p:sp>
      <p:sp>
        <p:nvSpPr>
          <p:cNvPr id="136217" name="Line 25"/>
          <p:cNvSpPr>
            <a:spLocks noChangeShapeType="1"/>
          </p:cNvSpPr>
          <p:nvPr/>
        </p:nvSpPr>
        <p:spPr bwMode="auto">
          <a:xfrm flipV="1">
            <a:off x="2990850" y="3559175"/>
            <a:ext cx="3390900" cy="260350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a:lstStyle/>
          <a:p>
            <a:endParaRPr lang="en-US"/>
          </a:p>
        </p:txBody>
      </p:sp>
      <p:sp>
        <p:nvSpPr>
          <p:cNvPr id="136218" name="Line 26"/>
          <p:cNvSpPr>
            <a:spLocks noChangeShapeType="1"/>
          </p:cNvSpPr>
          <p:nvPr/>
        </p:nvSpPr>
        <p:spPr bwMode="auto">
          <a:xfrm>
            <a:off x="2992438" y="2065338"/>
            <a:ext cx="3389312" cy="1498600"/>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a:lstStyle/>
          <a:p>
            <a:endParaRPr lang="en-US"/>
          </a:p>
        </p:txBody>
      </p:sp>
      <p:sp>
        <p:nvSpPr>
          <p:cNvPr id="136219" name="Line 27"/>
          <p:cNvSpPr>
            <a:spLocks noChangeShapeType="1"/>
          </p:cNvSpPr>
          <p:nvPr/>
        </p:nvSpPr>
        <p:spPr bwMode="auto">
          <a:xfrm flipV="1">
            <a:off x="2992438" y="3565525"/>
            <a:ext cx="3389312" cy="1338263"/>
          </a:xfrm>
          <a:prstGeom prst="line">
            <a:avLst/>
          </a:prstGeom>
          <a:noFill/>
          <a:ln w="12700">
            <a:solidFill>
              <a:srgbClr val="FFFFFF"/>
            </a:solidFill>
            <a:round/>
            <a:headEnd type="none" w="sm" len="sm"/>
            <a:tailEnd type="none" w="sm" len="sm"/>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a:lstStyle/>
          <a:p>
            <a:endParaRPr lang="en-US"/>
          </a:p>
        </p:txBody>
      </p:sp>
      <p:sp>
        <p:nvSpPr>
          <p:cNvPr id="136220" name="Oval 28"/>
          <p:cNvSpPr>
            <a:spLocks noChangeArrowheads="1"/>
          </p:cNvSpPr>
          <p:nvPr/>
        </p:nvSpPr>
        <p:spPr bwMode="auto">
          <a:xfrm>
            <a:off x="2292350" y="1758950"/>
            <a:ext cx="673100" cy="673100"/>
          </a:xfrm>
          <a:prstGeom prst="ellipse">
            <a:avLst/>
          </a:prstGeom>
          <a:solidFill>
            <a:schemeClr val="folHlink"/>
          </a:solidFill>
          <a:ln w="12700">
            <a:solidFill>
              <a:srgbClr val="FFFFFF"/>
            </a:solidFill>
            <a:round/>
            <a:headEnd/>
            <a:tailEnd/>
          </a:ln>
          <a:effectLst>
            <a:outerShdw dist="17961" dir="2700000" algn="ctr" rotWithShape="0">
              <a:srgbClr val="000000"/>
            </a:outerShdw>
          </a:effectLst>
        </p:spPr>
        <p:txBody>
          <a:bodyPr wrap="none" lIns="92075" tIns="46038" rIns="92075" bIns="46038" anchor="ctr"/>
          <a:lstStyle/>
          <a:p>
            <a:pPr algn="ctr"/>
            <a:r>
              <a:rPr lang="en-US" sz="2000" i="0">
                <a:solidFill>
                  <a:srgbClr val="FFFFFF"/>
                </a:solidFill>
                <a:effectLst>
                  <a:outerShdw blurRad="38100" dist="38100" dir="2700000" algn="tl">
                    <a:srgbClr val="000000"/>
                  </a:outerShdw>
                </a:effectLst>
              </a:rPr>
              <a:t>West.</a:t>
            </a:r>
          </a:p>
        </p:txBody>
      </p:sp>
      <p:sp>
        <p:nvSpPr>
          <p:cNvPr id="136221" name="Oval 29"/>
          <p:cNvSpPr>
            <a:spLocks noChangeArrowheads="1"/>
          </p:cNvSpPr>
          <p:nvPr/>
        </p:nvSpPr>
        <p:spPr bwMode="auto">
          <a:xfrm>
            <a:off x="6407150" y="4578350"/>
            <a:ext cx="673100" cy="673100"/>
          </a:xfrm>
          <a:prstGeom prst="ellipse">
            <a:avLst/>
          </a:prstGeom>
          <a:solidFill>
            <a:schemeClr val="folHlink"/>
          </a:solidFill>
          <a:ln w="12700">
            <a:solidFill>
              <a:srgbClr val="FFFFFF"/>
            </a:solidFill>
            <a:round/>
            <a:headEnd/>
            <a:tailEnd/>
          </a:ln>
          <a:effectLst>
            <a:outerShdw dist="17961" dir="2700000" algn="ctr" rotWithShape="0">
              <a:srgbClr val="000000"/>
            </a:outerShdw>
          </a:effectLst>
        </p:spPr>
        <p:txBody>
          <a:bodyPr wrap="none" lIns="92075" tIns="46038" rIns="92075" bIns="46038" anchor="ctr"/>
          <a:lstStyle/>
          <a:p>
            <a:pPr algn="ctr"/>
            <a:r>
              <a:rPr lang="en-US" sz="2000" i="0">
                <a:solidFill>
                  <a:srgbClr val="FFFFFF"/>
                </a:solidFill>
                <a:effectLst>
                  <a:outerShdw blurRad="38100" dist="38100" dir="2700000" algn="tl">
                    <a:srgbClr val="000000"/>
                  </a:outerShdw>
                </a:effectLst>
              </a:rPr>
              <a:t>C</a:t>
            </a:r>
          </a:p>
        </p:txBody>
      </p:sp>
      <p:sp>
        <p:nvSpPr>
          <p:cNvPr id="136222" name="Oval 30"/>
          <p:cNvSpPr>
            <a:spLocks noChangeArrowheads="1"/>
          </p:cNvSpPr>
          <p:nvPr/>
        </p:nvSpPr>
        <p:spPr bwMode="auto">
          <a:xfrm>
            <a:off x="6407150" y="3206750"/>
            <a:ext cx="673100" cy="673100"/>
          </a:xfrm>
          <a:prstGeom prst="ellipse">
            <a:avLst/>
          </a:prstGeom>
          <a:solidFill>
            <a:schemeClr val="folHlink"/>
          </a:solidFill>
          <a:ln w="12700">
            <a:solidFill>
              <a:srgbClr val="FFFFFF"/>
            </a:solidFill>
            <a:round/>
            <a:headEnd/>
            <a:tailEnd/>
          </a:ln>
          <a:effectLst>
            <a:outerShdw dist="17961" dir="2700000" algn="ctr" rotWithShape="0">
              <a:srgbClr val="000000"/>
            </a:outerShdw>
          </a:effectLst>
        </p:spPr>
        <p:txBody>
          <a:bodyPr wrap="none" lIns="92075" tIns="46038" rIns="92075" bIns="46038" anchor="ctr"/>
          <a:lstStyle/>
          <a:p>
            <a:pPr algn="ctr"/>
            <a:r>
              <a:rPr lang="en-US" sz="2000" i="0">
                <a:solidFill>
                  <a:srgbClr val="FFFFFF"/>
                </a:solidFill>
                <a:effectLst>
                  <a:outerShdw blurRad="38100" dist="38100" dir="2700000" algn="tl">
                    <a:srgbClr val="000000"/>
                  </a:outerShdw>
                </a:effectLst>
              </a:rPr>
              <a:t>B</a:t>
            </a:r>
          </a:p>
        </p:txBody>
      </p:sp>
      <p:sp>
        <p:nvSpPr>
          <p:cNvPr id="136223" name="Oval 31"/>
          <p:cNvSpPr>
            <a:spLocks noChangeArrowheads="1"/>
          </p:cNvSpPr>
          <p:nvPr/>
        </p:nvSpPr>
        <p:spPr bwMode="auto">
          <a:xfrm>
            <a:off x="6340475" y="1758950"/>
            <a:ext cx="673100" cy="673100"/>
          </a:xfrm>
          <a:prstGeom prst="ellipse">
            <a:avLst/>
          </a:prstGeom>
          <a:solidFill>
            <a:schemeClr val="folHlink"/>
          </a:solidFill>
          <a:ln w="12700">
            <a:solidFill>
              <a:srgbClr val="FFFFFF"/>
            </a:solidFill>
            <a:round/>
            <a:headEnd/>
            <a:tailEnd/>
          </a:ln>
          <a:effectLst>
            <a:outerShdw dist="17961" dir="2700000" algn="ctr" rotWithShape="0">
              <a:srgbClr val="000000"/>
            </a:outerShdw>
          </a:effectLst>
        </p:spPr>
        <p:txBody>
          <a:bodyPr wrap="none" lIns="92075" tIns="46038" rIns="92075" bIns="46038" anchor="ctr"/>
          <a:lstStyle/>
          <a:p>
            <a:pPr algn="ctr"/>
            <a:r>
              <a:rPr lang="en-US" sz="2000" i="0">
                <a:solidFill>
                  <a:srgbClr val="FFFFFF"/>
                </a:solidFill>
                <a:effectLst>
                  <a:outerShdw blurRad="38100" dist="38100" dir="2700000" algn="tl">
                    <a:srgbClr val="000000"/>
                  </a:outerShdw>
                </a:effectLst>
              </a:rPr>
              <a:t>A</a:t>
            </a:r>
          </a:p>
        </p:txBody>
      </p:sp>
      <p:sp>
        <p:nvSpPr>
          <p:cNvPr id="136224" name="Oval 32"/>
          <p:cNvSpPr>
            <a:spLocks noChangeArrowheads="1"/>
          </p:cNvSpPr>
          <p:nvPr/>
        </p:nvSpPr>
        <p:spPr bwMode="auto">
          <a:xfrm>
            <a:off x="2292350" y="5797550"/>
            <a:ext cx="673100" cy="673100"/>
          </a:xfrm>
          <a:prstGeom prst="ellipse">
            <a:avLst/>
          </a:prstGeom>
          <a:solidFill>
            <a:schemeClr val="folHlink"/>
          </a:solidFill>
          <a:ln w="12700">
            <a:solidFill>
              <a:srgbClr val="FFFFFF"/>
            </a:solidFill>
            <a:round/>
            <a:headEnd/>
            <a:tailEnd/>
          </a:ln>
          <a:effectLst>
            <a:outerShdw dist="17961" dir="2700000" algn="ctr" rotWithShape="0">
              <a:srgbClr val="000000"/>
            </a:outerShdw>
          </a:effectLst>
        </p:spPr>
        <p:txBody>
          <a:bodyPr wrap="none" lIns="92075" tIns="46038" rIns="92075" bIns="46038" anchor="ctr"/>
          <a:lstStyle/>
          <a:p>
            <a:pPr algn="ctr"/>
            <a:r>
              <a:rPr lang="en-US" sz="2000" i="0">
                <a:solidFill>
                  <a:srgbClr val="FFFFFF"/>
                </a:solidFill>
                <a:effectLst>
                  <a:outerShdw blurRad="38100" dist="38100" dir="2700000" algn="tl">
                    <a:srgbClr val="000000"/>
                  </a:outerShdw>
                </a:effectLst>
              </a:rPr>
              <a:t>Univ.</a:t>
            </a:r>
          </a:p>
        </p:txBody>
      </p:sp>
      <p:sp>
        <p:nvSpPr>
          <p:cNvPr id="136225" name="Oval 33"/>
          <p:cNvSpPr>
            <a:spLocks noChangeArrowheads="1"/>
          </p:cNvSpPr>
          <p:nvPr/>
        </p:nvSpPr>
        <p:spPr bwMode="auto">
          <a:xfrm>
            <a:off x="2292350" y="4578350"/>
            <a:ext cx="673100" cy="673100"/>
          </a:xfrm>
          <a:prstGeom prst="ellipse">
            <a:avLst/>
          </a:prstGeom>
          <a:solidFill>
            <a:schemeClr val="folHlink"/>
          </a:solidFill>
          <a:ln w="12700">
            <a:solidFill>
              <a:srgbClr val="FFFFFF"/>
            </a:solidFill>
            <a:round/>
            <a:headEnd/>
            <a:tailEnd/>
          </a:ln>
          <a:effectLst>
            <a:outerShdw dist="17961" dir="2700000" algn="ctr" rotWithShape="0">
              <a:srgbClr val="000000"/>
            </a:outerShdw>
          </a:effectLst>
        </p:spPr>
        <p:txBody>
          <a:bodyPr wrap="none" lIns="92075" tIns="46038" rIns="92075" bIns="46038" anchor="ctr"/>
          <a:lstStyle/>
          <a:p>
            <a:pPr algn="ctr"/>
            <a:r>
              <a:rPr lang="en-US" sz="2000" i="0">
                <a:solidFill>
                  <a:srgbClr val="FFFFFF"/>
                </a:solidFill>
                <a:effectLst>
                  <a:outerShdw blurRad="38100" dist="38100" dir="2700000" algn="tl">
                    <a:srgbClr val="000000"/>
                  </a:outerShdw>
                </a:effectLst>
              </a:rPr>
              <a:t>Gol.</a:t>
            </a:r>
          </a:p>
        </p:txBody>
      </p:sp>
      <p:sp>
        <p:nvSpPr>
          <p:cNvPr id="136226" name="Oval 34"/>
          <p:cNvSpPr>
            <a:spLocks noChangeArrowheads="1"/>
          </p:cNvSpPr>
          <p:nvPr/>
        </p:nvSpPr>
        <p:spPr bwMode="auto">
          <a:xfrm>
            <a:off x="2292350" y="3206750"/>
            <a:ext cx="673100" cy="673100"/>
          </a:xfrm>
          <a:prstGeom prst="ellipse">
            <a:avLst/>
          </a:prstGeom>
          <a:solidFill>
            <a:schemeClr val="folHlink"/>
          </a:solidFill>
          <a:ln w="12700">
            <a:solidFill>
              <a:srgbClr val="FFFFFF"/>
            </a:solidFill>
            <a:round/>
            <a:headEnd/>
            <a:tailEnd/>
          </a:ln>
          <a:effectLst>
            <a:outerShdw dist="17961" dir="2700000" algn="ctr" rotWithShape="0">
              <a:srgbClr val="000000"/>
            </a:outerShdw>
          </a:effectLst>
        </p:spPr>
        <p:txBody>
          <a:bodyPr wrap="none" lIns="92075" tIns="46038" rIns="92075" bIns="46038" anchor="ctr"/>
          <a:lstStyle/>
          <a:p>
            <a:pPr algn="ctr"/>
            <a:r>
              <a:rPr lang="en-US" sz="2000" i="0">
                <a:solidFill>
                  <a:srgbClr val="FFFFFF"/>
                </a:solidFill>
                <a:effectLst>
                  <a:outerShdw blurRad="38100" dist="38100" dir="2700000" algn="tl">
                    <a:srgbClr val="000000"/>
                  </a:outerShdw>
                </a:effectLst>
              </a:rPr>
              <a:t>Fed.</a:t>
            </a:r>
          </a:p>
        </p:txBody>
      </p:sp>
    </p:spTree>
  </p:cSld>
  <p:clrMapOvr>
    <a:masterClrMapping/>
  </p:clrMapOvr>
  <p:transition>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noFill/>
          <a:ln/>
        </p:spPr>
        <p:txBody>
          <a:bodyPr lIns="92075" tIns="46038" rIns="92075" bIns="46038"/>
          <a:lstStyle/>
          <a:p>
            <a:r>
              <a:rPr lang="en-US"/>
              <a:t>Example:  Hungry Owner</a:t>
            </a:r>
          </a:p>
        </p:txBody>
      </p:sp>
      <p:sp>
        <p:nvSpPr>
          <p:cNvPr id="137219" name="Rectangle 3"/>
          <p:cNvSpPr>
            <a:spLocks noGrp="1" noChangeArrowheads="1"/>
          </p:cNvSpPr>
          <p:nvPr>
            <p:ph type="body" idx="1"/>
          </p:nvPr>
        </p:nvSpPr>
        <p:spPr>
          <a:noFill/>
          <a:ln/>
        </p:spPr>
        <p:txBody>
          <a:bodyPr lIns="92075" tIns="46038" rIns="92075" bIns="46038"/>
          <a:lstStyle/>
          <a:p>
            <a:r>
              <a:rPr lang="en-US">
                <a:solidFill>
                  <a:schemeClr val="tx2"/>
                </a:solidFill>
              </a:rPr>
              <a:t>LP Formulation</a:t>
            </a:r>
          </a:p>
          <a:p>
            <a:pPr lvl="1"/>
            <a:r>
              <a:rPr lang="en-US">
                <a:solidFill>
                  <a:schemeClr val="tx2"/>
                </a:solidFill>
              </a:rPr>
              <a:t>Decision Variables Defined</a:t>
            </a:r>
          </a:p>
          <a:p>
            <a:pPr lvl="1">
              <a:buFontTx/>
              <a:buNone/>
            </a:pPr>
            <a:r>
              <a:rPr lang="en-US">
                <a:solidFill>
                  <a:schemeClr val="tx2"/>
                </a:solidFill>
              </a:rPr>
              <a:t>		</a:t>
            </a:r>
            <a:r>
              <a:rPr lang="en-US" i="1"/>
              <a:t>x</a:t>
            </a:r>
            <a:r>
              <a:rPr lang="en-US" i="1" baseline="-25000"/>
              <a:t>ij </a:t>
            </a:r>
            <a:r>
              <a:rPr lang="en-US"/>
              <a:t>  =  1  if subcontractor </a:t>
            </a:r>
            <a:r>
              <a:rPr lang="en-US" i="1"/>
              <a:t>i</a:t>
            </a:r>
            <a:r>
              <a:rPr lang="en-US"/>
              <a:t> is assigned to project </a:t>
            </a:r>
            <a:r>
              <a:rPr lang="en-US" i="1"/>
              <a:t>j</a:t>
            </a:r>
            <a:endParaRPr lang="en-US"/>
          </a:p>
          <a:p>
            <a:pPr lvl="1">
              <a:buFontTx/>
              <a:buNone/>
            </a:pPr>
            <a:r>
              <a:rPr lang="en-US"/>
              <a:t>		      =  0  otherwise</a:t>
            </a:r>
          </a:p>
          <a:p>
            <a:pPr lvl="1">
              <a:buFontTx/>
              <a:buNone/>
            </a:pPr>
            <a:endParaRPr lang="en-US"/>
          </a:p>
          <a:p>
            <a:pPr lvl="1">
              <a:buFontTx/>
              <a:buNone/>
            </a:pPr>
            <a:r>
              <a:rPr lang="en-US"/>
              <a:t>	  where:   </a:t>
            </a:r>
            <a:r>
              <a:rPr lang="en-US" i="1"/>
              <a:t>i</a:t>
            </a:r>
            <a:r>
              <a:rPr lang="en-US"/>
              <a:t>  =  1 (Westside), 2 (Federated),</a:t>
            </a:r>
          </a:p>
          <a:p>
            <a:pPr lvl="1">
              <a:buFontTx/>
              <a:buNone/>
            </a:pPr>
            <a:r>
              <a:rPr lang="en-US"/>
              <a:t>			           3 (Goliath), and 4 (Universal)</a:t>
            </a:r>
          </a:p>
          <a:p>
            <a:pPr lvl="1">
              <a:buFontTx/>
              <a:buNone/>
            </a:pPr>
            <a:r>
              <a:rPr lang="en-US"/>
              <a:t>			   </a:t>
            </a:r>
            <a:r>
              <a:rPr lang="en-US" i="1"/>
              <a:t>j</a:t>
            </a:r>
            <a:r>
              <a:rPr lang="en-US"/>
              <a:t>  =  1 (A), 2 (B), and 3 (C)	 </a:t>
            </a:r>
          </a:p>
        </p:txBody>
      </p:sp>
    </p:spTree>
  </p:cSld>
  <p:clrMapOvr>
    <a:masterClrMapping/>
  </p:clrMapOvr>
  <p:transition>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noFill/>
          <a:ln/>
        </p:spPr>
        <p:txBody>
          <a:bodyPr lIns="92075" tIns="46038" rIns="92075" bIns="46038"/>
          <a:lstStyle/>
          <a:p>
            <a:r>
              <a:rPr lang="en-US"/>
              <a:t>Example:  Hungry Owner</a:t>
            </a:r>
          </a:p>
        </p:txBody>
      </p:sp>
      <p:sp>
        <p:nvSpPr>
          <p:cNvPr id="147459" name="Rectangle 3"/>
          <p:cNvSpPr>
            <a:spLocks noGrp="1" noChangeArrowheads="1"/>
          </p:cNvSpPr>
          <p:nvPr>
            <p:ph type="body" idx="1"/>
          </p:nvPr>
        </p:nvSpPr>
        <p:spPr>
          <a:noFill/>
          <a:ln/>
        </p:spPr>
        <p:txBody>
          <a:bodyPr lIns="92075" tIns="46038" rIns="92075" bIns="46038"/>
          <a:lstStyle/>
          <a:p>
            <a:r>
              <a:rPr lang="en-US">
                <a:solidFill>
                  <a:schemeClr val="tx2"/>
                </a:solidFill>
              </a:rPr>
              <a:t>LP Formulation</a:t>
            </a:r>
          </a:p>
          <a:p>
            <a:pPr lvl="1"/>
            <a:r>
              <a:rPr lang="en-US">
                <a:solidFill>
                  <a:schemeClr val="tx2"/>
                </a:solidFill>
              </a:rPr>
              <a:t>Objective Function</a:t>
            </a:r>
          </a:p>
          <a:p>
            <a:pPr lvl="1">
              <a:buFontTx/>
              <a:buNone/>
            </a:pPr>
            <a:r>
              <a:rPr lang="en-US">
                <a:solidFill>
                  <a:schemeClr val="tx2"/>
                </a:solidFill>
              </a:rPr>
              <a:t>	</a:t>
            </a:r>
            <a:r>
              <a:rPr lang="en-US"/>
              <a:t>Minimize total distance:</a:t>
            </a:r>
          </a:p>
          <a:p>
            <a:pPr lvl="1">
              <a:buFontTx/>
              <a:buNone/>
            </a:pPr>
            <a:r>
              <a:rPr lang="en-US"/>
              <a:t>	Min  50</a:t>
            </a:r>
            <a:r>
              <a:rPr lang="en-US" i="1"/>
              <a:t>x</a:t>
            </a:r>
            <a:r>
              <a:rPr lang="en-US" baseline="-25000"/>
              <a:t>11</a:t>
            </a:r>
            <a:r>
              <a:rPr lang="en-US"/>
              <a:t> + 36</a:t>
            </a:r>
            <a:r>
              <a:rPr lang="en-US" i="1"/>
              <a:t>x</a:t>
            </a:r>
            <a:r>
              <a:rPr lang="en-US" baseline="-25000"/>
              <a:t>12</a:t>
            </a:r>
            <a:r>
              <a:rPr lang="en-US"/>
              <a:t> + 16</a:t>
            </a:r>
            <a:r>
              <a:rPr lang="en-US" i="1"/>
              <a:t>x</a:t>
            </a:r>
            <a:r>
              <a:rPr lang="en-US" baseline="-25000"/>
              <a:t>13</a:t>
            </a:r>
            <a:r>
              <a:rPr lang="en-US"/>
              <a:t> + 28</a:t>
            </a:r>
            <a:r>
              <a:rPr lang="en-US" i="1"/>
              <a:t>x</a:t>
            </a:r>
            <a:r>
              <a:rPr lang="en-US" baseline="-25000"/>
              <a:t>21</a:t>
            </a:r>
            <a:r>
              <a:rPr lang="en-US"/>
              <a:t> + 30</a:t>
            </a:r>
            <a:r>
              <a:rPr lang="en-US" i="1"/>
              <a:t>x</a:t>
            </a:r>
            <a:r>
              <a:rPr lang="en-US" baseline="-25000"/>
              <a:t>22</a:t>
            </a:r>
            <a:r>
              <a:rPr lang="en-US"/>
              <a:t> + 18</a:t>
            </a:r>
            <a:r>
              <a:rPr lang="en-US" i="1"/>
              <a:t>x</a:t>
            </a:r>
            <a:r>
              <a:rPr lang="en-US" baseline="-25000"/>
              <a:t>23</a:t>
            </a:r>
            <a:endParaRPr lang="en-US"/>
          </a:p>
          <a:p>
            <a:pPr lvl="1">
              <a:buFontTx/>
              <a:buNone/>
            </a:pPr>
            <a:r>
              <a:rPr lang="en-US"/>
              <a:t>		    + 35</a:t>
            </a:r>
            <a:r>
              <a:rPr lang="en-US" i="1"/>
              <a:t>x</a:t>
            </a:r>
            <a:r>
              <a:rPr lang="en-US" baseline="-25000"/>
              <a:t>31</a:t>
            </a:r>
            <a:r>
              <a:rPr lang="en-US"/>
              <a:t> + 32</a:t>
            </a:r>
            <a:r>
              <a:rPr lang="en-US" i="1"/>
              <a:t>x</a:t>
            </a:r>
            <a:r>
              <a:rPr lang="en-US" baseline="-25000"/>
              <a:t>32</a:t>
            </a:r>
            <a:r>
              <a:rPr lang="en-US"/>
              <a:t> + 20</a:t>
            </a:r>
            <a:r>
              <a:rPr lang="en-US" i="1"/>
              <a:t>x</a:t>
            </a:r>
            <a:r>
              <a:rPr lang="en-US" baseline="-25000"/>
              <a:t>33</a:t>
            </a:r>
            <a:r>
              <a:rPr lang="en-US"/>
              <a:t> + 25</a:t>
            </a:r>
            <a:r>
              <a:rPr lang="en-US" i="1"/>
              <a:t>x</a:t>
            </a:r>
            <a:r>
              <a:rPr lang="en-US" baseline="-25000"/>
              <a:t>41</a:t>
            </a:r>
            <a:r>
              <a:rPr lang="en-US"/>
              <a:t> + 25</a:t>
            </a:r>
            <a:r>
              <a:rPr lang="en-US" i="1"/>
              <a:t>x</a:t>
            </a:r>
            <a:r>
              <a:rPr lang="en-US" baseline="-25000"/>
              <a:t>42</a:t>
            </a:r>
            <a:r>
              <a:rPr lang="en-US"/>
              <a:t> + 14</a:t>
            </a:r>
            <a:r>
              <a:rPr lang="en-US" i="1"/>
              <a:t>x</a:t>
            </a:r>
            <a:r>
              <a:rPr lang="en-US" baseline="-25000"/>
              <a:t>43</a:t>
            </a:r>
            <a:endParaRPr lang="en-US">
              <a:solidFill>
                <a:schemeClr val="tx2"/>
              </a:solidFill>
            </a:endParaRPr>
          </a:p>
          <a:p>
            <a:pPr>
              <a:buFont typeface="Monotype Sorts" pitchFamily="2" charset="2"/>
              <a:buNone/>
            </a:pPr>
            <a:endParaRPr lang="en-US"/>
          </a:p>
          <a:p>
            <a:pPr>
              <a:buFont typeface="Monotype Sorts" pitchFamily="2" charset="2"/>
              <a:buNone/>
            </a:pPr>
            <a:endParaRPr lang="en-US"/>
          </a:p>
        </p:txBody>
      </p:sp>
    </p:spTree>
  </p:cSld>
  <p:clrMapOvr>
    <a:masterClrMapping/>
  </p:clrMapOvr>
  <p:transition>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a:noFill/>
          <a:ln/>
        </p:spPr>
        <p:txBody>
          <a:bodyPr lIns="92075" tIns="46038" rIns="92075" bIns="46038"/>
          <a:lstStyle/>
          <a:p>
            <a:r>
              <a:rPr lang="en-US"/>
              <a:t>Example:  Hungry Owner</a:t>
            </a:r>
          </a:p>
        </p:txBody>
      </p:sp>
      <p:sp>
        <p:nvSpPr>
          <p:cNvPr id="139267" name="Rectangle 3"/>
          <p:cNvSpPr>
            <a:spLocks noGrp="1" noChangeArrowheads="1"/>
          </p:cNvSpPr>
          <p:nvPr>
            <p:ph type="body" idx="1"/>
          </p:nvPr>
        </p:nvSpPr>
        <p:spPr>
          <a:noFill/>
          <a:ln/>
        </p:spPr>
        <p:txBody>
          <a:bodyPr lIns="92075" tIns="46038" rIns="92075" bIns="46038"/>
          <a:lstStyle/>
          <a:p>
            <a:r>
              <a:rPr lang="en-US">
                <a:solidFill>
                  <a:schemeClr val="tx2"/>
                </a:solidFill>
              </a:rPr>
              <a:t>LP Formulation</a:t>
            </a:r>
          </a:p>
          <a:p>
            <a:pPr lvl="1"/>
            <a:r>
              <a:rPr lang="en-US">
                <a:solidFill>
                  <a:schemeClr val="tx2"/>
                </a:solidFill>
              </a:rPr>
              <a:t>Constraints</a:t>
            </a:r>
          </a:p>
          <a:p>
            <a:pPr lvl="1">
              <a:buFontTx/>
              <a:buNone/>
            </a:pPr>
            <a:r>
              <a:rPr lang="en-US">
                <a:solidFill>
                  <a:schemeClr val="tx2"/>
                </a:solidFill>
              </a:rPr>
              <a:t>	 	</a:t>
            </a:r>
            <a:r>
              <a:rPr lang="en-US" i="1"/>
              <a:t>x</a:t>
            </a:r>
            <a:r>
              <a:rPr lang="en-US" baseline="-25000"/>
              <a:t>11</a:t>
            </a:r>
            <a:r>
              <a:rPr lang="en-US"/>
              <a:t> + </a:t>
            </a:r>
            <a:r>
              <a:rPr lang="en-US" i="1"/>
              <a:t>x</a:t>
            </a:r>
            <a:r>
              <a:rPr lang="en-US" baseline="-25000"/>
              <a:t>12</a:t>
            </a:r>
            <a:r>
              <a:rPr lang="en-US"/>
              <a:t> + </a:t>
            </a:r>
            <a:r>
              <a:rPr lang="en-US" i="1"/>
              <a:t>x</a:t>
            </a:r>
            <a:r>
              <a:rPr lang="en-US" baseline="-25000"/>
              <a:t>13</a:t>
            </a:r>
            <a:r>
              <a:rPr lang="en-US"/>
              <a:t>  </a:t>
            </a:r>
            <a:r>
              <a:rPr lang="en-US" u="sng"/>
              <a:t>&lt;</a:t>
            </a:r>
            <a:r>
              <a:rPr lang="en-US"/>
              <a:t>  1   (no more than one</a:t>
            </a:r>
          </a:p>
          <a:p>
            <a:pPr lvl="1">
              <a:buFontTx/>
              <a:buNone/>
            </a:pPr>
            <a:r>
              <a:rPr lang="en-US"/>
              <a:t>	 	</a:t>
            </a:r>
            <a:r>
              <a:rPr lang="en-US" i="1"/>
              <a:t>x</a:t>
            </a:r>
            <a:r>
              <a:rPr lang="en-US" baseline="-25000"/>
              <a:t>21</a:t>
            </a:r>
            <a:r>
              <a:rPr lang="en-US"/>
              <a:t> + </a:t>
            </a:r>
            <a:r>
              <a:rPr lang="en-US" i="1"/>
              <a:t>x</a:t>
            </a:r>
            <a:r>
              <a:rPr lang="en-US" baseline="-25000"/>
              <a:t>22</a:t>
            </a:r>
            <a:r>
              <a:rPr lang="en-US"/>
              <a:t> + </a:t>
            </a:r>
            <a:r>
              <a:rPr lang="en-US" i="1"/>
              <a:t>x</a:t>
            </a:r>
            <a:r>
              <a:rPr lang="en-US" baseline="-25000"/>
              <a:t>23</a:t>
            </a:r>
            <a:r>
              <a:rPr lang="en-US"/>
              <a:t>  </a:t>
            </a:r>
            <a:r>
              <a:rPr lang="en-US" u="sng"/>
              <a:t>&lt;</a:t>
            </a:r>
            <a:r>
              <a:rPr lang="en-US"/>
              <a:t>  1     project assigned</a:t>
            </a:r>
          </a:p>
          <a:p>
            <a:pPr lvl="1">
              <a:buFontTx/>
              <a:buNone/>
            </a:pPr>
            <a:r>
              <a:rPr lang="en-US"/>
              <a:t>		</a:t>
            </a:r>
            <a:r>
              <a:rPr lang="en-US" i="1"/>
              <a:t>x</a:t>
            </a:r>
            <a:r>
              <a:rPr lang="en-US" baseline="-25000"/>
              <a:t>31</a:t>
            </a:r>
            <a:r>
              <a:rPr lang="en-US"/>
              <a:t> + </a:t>
            </a:r>
            <a:r>
              <a:rPr lang="en-US" i="1"/>
              <a:t>x</a:t>
            </a:r>
            <a:r>
              <a:rPr lang="en-US" baseline="-25000"/>
              <a:t>32</a:t>
            </a:r>
            <a:r>
              <a:rPr lang="en-US"/>
              <a:t> + </a:t>
            </a:r>
            <a:r>
              <a:rPr lang="en-US" i="1"/>
              <a:t>x</a:t>
            </a:r>
            <a:r>
              <a:rPr lang="en-US" baseline="-25000"/>
              <a:t>33</a:t>
            </a:r>
            <a:r>
              <a:rPr lang="en-US"/>
              <a:t>  </a:t>
            </a:r>
            <a:r>
              <a:rPr lang="en-US" u="sng"/>
              <a:t>&lt;</a:t>
            </a:r>
            <a:r>
              <a:rPr lang="en-US"/>
              <a:t>  1          to any one</a:t>
            </a:r>
          </a:p>
          <a:p>
            <a:pPr lvl="1">
              <a:buFontTx/>
              <a:buNone/>
            </a:pPr>
            <a:r>
              <a:rPr lang="en-US"/>
              <a:t>	 	</a:t>
            </a:r>
            <a:r>
              <a:rPr lang="en-US" i="1"/>
              <a:t>x</a:t>
            </a:r>
            <a:r>
              <a:rPr lang="en-US" baseline="-25000"/>
              <a:t>41</a:t>
            </a:r>
            <a:r>
              <a:rPr lang="en-US"/>
              <a:t> + </a:t>
            </a:r>
            <a:r>
              <a:rPr lang="en-US" i="1"/>
              <a:t>x</a:t>
            </a:r>
            <a:r>
              <a:rPr lang="en-US" baseline="-25000"/>
              <a:t>42</a:t>
            </a:r>
            <a:r>
              <a:rPr lang="en-US"/>
              <a:t> + </a:t>
            </a:r>
            <a:r>
              <a:rPr lang="en-US" i="1"/>
              <a:t>x</a:t>
            </a:r>
            <a:r>
              <a:rPr lang="en-US" baseline="-25000"/>
              <a:t>43</a:t>
            </a:r>
            <a:r>
              <a:rPr lang="en-US"/>
              <a:t>  </a:t>
            </a:r>
            <a:r>
              <a:rPr lang="en-US" u="sng"/>
              <a:t>&lt;</a:t>
            </a:r>
            <a:r>
              <a:rPr lang="en-US"/>
              <a:t>  1	  subcontractor)</a:t>
            </a:r>
          </a:p>
          <a:p>
            <a:pPr lvl="1">
              <a:buFontTx/>
              <a:buNone/>
            </a:pPr>
            <a:r>
              <a:rPr lang="en-US"/>
              <a:t>		</a:t>
            </a:r>
            <a:r>
              <a:rPr lang="en-US" i="1"/>
              <a:t>x</a:t>
            </a:r>
            <a:r>
              <a:rPr lang="en-US" baseline="-25000"/>
              <a:t>11</a:t>
            </a:r>
            <a:r>
              <a:rPr lang="en-US"/>
              <a:t> + </a:t>
            </a:r>
            <a:r>
              <a:rPr lang="en-US" i="1"/>
              <a:t>x</a:t>
            </a:r>
            <a:r>
              <a:rPr lang="en-US" baseline="-25000"/>
              <a:t>21</a:t>
            </a:r>
            <a:r>
              <a:rPr lang="en-US"/>
              <a:t> + </a:t>
            </a:r>
            <a:r>
              <a:rPr lang="en-US" i="1"/>
              <a:t>x</a:t>
            </a:r>
            <a:r>
              <a:rPr lang="en-US" baseline="-25000"/>
              <a:t>31</a:t>
            </a:r>
            <a:r>
              <a:rPr lang="en-US"/>
              <a:t> + </a:t>
            </a:r>
            <a:r>
              <a:rPr lang="en-US" i="1"/>
              <a:t>x</a:t>
            </a:r>
            <a:r>
              <a:rPr lang="en-US" baseline="-25000"/>
              <a:t>41 </a:t>
            </a:r>
            <a:r>
              <a:rPr lang="en-US"/>
              <a:t>  =  1   (each project must</a:t>
            </a:r>
          </a:p>
          <a:p>
            <a:pPr lvl="1">
              <a:buFontTx/>
              <a:buNone/>
            </a:pPr>
            <a:r>
              <a:rPr lang="en-US"/>
              <a:t>		</a:t>
            </a:r>
            <a:r>
              <a:rPr lang="en-US" i="1"/>
              <a:t>x</a:t>
            </a:r>
            <a:r>
              <a:rPr lang="en-US" baseline="-25000"/>
              <a:t>12</a:t>
            </a:r>
            <a:r>
              <a:rPr lang="en-US"/>
              <a:t> + </a:t>
            </a:r>
            <a:r>
              <a:rPr lang="en-US" i="1"/>
              <a:t>x</a:t>
            </a:r>
            <a:r>
              <a:rPr lang="en-US" baseline="-25000"/>
              <a:t>22  </a:t>
            </a:r>
            <a:r>
              <a:rPr lang="en-US"/>
              <a:t>+ </a:t>
            </a:r>
            <a:r>
              <a:rPr lang="en-US" i="1"/>
              <a:t>x</a:t>
            </a:r>
            <a:r>
              <a:rPr lang="en-US" baseline="-25000"/>
              <a:t>32</a:t>
            </a:r>
            <a:r>
              <a:rPr lang="en-US"/>
              <a:t> + </a:t>
            </a:r>
            <a:r>
              <a:rPr lang="en-US" i="1"/>
              <a:t>x</a:t>
            </a:r>
            <a:r>
              <a:rPr lang="en-US" baseline="-25000"/>
              <a:t>42</a:t>
            </a:r>
            <a:r>
              <a:rPr lang="en-US"/>
              <a:t>  =  1   be assigned to just</a:t>
            </a:r>
          </a:p>
          <a:p>
            <a:pPr lvl="1">
              <a:buFontTx/>
              <a:buNone/>
            </a:pPr>
            <a:r>
              <a:rPr lang="en-US"/>
              <a:t>		</a:t>
            </a:r>
            <a:r>
              <a:rPr lang="en-US" i="1"/>
              <a:t>x</a:t>
            </a:r>
            <a:r>
              <a:rPr lang="en-US" baseline="-25000"/>
              <a:t>13</a:t>
            </a:r>
            <a:r>
              <a:rPr lang="en-US"/>
              <a:t> + </a:t>
            </a:r>
            <a:r>
              <a:rPr lang="en-US" i="1"/>
              <a:t>x</a:t>
            </a:r>
            <a:r>
              <a:rPr lang="en-US" baseline="-25000"/>
              <a:t>23</a:t>
            </a:r>
            <a:r>
              <a:rPr lang="en-US"/>
              <a:t> + </a:t>
            </a:r>
            <a:r>
              <a:rPr lang="en-US" i="1"/>
              <a:t>x</a:t>
            </a:r>
            <a:r>
              <a:rPr lang="en-US" baseline="-25000"/>
              <a:t>33</a:t>
            </a:r>
            <a:r>
              <a:rPr lang="en-US"/>
              <a:t> + </a:t>
            </a:r>
            <a:r>
              <a:rPr lang="en-US" i="1"/>
              <a:t>x</a:t>
            </a:r>
            <a:r>
              <a:rPr lang="en-US" baseline="-25000"/>
              <a:t>43    </a:t>
            </a:r>
            <a:r>
              <a:rPr lang="en-US"/>
              <a:t>=  1    one subcontractor)</a:t>
            </a:r>
          </a:p>
          <a:p>
            <a:pPr lvl="1">
              <a:buFontTx/>
              <a:buNone/>
            </a:pPr>
            <a:r>
              <a:rPr lang="en-US"/>
              <a:t>				all </a:t>
            </a:r>
            <a:r>
              <a:rPr lang="en-US" i="1"/>
              <a:t>x</a:t>
            </a:r>
            <a:r>
              <a:rPr lang="en-US" i="1" baseline="-25000"/>
              <a:t>ij</a:t>
            </a:r>
            <a:r>
              <a:rPr lang="en-US"/>
              <a:t>  </a:t>
            </a:r>
            <a:r>
              <a:rPr lang="en-US" u="sng"/>
              <a:t>&gt;</a:t>
            </a:r>
            <a:r>
              <a:rPr lang="en-US"/>
              <a:t>  0   (non-negativity)</a:t>
            </a:r>
            <a:endParaRPr lang="en-US">
              <a:solidFill>
                <a:schemeClr val="tx2"/>
              </a:solidFill>
            </a:endParaRPr>
          </a:p>
          <a:p>
            <a:pPr>
              <a:buFont typeface="Monotype Sorts" pitchFamily="2" charset="2"/>
              <a:buNone/>
            </a:pPr>
            <a:endParaRPr lang="en-US"/>
          </a:p>
          <a:p>
            <a:pPr>
              <a:buFont typeface="Monotype Sorts" pitchFamily="2" charset="2"/>
              <a:buNone/>
            </a:pPr>
            <a:endParaRPr lang="en-US"/>
          </a:p>
        </p:txBody>
      </p:sp>
    </p:spTree>
  </p:cSld>
  <p:clrMapOvr>
    <a:masterClrMapping/>
  </p:clrMapOvr>
  <p:transition>
    <p:zo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noFill/>
          <a:ln/>
        </p:spPr>
        <p:txBody>
          <a:bodyPr lIns="92075" tIns="46038" rIns="92075" bIns="46038"/>
          <a:lstStyle/>
          <a:p>
            <a:r>
              <a:rPr lang="en-US"/>
              <a:t>Example:  Hungry Owner</a:t>
            </a:r>
          </a:p>
        </p:txBody>
      </p:sp>
      <p:sp>
        <p:nvSpPr>
          <p:cNvPr id="141315" name="Rectangle 3"/>
          <p:cNvSpPr>
            <a:spLocks noGrp="1" noChangeArrowheads="1"/>
          </p:cNvSpPr>
          <p:nvPr>
            <p:ph type="body" idx="1"/>
          </p:nvPr>
        </p:nvSpPr>
        <p:spPr>
          <a:noFill/>
          <a:ln/>
        </p:spPr>
        <p:txBody>
          <a:bodyPr lIns="92075" tIns="46038" rIns="92075" bIns="46038"/>
          <a:lstStyle/>
          <a:p>
            <a:r>
              <a:rPr lang="en-US">
                <a:solidFill>
                  <a:schemeClr val="tx2"/>
                </a:solidFill>
              </a:rPr>
              <a:t>Optimal Assignment</a:t>
            </a:r>
            <a:endParaRPr lang="en-US"/>
          </a:p>
          <a:p>
            <a:pPr>
              <a:buFont typeface="Monotype Sorts" pitchFamily="2" charset="2"/>
              <a:buNone/>
            </a:pPr>
            <a:endParaRPr lang="en-US"/>
          </a:p>
          <a:p>
            <a:pPr>
              <a:buFont typeface="Monotype Sorts" pitchFamily="2" charset="2"/>
              <a:buNone/>
            </a:pPr>
            <a:r>
              <a:rPr lang="en-US"/>
              <a:t>               </a:t>
            </a:r>
            <a:r>
              <a:rPr lang="en-US" u="sng"/>
              <a:t>Subcontractor</a:t>
            </a:r>
            <a:r>
              <a:rPr lang="en-US"/>
              <a:t>    </a:t>
            </a:r>
            <a:r>
              <a:rPr lang="en-US" u="sng"/>
              <a:t>Project</a:t>
            </a:r>
            <a:r>
              <a:rPr lang="en-US"/>
              <a:t>    </a:t>
            </a:r>
            <a:r>
              <a:rPr lang="en-US" u="sng"/>
              <a:t>Distance</a:t>
            </a:r>
            <a:endParaRPr lang="en-US"/>
          </a:p>
          <a:p>
            <a:pPr>
              <a:buFont typeface="Monotype Sorts" pitchFamily="2" charset="2"/>
              <a:buNone/>
            </a:pPr>
            <a:r>
              <a:rPr lang="en-US"/>
              <a:t>		      Westside              C              16</a:t>
            </a:r>
          </a:p>
          <a:p>
            <a:pPr>
              <a:buFont typeface="Monotype Sorts" pitchFamily="2" charset="2"/>
              <a:buNone/>
            </a:pPr>
            <a:r>
              <a:rPr lang="en-US"/>
              <a:t>                  Federated            A              28</a:t>
            </a:r>
          </a:p>
          <a:p>
            <a:pPr>
              <a:buFont typeface="Monotype Sorts" pitchFamily="2" charset="2"/>
              <a:buNone/>
            </a:pPr>
            <a:r>
              <a:rPr lang="en-US"/>
              <a:t>                  Universal             B              25</a:t>
            </a:r>
          </a:p>
          <a:p>
            <a:pPr>
              <a:buFont typeface="Monotype Sorts" pitchFamily="2" charset="2"/>
              <a:buNone/>
            </a:pPr>
            <a:r>
              <a:rPr lang="en-US"/>
              <a:t>                  Goliath                (unassigned) </a:t>
            </a:r>
          </a:p>
          <a:p>
            <a:pPr>
              <a:buFont typeface="Monotype Sorts" pitchFamily="2" charset="2"/>
              <a:buNone/>
            </a:pPr>
            <a:r>
              <a:rPr lang="en-US"/>
              <a:t>			         Total Distance  =  69 miles </a:t>
            </a:r>
          </a:p>
        </p:txBody>
      </p:sp>
    </p:spTree>
  </p:cSld>
  <p:clrMapOvr>
    <a:masterClrMapping/>
  </p:clrMapOvr>
  <p:transition>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a:noFill/>
          <a:ln/>
        </p:spPr>
        <p:txBody>
          <a:bodyPr lIns="92075" tIns="46038" rIns="92075" bIns="46038"/>
          <a:lstStyle/>
          <a:p>
            <a:r>
              <a:rPr lang="en-US"/>
              <a:t>Variations of Assignment Problem</a:t>
            </a:r>
          </a:p>
        </p:txBody>
      </p:sp>
      <p:sp>
        <p:nvSpPr>
          <p:cNvPr id="142339" name="Rectangle 3"/>
          <p:cNvSpPr>
            <a:spLocks noGrp="1" noChangeArrowheads="1"/>
          </p:cNvSpPr>
          <p:nvPr>
            <p:ph type="body" idx="1"/>
          </p:nvPr>
        </p:nvSpPr>
        <p:spPr>
          <a:noFill/>
          <a:ln/>
        </p:spPr>
        <p:txBody>
          <a:bodyPr lIns="92075" tIns="46038" rIns="92075" bIns="46038"/>
          <a:lstStyle/>
          <a:p>
            <a:r>
              <a:rPr lang="en-US">
                <a:solidFill>
                  <a:schemeClr val="tx2"/>
                </a:solidFill>
              </a:rPr>
              <a:t>Total number of agents not equal to total number of tasks</a:t>
            </a:r>
          </a:p>
          <a:p>
            <a:r>
              <a:rPr lang="en-US">
                <a:solidFill>
                  <a:schemeClr val="tx2"/>
                </a:solidFill>
              </a:rPr>
              <a:t>Maximization objective function</a:t>
            </a:r>
          </a:p>
          <a:p>
            <a:r>
              <a:rPr lang="en-US">
                <a:solidFill>
                  <a:schemeClr val="tx2"/>
                </a:solidFill>
              </a:rPr>
              <a:t>Unacceptable assignments</a:t>
            </a:r>
          </a:p>
        </p:txBody>
      </p:sp>
    </p:spTree>
  </p:cSld>
  <p:clrMapOvr>
    <a:masterClrMapping/>
  </p:clrMapOvr>
  <p:transition>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noFill/>
          <a:ln/>
        </p:spPr>
        <p:txBody>
          <a:bodyPr/>
          <a:lstStyle/>
          <a:p>
            <a:r>
              <a:rPr lang="en-US"/>
              <a:t>Hungarian Method</a:t>
            </a:r>
          </a:p>
        </p:txBody>
      </p:sp>
      <p:sp>
        <p:nvSpPr>
          <p:cNvPr id="37891" name="Rectangle 3"/>
          <p:cNvSpPr>
            <a:spLocks noGrp="1" noChangeArrowheads="1"/>
          </p:cNvSpPr>
          <p:nvPr>
            <p:ph type="body" idx="1"/>
          </p:nvPr>
        </p:nvSpPr>
        <p:spPr>
          <a:noFill/>
          <a:ln/>
        </p:spPr>
        <p:txBody>
          <a:bodyPr/>
          <a:lstStyle/>
          <a:p>
            <a:r>
              <a:rPr lang="en-US"/>
              <a:t>The </a:t>
            </a:r>
            <a:r>
              <a:rPr lang="en-US" u="sng"/>
              <a:t>Hungarian method</a:t>
            </a:r>
            <a:r>
              <a:rPr lang="en-US"/>
              <a:t> solves minimization assignment problems with </a:t>
            </a:r>
            <a:r>
              <a:rPr lang="en-US" i="1"/>
              <a:t>m</a:t>
            </a:r>
            <a:r>
              <a:rPr lang="en-US"/>
              <a:t> workers and </a:t>
            </a:r>
            <a:r>
              <a:rPr lang="en-US" i="1"/>
              <a:t>m</a:t>
            </a:r>
            <a:r>
              <a:rPr lang="en-US"/>
              <a:t> jobs.  </a:t>
            </a:r>
          </a:p>
          <a:p>
            <a:r>
              <a:rPr lang="en-US"/>
              <a:t>Special considerations can include:</a:t>
            </a:r>
          </a:p>
          <a:p>
            <a:pPr lvl="1"/>
            <a:r>
              <a:rPr lang="en-US"/>
              <a:t>number of workers does not equal the number of jobs -- add dummy workers or jobs with 0 assignment costs as needed</a:t>
            </a:r>
          </a:p>
          <a:p>
            <a:pPr lvl="1"/>
            <a:r>
              <a:rPr lang="en-US"/>
              <a:t>worker </a:t>
            </a:r>
            <a:r>
              <a:rPr lang="en-US" i="1"/>
              <a:t>i</a:t>
            </a:r>
            <a:r>
              <a:rPr lang="en-US"/>
              <a:t> cannot do job </a:t>
            </a:r>
            <a:r>
              <a:rPr lang="en-US" i="1"/>
              <a:t>j</a:t>
            </a:r>
            <a:r>
              <a:rPr lang="en-US"/>
              <a:t> -- assign </a:t>
            </a:r>
            <a:r>
              <a:rPr lang="en-US" i="1"/>
              <a:t>c</a:t>
            </a:r>
            <a:r>
              <a:rPr lang="en-US" i="1" baseline="-25000"/>
              <a:t>ij</a:t>
            </a:r>
            <a:r>
              <a:rPr lang="en-US"/>
              <a:t> = +</a:t>
            </a:r>
            <a:r>
              <a:rPr lang="en-US" i="1"/>
              <a:t>M</a:t>
            </a:r>
            <a:endParaRPr lang="en-US"/>
          </a:p>
          <a:p>
            <a:pPr lvl="1"/>
            <a:r>
              <a:rPr lang="en-US"/>
              <a:t>maximization objective -- create an </a:t>
            </a:r>
            <a:r>
              <a:rPr lang="en-US" u="sng"/>
              <a:t>opportunity loss matrix</a:t>
            </a:r>
            <a:r>
              <a:rPr lang="en-US"/>
              <a:t> subtracting all profits for each job from the maximum profit for that job before beginning the Hungarian method</a:t>
            </a:r>
          </a:p>
        </p:txBody>
      </p:sp>
    </p:spTree>
  </p:cSld>
  <p:clrMapOvr>
    <a:masterClrMapping/>
  </p:clrMapOvr>
  <p:transition>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noFill/>
          <a:ln/>
        </p:spPr>
        <p:txBody>
          <a:bodyPr/>
          <a:lstStyle/>
          <a:p>
            <a:r>
              <a:rPr lang="en-US"/>
              <a:t>Hungarian Method</a:t>
            </a:r>
          </a:p>
        </p:txBody>
      </p:sp>
      <p:sp>
        <p:nvSpPr>
          <p:cNvPr id="38915" name="Rectangle 3"/>
          <p:cNvSpPr>
            <a:spLocks noGrp="1" noChangeArrowheads="1"/>
          </p:cNvSpPr>
          <p:nvPr>
            <p:ph type="body" idx="1"/>
          </p:nvPr>
        </p:nvSpPr>
        <p:spPr>
          <a:xfrm>
            <a:off x="419100" y="1065213"/>
            <a:ext cx="8305800" cy="5005387"/>
          </a:xfrm>
          <a:noFill/>
          <a:ln/>
        </p:spPr>
        <p:txBody>
          <a:bodyPr/>
          <a:lstStyle/>
          <a:p>
            <a:r>
              <a:rPr lang="en-US">
                <a:solidFill>
                  <a:schemeClr val="tx2"/>
                </a:solidFill>
              </a:rPr>
              <a:t>Step 1:  </a:t>
            </a:r>
            <a:r>
              <a:rPr lang="en-US"/>
              <a:t>For each row, subtract the minimum number in that row from all numbers in that row.</a:t>
            </a:r>
          </a:p>
          <a:p>
            <a:r>
              <a:rPr lang="en-US">
                <a:solidFill>
                  <a:schemeClr val="tx2"/>
                </a:solidFill>
              </a:rPr>
              <a:t>Step 2:  </a:t>
            </a:r>
            <a:r>
              <a:rPr lang="en-US"/>
              <a:t>For each column, subtract the minimum number in that column from all numbers in that column.     </a:t>
            </a:r>
          </a:p>
          <a:p>
            <a:r>
              <a:rPr lang="en-US">
                <a:solidFill>
                  <a:schemeClr val="tx2"/>
                </a:solidFill>
              </a:rPr>
              <a:t>Step 3:  </a:t>
            </a:r>
            <a:r>
              <a:rPr lang="en-US"/>
              <a:t>Draw the minimum number of lines to cover all zeroes.  If this number = </a:t>
            </a:r>
            <a:r>
              <a:rPr lang="en-US" i="1"/>
              <a:t>m</a:t>
            </a:r>
            <a:r>
              <a:rPr lang="en-US"/>
              <a:t>, STOP -- an assignment can be made.</a:t>
            </a:r>
          </a:p>
          <a:p>
            <a:r>
              <a:rPr lang="en-US">
                <a:solidFill>
                  <a:schemeClr val="tx2"/>
                </a:solidFill>
              </a:rPr>
              <a:t>Step 4:  </a:t>
            </a:r>
            <a:r>
              <a:rPr lang="en-US"/>
              <a:t>Determine the minimum uncovered number (call it </a:t>
            </a:r>
            <a:r>
              <a:rPr lang="en-US" i="1"/>
              <a:t>d</a:t>
            </a:r>
            <a:r>
              <a:rPr lang="en-US"/>
              <a:t>).</a:t>
            </a:r>
          </a:p>
          <a:p>
            <a:pPr lvl="1"/>
            <a:r>
              <a:rPr lang="en-US"/>
              <a:t>Subtract </a:t>
            </a:r>
            <a:r>
              <a:rPr lang="en-US" i="1"/>
              <a:t>d</a:t>
            </a:r>
            <a:r>
              <a:rPr lang="en-US"/>
              <a:t> from uncovered numbers.</a:t>
            </a:r>
          </a:p>
          <a:p>
            <a:pPr lvl="1"/>
            <a:r>
              <a:rPr lang="en-US"/>
              <a:t>Add </a:t>
            </a:r>
            <a:r>
              <a:rPr lang="en-US" i="1"/>
              <a:t>d</a:t>
            </a:r>
            <a:r>
              <a:rPr lang="en-US"/>
              <a:t> to numbers covered by two lines.</a:t>
            </a:r>
          </a:p>
          <a:p>
            <a:pPr lvl="1"/>
            <a:r>
              <a:rPr lang="en-US"/>
              <a:t>Numbers covered by one line remain the same.</a:t>
            </a:r>
          </a:p>
          <a:p>
            <a:pPr lvl="1"/>
            <a:r>
              <a:rPr lang="en-US"/>
              <a:t>Then, GO TO STEP 3.</a:t>
            </a:r>
          </a:p>
        </p:txBody>
      </p:sp>
    </p:spTree>
  </p:cSld>
  <p:clrMapOvr>
    <a:masterClrMapping/>
  </p:clrMapOvr>
  <p:transition>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noFill/>
          <a:ln/>
        </p:spPr>
        <p:txBody>
          <a:bodyPr/>
          <a:lstStyle/>
          <a:p>
            <a:r>
              <a:rPr lang="en-US"/>
              <a:t>Hungarian Method</a:t>
            </a:r>
          </a:p>
        </p:txBody>
      </p:sp>
      <p:sp>
        <p:nvSpPr>
          <p:cNvPr id="39939" name="Rectangle 3"/>
          <p:cNvSpPr>
            <a:spLocks noGrp="1" noChangeArrowheads="1"/>
          </p:cNvSpPr>
          <p:nvPr>
            <p:ph type="body" idx="1"/>
          </p:nvPr>
        </p:nvSpPr>
        <p:spPr>
          <a:noFill/>
          <a:ln/>
        </p:spPr>
        <p:txBody>
          <a:bodyPr/>
          <a:lstStyle/>
          <a:p>
            <a:r>
              <a:rPr lang="en-US">
                <a:solidFill>
                  <a:schemeClr val="tx2"/>
                </a:solidFill>
              </a:rPr>
              <a:t>Finding the Minimum Number of Lines and Determining the Optimal Solution</a:t>
            </a:r>
            <a:endParaRPr lang="en-US"/>
          </a:p>
          <a:p>
            <a:pPr lvl="1"/>
            <a:r>
              <a:rPr lang="en-US">
                <a:solidFill>
                  <a:schemeClr val="tx2"/>
                </a:solidFill>
              </a:rPr>
              <a:t>Step 1:  </a:t>
            </a:r>
            <a:r>
              <a:rPr lang="en-US"/>
              <a:t>Find a row or column with only one unlined zero and circle it.  (If all rows/columns have two or more unlined zeroes choose an arbitrary zero.)</a:t>
            </a:r>
          </a:p>
          <a:p>
            <a:pPr lvl="1"/>
            <a:r>
              <a:rPr lang="en-US">
                <a:solidFill>
                  <a:schemeClr val="tx2"/>
                </a:solidFill>
              </a:rPr>
              <a:t>Step 2:  </a:t>
            </a:r>
            <a:r>
              <a:rPr lang="en-US"/>
              <a:t>If the circle is in a row with one zero, draw a line through its column.  If the circle is in a column with one zero, draw a line through its row.  One approach, when all rows and columns have two or more zeroes, is to draw a line through one with the most zeroes, breaking ties arbitrarily.</a:t>
            </a:r>
          </a:p>
          <a:p>
            <a:pPr lvl="1"/>
            <a:r>
              <a:rPr lang="en-US">
                <a:solidFill>
                  <a:schemeClr val="tx2"/>
                </a:solidFill>
              </a:rPr>
              <a:t>Step 3:  </a:t>
            </a:r>
            <a:r>
              <a:rPr lang="en-US"/>
              <a:t>Repeat step 2 until all circles are lined.  If this minimum number of lines equals </a:t>
            </a:r>
            <a:r>
              <a:rPr lang="en-US" i="1"/>
              <a:t>m</a:t>
            </a:r>
            <a:r>
              <a:rPr lang="en-US"/>
              <a:t>, the circles provide the optimal assignment.</a:t>
            </a:r>
          </a:p>
        </p:txBody>
      </p:sp>
    </p:spTree>
  </p:cSld>
  <p:clrMapOvr>
    <a:masterClrMapping/>
  </p:clrMapOvr>
  <p:transition>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noFill/>
          <a:ln/>
        </p:spPr>
        <p:txBody>
          <a:bodyPr/>
          <a:lstStyle/>
          <a:p>
            <a:r>
              <a:rPr lang="en-US"/>
              <a:t>Example:  Hungry Owner</a:t>
            </a:r>
          </a:p>
        </p:txBody>
      </p:sp>
      <p:sp>
        <p:nvSpPr>
          <p:cNvPr id="40963" name="Rectangle 3"/>
          <p:cNvSpPr>
            <a:spLocks noGrp="1" noChangeArrowheads="1"/>
          </p:cNvSpPr>
          <p:nvPr>
            <p:ph type="body" idx="1"/>
          </p:nvPr>
        </p:nvSpPr>
        <p:spPr>
          <a:xfrm>
            <a:off x="520700" y="1052513"/>
            <a:ext cx="8101013" cy="5005387"/>
          </a:xfrm>
          <a:noFill/>
          <a:ln/>
        </p:spPr>
        <p:txBody>
          <a:bodyPr/>
          <a:lstStyle/>
          <a:p>
            <a:pPr>
              <a:buFont typeface="Monotype Sorts" pitchFamily="2" charset="2"/>
              <a:buNone/>
            </a:pPr>
            <a:r>
              <a:rPr lang="en-US"/>
              <a:t>		A contractor pays his subcontractors a fixed fee plus mileage for work performed.  On a given day the contractor is faced with three electrical jobs associated with various projects.  Given below are the distances between the subcontractors and the projects.</a:t>
            </a:r>
          </a:p>
          <a:p>
            <a:pPr>
              <a:buFont typeface="Monotype Sorts" pitchFamily="2" charset="2"/>
              <a:buNone/>
            </a:pPr>
            <a:r>
              <a:rPr lang="en-US"/>
              <a:t>                                            		  </a:t>
            </a:r>
            <a:r>
              <a:rPr lang="en-US" u="sng"/>
              <a:t>Projects</a:t>
            </a:r>
            <a:endParaRPr lang="en-US"/>
          </a:p>
          <a:p>
            <a:pPr>
              <a:buFont typeface="Monotype Sorts" pitchFamily="2" charset="2"/>
              <a:buNone/>
            </a:pPr>
            <a:r>
              <a:rPr lang="en-US"/>
              <a:t>					            </a:t>
            </a:r>
            <a:r>
              <a:rPr lang="en-US" u="sng"/>
              <a:t>A</a:t>
            </a:r>
            <a:r>
              <a:rPr lang="en-US"/>
              <a:t>     </a:t>
            </a:r>
            <a:r>
              <a:rPr lang="en-US" u="sng"/>
              <a:t>B</a:t>
            </a:r>
            <a:r>
              <a:rPr lang="en-US"/>
              <a:t>     </a:t>
            </a:r>
            <a:r>
              <a:rPr lang="en-US" u="sng"/>
              <a:t>C</a:t>
            </a:r>
            <a:r>
              <a:rPr lang="en-US"/>
              <a:t> </a:t>
            </a:r>
          </a:p>
          <a:p>
            <a:pPr>
              <a:buFont typeface="Monotype Sorts" pitchFamily="2" charset="2"/>
              <a:buNone/>
            </a:pPr>
            <a:r>
              <a:rPr lang="en-US"/>
              <a:t>				 Westside      50    36    16</a:t>
            </a:r>
          </a:p>
          <a:p>
            <a:pPr>
              <a:buFont typeface="Monotype Sorts" pitchFamily="2" charset="2"/>
              <a:buNone/>
            </a:pPr>
            <a:r>
              <a:rPr lang="en-US"/>
              <a:t>      </a:t>
            </a:r>
            <a:r>
              <a:rPr lang="en-US" u="sng"/>
              <a:t>Subcontractors</a:t>
            </a:r>
            <a:r>
              <a:rPr lang="en-US"/>
              <a:t>   Federated      28    30    18 </a:t>
            </a:r>
          </a:p>
          <a:p>
            <a:pPr>
              <a:buFont typeface="Monotype Sorts" pitchFamily="2" charset="2"/>
              <a:buNone/>
            </a:pPr>
            <a:r>
              <a:rPr lang="en-US"/>
              <a:t>				    Goliath      35    32    20</a:t>
            </a:r>
          </a:p>
          <a:p>
            <a:pPr>
              <a:buFont typeface="Monotype Sorts" pitchFamily="2" charset="2"/>
              <a:buNone/>
            </a:pPr>
            <a:r>
              <a:rPr lang="en-US"/>
              <a:t>                      		Universal      25    25    14</a:t>
            </a:r>
          </a:p>
          <a:p>
            <a:pPr>
              <a:buFont typeface="Monotype Sorts" pitchFamily="2" charset="2"/>
              <a:buNone/>
            </a:pPr>
            <a:r>
              <a:rPr lang="en-US" sz="1000"/>
              <a:t>		</a:t>
            </a:r>
          </a:p>
          <a:p>
            <a:pPr>
              <a:buFont typeface="Monotype Sorts" pitchFamily="2" charset="2"/>
              <a:buNone/>
            </a:pPr>
            <a:r>
              <a:rPr lang="en-US"/>
              <a:t>		How should the contractors be assigned to minimize total costs?</a:t>
            </a:r>
          </a:p>
        </p:txBody>
      </p:sp>
    </p:spTree>
  </p:cSld>
  <p:clrMapOvr>
    <a:masterClrMapping/>
  </p:clrMapOvr>
  <p:transition>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noFill/>
          <a:ln/>
        </p:spPr>
        <p:txBody>
          <a:bodyPr/>
          <a:lstStyle/>
          <a:p>
            <a:r>
              <a:rPr lang="en-US"/>
              <a:t>Example:  Hungry Owner</a:t>
            </a:r>
          </a:p>
        </p:txBody>
      </p:sp>
      <p:sp>
        <p:nvSpPr>
          <p:cNvPr id="41987" name="Rectangle 3"/>
          <p:cNvSpPr>
            <a:spLocks noGrp="1" noChangeArrowheads="1"/>
          </p:cNvSpPr>
          <p:nvPr>
            <p:ph type="body" idx="1"/>
          </p:nvPr>
        </p:nvSpPr>
        <p:spPr>
          <a:noFill/>
          <a:ln/>
        </p:spPr>
        <p:txBody>
          <a:bodyPr/>
          <a:lstStyle/>
          <a:p>
            <a:r>
              <a:rPr lang="en-US">
                <a:solidFill>
                  <a:schemeClr val="tx2"/>
                </a:solidFill>
              </a:rPr>
              <a:t>Network Representation (note the dummy project)</a:t>
            </a:r>
          </a:p>
          <a:p>
            <a:pPr>
              <a:buFont typeface="Monotype Sorts" pitchFamily="2" charset="2"/>
              <a:buNone/>
            </a:pPr>
            <a:endParaRPr lang="en-US">
              <a:solidFill>
                <a:schemeClr val="tx2"/>
              </a:solidFill>
            </a:endParaRPr>
          </a:p>
        </p:txBody>
      </p:sp>
      <p:sp>
        <p:nvSpPr>
          <p:cNvPr id="41988" name="Line 4"/>
          <p:cNvSpPr>
            <a:spLocks noChangeShapeType="1"/>
          </p:cNvSpPr>
          <p:nvPr/>
        </p:nvSpPr>
        <p:spPr bwMode="auto">
          <a:xfrm>
            <a:off x="2997200" y="2063750"/>
            <a:ext cx="3300413" cy="0"/>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1989" name="Line 5"/>
          <p:cNvSpPr>
            <a:spLocks noChangeShapeType="1"/>
          </p:cNvSpPr>
          <p:nvPr/>
        </p:nvSpPr>
        <p:spPr bwMode="auto">
          <a:xfrm>
            <a:off x="2997200" y="2070100"/>
            <a:ext cx="3459163" cy="4010025"/>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1990" name="Line 6"/>
          <p:cNvSpPr>
            <a:spLocks noChangeShapeType="1"/>
          </p:cNvSpPr>
          <p:nvPr/>
        </p:nvSpPr>
        <p:spPr bwMode="auto">
          <a:xfrm flipV="1">
            <a:off x="2997200" y="2057400"/>
            <a:ext cx="3300413" cy="1512888"/>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1991" name="Line 7"/>
          <p:cNvSpPr>
            <a:spLocks noChangeShapeType="1"/>
          </p:cNvSpPr>
          <p:nvPr/>
        </p:nvSpPr>
        <p:spPr bwMode="auto">
          <a:xfrm>
            <a:off x="2997200" y="3570288"/>
            <a:ext cx="3459163" cy="2509837"/>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1992" name="Line 8"/>
          <p:cNvSpPr>
            <a:spLocks noChangeShapeType="1"/>
          </p:cNvSpPr>
          <p:nvPr/>
        </p:nvSpPr>
        <p:spPr bwMode="auto">
          <a:xfrm flipV="1">
            <a:off x="2997200" y="2057400"/>
            <a:ext cx="3300413" cy="2852738"/>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1993" name="Line 9"/>
          <p:cNvSpPr>
            <a:spLocks noChangeShapeType="1"/>
          </p:cNvSpPr>
          <p:nvPr/>
        </p:nvSpPr>
        <p:spPr bwMode="auto">
          <a:xfrm flipV="1">
            <a:off x="2997200" y="2057400"/>
            <a:ext cx="3300413" cy="4113213"/>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1994" name="Rectangle 10"/>
          <p:cNvSpPr>
            <a:spLocks noChangeArrowheads="1"/>
          </p:cNvSpPr>
          <p:nvPr/>
        </p:nvSpPr>
        <p:spPr bwMode="auto">
          <a:xfrm>
            <a:off x="3370263" y="1754188"/>
            <a:ext cx="4191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2" rIns="96838" bIns="49212">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50</a:t>
            </a:r>
          </a:p>
        </p:txBody>
      </p:sp>
      <p:sp>
        <p:nvSpPr>
          <p:cNvPr id="41995" name="Rectangle 11"/>
          <p:cNvSpPr>
            <a:spLocks noChangeArrowheads="1"/>
          </p:cNvSpPr>
          <p:nvPr/>
        </p:nvSpPr>
        <p:spPr bwMode="auto">
          <a:xfrm>
            <a:off x="3602038" y="2063750"/>
            <a:ext cx="4191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2" rIns="96838" bIns="49212">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36</a:t>
            </a:r>
          </a:p>
        </p:txBody>
      </p:sp>
      <p:sp>
        <p:nvSpPr>
          <p:cNvPr id="41996" name="Rectangle 12"/>
          <p:cNvSpPr>
            <a:spLocks noChangeArrowheads="1"/>
          </p:cNvSpPr>
          <p:nvPr/>
        </p:nvSpPr>
        <p:spPr bwMode="auto">
          <a:xfrm>
            <a:off x="3833813" y="2535238"/>
            <a:ext cx="4191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2" rIns="96838" bIns="49212">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16</a:t>
            </a:r>
          </a:p>
        </p:txBody>
      </p:sp>
      <p:sp>
        <p:nvSpPr>
          <p:cNvPr id="41997" name="Rectangle 13"/>
          <p:cNvSpPr>
            <a:spLocks noChangeArrowheads="1"/>
          </p:cNvSpPr>
          <p:nvPr/>
        </p:nvSpPr>
        <p:spPr bwMode="auto">
          <a:xfrm>
            <a:off x="3225800" y="2546350"/>
            <a:ext cx="3063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2" rIns="96838" bIns="49212">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0</a:t>
            </a:r>
          </a:p>
        </p:txBody>
      </p:sp>
      <p:sp>
        <p:nvSpPr>
          <p:cNvPr id="41998" name="Rectangle 14"/>
          <p:cNvSpPr>
            <a:spLocks noChangeArrowheads="1"/>
          </p:cNvSpPr>
          <p:nvPr/>
        </p:nvSpPr>
        <p:spPr bwMode="auto">
          <a:xfrm>
            <a:off x="3135313" y="3094038"/>
            <a:ext cx="4191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2" rIns="96838" bIns="49212">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28</a:t>
            </a:r>
          </a:p>
        </p:txBody>
      </p:sp>
      <p:sp>
        <p:nvSpPr>
          <p:cNvPr id="41999" name="Rectangle 15"/>
          <p:cNvSpPr>
            <a:spLocks noChangeArrowheads="1"/>
          </p:cNvSpPr>
          <p:nvPr/>
        </p:nvSpPr>
        <p:spPr bwMode="auto">
          <a:xfrm>
            <a:off x="3522663" y="3251200"/>
            <a:ext cx="4191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2" rIns="96838" bIns="49212">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30</a:t>
            </a:r>
          </a:p>
        </p:txBody>
      </p:sp>
      <p:sp>
        <p:nvSpPr>
          <p:cNvPr id="42000" name="Rectangle 16"/>
          <p:cNvSpPr>
            <a:spLocks noChangeArrowheads="1"/>
          </p:cNvSpPr>
          <p:nvPr/>
        </p:nvSpPr>
        <p:spPr bwMode="auto">
          <a:xfrm>
            <a:off x="3598863" y="3563938"/>
            <a:ext cx="4191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2" rIns="96838" bIns="49212">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18</a:t>
            </a:r>
          </a:p>
        </p:txBody>
      </p:sp>
      <p:sp>
        <p:nvSpPr>
          <p:cNvPr id="42001" name="Rectangle 17"/>
          <p:cNvSpPr>
            <a:spLocks noChangeArrowheads="1"/>
          </p:cNvSpPr>
          <p:nvPr/>
        </p:nvSpPr>
        <p:spPr bwMode="auto">
          <a:xfrm>
            <a:off x="3148013" y="3802063"/>
            <a:ext cx="3048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2" rIns="96838" bIns="49212">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0</a:t>
            </a:r>
          </a:p>
        </p:txBody>
      </p:sp>
      <p:sp>
        <p:nvSpPr>
          <p:cNvPr id="42002" name="Rectangle 18"/>
          <p:cNvSpPr>
            <a:spLocks noChangeArrowheads="1"/>
          </p:cNvSpPr>
          <p:nvPr/>
        </p:nvSpPr>
        <p:spPr bwMode="auto">
          <a:xfrm>
            <a:off x="3052763" y="4354513"/>
            <a:ext cx="4191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2" rIns="96838" bIns="49212">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35</a:t>
            </a:r>
          </a:p>
        </p:txBody>
      </p:sp>
      <p:sp>
        <p:nvSpPr>
          <p:cNvPr id="42003" name="Rectangle 19"/>
          <p:cNvSpPr>
            <a:spLocks noChangeArrowheads="1"/>
          </p:cNvSpPr>
          <p:nvPr/>
        </p:nvSpPr>
        <p:spPr bwMode="auto">
          <a:xfrm>
            <a:off x="3598863" y="4278313"/>
            <a:ext cx="4191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2" rIns="96838" bIns="49212">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32</a:t>
            </a:r>
          </a:p>
        </p:txBody>
      </p:sp>
      <p:sp>
        <p:nvSpPr>
          <p:cNvPr id="42004" name="Rectangle 20"/>
          <p:cNvSpPr>
            <a:spLocks noChangeArrowheads="1"/>
          </p:cNvSpPr>
          <p:nvPr/>
        </p:nvSpPr>
        <p:spPr bwMode="auto">
          <a:xfrm>
            <a:off x="3598863" y="4591050"/>
            <a:ext cx="4191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2" rIns="96838" bIns="49212">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20</a:t>
            </a:r>
          </a:p>
        </p:txBody>
      </p:sp>
      <p:sp>
        <p:nvSpPr>
          <p:cNvPr id="42005" name="Rectangle 21"/>
          <p:cNvSpPr>
            <a:spLocks noChangeArrowheads="1"/>
          </p:cNvSpPr>
          <p:nvPr/>
        </p:nvSpPr>
        <p:spPr bwMode="auto">
          <a:xfrm>
            <a:off x="3144838" y="5056188"/>
            <a:ext cx="307975"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2" rIns="96838" bIns="49212">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0</a:t>
            </a:r>
          </a:p>
        </p:txBody>
      </p:sp>
      <p:sp>
        <p:nvSpPr>
          <p:cNvPr id="42006" name="Rectangle 22"/>
          <p:cNvSpPr>
            <a:spLocks noChangeArrowheads="1"/>
          </p:cNvSpPr>
          <p:nvPr/>
        </p:nvSpPr>
        <p:spPr bwMode="auto">
          <a:xfrm>
            <a:off x="2976563" y="5538788"/>
            <a:ext cx="4191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2" rIns="96838" bIns="49212">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25</a:t>
            </a:r>
          </a:p>
        </p:txBody>
      </p:sp>
      <p:sp>
        <p:nvSpPr>
          <p:cNvPr id="42007" name="Rectangle 23"/>
          <p:cNvSpPr>
            <a:spLocks noChangeArrowheads="1"/>
          </p:cNvSpPr>
          <p:nvPr/>
        </p:nvSpPr>
        <p:spPr bwMode="auto">
          <a:xfrm>
            <a:off x="3681413" y="5527675"/>
            <a:ext cx="4191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2" rIns="96838" bIns="49212">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25</a:t>
            </a:r>
          </a:p>
        </p:txBody>
      </p:sp>
      <p:sp>
        <p:nvSpPr>
          <p:cNvPr id="42008" name="Rectangle 24"/>
          <p:cNvSpPr>
            <a:spLocks noChangeArrowheads="1"/>
          </p:cNvSpPr>
          <p:nvPr/>
        </p:nvSpPr>
        <p:spPr bwMode="auto">
          <a:xfrm>
            <a:off x="3759200" y="5838825"/>
            <a:ext cx="4191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2" rIns="96838" bIns="49212">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14</a:t>
            </a:r>
          </a:p>
        </p:txBody>
      </p:sp>
      <p:sp>
        <p:nvSpPr>
          <p:cNvPr id="42009" name="Rectangle 25"/>
          <p:cNvSpPr>
            <a:spLocks noChangeArrowheads="1"/>
          </p:cNvSpPr>
          <p:nvPr/>
        </p:nvSpPr>
        <p:spPr bwMode="auto">
          <a:xfrm>
            <a:off x="3297238" y="6157913"/>
            <a:ext cx="307975"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38" tIns="49212" rIns="96838" bIns="49212">
            <a:spAutoFit/>
          </a:bodyPr>
          <a:lstStyle>
            <a:lvl1pPr defTabSz="977900">
              <a:defRPr sz="2400">
                <a:solidFill>
                  <a:schemeClr val="tx1"/>
                </a:solidFill>
                <a:latin typeface="Times New Roman" panose="02020603050405020304" pitchFamily="18" charset="0"/>
              </a:defRPr>
            </a:lvl1pPr>
            <a:lvl2pPr marL="474663" defTabSz="977900">
              <a:defRPr sz="2400">
                <a:solidFill>
                  <a:schemeClr val="tx1"/>
                </a:solidFill>
                <a:latin typeface="Times New Roman" panose="02020603050405020304" pitchFamily="18" charset="0"/>
              </a:defRPr>
            </a:lvl2pPr>
            <a:lvl3pPr marL="944563" defTabSz="977900">
              <a:defRPr sz="2400">
                <a:solidFill>
                  <a:schemeClr val="tx1"/>
                </a:solidFill>
                <a:latin typeface="Times New Roman" panose="02020603050405020304" pitchFamily="18" charset="0"/>
              </a:defRPr>
            </a:lvl3pPr>
            <a:lvl4pPr marL="1419225" defTabSz="977900">
              <a:defRPr sz="2400">
                <a:solidFill>
                  <a:schemeClr val="tx1"/>
                </a:solidFill>
                <a:latin typeface="Times New Roman" panose="02020603050405020304" pitchFamily="18" charset="0"/>
              </a:defRPr>
            </a:lvl4pPr>
            <a:lvl5pPr marL="1892300" defTabSz="977900">
              <a:defRPr sz="2400">
                <a:solidFill>
                  <a:schemeClr val="tx1"/>
                </a:solidFill>
                <a:latin typeface="Times New Roman" panose="02020603050405020304" pitchFamily="18" charset="0"/>
              </a:defRPr>
            </a:lvl5pPr>
            <a:lvl6pPr marL="2349500" defTabSz="977900" eaLnBrk="0" fontAlgn="base" hangingPunct="0">
              <a:spcBef>
                <a:spcPct val="0"/>
              </a:spcBef>
              <a:spcAft>
                <a:spcPct val="0"/>
              </a:spcAft>
              <a:defRPr sz="2400">
                <a:solidFill>
                  <a:schemeClr val="tx1"/>
                </a:solidFill>
                <a:latin typeface="Times New Roman" panose="02020603050405020304" pitchFamily="18" charset="0"/>
              </a:defRPr>
            </a:lvl6pPr>
            <a:lvl7pPr marL="2806700" defTabSz="977900" eaLnBrk="0" fontAlgn="base" hangingPunct="0">
              <a:spcBef>
                <a:spcPct val="0"/>
              </a:spcBef>
              <a:spcAft>
                <a:spcPct val="0"/>
              </a:spcAft>
              <a:defRPr sz="2400">
                <a:solidFill>
                  <a:schemeClr val="tx1"/>
                </a:solidFill>
                <a:latin typeface="Times New Roman" panose="02020603050405020304" pitchFamily="18" charset="0"/>
              </a:defRPr>
            </a:lvl7pPr>
            <a:lvl8pPr marL="3263900" defTabSz="977900" eaLnBrk="0" fontAlgn="base" hangingPunct="0">
              <a:spcBef>
                <a:spcPct val="0"/>
              </a:spcBef>
              <a:spcAft>
                <a:spcPct val="0"/>
              </a:spcAft>
              <a:defRPr sz="2400">
                <a:solidFill>
                  <a:schemeClr val="tx1"/>
                </a:solidFill>
                <a:latin typeface="Times New Roman" panose="02020603050405020304" pitchFamily="18" charset="0"/>
              </a:defRPr>
            </a:lvl8pPr>
            <a:lvl9pPr marL="3721100" defTabSz="9779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600" i="0">
                <a:solidFill>
                  <a:srgbClr val="FFFFFF"/>
                </a:solidFill>
                <a:effectLst>
                  <a:outerShdw blurRad="38100" dist="38100" dir="2700000" algn="tl">
                    <a:srgbClr val="000000"/>
                  </a:outerShdw>
                </a:effectLst>
                <a:latin typeface="Arial" panose="020B0604020202020204" pitchFamily="34" charset="0"/>
              </a:rPr>
              <a:t>0</a:t>
            </a:r>
          </a:p>
        </p:txBody>
      </p:sp>
      <p:sp>
        <p:nvSpPr>
          <p:cNvPr id="42010" name="Line 26"/>
          <p:cNvSpPr>
            <a:spLocks noChangeShapeType="1"/>
          </p:cNvSpPr>
          <p:nvPr/>
        </p:nvSpPr>
        <p:spPr bwMode="auto">
          <a:xfrm flipV="1">
            <a:off x="2997200" y="3563938"/>
            <a:ext cx="3382963" cy="0"/>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2011" name="Line 27"/>
          <p:cNvSpPr>
            <a:spLocks noChangeShapeType="1"/>
          </p:cNvSpPr>
          <p:nvPr/>
        </p:nvSpPr>
        <p:spPr bwMode="auto">
          <a:xfrm>
            <a:off x="2997200" y="6164263"/>
            <a:ext cx="3459163" cy="0"/>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2012" name="Line 28"/>
          <p:cNvSpPr>
            <a:spLocks noChangeShapeType="1"/>
          </p:cNvSpPr>
          <p:nvPr/>
        </p:nvSpPr>
        <p:spPr bwMode="auto">
          <a:xfrm>
            <a:off x="3079750" y="4903788"/>
            <a:ext cx="3295650" cy="0"/>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2013" name="Line 29"/>
          <p:cNvSpPr>
            <a:spLocks noChangeShapeType="1"/>
          </p:cNvSpPr>
          <p:nvPr/>
        </p:nvSpPr>
        <p:spPr bwMode="auto">
          <a:xfrm flipV="1">
            <a:off x="3079750" y="4897438"/>
            <a:ext cx="3295650" cy="1273175"/>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2014" name="Line 30"/>
          <p:cNvSpPr>
            <a:spLocks noChangeShapeType="1"/>
          </p:cNvSpPr>
          <p:nvPr/>
        </p:nvSpPr>
        <p:spPr bwMode="auto">
          <a:xfrm>
            <a:off x="2997200" y="3570288"/>
            <a:ext cx="3378200" cy="1327150"/>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2015" name="Line 31"/>
          <p:cNvSpPr>
            <a:spLocks noChangeShapeType="1"/>
          </p:cNvSpPr>
          <p:nvPr/>
        </p:nvSpPr>
        <p:spPr bwMode="auto">
          <a:xfrm>
            <a:off x="3079750" y="2070100"/>
            <a:ext cx="3295650" cy="2827338"/>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2016" name="Line 32"/>
          <p:cNvSpPr>
            <a:spLocks noChangeShapeType="1"/>
          </p:cNvSpPr>
          <p:nvPr/>
        </p:nvSpPr>
        <p:spPr bwMode="auto">
          <a:xfrm flipV="1">
            <a:off x="2997200" y="3557588"/>
            <a:ext cx="3300413" cy="2613025"/>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2017" name="Line 33"/>
          <p:cNvSpPr>
            <a:spLocks noChangeShapeType="1"/>
          </p:cNvSpPr>
          <p:nvPr/>
        </p:nvSpPr>
        <p:spPr bwMode="auto">
          <a:xfrm>
            <a:off x="2997200" y="2070100"/>
            <a:ext cx="3378200" cy="1487488"/>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2018" name="Line 34"/>
          <p:cNvSpPr>
            <a:spLocks noChangeShapeType="1"/>
          </p:cNvSpPr>
          <p:nvPr/>
        </p:nvSpPr>
        <p:spPr bwMode="auto">
          <a:xfrm>
            <a:off x="2997200" y="4910138"/>
            <a:ext cx="3459163" cy="1247775"/>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2019" name="Line 35"/>
          <p:cNvSpPr>
            <a:spLocks noChangeShapeType="1"/>
          </p:cNvSpPr>
          <p:nvPr/>
        </p:nvSpPr>
        <p:spPr bwMode="auto">
          <a:xfrm flipV="1">
            <a:off x="2997200" y="3557588"/>
            <a:ext cx="3378200" cy="1352550"/>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2020" name="Oval 36"/>
          <p:cNvSpPr>
            <a:spLocks noChangeArrowheads="1"/>
          </p:cNvSpPr>
          <p:nvPr/>
        </p:nvSpPr>
        <p:spPr bwMode="auto">
          <a:xfrm>
            <a:off x="2292350" y="1758950"/>
            <a:ext cx="673100" cy="673100"/>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90488" tIns="44450" rIns="90488" bIns="44450" anchor="ctr"/>
          <a:lstStyle/>
          <a:p>
            <a:pPr algn="ctr"/>
            <a:r>
              <a:rPr lang="en-US" sz="2000" i="0">
                <a:solidFill>
                  <a:srgbClr val="FFFFFF"/>
                </a:solidFill>
                <a:effectLst>
                  <a:outerShdw blurRad="38100" dist="38100" dir="2700000" algn="tl">
                    <a:srgbClr val="000000"/>
                  </a:outerShdw>
                </a:effectLst>
              </a:rPr>
              <a:t>West.</a:t>
            </a:r>
          </a:p>
        </p:txBody>
      </p:sp>
      <p:sp>
        <p:nvSpPr>
          <p:cNvPr id="42021" name="Oval 37"/>
          <p:cNvSpPr>
            <a:spLocks noChangeArrowheads="1"/>
          </p:cNvSpPr>
          <p:nvPr/>
        </p:nvSpPr>
        <p:spPr bwMode="auto">
          <a:xfrm>
            <a:off x="6407150" y="5797550"/>
            <a:ext cx="673100" cy="673100"/>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90488" tIns="44450" rIns="90488" bIns="44450" anchor="ctr"/>
          <a:lstStyle/>
          <a:p>
            <a:pPr algn="ctr"/>
            <a:r>
              <a:rPr lang="en-US" sz="2000" i="0">
                <a:solidFill>
                  <a:srgbClr val="FFFFFF"/>
                </a:solidFill>
                <a:effectLst>
                  <a:outerShdw blurRad="38100" dist="38100" dir="2700000" algn="tl">
                    <a:srgbClr val="000000"/>
                  </a:outerShdw>
                </a:effectLst>
              </a:rPr>
              <a:t>Dum.</a:t>
            </a:r>
          </a:p>
        </p:txBody>
      </p:sp>
      <p:sp>
        <p:nvSpPr>
          <p:cNvPr id="42022" name="Oval 38"/>
          <p:cNvSpPr>
            <a:spLocks noChangeArrowheads="1"/>
          </p:cNvSpPr>
          <p:nvPr/>
        </p:nvSpPr>
        <p:spPr bwMode="auto">
          <a:xfrm>
            <a:off x="6407150" y="4578350"/>
            <a:ext cx="673100" cy="673100"/>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90488" tIns="44450" rIns="90488" bIns="44450" anchor="ctr"/>
          <a:lstStyle/>
          <a:p>
            <a:pPr algn="ctr"/>
            <a:r>
              <a:rPr lang="en-US" sz="2000" i="0">
                <a:solidFill>
                  <a:srgbClr val="FFFFFF"/>
                </a:solidFill>
                <a:effectLst>
                  <a:outerShdw blurRad="38100" dist="38100" dir="2700000" algn="tl">
                    <a:srgbClr val="000000"/>
                  </a:outerShdw>
                </a:effectLst>
              </a:rPr>
              <a:t>C</a:t>
            </a:r>
          </a:p>
        </p:txBody>
      </p:sp>
      <p:sp>
        <p:nvSpPr>
          <p:cNvPr id="42023" name="Oval 39"/>
          <p:cNvSpPr>
            <a:spLocks noChangeArrowheads="1"/>
          </p:cNvSpPr>
          <p:nvPr/>
        </p:nvSpPr>
        <p:spPr bwMode="auto">
          <a:xfrm>
            <a:off x="6380163" y="3206750"/>
            <a:ext cx="673100" cy="673100"/>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90488" tIns="44450" rIns="90488" bIns="44450" anchor="ctr"/>
          <a:lstStyle/>
          <a:p>
            <a:pPr algn="ctr"/>
            <a:r>
              <a:rPr lang="en-US" sz="2000" i="0">
                <a:solidFill>
                  <a:srgbClr val="FFFFFF"/>
                </a:solidFill>
                <a:effectLst>
                  <a:outerShdw blurRad="38100" dist="38100" dir="2700000" algn="tl">
                    <a:srgbClr val="000000"/>
                  </a:outerShdw>
                </a:effectLst>
              </a:rPr>
              <a:t>B</a:t>
            </a:r>
          </a:p>
        </p:txBody>
      </p:sp>
      <p:sp>
        <p:nvSpPr>
          <p:cNvPr id="42024" name="Oval 40"/>
          <p:cNvSpPr>
            <a:spLocks noChangeArrowheads="1"/>
          </p:cNvSpPr>
          <p:nvPr/>
        </p:nvSpPr>
        <p:spPr bwMode="auto">
          <a:xfrm>
            <a:off x="6330950" y="1758950"/>
            <a:ext cx="673100" cy="673100"/>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90488" tIns="44450" rIns="90488" bIns="44450" anchor="ctr"/>
          <a:lstStyle/>
          <a:p>
            <a:pPr algn="ctr"/>
            <a:r>
              <a:rPr lang="en-US" sz="2000" i="0">
                <a:solidFill>
                  <a:srgbClr val="FFFFFF"/>
                </a:solidFill>
                <a:effectLst>
                  <a:outerShdw blurRad="38100" dist="38100" dir="2700000" algn="tl">
                    <a:srgbClr val="000000"/>
                  </a:outerShdw>
                </a:effectLst>
              </a:rPr>
              <a:t>A</a:t>
            </a:r>
          </a:p>
        </p:txBody>
      </p:sp>
      <p:sp>
        <p:nvSpPr>
          <p:cNvPr id="42025" name="Oval 41"/>
          <p:cNvSpPr>
            <a:spLocks noChangeArrowheads="1"/>
          </p:cNvSpPr>
          <p:nvPr/>
        </p:nvSpPr>
        <p:spPr bwMode="auto">
          <a:xfrm>
            <a:off x="2292350" y="5797550"/>
            <a:ext cx="673100" cy="673100"/>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90488" tIns="44450" rIns="90488" bIns="44450" anchor="ctr"/>
          <a:lstStyle/>
          <a:p>
            <a:pPr algn="ctr"/>
            <a:r>
              <a:rPr lang="en-US" sz="2000" i="0">
                <a:solidFill>
                  <a:srgbClr val="FFFFFF"/>
                </a:solidFill>
                <a:effectLst>
                  <a:outerShdw blurRad="38100" dist="38100" dir="2700000" algn="tl">
                    <a:srgbClr val="000000"/>
                  </a:outerShdw>
                </a:effectLst>
              </a:rPr>
              <a:t>Univ.</a:t>
            </a:r>
          </a:p>
        </p:txBody>
      </p:sp>
      <p:sp>
        <p:nvSpPr>
          <p:cNvPr id="42026" name="Oval 42"/>
          <p:cNvSpPr>
            <a:spLocks noChangeArrowheads="1"/>
          </p:cNvSpPr>
          <p:nvPr/>
        </p:nvSpPr>
        <p:spPr bwMode="auto">
          <a:xfrm>
            <a:off x="2292350" y="4578350"/>
            <a:ext cx="673100" cy="673100"/>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90488" tIns="44450" rIns="90488" bIns="44450" anchor="ctr"/>
          <a:lstStyle/>
          <a:p>
            <a:pPr algn="ctr"/>
            <a:r>
              <a:rPr lang="en-US" sz="2000" i="0">
                <a:solidFill>
                  <a:srgbClr val="FFFFFF"/>
                </a:solidFill>
                <a:effectLst>
                  <a:outerShdw blurRad="38100" dist="38100" dir="2700000" algn="tl">
                    <a:srgbClr val="000000"/>
                  </a:outerShdw>
                </a:effectLst>
              </a:rPr>
              <a:t>Gol.</a:t>
            </a:r>
          </a:p>
        </p:txBody>
      </p:sp>
      <p:sp>
        <p:nvSpPr>
          <p:cNvPr id="42027" name="Oval 43"/>
          <p:cNvSpPr>
            <a:spLocks noChangeArrowheads="1"/>
          </p:cNvSpPr>
          <p:nvPr/>
        </p:nvSpPr>
        <p:spPr bwMode="auto">
          <a:xfrm>
            <a:off x="2292350" y="3206750"/>
            <a:ext cx="673100" cy="673100"/>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90488" tIns="44450" rIns="90488" bIns="44450" anchor="ctr"/>
          <a:lstStyle/>
          <a:p>
            <a:pPr algn="ctr"/>
            <a:r>
              <a:rPr lang="en-US" sz="2000" i="0">
                <a:solidFill>
                  <a:srgbClr val="FFFFFF"/>
                </a:solidFill>
                <a:effectLst>
                  <a:outerShdw blurRad="38100" dist="38100" dir="2700000" algn="tl">
                    <a:srgbClr val="000000"/>
                  </a:outerShdw>
                </a:effectLst>
              </a:rPr>
              <a:t>Fed.</a:t>
            </a:r>
          </a:p>
        </p:txBody>
      </p:sp>
      <p:sp>
        <p:nvSpPr>
          <p:cNvPr id="42028" name="Text Box 44"/>
          <p:cNvSpPr txBox="1">
            <a:spLocks noChangeArrowheads="1"/>
          </p:cNvSpPr>
          <p:nvPr/>
        </p:nvSpPr>
        <p:spPr bwMode="auto">
          <a:xfrm rot="5400000">
            <a:off x="6978650" y="4017963"/>
            <a:ext cx="1165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i="0" u="sng">
                <a:solidFill>
                  <a:srgbClr val="FFFFFF"/>
                </a:solidFill>
                <a:latin typeface="Times New Roman" panose="02020603050405020304" pitchFamily="18" charset="0"/>
              </a:rPr>
              <a:t>Projects</a:t>
            </a:r>
          </a:p>
        </p:txBody>
      </p:sp>
      <p:sp>
        <p:nvSpPr>
          <p:cNvPr id="42030" name="Text Box 46"/>
          <p:cNvSpPr txBox="1">
            <a:spLocks noChangeArrowheads="1"/>
          </p:cNvSpPr>
          <p:nvPr/>
        </p:nvSpPr>
        <p:spPr bwMode="auto">
          <a:xfrm rot="-5400000">
            <a:off x="758031" y="4031457"/>
            <a:ext cx="2011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i="0" u="sng">
                <a:solidFill>
                  <a:srgbClr val="FFFFFF"/>
                </a:solidFill>
                <a:latin typeface="Times New Roman" panose="02020603050405020304" pitchFamily="18" charset="0"/>
              </a:rPr>
              <a:t>Subcontractors</a:t>
            </a:r>
          </a:p>
        </p:txBody>
      </p:sp>
    </p:spTree>
  </p:cSld>
  <p:clrMapOvr>
    <a:masterClrMapping/>
  </p:clrMapOvr>
  <p:transition>
    <p:zo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noFill/>
          <a:ln/>
        </p:spPr>
        <p:txBody>
          <a:bodyPr/>
          <a:lstStyle/>
          <a:p>
            <a:r>
              <a:rPr lang="en-US"/>
              <a:t>Example:  Hungry Owner</a:t>
            </a:r>
          </a:p>
        </p:txBody>
      </p:sp>
      <p:sp>
        <p:nvSpPr>
          <p:cNvPr id="43011" name="Rectangle 3"/>
          <p:cNvSpPr>
            <a:spLocks noGrp="1" noChangeArrowheads="1"/>
          </p:cNvSpPr>
          <p:nvPr>
            <p:ph type="body" idx="1"/>
          </p:nvPr>
        </p:nvSpPr>
        <p:spPr>
          <a:noFill/>
          <a:ln/>
        </p:spPr>
        <p:txBody>
          <a:bodyPr/>
          <a:lstStyle/>
          <a:p>
            <a:r>
              <a:rPr lang="en-US">
                <a:solidFill>
                  <a:schemeClr val="tx2"/>
                </a:solidFill>
              </a:rPr>
              <a:t>Initial Tableau Setup</a:t>
            </a:r>
          </a:p>
          <a:p>
            <a:pPr>
              <a:buFont typeface="Monotype Sorts" pitchFamily="2" charset="2"/>
              <a:buNone/>
            </a:pPr>
            <a:r>
              <a:rPr lang="en-US"/>
              <a:t>		Since the Hungarian algorithm requires that there be the same number of rows as columns, add a Dummy column so that the first tableau is:</a:t>
            </a:r>
          </a:p>
          <a:p>
            <a:pPr>
              <a:buFont typeface="Monotype Sorts" pitchFamily="2" charset="2"/>
              <a:buNone/>
            </a:pPr>
            <a:endParaRPr lang="en-US" sz="1000"/>
          </a:p>
          <a:p>
            <a:pPr>
              <a:buFont typeface="Monotype Sorts" pitchFamily="2" charset="2"/>
              <a:buNone/>
            </a:pPr>
            <a:r>
              <a:rPr lang="en-US"/>
              <a:t>                                       	</a:t>
            </a:r>
            <a:r>
              <a:rPr lang="en-US" u="sng"/>
              <a:t>A</a:t>
            </a:r>
            <a:r>
              <a:rPr lang="en-US"/>
              <a:t>     </a:t>
            </a:r>
            <a:r>
              <a:rPr lang="en-US" u="sng"/>
              <a:t>B</a:t>
            </a:r>
            <a:r>
              <a:rPr lang="en-US"/>
              <a:t>      </a:t>
            </a:r>
            <a:r>
              <a:rPr lang="en-US" u="sng"/>
              <a:t>C</a:t>
            </a:r>
            <a:r>
              <a:rPr lang="en-US"/>
              <a:t>    </a:t>
            </a:r>
            <a:r>
              <a:rPr lang="en-US" u="sng"/>
              <a:t>Dummy</a:t>
            </a:r>
            <a:endParaRPr lang="en-US"/>
          </a:p>
          <a:p>
            <a:pPr>
              <a:buFont typeface="Monotype Sorts" pitchFamily="2" charset="2"/>
              <a:buNone/>
            </a:pPr>
            <a:r>
              <a:rPr lang="en-US"/>
              <a:t>		   	Westside       	50    36    16   	      0</a:t>
            </a:r>
          </a:p>
          <a:p>
            <a:pPr>
              <a:buFont typeface="Monotype Sorts" pitchFamily="2" charset="2"/>
              <a:buNone/>
            </a:pPr>
            <a:r>
              <a:rPr lang="en-US"/>
              <a:t>              	Federated     	28    30    18          0</a:t>
            </a:r>
          </a:p>
          <a:p>
            <a:pPr>
              <a:buFont typeface="Monotype Sorts" pitchFamily="2" charset="2"/>
              <a:buNone/>
            </a:pPr>
            <a:r>
              <a:rPr lang="en-US"/>
              <a:t>               	Goliath          	35    32    20          0</a:t>
            </a:r>
          </a:p>
          <a:p>
            <a:pPr>
              <a:buFont typeface="Monotype Sorts" pitchFamily="2" charset="2"/>
              <a:buNone/>
            </a:pPr>
            <a:r>
              <a:rPr lang="en-US"/>
              <a:t>               	Universal      	25    25    14   	      0</a:t>
            </a:r>
          </a:p>
          <a:p>
            <a:pPr>
              <a:buFont typeface="Monotype Sorts" pitchFamily="2" charset="2"/>
              <a:buNone/>
            </a:pPr>
            <a:endParaRPr lang="en-US"/>
          </a:p>
        </p:txBody>
      </p:sp>
    </p:spTree>
  </p:cSld>
  <p:clrMapOvr>
    <a:masterClrMapping/>
  </p:clrMapOvr>
  <p:transition>
    <p:zo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noFill/>
          <a:ln/>
        </p:spPr>
        <p:txBody>
          <a:bodyPr/>
          <a:lstStyle/>
          <a:p>
            <a:r>
              <a:rPr lang="en-US"/>
              <a:t>Example:  Hungry Owner</a:t>
            </a:r>
          </a:p>
        </p:txBody>
      </p:sp>
      <p:sp>
        <p:nvSpPr>
          <p:cNvPr id="44035" name="Rectangle 3"/>
          <p:cNvSpPr>
            <a:spLocks noGrp="1" noChangeArrowheads="1"/>
          </p:cNvSpPr>
          <p:nvPr>
            <p:ph type="body" idx="1"/>
          </p:nvPr>
        </p:nvSpPr>
        <p:spPr>
          <a:noFill/>
          <a:ln/>
        </p:spPr>
        <p:txBody>
          <a:bodyPr/>
          <a:lstStyle/>
          <a:p>
            <a:r>
              <a:rPr lang="en-US">
                <a:solidFill>
                  <a:schemeClr val="tx2"/>
                </a:solidFill>
              </a:rPr>
              <a:t>Step 1:  </a:t>
            </a:r>
            <a:r>
              <a:rPr lang="en-US"/>
              <a:t>Subtract minimum number in each row from all numbers in that row.  Since each row has a zero, we would simply generate the same matrix above.</a:t>
            </a:r>
          </a:p>
          <a:p>
            <a:r>
              <a:rPr lang="en-US">
                <a:solidFill>
                  <a:schemeClr val="tx2"/>
                </a:solidFill>
              </a:rPr>
              <a:t>Step 2:  </a:t>
            </a:r>
            <a:r>
              <a:rPr lang="en-US"/>
              <a:t>Subtract the minimum number in each column from all numbers in the column.  For A it is 25, for B it is 25, for C it is 14, for Dummy it is 0.  This yields:</a:t>
            </a:r>
          </a:p>
          <a:p>
            <a:pPr>
              <a:buFont typeface="Monotype Sorts" pitchFamily="2" charset="2"/>
              <a:buNone/>
            </a:pPr>
            <a:endParaRPr lang="en-US" sz="1000"/>
          </a:p>
          <a:p>
            <a:pPr>
              <a:buFont typeface="Monotype Sorts" pitchFamily="2" charset="2"/>
              <a:buNone/>
            </a:pPr>
            <a:r>
              <a:rPr lang="en-US"/>
              <a:t>                                       	</a:t>
            </a:r>
            <a:r>
              <a:rPr lang="en-US" u="sng"/>
              <a:t>A</a:t>
            </a:r>
            <a:r>
              <a:rPr lang="en-US"/>
              <a:t>       </a:t>
            </a:r>
            <a:r>
              <a:rPr lang="en-US" u="sng"/>
              <a:t>B</a:t>
            </a:r>
            <a:r>
              <a:rPr lang="en-US"/>
              <a:t>      </a:t>
            </a:r>
            <a:r>
              <a:rPr lang="en-US" u="sng"/>
              <a:t>C</a:t>
            </a:r>
            <a:r>
              <a:rPr lang="en-US"/>
              <a:t>   </a:t>
            </a:r>
            <a:r>
              <a:rPr lang="en-US" u="sng"/>
              <a:t>Dummy</a:t>
            </a:r>
            <a:endParaRPr lang="en-US"/>
          </a:p>
          <a:p>
            <a:pPr>
              <a:buFont typeface="Monotype Sorts" pitchFamily="2" charset="2"/>
              <a:buNone/>
            </a:pPr>
            <a:r>
              <a:rPr lang="en-US"/>
              <a:t>               	Westside       	25     11      2         0</a:t>
            </a:r>
          </a:p>
          <a:p>
            <a:pPr>
              <a:buFont typeface="Monotype Sorts" pitchFamily="2" charset="2"/>
              <a:buNone/>
            </a:pPr>
            <a:r>
              <a:rPr lang="en-US"/>
              <a:t>               	Federated      	  3       5      4         0</a:t>
            </a:r>
          </a:p>
          <a:p>
            <a:pPr>
              <a:buFont typeface="Monotype Sorts" pitchFamily="2" charset="2"/>
              <a:buNone/>
            </a:pPr>
            <a:r>
              <a:rPr lang="en-US"/>
              <a:t>               	Goliath          	10       7      6     </a:t>
            </a:r>
            <a:r>
              <a:rPr lang="en-US">
                <a:effectLst/>
              </a:rPr>
              <a:t>    </a:t>
            </a:r>
            <a:r>
              <a:rPr lang="en-US"/>
              <a:t>0</a:t>
            </a:r>
          </a:p>
          <a:p>
            <a:pPr>
              <a:buFont typeface="Monotype Sorts" pitchFamily="2" charset="2"/>
              <a:buNone/>
            </a:pPr>
            <a:r>
              <a:rPr lang="en-US"/>
              <a:t>               	Universal      	  0       0      0         0    </a:t>
            </a:r>
          </a:p>
          <a:p>
            <a:pPr>
              <a:buFont typeface="Monotype Sorts" pitchFamily="2" charset="2"/>
              <a:buNone/>
            </a:pPr>
            <a:endParaRPr lang="en-US"/>
          </a:p>
        </p:txBody>
      </p:sp>
    </p:spTree>
  </p:cSld>
  <p:clrMapOvr>
    <a:masterClrMapping/>
  </p:clrMapOvr>
  <p:transition>
    <p:zo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noFill/>
          <a:ln/>
        </p:spPr>
        <p:txBody>
          <a:bodyPr/>
          <a:lstStyle/>
          <a:p>
            <a:r>
              <a:rPr lang="en-US"/>
              <a:t>Example:  Hungry Owner</a:t>
            </a:r>
          </a:p>
        </p:txBody>
      </p:sp>
      <p:sp>
        <p:nvSpPr>
          <p:cNvPr id="45059" name="Rectangle 3"/>
          <p:cNvSpPr>
            <a:spLocks noGrp="1" noChangeArrowheads="1"/>
          </p:cNvSpPr>
          <p:nvPr>
            <p:ph type="body" idx="1"/>
          </p:nvPr>
        </p:nvSpPr>
        <p:spPr>
          <a:xfrm flipH="1">
            <a:off x="514350" y="1049338"/>
            <a:ext cx="8101013" cy="5005387"/>
          </a:xfrm>
          <a:noFill/>
          <a:ln/>
        </p:spPr>
        <p:txBody>
          <a:bodyPr/>
          <a:lstStyle/>
          <a:p>
            <a:r>
              <a:rPr lang="en-US">
                <a:solidFill>
                  <a:schemeClr val="tx2"/>
                </a:solidFill>
              </a:rPr>
              <a:t>Step 3:  </a:t>
            </a:r>
            <a:r>
              <a:rPr lang="en-US"/>
              <a:t>Draw the minimum number of lines to cover all zeroes.  Although one can "eyeball" this minimum, use the following algorithm.  If a "remaining" row has only one zero, draw a line through the column.  If a remaining column has only one zero in it, draw a line through the row.            	   </a:t>
            </a:r>
          </a:p>
          <a:p>
            <a:pPr>
              <a:buFont typeface="Monotype Sorts" pitchFamily="2" charset="2"/>
              <a:buNone/>
            </a:pPr>
            <a:r>
              <a:rPr lang="en-US"/>
              <a:t>			   	  	  </a:t>
            </a:r>
            <a:r>
              <a:rPr lang="en-US" u="sng"/>
              <a:t>A</a:t>
            </a:r>
            <a:r>
              <a:rPr lang="en-US"/>
              <a:t>       </a:t>
            </a:r>
            <a:r>
              <a:rPr lang="en-US" u="sng"/>
              <a:t>B</a:t>
            </a:r>
            <a:r>
              <a:rPr lang="en-US"/>
              <a:t>        </a:t>
            </a:r>
            <a:r>
              <a:rPr lang="en-US" u="sng"/>
              <a:t>C</a:t>
            </a:r>
            <a:r>
              <a:rPr lang="en-US"/>
              <a:t>    </a:t>
            </a:r>
            <a:r>
              <a:rPr lang="en-US" u="sng"/>
              <a:t>Dummy</a:t>
            </a:r>
            <a:r>
              <a:rPr lang="en-US"/>
              <a:t>  </a:t>
            </a:r>
          </a:p>
          <a:p>
            <a:pPr>
              <a:buFont typeface="Monotype Sorts" pitchFamily="2" charset="2"/>
              <a:buNone/>
            </a:pPr>
            <a:r>
              <a:rPr lang="en-US"/>
              <a:t>  		   	Westside	  25     11        2           0    </a:t>
            </a:r>
          </a:p>
          <a:p>
            <a:pPr>
              <a:buFont typeface="Monotype Sorts" pitchFamily="2" charset="2"/>
              <a:buNone/>
            </a:pPr>
            <a:r>
              <a:rPr lang="en-US"/>
              <a:t>		  	Federated	    3       5        4           0    </a:t>
            </a:r>
          </a:p>
          <a:p>
            <a:pPr>
              <a:buFont typeface="Monotype Sorts" pitchFamily="2" charset="2"/>
              <a:buNone/>
            </a:pPr>
            <a:r>
              <a:rPr lang="en-US"/>
              <a:t>		      	Goliath       	  10       7        6           0    </a:t>
            </a:r>
          </a:p>
          <a:p>
            <a:pPr>
              <a:buFont typeface="Monotype Sorts" pitchFamily="2" charset="2"/>
              <a:buNone/>
            </a:pPr>
            <a:r>
              <a:rPr lang="en-US"/>
              <a:t>		  	Universal   	    0       0        0           0</a:t>
            </a:r>
          </a:p>
          <a:p>
            <a:pPr>
              <a:buFont typeface="Monotype Sorts" pitchFamily="2" charset="2"/>
              <a:buNone/>
            </a:pPr>
            <a:endParaRPr lang="en-US" sz="1000"/>
          </a:p>
          <a:p>
            <a:r>
              <a:rPr lang="en-US">
                <a:solidFill>
                  <a:schemeClr val="tx2"/>
                </a:solidFill>
              </a:rPr>
              <a:t>Step 4:  </a:t>
            </a:r>
            <a:r>
              <a:rPr lang="en-US"/>
              <a:t>The minimum uncovered number is 2 (circled). </a:t>
            </a:r>
          </a:p>
          <a:p>
            <a:pPr>
              <a:buFont typeface="Monotype Sorts" pitchFamily="2" charset="2"/>
              <a:buNone/>
            </a:pPr>
            <a:endParaRPr lang="en-US"/>
          </a:p>
        </p:txBody>
      </p:sp>
      <p:sp>
        <p:nvSpPr>
          <p:cNvPr id="45060" name="Line 4"/>
          <p:cNvSpPr>
            <a:spLocks noChangeShapeType="1"/>
          </p:cNvSpPr>
          <p:nvPr/>
        </p:nvSpPr>
        <p:spPr bwMode="auto">
          <a:xfrm>
            <a:off x="4284663" y="5276850"/>
            <a:ext cx="3111500" cy="0"/>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5061" name="Line 5"/>
          <p:cNvSpPr>
            <a:spLocks noChangeShapeType="1"/>
          </p:cNvSpPr>
          <p:nvPr/>
        </p:nvSpPr>
        <p:spPr bwMode="auto">
          <a:xfrm flipV="1">
            <a:off x="7067550" y="3803650"/>
            <a:ext cx="0" cy="1689100"/>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5062" name="Oval 6"/>
          <p:cNvSpPr>
            <a:spLocks noChangeArrowheads="1"/>
          </p:cNvSpPr>
          <p:nvPr/>
        </p:nvSpPr>
        <p:spPr bwMode="auto">
          <a:xfrm>
            <a:off x="5868988" y="3787775"/>
            <a:ext cx="412750" cy="398463"/>
          </a:xfrm>
          <a:prstGeom prst="ellips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en-US"/>
          </a:p>
        </p:txBody>
      </p:sp>
    </p:spTree>
  </p:cSld>
  <p:clrMapOvr>
    <a:masterClrMapping/>
  </p:clrMapOvr>
  <p:transition>
    <p:zo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noFill/>
          <a:ln/>
        </p:spPr>
        <p:txBody>
          <a:bodyPr/>
          <a:lstStyle/>
          <a:p>
            <a:r>
              <a:rPr lang="en-US"/>
              <a:t>Example:  Hungry Owner</a:t>
            </a:r>
          </a:p>
        </p:txBody>
      </p:sp>
      <p:sp>
        <p:nvSpPr>
          <p:cNvPr id="46083" name="Rectangle 3"/>
          <p:cNvSpPr>
            <a:spLocks noGrp="1" noChangeArrowheads="1"/>
          </p:cNvSpPr>
          <p:nvPr>
            <p:ph type="body" idx="1"/>
          </p:nvPr>
        </p:nvSpPr>
        <p:spPr>
          <a:noFill/>
          <a:ln/>
        </p:spPr>
        <p:txBody>
          <a:bodyPr/>
          <a:lstStyle/>
          <a:p>
            <a:r>
              <a:rPr lang="en-US">
                <a:solidFill>
                  <a:schemeClr val="tx2"/>
                </a:solidFill>
              </a:rPr>
              <a:t>Step 5:  </a:t>
            </a:r>
            <a:r>
              <a:rPr lang="en-US"/>
              <a:t>Subtract 2 from uncovered numbers; add 2 to all numbers covered by two lines.  This gives:</a:t>
            </a:r>
          </a:p>
          <a:p>
            <a:pPr>
              <a:buFont typeface="Monotype Sorts" pitchFamily="2" charset="2"/>
              <a:buNone/>
            </a:pPr>
            <a:endParaRPr lang="en-US" sz="1000"/>
          </a:p>
          <a:p>
            <a:pPr>
              <a:buFont typeface="Monotype Sorts" pitchFamily="2" charset="2"/>
              <a:buNone/>
            </a:pPr>
            <a:r>
              <a:rPr lang="en-US"/>
              <a:t>                              		</a:t>
            </a:r>
            <a:r>
              <a:rPr lang="en-US" u="sng"/>
              <a:t>A</a:t>
            </a:r>
            <a:r>
              <a:rPr lang="en-US"/>
              <a:t>     </a:t>
            </a:r>
            <a:r>
              <a:rPr lang="en-US" u="sng"/>
              <a:t>B</a:t>
            </a:r>
            <a:r>
              <a:rPr lang="en-US"/>
              <a:t>     </a:t>
            </a:r>
            <a:r>
              <a:rPr lang="en-US" u="sng"/>
              <a:t>C</a:t>
            </a:r>
            <a:r>
              <a:rPr lang="en-US"/>
              <a:t>   </a:t>
            </a:r>
            <a:r>
              <a:rPr lang="en-US" u="sng"/>
              <a:t>Dummy</a:t>
            </a:r>
            <a:r>
              <a:rPr lang="en-US"/>
              <a:t>   </a:t>
            </a:r>
          </a:p>
          <a:p>
            <a:pPr>
              <a:buFont typeface="Monotype Sorts" pitchFamily="2" charset="2"/>
              <a:buNone/>
            </a:pPr>
            <a:r>
              <a:rPr lang="en-US"/>
              <a:t>	         	 Westside	23     9     0          0    </a:t>
            </a:r>
          </a:p>
          <a:p>
            <a:pPr>
              <a:buFont typeface="Monotype Sorts" pitchFamily="2" charset="2"/>
              <a:buNone/>
            </a:pPr>
            <a:r>
              <a:rPr lang="en-US"/>
              <a:t>              	Federated      	  1     3     2          0    </a:t>
            </a:r>
          </a:p>
          <a:p>
            <a:pPr>
              <a:buFont typeface="Monotype Sorts" pitchFamily="2" charset="2"/>
              <a:buNone/>
            </a:pPr>
            <a:r>
              <a:rPr lang="en-US"/>
              <a:t>               	    Goliath  	  8     5     4          0    </a:t>
            </a:r>
          </a:p>
          <a:p>
            <a:pPr>
              <a:buFont typeface="Monotype Sorts" pitchFamily="2" charset="2"/>
              <a:buNone/>
            </a:pPr>
            <a:r>
              <a:rPr lang="en-US"/>
              <a:t>               	Universal     	  0     0     0          2    </a:t>
            </a:r>
          </a:p>
          <a:p>
            <a:pPr>
              <a:buFont typeface="Monotype Sorts" pitchFamily="2" charset="2"/>
              <a:buNone/>
            </a:pPr>
            <a:endParaRPr lang="en-US"/>
          </a:p>
        </p:txBody>
      </p:sp>
    </p:spTree>
  </p:cSld>
  <p:clrMapOvr>
    <a:masterClrMapping/>
  </p:clrMapOvr>
  <p:transition>
    <p:zo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noFill/>
          <a:ln/>
        </p:spPr>
        <p:txBody>
          <a:bodyPr/>
          <a:lstStyle/>
          <a:p>
            <a:r>
              <a:rPr lang="en-US"/>
              <a:t>Example:  Hungry Owner</a:t>
            </a:r>
          </a:p>
        </p:txBody>
      </p:sp>
      <p:sp>
        <p:nvSpPr>
          <p:cNvPr id="47107" name="Rectangle 3"/>
          <p:cNvSpPr>
            <a:spLocks noGrp="1" noChangeArrowheads="1"/>
          </p:cNvSpPr>
          <p:nvPr>
            <p:ph type="body" idx="1"/>
          </p:nvPr>
        </p:nvSpPr>
        <p:spPr>
          <a:noFill/>
          <a:ln/>
        </p:spPr>
        <p:txBody>
          <a:bodyPr/>
          <a:lstStyle/>
          <a:p>
            <a:r>
              <a:rPr lang="en-US">
                <a:solidFill>
                  <a:schemeClr val="tx2"/>
                </a:solidFill>
              </a:rPr>
              <a:t>Step 3:  </a:t>
            </a:r>
            <a:r>
              <a:rPr lang="en-US"/>
              <a:t>Draw the minimum number of lines to cover all zeroes.</a:t>
            </a:r>
          </a:p>
          <a:p>
            <a:pPr>
              <a:buFont typeface="Monotype Sorts" pitchFamily="2" charset="2"/>
              <a:buNone/>
            </a:pPr>
            <a:r>
              <a:rPr lang="en-US"/>
              <a:t> 			  	    </a:t>
            </a:r>
            <a:r>
              <a:rPr lang="en-US" u="sng"/>
              <a:t>A</a:t>
            </a:r>
            <a:r>
              <a:rPr lang="en-US"/>
              <a:t>       </a:t>
            </a:r>
            <a:r>
              <a:rPr lang="en-US" u="sng"/>
              <a:t>B</a:t>
            </a:r>
            <a:r>
              <a:rPr lang="en-US"/>
              <a:t>       </a:t>
            </a:r>
            <a:r>
              <a:rPr lang="en-US" u="sng"/>
              <a:t>C</a:t>
            </a:r>
            <a:r>
              <a:rPr lang="en-US"/>
              <a:t>    </a:t>
            </a:r>
            <a:r>
              <a:rPr lang="en-US" u="sng"/>
              <a:t>Dummy</a:t>
            </a:r>
            <a:r>
              <a:rPr lang="en-US"/>
              <a:t>  </a:t>
            </a:r>
          </a:p>
          <a:p>
            <a:pPr>
              <a:buFont typeface="Monotype Sorts" pitchFamily="2" charset="2"/>
              <a:buNone/>
            </a:pPr>
            <a:r>
              <a:rPr lang="en-US"/>
              <a:t>  		   Westside	   23       9        0           0    </a:t>
            </a:r>
          </a:p>
          <a:p>
            <a:pPr>
              <a:buFont typeface="Monotype Sorts" pitchFamily="2" charset="2"/>
              <a:buNone/>
            </a:pPr>
            <a:r>
              <a:rPr lang="en-US"/>
              <a:t>		  Federated    	     1       3        2           0    </a:t>
            </a:r>
          </a:p>
          <a:p>
            <a:pPr>
              <a:buFont typeface="Monotype Sorts" pitchFamily="2" charset="2"/>
              <a:buNone/>
            </a:pPr>
            <a:r>
              <a:rPr lang="en-US"/>
              <a:t>		      Goliath    	     8       5        4           0    </a:t>
            </a:r>
          </a:p>
          <a:p>
            <a:pPr>
              <a:buFont typeface="Monotype Sorts" pitchFamily="2" charset="2"/>
              <a:buNone/>
            </a:pPr>
            <a:r>
              <a:rPr lang="en-US"/>
              <a:t>		  Universal    	     0       0        0           2</a:t>
            </a:r>
          </a:p>
          <a:p>
            <a:pPr>
              <a:buFont typeface="Monotype Sorts" pitchFamily="2" charset="2"/>
              <a:buNone/>
            </a:pPr>
            <a:endParaRPr lang="en-US" sz="1000"/>
          </a:p>
          <a:p>
            <a:r>
              <a:rPr lang="en-US">
                <a:solidFill>
                  <a:schemeClr val="tx2"/>
                </a:solidFill>
              </a:rPr>
              <a:t>Step 4:  </a:t>
            </a:r>
            <a:r>
              <a:rPr lang="en-US"/>
              <a:t>The minimum uncovered number is 1 (circled).</a:t>
            </a:r>
          </a:p>
        </p:txBody>
      </p:sp>
      <p:sp>
        <p:nvSpPr>
          <p:cNvPr id="47108" name="Line 4"/>
          <p:cNvSpPr>
            <a:spLocks noChangeShapeType="1"/>
          </p:cNvSpPr>
          <p:nvPr/>
        </p:nvSpPr>
        <p:spPr bwMode="auto">
          <a:xfrm>
            <a:off x="3359150" y="2514600"/>
            <a:ext cx="3111500" cy="0"/>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7109" name="Line 5"/>
          <p:cNvSpPr>
            <a:spLocks noChangeShapeType="1"/>
          </p:cNvSpPr>
          <p:nvPr/>
        </p:nvSpPr>
        <p:spPr bwMode="auto">
          <a:xfrm>
            <a:off x="3449638" y="3829050"/>
            <a:ext cx="3111500" cy="0"/>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7110" name="Line 6"/>
          <p:cNvSpPr>
            <a:spLocks noChangeShapeType="1"/>
          </p:cNvSpPr>
          <p:nvPr/>
        </p:nvSpPr>
        <p:spPr bwMode="auto">
          <a:xfrm flipV="1">
            <a:off x="6240463" y="2355850"/>
            <a:ext cx="0" cy="1689100"/>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47111" name="Oval 7"/>
          <p:cNvSpPr>
            <a:spLocks noChangeArrowheads="1"/>
          </p:cNvSpPr>
          <p:nvPr/>
        </p:nvSpPr>
        <p:spPr bwMode="auto">
          <a:xfrm>
            <a:off x="3598863" y="2763838"/>
            <a:ext cx="395287" cy="396875"/>
          </a:xfrm>
          <a:prstGeom prst="ellips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en-US"/>
          </a:p>
        </p:txBody>
      </p:sp>
    </p:spTree>
  </p:cSld>
  <p:clrMapOvr>
    <a:masterClrMapping/>
  </p:clrMapOvr>
  <p:transition>
    <p:zo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noFill/>
          <a:ln/>
        </p:spPr>
        <p:txBody>
          <a:bodyPr/>
          <a:lstStyle/>
          <a:p>
            <a:r>
              <a:rPr lang="en-US"/>
              <a:t>Example:  Hungry Owner</a:t>
            </a:r>
          </a:p>
        </p:txBody>
      </p:sp>
      <p:sp>
        <p:nvSpPr>
          <p:cNvPr id="48131" name="Rectangle 3"/>
          <p:cNvSpPr>
            <a:spLocks noGrp="1" noChangeArrowheads="1"/>
          </p:cNvSpPr>
          <p:nvPr>
            <p:ph type="body" idx="1"/>
          </p:nvPr>
        </p:nvSpPr>
        <p:spPr>
          <a:noFill/>
          <a:ln/>
        </p:spPr>
        <p:txBody>
          <a:bodyPr/>
          <a:lstStyle/>
          <a:p>
            <a:r>
              <a:rPr lang="en-US">
                <a:solidFill>
                  <a:schemeClr val="tx2"/>
                </a:solidFill>
              </a:rPr>
              <a:t>Step 5:  </a:t>
            </a:r>
            <a:r>
              <a:rPr lang="en-US"/>
              <a:t>Subtract 1 from uncovered numbers.  Add 1 to numbers covered by two lines.  This gives:</a:t>
            </a:r>
          </a:p>
          <a:p>
            <a:pPr>
              <a:buFont typeface="Monotype Sorts" pitchFamily="2" charset="2"/>
              <a:buNone/>
            </a:pPr>
            <a:endParaRPr lang="en-US" sz="1000"/>
          </a:p>
          <a:p>
            <a:pPr>
              <a:buFont typeface="Monotype Sorts" pitchFamily="2" charset="2"/>
              <a:buNone/>
            </a:pPr>
            <a:r>
              <a:rPr lang="en-US"/>
              <a:t>			  	     </a:t>
            </a:r>
            <a:r>
              <a:rPr lang="en-US" u="sng"/>
              <a:t>A</a:t>
            </a:r>
            <a:r>
              <a:rPr lang="en-US"/>
              <a:t>       </a:t>
            </a:r>
            <a:r>
              <a:rPr lang="en-US" u="sng"/>
              <a:t>B</a:t>
            </a:r>
            <a:r>
              <a:rPr lang="en-US"/>
              <a:t>       </a:t>
            </a:r>
            <a:r>
              <a:rPr lang="en-US" u="sng"/>
              <a:t>C</a:t>
            </a:r>
            <a:r>
              <a:rPr lang="en-US"/>
              <a:t>    </a:t>
            </a:r>
            <a:r>
              <a:rPr lang="en-US" u="sng"/>
              <a:t>Dummy</a:t>
            </a:r>
            <a:r>
              <a:rPr lang="en-US"/>
              <a:t>  </a:t>
            </a:r>
          </a:p>
          <a:p>
            <a:pPr>
              <a:buFont typeface="Monotype Sorts" pitchFamily="2" charset="2"/>
              <a:buNone/>
            </a:pPr>
            <a:r>
              <a:rPr lang="en-US"/>
              <a:t>  		   Westside  	    23       9        0           1    </a:t>
            </a:r>
          </a:p>
          <a:p>
            <a:pPr>
              <a:buFont typeface="Monotype Sorts" pitchFamily="2" charset="2"/>
              <a:buNone/>
            </a:pPr>
            <a:r>
              <a:rPr lang="en-US"/>
              <a:t>		  Federated    	      0       2        1           0    </a:t>
            </a:r>
          </a:p>
          <a:p>
            <a:pPr>
              <a:buFont typeface="Monotype Sorts" pitchFamily="2" charset="2"/>
              <a:buNone/>
            </a:pPr>
            <a:r>
              <a:rPr lang="en-US"/>
              <a:t>		      Goliath   	      7       4        3           0    </a:t>
            </a:r>
          </a:p>
          <a:p>
            <a:pPr>
              <a:buFont typeface="Monotype Sorts" pitchFamily="2" charset="2"/>
              <a:buNone/>
            </a:pPr>
            <a:r>
              <a:rPr lang="en-US"/>
              <a:t>		  Universal   	      0       0        0           3</a:t>
            </a:r>
          </a:p>
          <a:p>
            <a:pPr>
              <a:buFont typeface="Monotype Sorts" pitchFamily="2" charset="2"/>
              <a:buNone/>
            </a:pPr>
            <a:endParaRPr lang="en-US"/>
          </a:p>
          <a:p>
            <a:pPr>
              <a:buFont typeface="Monotype Sorts" pitchFamily="2" charset="2"/>
              <a:buNone/>
            </a:pPr>
            <a:endParaRPr lang="en-US"/>
          </a:p>
        </p:txBody>
      </p:sp>
    </p:spTree>
  </p:cSld>
  <p:clrMapOvr>
    <a:masterClrMapping/>
  </p:clrMapOvr>
  <p:transition>
    <p:zo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noFill/>
          <a:ln/>
        </p:spPr>
        <p:txBody>
          <a:bodyPr/>
          <a:lstStyle/>
          <a:p>
            <a:r>
              <a:rPr lang="en-US"/>
              <a:t>Example:  Hungry Owner</a:t>
            </a:r>
          </a:p>
        </p:txBody>
      </p:sp>
      <p:sp>
        <p:nvSpPr>
          <p:cNvPr id="49155" name="Rectangle 3"/>
          <p:cNvSpPr>
            <a:spLocks noGrp="1" noChangeArrowheads="1"/>
          </p:cNvSpPr>
          <p:nvPr>
            <p:ph type="body" idx="1"/>
          </p:nvPr>
        </p:nvSpPr>
        <p:spPr>
          <a:noFill/>
          <a:ln/>
        </p:spPr>
        <p:txBody>
          <a:bodyPr/>
          <a:lstStyle/>
          <a:p>
            <a:r>
              <a:rPr lang="en-US">
                <a:solidFill>
                  <a:schemeClr val="tx2"/>
                </a:solidFill>
              </a:rPr>
              <a:t>Step 4:  </a:t>
            </a:r>
            <a:r>
              <a:rPr lang="en-US"/>
              <a:t>The minimum number of lines to cover all 0's is four.  Thus, there is a minimum-cost assignment of 0's with this tableau.  The optimal assignment is:</a:t>
            </a:r>
          </a:p>
          <a:p>
            <a:pPr>
              <a:buFont typeface="Monotype Sorts" pitchFamily="2" charset="2"/>
              <a:buNone/>
            </a:pPr>
            <a:endParaRPr lang="en-US" sz="1000"/>
          </a:p>
          <a:p>
            <a:pPr>
              <a:buFont typeface="Monotype Sorts" pitchFamily="2" charset="2"/>
              <a:buNone/>
            </a:pPr>
            <a:r>
              <a:rPr lang="en-US"/>
              <a:t>                    </a:t>
            </a:r>
            <a:r>
              <a:rPr lang="en-US" u="sng"/>
              <a:t>Subcontractor</a:t>
            </a:r>
            <a:r>
              <a:rPr lang="en-US"/>
              <a:t>    </a:t>
            </a:r>
            <a:r>
              <a:rPr lang="en-US" u="sng"/>
              <a:t>Project</a:t>
            </a:r>
            <a:r>
              <a:rPr lang="en-US"/>
              <a:t>    </a:t>
            </a:r>
            <a:r>
              <a:rPr lang="en-US" u="sng"/>
              <a:t>Distance</a:t>
            </a:r>
            <a:endParaRPr lang="en-US"/>
          </a:p>
          <a:p>
            <a:pPr>
              <a:buFont typeface="Monotype Sorts" pitchFamily="2" charset="2"/>
              <a:buNone/>
            </a:pPr>
            <a:r>
              <a:rPr lang="en-US"/>
              <a:t>		      	Westside              C              16</a:t>
            </a:r>
          </a:p>
          <a:p>
            <a:pPr>
              <a:buFont typeface="Monotype Sorts" pitchFamily="2" charset="2"/>
              <a:buNone/>
            </a:pPr>
            <a:r>
              <a:rPr lang="en-US"/>
              <a:t>                  	Federated            A              28</a:t>
            </a:r>
          </a:p>
          <a:p>
            <a:pPr>
              <a:buFont typeface="Monotype Sorts" pitchFamily="2" charset="2"/>
              <a:buNone/>
            </a:pPr>
            <a:r>
              <a:rPr lang="en-US"/>
              <a:t>			Goliath                (unassigned) </a:t>
            </a:r>
          </a:p>
          <a:p>
            <a:pPr>
              <a:buFont typeface="Monotype Sorts" pitchFamily="2" charset="2"/>
              <a:buNone/>
            </a:pPr>
            <a:r>
              <a:rPr lang="en-US"/>
              <a:t>			Universal             B              </a:t>
            </a:r>
            <a:r>
              <a:rPr lang="en-US" u="sng"/>
              <a:t>25</a:t>
            </a:r>
            <a:endParaRPr lang="en-US"/>
          </a:p>
          <a:p>
            <a:pPr>
              <a:buFont typeface="Monotype Sorts" pitchFamily="2" charset="2"/>
              <a:buNone/>
            </a:pPr>
            <a:r>
              <a:rPr lang="en-US"/>
              <a:t>				   Total Distance  =  69 miles </a:t>
            </a:r>
          </a:p>
        </p:txBody>
      </p:sp>
    </p:spTree>
  </p:cSld>
  <p:clrMapOvr>
    <a:masterClrMapping/>
  </p:clrMapOvr>
  <p:transition>
    <p:zo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noFill/>
          <a:ln/>
        </p:spPr>
        <p:txBody>
          <a:bodyPr/>
          <a:lstStyle/>
          <a:p>
            <a:r>
              <a:rPr lang="en-US"/>
              <a:t>Transshipment Problem</a:t>
            </a:r>
          </a:p>
        </p:txBody>
      </p:sp>
      <p:sp>
        <p:nvSpPr>
          <p:cNvPr id="50179" name="Rectangle 3"/>
          <p:cNvSpPr>
            <a:spLocks noGrp="1" noChangeArrowheads="1"/>
          </p:cNvSpPr>
          <p:nvPr>
            <p:ph type="body" idx="1"/>
          </p:nvPr>
        </p:nvSpPr>
        <p:spPr>
          <a:noFill/>
          <a:ln/>
        </p:spPr>
        <p:txBody>
          <a:bodyPr/>
          <a:lstStyle/>
          <a:p>
            <a:r>
              <a:rPr lang="en-US" u="sng"/>
              <a:t>Transshipment problems</a:t>
            </a:r>
            <a:r>
              <a:rPr lang="en-US"/>
              <a:t> are transportation problems in which a shipment may move through intermediate nodes (transshipment nodes)before reaching a particular destination node.</a:t>
            </a:r>
          </a:p>
          <a:p>
            <a:r>
              <a:rPr lang="en-US"/>
              <a:t>Transshipment problems can be converted to larger transportation problems and solved by a special transportation program.</a:t>
            </a:r>
          </a:p>
          <a:p>
            <a:r>
              <a:rPr lang="en-US"/>
              <a:t>Transshipment problems can also be solved by general purpose linear programming codes.</a:t>
            </a:r>
          </a:p>
          <a:p>
            <a:r>
              <a:rPr lang="en-US"/>
              <a:t>The network representation for a transshipment problem with two sources, three intermediate nodes, and two destinations is shown on the next slide.</a:t>
            </a:r>
          </a:p>
        </p:txBody>
      </p:sp>
    </p:spTree>
  </p:cSld>
  <p:clrMapOvr>
    <a:masterClrMapping/>
  </p:clrMapOvr>
  <p:transition>
    <p:zo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noFill/>
          <a:ln/>
        </p:spPr>
        <p:txBody>
          <a:bodyPr/>
          <a:lstStyle/>
          <a:p>
            <a:r>
              <a:rPr lang="en-US"/>
              <a:t>Transshipment Problem</a:t>
            </a:r>
          </a:p>
        </p:txBody>
      </p:sp>
      <p:sp>
        <p:nvSpPr>
          <p:cNvPr id="51203" name="Rectangle 3"/>
          <p:cNvSpPr>
            <a:spLocks noGrp="1" noChangeArrowheads="1"/>
          </p:cNvSpPr>
          <p:nvPr>
            <p:ph type="body" idx="1"/>
          </p:nvPr>
        </p:nvSpPr>
        <p:spPr>
          <a:noFill/>
          <a:ln/>
        </p:spPr>
        <p:txBody>
          <a:bodyPr/>
          <a:lstStyle/>
          <a:p>
            <a:r>
              <a:rPr lang="en-US">
                <a:solidFill>
                  <a:schemeClr val="tx2"/>
                </a:solidFill>
              </a:rPr>
              <a:t>Network Representation</a:t>
            </a:r>
          </a:p>
        </p:txBody>
      </p:sp>
      <p:sp>
        <p:nvSpPr>
          <p:cNvPr id="51204" name="Oval 4"/>
          <p:cNvSpPr>
            <a:spLocks noChangeArrowheads="1"/>
          </p:cNvSpPr>
          <p:nvPr/>
        </p:nvSpPr>
        <p:spPr bwMode="auto">
          <a:xfrm>
            <a:off x="1770063" y="4381500"/>
            <a:ext cx="679450" cy="681038"/>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119062" tIns="60325" rIns="119062" bIns="60325" anchor="ct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2000" i="0">
                <a:solidFill>
                  <a:srgbClr val="FFFFFF"/>
                </a:solidFill>
                <a:effectLst>
                  <a:outerShdw blurRad="38100" dist="38100" dir="2700000" algn="tl">
                    <a:srgbClr val="000000"/>
                  </a:outerShdw>
                </a:effectLst>
                <a:latin typeface="Arial" panose="020B0604020202020204" pitchFamily="34" charset="0"/>
              </a:rPr>
              <a:t>2</a:t>
            </a:r>
          </a:p>
        </p:txBody>
      </p:sp>
      <p:sp>
        <p:nvSpPr>
          <p:cNvPr id="51205" name="Oval 5"/>
          <p:cNvSpPr>
            <a:spLocks noChangeArrowheads="1"/>
          </p:cNvSpPr>
          <p:nvPr/>
        </p:nvSpPr>
        <p:spPr bwMode="auto">
          <a:xfrm>
            <a:off x="4443413" y="1806575"/>
            <a:ext cx="681037" cy="681038"/>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119062" tIns="60325" rIns="119062" bIns="60325" anchor="ct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2000" i="0">
                <a:solidFill>
                  <a:srgbClr val="FFFFFF"/>
                </a:solidFill>
                <a:effectLst>
                  <a:outerShdw blurRad="38100" dist="38100" dir="2700000" algn="tl">
                    <a:srgbClr val="000000"/>
                  </a:outerShdw>
                </a:effectLst>
                <a:latin typeface="Arial" panose="020B0604020202020204" pitchFamily="34" charset="0"/>
              </a:rPr>
              <a:t>3</a:t>
            </a:r>
          </a:p>
        </p:txBody>
      </p:sp>
      <p:sp>
        <p:nvSpPr>
          <p:cNvPr id="51206" name="Oval 6"/>
          <p:cNvSpPr>
            <a:spLocks noChangeArrowheads="1"/>
          </p:cNvSpPr>
          <p:nvPr/>
        </p:nvSpPr>
        <p:spPr bwMode="auto">
          <a:xfrm>
            <a:off x="4443413" y="3330575"/>
            <a:ext cx="681037" cy="681038"/>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119062" tIns="60325" rIns="119062" bIns="60325" anchor="ct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2000" i="0">
                <a:solidFill>
                  <a:srgbClr val="FFFFFF"/>
                </a:solidFill>
                <a:effectLst>
                  <a:outerShdw blurRad="38100" dist="38100" dir="2700000" algn="tl">
                    <a:srgbClr val="000000"/>
                  </a:outerShdw>
                </a:effectLst>
                <a:latin typeface="Arial" panose="020B0604020202020204" pitchFamily="34" charset="0"/>
              </a:rPr>
              <a:t>4</a:t>
            </a:r>
          </a:p>
        </p:txBody>
      </p:sp>
      <p:sp>
        <p:nvSpPr>
          <p:cNvPr id="51207" name="Oval 7"/>
          <p:cNvSpPr>
            <a:spLocks noChangeArrowheads="1"/>
          </p:cNvSpPr>
          <p:nvPr/>
        </p:nvSpPr>
        <p:spPr bwMode="auto">
          <a:xfrm>
            <a:off x="4443413" y="4778375"/>
            <a:ext cx="681037" cy="681038"/>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119062" tIns="60325" rIns="119062" bIns="60325" anchor="ct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2000" i="0">
                <a:solidFill>
                  <a:srgbClr val="FFFFFF"/>
                </a:solidFill>
                <a:effectLst>
                  <a:outerShdw blurRad="38100" dist="38100" dir="2700000" algn="tl">
                    <a:srgbClr val="000000"/>
                  </a:outerShdw>
                </a:effectLst>
                <a:latin typeface="Arial" panose="020B0604020202020204" pitchFamily="34" charset="0"/>
              </a:rPr>
              <a:t>5</a:t>
            </a:r>
          </a:p>
        </p:txBody>
      </p:sp>
      <p:sp>
        <p:nvSpPr>
          <p:cNvPr id="51208" name="Oval 8"/>
          <p:cNvSpPr>
            <a:spLocks noChangeArrowheads="1"/>
          </p:cNvSpPr>
          <p:nvPr/>
        </p:nvSpPr>
        <p:spPr bwMode="auto">
          <a:xfrm>
            <a:off x="6821488" y="2400300"/>
            <a:ext cx="682625" cy="681038"/>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119062" tIns="60325" rIns="119062" bIns="60325" anchor="ct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2000" i="0">
                <a:solidFill>
                  <a:srgbClr val="FFFFFF"/>
                </a:solidFill>
                <a:effectLst>
                  <a:outerShdw blurRad="38100" dist="38100" dir="2700000" algn="tl">
                    <a:srgbClr val="000000"/>
                  </a:outerShdw>
                </a:effectLst>
                <a:latin typeface="Arial" panose="020B0604020202020204" pitchFamily="34" charset="0"/>
              </a:rPr>
              <a:t>6</a:t>
            </a:r>
          </a:p>
        </p:txBody>
      </p:sp>
      <p:sp>
        <p:nvSpPr>
          <p:cNvPr id="51209" name="Oval 9"/>
          <p:cNvSpPr>
            <a:spLocks noChangeArrowheads="1"/>
          </p:cNvSpPr>
          <p:nvPr/>
        </p:nvSpPr>
        <p:spPr bwMode="auto">
          <a:xfrm>
            <a:off x="6821488" y="4283075"/>
            <a:ext cx="682625" cy="681038"/>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119062" tIns="60325" rIns="119062" bIns="60325" anchor="ct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2000" i="0">
                <a:solidFill>
                  <a:srgbClr val="FFFFFF"/>
                </a:solidFill>
                <a:effectLst>
                  <a:outerShdw blurRad="38100" dist="38100" dir="2700000" algn="tl">
                    <a:srgbClr val="000000"/>
                  </a:outerShdw>
                </a:effectLst>
                <a:latin typeface="Arial" panose="020B0604020202020204" pitchFamily="34" charset="0"/>
              </a:rPr>
              <a:t>7</a:t>
            </a:r>
          </a:p>
        </p:txBody>
      </p:sp>
      <p:sp>
        <p:nvSpPr>
          <p:cNvPr id="51210" name="Oval 10"/>
          <p:cNvSpPr>
            <a:spLocks noChangeArrowheads="1"/>
          </p:cNvSpPr>
          <p:nvPr/>
        </p:nvSpPr>
        <p:spPr bwMode="auto">
          <a:xfrm>
            <a:off x="1868488" y="2400300"/>
            <a:ext cx="679450" cy="681038"/>
          </a:xfrm>
          <a:prstGeom prst="ellipse">
            <a:avLst/>
          </a:prstGeom>
          <a:solidFill>
            <a:schemeClr val="bg1"/>
          </a:solidFill>
          <a:ln w="12700">
            <a:solidFill>
              <a:srgbClr val="FFFFFF"/>
            </a:solidFill>
            <a:round/>
            <a:headEnd/>
            <a:tailEnd/>
          </a:ln>
          <a:effectLst>
            <a:outerShdw dist="17961" dir="2700000" algn="ctr" rotWithShape="0">
              <a:srgbClr val="000000"/>
            </a:outerShdw>
          </a:effectLst>
        </p:spPr>
        <p:txBody>
          <a:bodyPr wrap="none" lIns="119062" tIns="60325" rIns="119062" bIns="60325" anchor="ct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sz="2000" i="0">
                <a:solidFill>
                  <a:srgbClr val="FFFFFF"/>
                </a:solidFill>
                <a:effectLst>
                  <a:outerShdw blurRad="38100" dist="38100" dir="2700000" algn="tl">
                    <a:srgbClr val="000000"/>
                  </a:outerShdw>
                </a:effectLst>
                <a:latin typeface="Arial" panose="020B0604020202020204" pitchFamily="34" charset="0"/>
              </a:rPr>
              <a:t>1</a:t>
            </a:r>
          </a:p>
        </p:txBody>
      </p:sp>
      <p:sp>
        <p:nvSpPr>
          <p:cNvPr id="51211" name="Line 11"/>
          <p:cNvSpPr>
            <a:spLocks noChangeShapeType="1"/>
          </p:cNvSpPr>
          <p:nvPr/>
        </p:nvSpPr>
        <p:spPr bwMode="auto">
          <a:xfrm flipV="1">
            <a:off x="2560638" y="2090738"/>
            <a:ext cx="1870075" cy="706437"/>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1212" name="Line 12"/>
          <p:cNvSpPr>
            <a:spLocks noChangeShapeType="1"/>
          </p:cNvSpPr>
          <p:nvPr/>
        </p:nvSpPr>
        <p:spPr bwMode="auto">
          <a:xfrm>
            <a:off x="2560638" y="2797175"/>
            <a:ext cx="1882775" cy="925513"/>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1213" name="Line 13"/>
          <p:cNvSpPr>
            <a:spLocks noChangeShapeType="1"/>
          </p:cNvSpPr>
          <p:nvPr/>
        </p:nvSpPr>
        <p:spPr bwMode="auto">
          <a:xfrm>
            <a:off x="2560638" y="2797175"/>
            <a:ext cx="1889125" cy="2255838"/>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1214" name="Line 14"/>
          <p:cNvSpPr>
            <a:spLocks noChangeShapeType="1"/>
          </p:cNvSpPr>
          <p:nvPr/>
        </p:nvSpPr>
        <p:spPr bwMode="auto">
          <a:xfrm flipV="1">
            <a:off x="2462213" y="2090738"/>
            <a:ext cx="1968500" cy="2589212"/>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1215" name="Line 15"/>
          <p:cNvSpPr>
            <a:spLocks noChangeShapeType="1"/>
          </p:cNvSpPr>
          <p:nvPr/>
        </p:nvSpPr>
        <p:spPr bwMode="auto">
          <a:xfrm flipV="1">
            <a:off x="2462213" y="3724275"/>
            <a:ext cx="2000250" cy="955675"/>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1216" name="Line 16"/>
          <p:cNvSpPr>
            <a:spLocks noChangeShapeType="1"/>
          </p:cNvSpPr>
          <p:nvPr/>
        </p:nvSpPr>
        <p:spPr bwMode="auto">
          <a:xfrm>
            <a:off x="2462213" y="4679950"/>
            <a:ext cx="1987550" cy="379413"/>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1217" name="Line 17"/>
          <p:cNvSpPr>
            <a:spLocks noChangeShapeType="1"/>
          </p:cNvSpPr>
          <p:nvPr/>
        </p:nvSpPr>
        <p:spPr bwMode="auto">
          <a:xfrm>
            <a:off x="5137150" y="2103438"/>
            <a:ext cx="1671638" cy="582612"/>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1218" name="Line 18"/>
          <p:cNvSpPr>
            <a:spLocks noChangeShapeType="1"/>
          </p:cNvSpPr>
          <p:nvPr/>
        </p:nvSpPr>
        <p:spPr bwMode="auto">
          <a:xfrm>
            <a:off x="5137150" y="2103438"/>
            <a:ext cx="1770063" cy="2265362"/>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1219" name="Line 19"/>
          <p:cNvSpPr>
            <a:spLocks noChangeShapeType="1"/>
          </p:cNvSpPr>
          <p:nvPr/>
        </p:nvSpPr>
        <p:spPr bwMode="auto">
          <a:xfrm>
            <a:off x="5118100" y="3638550"/>
            <a:ext cx="1789113" cy="730250"/>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1220" name="Line 20"/>
          <p:cNvSpPr>
            <a:spLocks noChangeShapeType="1"/>
          </p:cNvSpPr>
          <p:nvPr/>
        </p:nvSpPr>
        <p:spPr bwMode="auto">
          <a:xfrm flipV="1">
            <a:off x="5124450" y="2686050"/>
            <a:ext cx="1684338" cy="947738"/>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1221" name="Line 21"/>
          <p:cNvSpPr>
            <a:spLocks noChangeShapeType="1"/>
          </p:cNvSpPr>
          <p:nvPr/>
        </p:nvSpPr>
        <p:spPr bwMode="auto">
          <a:xfrm flipV="1">
            <a:off x="5137150" y="2682875"/>
            <a:ext cx="1690688" cy="2392363"/>
          </a:xfrm>
          <a:prstGeom prst="line">
            <a:avLst/>
          </a:prstGeom>
          <a:noFill/>
          <a:ln w="1270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22" name="Line 22"/>
          <p:cNvSpPr>
            <a:spLocks noChangeShapeType="1"/>
          </p:cNvSpPr>
          <p:nvPr/>
        </p:nvSpPr>
        <p:spPr bwMode="auto">
          <a:xfrm flipV="1">
            <a:off x="5137150" y="4368800"/>
            <a:ext cx="1770063" cy="706438"/>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1223" name="Rectangle 23"/>
          <p:cNvSpPr>
            <a:spLocks noChangeArrowheads="1"/>
          </p:cNvSpPr>
          <p:nvPr/>
        </p:nvSpPr>
        <p:spPr bwMode="auto">
          <a:xfrm>
            <a:off x="2535238" y="2205038"/>
            <a:ext cx="549275"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13</a:t>
            </a:r>
          </a:p>
        </p:txBody>
      </p:sp>
      <p:sp>
        <p:nvSpPr>
          <p:cNvPr id="51224" name="Rectangle 24"/>
          <p:cNvSpPr>
            <a:spLocks noChangeArrowheads="1"/>
          </p:cNvSpPr>
          <p:nvPr/>
        </p:nvSpPr>
        <p:spPr bwMode="auto">
          <a:xfrm>
            <a:off x="2832100" y="2600325"/>
            <a:ext cx="550863"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14</a:t>
            </a:r>
          </a:p>
        </p:txBody>
      </p:sp>
      <p:sp>
        <p:nvSpPr>
          <p:cNvPr id="51225" name="Rectangle 25"/>
          <p:cNvSpPr>
            <a:spLocks noChangeArrowheads="1"/>
          </p:cNvSpPr>
          <p:nvPr/>
        </p:nvSpPr>
        <p:spPr bwMode="auto">
          <a:xfrm>
            <a:off x="2239963" y="3911600"/>
            <a:ext cx="547687"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23</a:t>
            </a:r>
          </a:p>
        </p:txBody>
      </p:sp>
      <p:sp>
        <p:nvSpPr>
          <p:cNvPr id="51226" name="Rectangle 26"/>
          <p:cNvSpPr>
            <a:spLocks noChangeArrowheads="1"/>
          </p:cNvSpPr>
          <p:nvPr/>
        </p:nvSpPr>
        <p:spPr bwMode="auto">
          <a:xfrm>
            <a:off x="2889250" y="3879850"/>
            <a:ext cx="550863"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24</a:t>
            </a:r>
          </a:p>
        </p:txBody>
      </p:sp>
      <p:sp>
        <p:nvSpPr>
          <p:cNvPr id="51227" name="Rectangle 27"/>
          <p:cNvSpPr>
            <a:spLocks noChangeArrowheads="1"/>
          </p:cNvSpPr>
          <p:nvPr/>
        </p:nvSpPr>
        <p:spPr bwMode="auto">
          <a:xfrm>
            <a:off x="2436813" y="4681538"/>
            <a:ext cx="547687"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25</a:t>
            </a:r>
          </a:p>
        </p:txBody>
      </p:sp>
      <p:sp>
        <p:nvSpPr>
          <p:cNvPr id="51228" name="Rectangle 28"/>
          <p:cNvSpPr>
            <a:spLocks noChangeArrowheads="1"/>
          </p:cNvSpPr>
          <p:nvPr/>
        </p:nvSpPr>
        <p:spPr bwMode="auto">
          <a:xfrm>
            <a:off x="2336800" y="2997200"/>
            <a:ext cx="550863"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15</a:t>
            </a:r>
          </a:p>
        </p:txBody>
      </p:sp>
      <p:sp>
        <p:nvSpPr>
          <p:cNvPr id="51229" name="Rectangle 29"/>
          <p:cNvSpPr>
            <a:spLocks noChangeArrowheads="1"/>
          </p:cNvSpPr>
          <p:nvPr/>
        </p:nvSpPr>
        <p:spPr bwMode="auto">
          <a:xfrm>
            <a:off x="1346200" y="2501900"/>
            <a:ext cx="457200"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s</a:t>
            </a:r>
            <a:r>
              <a:rPr lang="en-US" sz="2000" i="0" baseline="-25000">
                <a:solidFill>
                  <a:srgbClr val="FFFFFF"/>
                </a:solidFill>
                <a:effectLst>
                  <a:outerShdw blurRad="38100" dist="38100" dir="2700000" algn="tl">
                    <a:srgbClr val="000000"/>
                  </a:outerShdw>
                </a:effectLst>
                <a:latin typeface="Arial" panose="020B0604020202020204" pitchFamily="34" charset="0"/>
              </a:rPr>
              <a:t>1</a:t>
            </a:r>
          </a:p>
        </p:txBody>
      </p:sp>
      <p:sp>
        <p:nvSpPr>
          <p:cNvPr id="51230" name="Rectangle 30"/>
          <p:cNvSpPr>
            <a:spLocks noChangeArrowheads="1"/>
          </p:cNvSpPr>
          <p:nvPr/>
        </p:nvSpPr>
        <p:spPr bwMode="auto">
          <a:xfrm>
            <a:off x="5211763" y="1808163"/>
            <a:ext cx="547687"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36</a:t>
            </a:r>
          </a:p>
        </p:txBody>
      </p:sp>
      <p:sp>
        <p:nvSpPr>
          <p:cNvPr id="51231" name="Rectangle 31"/>
          <p:cNvSpPr>
            <a:spLocks noChangeArrowheads="1"/>
          </p:cNvSpPr>
          <p:nvPr/>
        </p:nvSpPr>
        <p:spPr bwMode="auto">
          <a:xfrm>
            <a:off x="4913313" y="2303463"/>
            <a:ext cx="549275"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37</a:t>
            </a:r>
          </a:p>
        </p:txBody>
      </p:sp>
      <p:sp>
        <p:nvSpPr>
          <p:cNvPr id="51232" name="Rectangle 32"/>
          <p:cNvSpPr>
            <a:spLocks noChangeArrowheads="1"/>
          </p:cNvSpPr>
          <p:nvPr/>
        </p:nvSpPr>
        <p:spPr bwMode="auto">
          <a:xfrm>
            <a:off x="5011738" y="3019425"/>
            <a:ext cx="549275"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46</a:t>
            </a:r>
          </a:p>
        </p:txBody>
      </p:sp>
      <p:sp>
        <p:nvSpPr>
          <p:cNvPr id="51233" name="Rectangle 33"/>
          <p:cNvSpPr>
            <a:spLocks noChangeArrowheads="1"/>
          </p:cNvSpPr>
          <p:nvPr/>
        </p:nvSpPr>
        <p:spPr bwMode="auto">
          <a:xfrm>
            <a:off x="5308600" y="3390900"/>
            <a:ext cx="550863"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47</a:t>
            </a:r>
          </a:p>
        </p:txBody>
      </p:sp>
      <p:sp>
        <p:nvSpPr>
          <p:cNvPr id="51234" name="Rectangle 34"/>
          <p:cNvSpPr>
            <a:spLocks noChangeArrowheads="1"/>
          </p:cNvSpPr>
          <p:nvPr/>
        </p:nvSpPr>
        <p:spPr bwMode="auto">
          <a:xfrm>
            <a:off x="4881563" y="4338638"/>
            <a:ext cx="549275"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56</a:t>
            </a:r>
          </a:p>
        </p:txBody>
      </p:sp>
      <p:sp>
        <p:nvSpPr>
          <p:cNvPr id="51235" name="Rectangle 35"/>
          <p:cNvSpPr>
            <a:spLocks noChangeArrowheads="1"/>
          </p:cNvSpPr>
          <p:nvPr/>
        </p:nvSpPr>
        <p:spPr bwMode="auto">
          <a:xfrm>
            <a:off x="5211763" y="4879975"/>
            <a:ext cx="547687"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c</a:t>
            </a:r>
            <a:r>
              <a:rPr lang="en-US" sz="2000" i="0" baseline="-25000">
                <a:solidFill>
                  <a:srgbClr val="FFFFFF"/>
                </a:solidFill>
                <a:effectLst>
                  <a:outerShdw blurRad="38100" dist="38100" dir="2700000" algn="tl">
                    <a:srgbClr val="000000"/>
                  </a:outerShdw>
                </a:effectLst>
                <a:latin typeface="Arial" panose="020B0604020202020204" pitchFamily="34" charset="0"/>
              </a:rPr>
              <a:t>57</a:t>
            </a:r>
          </a:p>
        </p:txBody>
      </p:sp>
      <p:sp>
        <p:nvSpPr>
          <p:cNvPr id="51236" name="Rectangle 36"/>
          <p:cNvSpPr>
            <a:spLocks noChangeArrowheads="1"/>
          </p:cNvSpPr>
          <p:nvPr/>
        </p:nvSpPr>
        <p:spPr bwMode="auto">
          <a:xfrm>
            <a:off x="7586663" y="2501900"/>
            <a:ext cx="471487"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d</a:t>
            </a:r>
            <a:r>
              <a:rPr lang="en-US" sz="2000" i="0" baseline="-25000">
                <a:solidFill>
                  <a:srgbClr val="FFFFFF"/>
                </a:solidFill>
                <a:effectLst>
                  <a:outerShdw blurRad="38100" dist="38100" dir="2700000" algn="tl">
                    <a:srgbClr val="000000"/>
                  </a:outerShdw>
                </a:effectLst>
                <a:latin typeface="Arial" panose="020B0604020202020204" pitchFamily="34" charset="0"/>
              </a:rPr>
              <a:t>1</a:t>
            </a:r>
          </a:p>
        </p:txBody>
      </p:sp>
      <p:sp>
        <p:nvSpPr>
          <p:cNvPr id="51237" name="Rectangle 37"/>
          <p:cNvSpPr>
            <a:spLocks noChangeArrowheads="1"/>
          </p:cNvSpPr>
          <p:nvPr/>
        </p:nvSpPr>
        <p:spPr bwMode="auto">
          <a:xfrm>
            <a:off x="7586663" y="4384675"/>
            <a:ext cx="471487"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d</a:t>
            </a:r>
            <a:r>
              <a:rPr lang="en-US" sz="2000" i="0" baseline="-25000">
                <a:solidFill>
                  <a:srgbClr val="FFFFFF"/>
                </a:solidFill>
                <a:effectLst>
                  <a:outerShdw blurRad="38100" dist="38100" dir="2700000" algn="tl">
                    <a:srgbClr val="000000"/>
                  </a:outerShdw>
                </a:effectLst>
                <a:latin typeface="Arial" panose="020B0604020202020204" pitchFamily="34" charset="0"/>
              </a:rPr>
              <a:t>2</a:t>
            </a:r>
          </a:p>
        </p:txBody>
      </p:sp>
      <p:sp>
        <p:nvSpPr>
          <p:cNvPr id="51238" name="Rectangle 38"/>
          <p:cNvSpPr>
            <a:spLocks noChangeArrowheads="1"/>
          </p:cNvSpPr>
          <p:nvPr/>
        </p:nvSpPr>
        <p:spPr bwMode="auto">
          <a:xfrm>
            <a:off x="3738563" y="5549900"/>
            <a:ext cx="2133600"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INTERMEDIATE</a:t>
            </a:r>
          </a:p>
          <a:p>
            <a:r>
              <a:rPr lang="en-US" sz="2000" i="0">
                <a:solidFill>
                  <a:srgbClr val="FFFFFF"/>
                </a:solidFill>
                <a:effectLst>
                  <a:outerShdw blurRad="38100" dist="38100" dir="2700000" algn="tl">
                    <a:srgbClr val="000000"/>
                  </a:outerShdw>
                </a:effectLst>
                <a:latin typeface="Arial" panose="020B0604020202020204" pitchFamily="34" charset="0"/>
              </a:rPr>
              <a:t>       NODES</a:t>
            </a:r>
          </a:p>
        </p:txBody>
      </p:sp>
      <p:sp>
        <p:nvSpPr>
          <p:cNvPr id="51239" name="Rectangle 39"/>
          <p:cNvSpPr>
            <a:spLocks noChangeArrowheads="1"/>
          </p:cNvSpPr>
          <p:nvPr/>
        </p:nvSpPr>
        <p:spPr bwMode="auto">
          <a:xfrm>
            <a:off x="1392238" y="5549900"/>
            <a:ext cx="1497012"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SOURCES</a:t>
            </a:r>
          </a:p>
        </p:txBody>
      </p:sp>
      <p:sp>
        <p:nvSpPr>
          <p:cNvPr id="51240" name="Rectangle 40"/>
          <p:cNvSpPr>
            <a:spLocks noChangeArrowheads="1"/>
          </p:cNvSpPr>
          <p:nvPr/>
        </p:nvSpPr>
        <p:spPr bwMode="auto">
          <a:xfrm>
            <a:off x="6186488" y="5549900"/>
            <a:ext cx="2117725"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DESTINATIONS</a:t>
            </a:r>
          </a:p>
        </p:txBody>
      </p:sp>
      <p:sp>
        <p:nvSpPr>
          <p:cNvPr id="51241" name="Rectangle 41"/>
          <p:cNvSpPr>
            <a:spLocks noChangeArrowheads="1"/>
          </p:cNvSpPr>
          <p:nvPr/>
        </p:nvSpPr>
        <p:spPr bwMode="auto">
          <a:xfrm>
            <a:off x="1270000" y="4483100"/>
            <a:ext cx="457200" cy="42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062" tIns="60325" rIns="119062" bIns="60325">
            <a:spAutoFit/>
          </a:bodyPr>
          <a:lstStyle>
            <a:lvl1pPr defTabSz="1546225">
              <a:defRPr sz="2400">
                <a:solidFill>
                  <a:schemeClr val="tx1"/>
                </a:solidFill>
                <a:latin typeface="Times New Roman" panose="02020603050405020304" pitchFamily="18" charset="0"/>
              </a:defRPr>
            </a:lvl1pPr>
            <a:lvl2pPr marL="593725" defTabSz="1546225">
              <a:defRPr sz="2400">
                <a:solidFill>
                  <a:schemeClr val="tx1"/>
                </a:solidFill>
                <a:latin typeface="Times New Roman" panose="02020603050405020304" pitchFamily="18" charset="0"/>
              </a:defRPr>
            </a:lvl2pPr>
            <a:lvl3pPr marL="1189038" defTabSz="1546225">
              <a:defRPr sz="2400">
                <a:solidFill>
                  <a:schemeClr val="tx1"/>
                </a:solidFill>
                <a:latin typeface="Times New Roman" panose="02020603050405020304" pitchFamily="18" charset="0"/>
              </a:defRPr>
            </a:lvl3pPr>
            <a:lvl4pPr marL="1782763" defTabSz="1546225">
              <a:defRPr sz="2400">
                <a:solidFill>
                  <a:schemeClr val="tx1"/>
                </a:solidFill>
                <a:latin typeface="Times New Roman" panose="02020603050405020304" pitchFamily="18" charset="0"/>
              </a:defRPr>
            </a:lvl4pPr>
            <a:lvl5pPr marL="2378075" defTabSz="1546225">
              <a:defRPr sz="2400">
                <a:solidFill>
                  <a:schemeClr val="tx1"/>
                </a:solidFill>
                <a:latin typeface="Times New Roman" panose="02020603050405020304" pitchFamily="18" charset="0"/>
              </a:defRPr>
            </a:lvl5pPr>
            <a:lvl6pPr marL="2835275" defTabSz="1546225" eaLnBrk="0" fontAlgn="base" hangingPunct="0">
              <a:spcBef>
                <a:spcPct val="0"/>
              </a:spcBef>
              <a:spcAft>
                <a:spcPct val="0"/>
              </a:spcAft>
              <a:defRPr sz="2400">
                <a:solidFill>
                  <a:schemeClr val="tx1"/>
                </a:solidFill>
                <a:latin typeface="Times New Roman" panose="02020603050405020304" pitchFamily="18" charset="0"/>
              </a:defRPr>
            </a:lvl6pPr>
            <a:lvl7pPr marL="3292475" defTabSz="1546225" eaLnBrk="0" fontAlgn="base" hangingPunct="0">
              <a:spcBef>
                <a:spcPct val="0"/>
              </a:spcBef>
              <a:spcAft>
                <a:spcPct val="0"/>
              </a:spcAft>
              <a:defRPr sz="2400">
                <a:solidFill>
                  <a:schemeClr val="tx1"/>
                </a:solidFill>
                <a:latin typeface="Times New Roman" panose="02020603050405020304" pitchFamily="18" charset="0"/>
              </a:defRPr>
            </a:lvl7pPr>
            <a:lvl8pPr marL="3749675" defTabSz="1546225" eaLnBrk="0" fontAlgn="base" hangingPunct="0">
              <a:spcBef>
                <a:spcPct val="0"/>
              </a:spcBef>
              <a:spcAft>
                <a:spcPct val="0"/>
              </a:spcAft>
              <a:defRPr sz="2400">
                <a:solidFill>
                  <a:schemeClr val="tx1"/>
                </a:solidFill>
                <a:latin typeface="Times New Roman" panose="02020603050405020304" pitchFamily="18" charset="0"/>
              </a:defRPr>
            </a:lvl8pPr>
            <a:lvl9pPr marL="4206875" defTabSz="1546225"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a:solidFill>
                  <a:srgbClr val="FFFFFF"/>
                </a:solidFill>
                <a:effectLst>
                  <a:outerShdw blurRad="38100" dist="38100" dir="2700000" algn="tl">
                    <a:srgbClr val="000000"/>
                  </a:outerShdw>
                </a:effectLst>
                <a:latin typeface="Arial" panose="020B0604020202020204" pitchFamily="34" charset="0"/>
              </a:rPr>
              <a:t>s</a:t>
            </a:r>
            <a:r>
              <a:rPr lang="en-US" sz="2000" i="0" baseline="-25000">
                <a:solidFill>
                  <a:srgbClr val="FFFFFF"/>
                </a:solidFill>
                <a:effectLst>
                  <a:outerShdw blurRad="38100" dist="38100" dir="2700000" algn="tl">
                    <a:srgbClr val="000000"/>
                  </a:outerShdw>
                </a:effectLst>
                <a:latin typeface="Arial" panose="020B0604020202020204" pitchFamily="34" charset="0"/>
              </a:rPr>
              <a:t>2</a:t>
            </a:r>
          </a:p>
        </p:txBody>
      </p:sp>
      <p:sp>
        <p:nvSpPr>
          <p:cNvPr id="51242" name="Text Box 42"/>
          <p:cNvSpPr txBox="1">
            <a:spLocks noChangeArrowheads="1"/>
          </p:cNvSpPr>
          <p:nvPr/>
        </p:nvSpPr>
        <p:spPr bwMode="auto">
          <a:xfrm>
            <a:off x="3857625" y="6318250"/>
            <a:ext cx="2801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a:t>“Transshipment points”</a:t>
            </a: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8829360" y="1410840"/>
              <a:ext cx="360" cy="360"/>
            </p14:xfrm>
          </p:contentPart>
        </mc:Choice>
        <mc:Fallback xmlns="">
          <p:pic>
            <p:nvPicPr>
              <p:cNvPr id="2" name="Ink 1"/>
              <p:cNvPicPr/>
              <p:nvPr/>
            </p:nvPicPr>
            <p:blipFill>
              <a:blip r:embed="rId4"/>
              <a:stretch>
                <a:fillRect/>
              </a:stretch>
            </p:blipFill>
            <p:spPr>
              <a:xfrm>
                <a:off x="8640" y="61920"/>
                <a:ext cx="8830440" cy="6484320"/>
              </a:xfrm>
              <a:prstGeom prst="rect">
                <a:avLst/>
              </a:prstGeom>
            </p:spPr>
          </p:pic>
        </mc:Fallback>
      </mc:AlternateContent>
    </p:spTree>
  </p:cSld>
  <p:clrMapOvr>
    <a:masterClrMapping/>
  </p:clrMapOvr>
  <p:transition>
    <p:zo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noFill/>
          <a:ln/>
        </p:spPr>
        <p:txBody>
          <a:bodyPr/>
          <a:lstStyle/>
          <a:p>
            <a:r>
              <a:rPr lang="en-US"/>
              <a:t>Transshipment Problem</a:t>
            </a:r>
          </a:p>
        </p:txBody>
      </p:sp>
      <p:sp>
        <p:nvSpPr>
          <p:cNvPr id="52227" name="Rectangle 3"/>
          <p:cNvSpPr>
            <a:spLocks noGrp="1" noChangeArrowheads="1"/>
          </p:cNvSpPr>
          <p:nvPr>
            <p:ph type="body" idx="1"/>
          </p:nvPr>
        </p:nvSpPr>
        <p:spPr>
          <a:noFill/>
          <a:ln/>
        </p:spPr>
        <p:txBody>
          <a:bodyPr/>
          <a:lstStyle/>
          <a:p>
            <a:r>
              <a:rPr lang="en-US">
                <a:solidFill>
                  <a:schemeClr val="tx2"/>
                </a:solidFill>
              </a:rPr>
              <a:t>Linear Programming Formulation</a:t>
            </a:r>
          </a:p>
          <a:p>
            <a:pPr>
              <a:buFont typeface="Monotype Sorts" pitchFamily="2" charset="2"/>
              <a:buNone/>
            </a:pPr>
            <a:r>
              <a:rPr lang="en-US"/>
              <a:t> 	</a:t>
            </a:r>
            <a:r>
              <a:rPr lang="en-US" i="1"/>
              <a:t>x</a:t>
            </a:r>
            <a:r>
              <a:rPr lang="en-US" baseline="-25000"/>
              <a:t>ij</a:t>
            </a:r>
            <a:r>
              <a:rPr lang="en-US"/>
              <a:t> represents the shipment from node </a:t>
            </a:r>
            <a:r>
              <a:rPr lang="en-US" i="1"/>
              <a:t>i</a:t>
            </a:r>
            <a:r>
              <a:rPr lang="en-US"/>
              <a:t> to node </a:t>
            </a:r>
            <a:r>
              <a:rPr lang="en-US" i="1"/>
              <a:t>j</a:t>
            </a:r>
            <a:endParaRPr lang="en-US"/>
          </a:p>
          <a:p>
            <a:pPr>
              <a:buFont typeface="Monotype Sorts" pitchFamily="2" charset="2"/>
              <a:buNone/>
            </a:pPr>
            <a:endParaRPr lang="en-US" sz="1200"/>
          </a:p>
          <a:p>
            <a:pPr>
              <a:lnSpc>
                <a:spcPct val="65000"/>
              </a:lnSpc>
              <a:buFont typeface="Monotype Sorts" pitchFamily="2" charset="2"/>
              <a:buNone/>
            </a:pPr>
            <a:r>
              <a:rPr lang="en-US"/>
              <a:t>              Min  </a:t>
            </a:r>
            <a:r>
              <a:rPr lang="en-US">
                <a:latin typeface="Symbol" panose="05050102010706020507" pitchFamily="18" charset="2"/>
              </a:rPr>
              <a:t></a:t>
            </a:r>
            <a:r>
              <a:rPr lang="en-US" i="1"/>
              <a:t>c</a:t>
            </a:r>
            <a:r>
              <a:rPr lang="en-US" i="1" baseline="-25000"/>
              <a:t>ij</a:t>
            </a:r>
            <a:r>
              <a:rPr lang="en-US" i="1"/>
              <a:t>x</a:t>
            </a:r>
            <a:r>
              <a:rPr lang="en-US" i="1" baseline="-25000"/>
              <a:t>ij</a:t>
            </a:r>
            <a:endParaRPr lang="en-US"/>
          </a:p>
          <a:p>
            <a:pPr>
              <a:lnSpc>
                <a:spcPct val="65000"/>
              </a:lnSpc>
              <a:buFont typeface="Monotype Sorts" pitchFamily="2" charset="2"/>
              <a:buNone/>
            </a:pPr>
            <a:r>
              <a:rPr lang="en-US"/>
              <a:t>                        </a:t>
            </a:r>
            <a:r>
              <a:rPr lang="en-US" i="1"/>
              <a:t>i j</a:t>
            </a:r>
          </a:p>
          <a:p>
            <a:pPr>
              <a:lnSpc>
                <a:spcPct val="65000"/>
              </a:lnSpc>
              <a:buFont typeface="Monotype Sorts" pitchFamily="2" charset="2"/>
              <a:buNone/>
            </a:pPr>
            <a:endParaRPr lang="en-US"/>
          </a:p>
          <a:p>
            <a:pPr>
              <a:lnSpc>
                <a:spcPct val="65000"/>
              </a:lnSpc>
              <a:buFont typeface="Monotype Sorts" pitchFamily="2" charset="2"/>
              <a:buNone/>
            </a:pPr>
            <a:r>
              <a:rPr lang="en-US"/>
              <a:t>               s.t.    </a:t>
            </a:r>
            <a:r>
              <a:rPr lang="en-US">
                <a:latin typeface="Symbol" panose="05050102010706020507" pitchFamily="18" charset="2"/>
              </a:rPr>
              <a:t></a:t>
            </a:r>
            <a:r>
              <a:rPr lang="en-US" i="1"/>
              <a:t>x</a:t>
            </a:r>
            <a:r>
              <a:rPr lang="en-US" i="1" baseline="-25000"/>
              <a:t>ij</a:t>
            </a:r>
            <a:r>
              <a:rPr lang="en-US"/>
              <a:t> </a:t>
            </a:r>
            <a:r>
              <a:rPr lang="en-US" u="sng"/>
              <a:t>&lt;</a:t>
            </a:r>
            <a:r>
              <a:rPr lang="en-US"/>
              <a:t> </a:t>
            </a:r>
            <a:r>
              <a:rPr lang="en-US" i="1"/>
              <a:t>s</a:t>
            </a:r>
            <a:r>
              <a:rPr lang="en-US" i="1" baseline="-25000"/>
              <a:t>i</a:t>
            </a:r>
            <a:r>
              <a:rPr lang="en-US"/>
              <a:t>               for each source </a:t>
            </a:r>
            <a:r>
              <a:rPr lang="en-US" i="1"/>
              <a:t>i</a:t>
            </a:r>
            <a:endParaRPr lang="en-US"/>
          </a:p>
          <a:p>
            <a:pPr>
              <a:lnSpc>
                <a:spcPct val="65000"/>
              </a:lnSpc>
              <a:buFont typeface="Monotype Sorts" pitchFamily="2" charset="2"/>
              <a:buNone/>
            </a:pPr>
            <a:r>
              <a:rPr lang="en-US"/>
              <a:t>                        </a:t>
            </a:r>
            <a:r>
              <a:rPr lang="en-US" i="1"/>
              <a:t>j </a:t>
            </a:r>
          </a:p>
          <a:p>
            <a:pPr>
              <a:lnSpc>
                <a:spcPct val="65000"/>
              </a:lnSpc>
              <a:buFont typeface="Monotype Sorts" pitchFamily="2" charset="2"/>
              <a:buNone/>
            </a:pPr>
            <a:endParaRPr lang="en-US"/>
          </a:p>
          <a:p>
            <a:pPr>
              <a:lnSpc>
                <a:spcPct val="65000"/>
              </a:lnSpc>
              <a:buFont typeface="Monotype Sorts" pitchFamily="2" charset="2"/>
              <a:buNone/>
            </a:pPr>
            <a:r>
              <a:rPr lang="en-US"/>
              <a:t>                        </a:t>
            </a:r>
            <a:r>
              <a:rPr lang="en-US">
                <a:latin typeface="Symbol" panose="05050102010706020507" pitchFamily="18" charset="2"/>
              </a:rPr>
              <a:t></a:t>
            </a:r>
            <a:r>
              <a:rPr lang="en-US" i="1"/>
              <a:t>x</a:t>
            </a:r>
            <a:r>
              <a:rPr lang="en-US" i="1" baseline="-25000"/>
              <a:t>ik</a:t>
            </a:r>
            <a:r>
              <a:rPr lang="en-US"/>
              <a:t> -  </a:t>
            </a:r>
            <a:r>
              <a:rPr lang="en-US">
                <a:latin typeface="Symbol" panose="05050102010706020507" pitchFamily="18" charset="2"/>
              </a:rPr>
              <a:t></a:t>
            </a:r>
            <a:r>
              <a:rPr lang="en-US" i="1"/>
              <a:t>x</a:t>
            </a:r>
            <a:r>
              <a:rPr lang="en-US" i="1" baseline="-25000"/>
              <a:t>kj</a:t>
            </a:r>
            <a:r>
              <a:rPr lang="en-US" i="1"/>
              <a:t> </a:t>
            </a:r>
            <a:r>
              <a:rPr lang="en-US"/>
              <a:t>= 0    for each intermediate</a:t>
            </a:r>
          </a:p>
          <a:p>
            <a:pPr>
              <a:lnSpc>
                <a:spcPct val="65000"/>
              </a:lnSpc>
              <a:buFont typeface="Monotype Sorts" pitchFamily="2" charset="2"/>
              <a:buNone/>
            </a:pPr>
            <a:r>
              <a:rPr lang="en-US"/>
              <a:t>                        </a:t>
            </a:r>
            <a:r>
              <a:rPr lang="en-US" i="1"/>
              <a:t>i</a:t>
            </a:r>
            <a:r>
              <a:rPr lang="en-US"/>
              <a:t>          </a:t>
            </a:r>
            <a:r>
              <a:rPr lang="en-US" i="1"/>
              <a:t>j</a:t>
            </a:r>
            <a:r>
              <a:rPr lang="en-US"/>
              <a:t>               node </a:t>
            </a:r>
            <a:r>
              <a:rPr lang="en-US" i="1"/>
              <a:t>k</a:t>
            </a:r>
          </a:p>
          <a:p>
            <a:pPr>
              <a:lnSpc>
                <a:spcPct val="65000"/>
              </a:lnSpc>
              <a:buFont typeface="Monotype Sorts" pitchFamily="2" charset="2"/>
              <a:buNone/>
            </a:pPr>
            <a:endParaRPr lang="en-US"/>
          </a:p>
          <a:p>
            <a:pPr>
              <a:lnSpc>
                <a:spcPct val="65000"/>
              </a:lnSpc>
              <a:buFont typeface="Monotype Sorts" pitchFamily="2" charset="2"/>
              <a:buNone/>
            </a:pPr>
            <a:r>
              <a:rPr lang="en-US"/>
              <a:t>                        </a:t>
            </a:r>
            <a:r>
              <a:rPr lang="en-US">
                <a:latin typeface="Symbol" panose="05050102010706020507" pitchFamily="18" charset="2"/>
              </a:rPr>
              <a:t></a:t>
            </a:r>
            <a:r>
              <a:rPr lang="en-US" i="1"/>
              <a:t>x</a:t>
            </a:r>
            <a:r>
              <a:rPr lang="en-US" i="1" baseline="-25000"/>
              <a:t>ij</a:t>
            </a:r>
            <a:r>
              <a:rPr lang="en-US"/>
              <a:t> = </a:t>
            </a:r>
            <a:r>
              <a:rPr lang="en-US" i="1"/>
              <a:t>d</a:t>
            </a:r>
            <a:r>
              <a:rPr lang="en-US" i="1" baseline="-25000"/>
              <a:t>j</a:t>
            </a:r>
            <a:r>
              <a:rPr lang="en-US" baseline="-25000"/>
              <a:t>                 </a:t>
            </a:r>
            <a:r>
              <a:rPr lang="en-US"/>
              <a:t>   for each destination </a:t>
            </a:r>
            <a:r>
              <a:rPr lang="en-US" i="1"/>
              <a:t>j</a:t>
            </a:r>
            <a:endParaRPr lang="en-US"/>
          </a:p>
          <a:p>
            <a:pPr>
              <a:lnSpc>
                <a:spcPct val="65000"/>
              </a:lnSpc>
              <a:buFont typeface="Monotype Sorts" pitchFamily="2" charset="2"/>
              <a:buNone/>
            </a:pPr>
            <a:r>
              <a:rPr lang="en-US"/>
              <a:t>                        </a:t>
            </a:r>
            <a:r>
              <a:rPr lang="en-US" i="1"/>
              <a:t>i</a:t>
            </a:r>
            <a:endParaRPr lang="en-US"/>
          </a:p>
          <a:p>
            <a:pPr>
              <a:buFont typeface="Monotype Sorts" pitchFamily="2" charset="2"/>
              <a:buNone/>
            </a:pPr>
            <a:r>
              <a:rPr lang="en-US"/>
              <a:t>                           </a:t>
            </a:r>
            <a:r>
              <a:rPr lang="en-US" i="1"/>
              <a:t>x</a:t>
            </a:r>
            <a:r>
              <a:rPr lang="en-US" baseline="-25000"/>
              <a:t>ij</a:t>
            </a:r>
            <a:r>
              <a:rPr lang="en-US"/>
              <a:t> </a:t>
            </a:r>
            <a:r>
              <a:rPr lang="en-US" u="sng"/>
              <a:t>&gt;</a:t>
            </a:r>
            <a:r>
              <a:rPr lang="en-US"/>
              <a:t> 0               for all </a:t>
            </a:r>
            <a:r>
              <a:rPr lang="en-US" i="1"/>
              <a:t>i</a:t>
            </a:r>
            <a:r>
              <a:rPr lang="en-US"/>
              <a:t> and </a:t>
            </a:r>
            <a:r>
              <a:rPr lang="en-US" i="1"/>
              <a:t>j</a:t>
            </a:r>
          </a:p>
        </p:txBody>
      </p:sp>
    </p:spTree>
  </p:cSld>
  <p:clrMapOvr>
    <a:masterClrMapping/>
  </p:clrMapOvr>
  <p:transition>
    <p:zo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noFill/>
          <a:ln/>
        </p:spPr>
        <p:txBody>
          <a:bodyPr/>
          <a:lstStyle/>
          <a:p>
            <a:r>
              <a:rPr lang="en-US"/>
              <a:t>Example:  Transshipping</a:t>
            </a:r>
          </a:p>
        </p:txBody>
      </p:sp>
      <p:sp>
        <p:nvSpPr>
          <p:cNvPr id="53251" name="Rectangle 3"/>
          <p:cNvSpPr>
            <a:spLocks noGrp="1" noChangeArrowheads="1"/>
          </p:cNvSpPr>
          <p:nvPr>
            <p:ph type="body" idx="1"/>
          </p:nvPr>
        </p:nvSpPr>
        <p:spPr>
          <a:noFill/>
          <a:ln/>
        </p:spPr>
        <p:txBody>
          <a:bodyPr/>
          <a:lstStyle/>
          <a:p>
            <a:pPr>
              <a:buFont typeface="Monotype Sorts" pitchFamily="2" charset="2"/>
              <a:buNone/>
            </a:pPr>
            <a:r>
              <a:rPr lang="en-US"/>
              <a:t>		Thomas Industries and Washburn Corporation supply three firms (Zrox, Hewes, Rockwright) with customized shelving for its offices.  They both order shelving from the same two manufacturers, Arnold Manufacturers and Supershelf, Inc.  </a:t>
            </a:r>
          </a:p>
          <a:p>
            <a:pPr>
              <a:buFont typeface="Monotype Sorts" pitchFamily="2" charset="2"/>
              <a:buNone/>
            </a:pPr>
            <a:r>
              <a:rPr lang="en-US"/>
              <a:t>		Currently weekly demands by the users are 50 for Zrox, 60 for Hewes, and 40 for Rockwright.  Both Arnold and Supershelf can supply at most 75 units to its customers. </a:t>
            </a:r>
          </a:p>
          <a:p>
            <a:pPr>
              <a:buFont typeface="Monotype Sorts" pitchFamily="2" charset="2"/>
              <a:buNone/>
            </a:pPr>
            <a:r>
              <a:rPr lang="en-US"/>
              <a:t>		Additional data is shown on the next slide. </a:t>
            </a:r>
          </a:p>
        </p:txBody>
      </p:sp>
    </p:spTree>
  </p:cSld>
  <p:clrMapOvr>
    <a:masterClrMapping/>
  </p:clrMapOvr>
  <p:transition>
    <p:zo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noFill/>
          <a:ln/>
        </p:spPr>
        <p:txBody>
          <a:bodyPr/>
          <a:lstStyle/>
          <a:p>
            <a:r>
              <a:rPr lang="en-US"/>
              <a:t>Example:  Transshipping</a:t>
            </a:r>
          </a:p>
        </p:txBody>
      </p:sp>
      <p:sp>
        <p:nvSpPr>
          <p:cNvPr id="54275" name="Rectangle 3"/>
          <p:cNvSpPr>
            <a:spLocks noGrp="1" noChangeArrowheads="1"/>
          </p:cNvSpPr>
          <p:nvPr>
            <p:ph type="body" idx="1"/>
          </p:nvPr>
        </p:nvSpPr>
        <p:spPr>
          <a:noFill/>
          <a:ln/>
        </p:spPr>
        <p:txBody>
          <a:bodyPr/>
          <a:lstStyle/>
          <a:p>
            <a:pPr>
              <a:buFont typeface="Monotype Sorts" pitchFamily="2" charset="2"/>
              <a:buNone/>
            </a:pPr>
            <a:r>
              <a:rPr lang="en-US"/>
              <a:t>		Because of long standing contracts based on past orders, unit costs from the manufacturers to the suppliers are:</a:t>
            </a:r>
          </a:p>
          <a:p>
            <a:pPr>
              <a:buFont typeface="Monotype Sorts" pitchFamily="2" charset="2"/>
              <a:buNone/>
            </a:pPr>
            <a:r>
              <a:rPr lang="en-US"/>
              <a:t>                                       </a:t>
            </a:r>
            <a:r>
              <a:rPr lang="en-US" u="sng"/>
              <a:t>Thomas</a:t>
            </a:r>
            <a:r>
              <a:rPr lang="en-US"/>
              <a:t>    </a:t>
            </a:r>
            <a:r>
              <a:rPr lang="en-US" u="sng"/>
              <a:t>Washburn</a:t>
            </a:r>
            <a:endParaRPr lang="en-US"/>
          </a:p>
          <a:p>
            <a:pPr>
              <a:buFont typeface="Monotype Sorts" pitchFamily="2" charset="2"/>
              <a:buNone/>
            </a:pPr>
            <a:r>
              <a:rPr lang="en-US"/>
              <a:t>                        Arnold         5                 8</a:t>
            </a:r>
          </a:p>
          <a:p>
            <a:pPr>
              <a:buFont typeface="Monotype Sorts" pitchFamily="2" charset="2"/>
              <a:buNone/>
            </a:pPr>
            <a:r>
              <a:rPr lang="en-US"/>
              <a:t>                  Supershelf         7                 4</a:t>
            </a:r>
          </a:p>
          <a:p>
            <a:pPr>
              <a:buFont typeface="Monotype Sorts" pitchFamily="2" charset="2"/>
              <a:buNone/>
            </a:pPr>
            <a:endParaRPr lang="en-US" sz="1000"/>
          </a:p>
          <a:p>
            <a:pPr>
              <a:buFont typeface="Monotype Sorts" pitchFamily="2" charset="2"/>
              <a:buNone/>
            </a:pPr>
            <a:r>
              <a:rPr lang="en-US"/>
              <a:t>		The cost to install the shelving at the various locations are:</a:t>
            </a:r>
          </a:p>
          <a:p>
            <a:pPr>
              <a:buFont typeface="Monotype Sorts" pitchFamily="2" charset="2"/>
              <a:buNone/>
            </a:pPr>
            <a:r>
              <a:rPr lang="en-US"/>
              <a:t>                                 </a:t>
            </a:r>
            <a:r>
              <a:rPr lang="en-US" u="sng"/>
              <a:t>Zrox</a:t>
            </a:r>
            <a:r>
              <a:rPr lang="en-US"/>
              <a:t>    </a:t>
            </a:r>
            <a:r>
              <a:rPr lang="en-US" u="sng"/>
              <a:t>Hewes</a:t>
            </a:r>
            <a:r>
              <a:rPr lang="en-US"/>
              <a:t>    </a:t>
            </a:r>
            <a:r>
              <a:rPr lang="en-US" u="sng"/>
              <a:t>Rockwright</a:t>
            </a:r>
            <a:endParaRPr lang="en-US"/>
          </a:p>
          <a:p>
            <a:pPr>
              <a:buFont typeface="Monotype Sorts" pitchFamily="2" charset="2"/>
              <a:buNone/>
            </a:pPr>
            <a:r>
              <a:rPr lang="en-US"/>
              <a:t>		    Thomas       1           5                  8</a:t>
            </a:r>
          </a:p>
          <a:p>
            <a:pPr>
              <a:buFont typeface="Monotype Sorts" pitchFamily="2" charset="2"/>
              <a:buNone/>
            </a:pPr>
            <a:r>
              <a:rPr lang="en-US"/>
              <a:t>            Washburn       3           4                  4</a:t>
            </a:r>
          </a:p>
        </p:txBody>
      </p:sp>
    </p:spTree>
  </p:cSld>
  <p:clrMapOvr>
    <a:masterClrMapping/>
  </p:clrMapOvr>
  <p:transition>
    <p:zo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noFill/>
          <a:ln/>
        </p:spPr>
        <p:txBody>
          <a:bodyPr/>
          <a:lstStyle/>
          <a:p>
            <a:r>
              <a:rPr lang="en-US"/>
              <a:t>Example:  Transshipping</a:t>
            </a:r>
          </a:p>
        </p:txBody>
      </p:sp>
      <p:sp>
        <p:nvSpPr>
          <p:cNvPr id="55299" name="Rectangle 3"/>
          <p:cNvSpPr>
            <a:spLocks noGrp="1" noChangeArrowheads="1"/>
          </p:cNvSpPr>
          <p:nvPr>
            <p:ph type="body" idx="1"/>
          </p:nvPr>
        </p:nvSpPr>
        <p:spPr>
          <a:noFill/>
          <a:ln/>
        </p:spPr>
        <p:txBody>
          <a:bodyPr/>
          <a:lstStyle/>
          <a:p>
            <a:r>
              <a:rPr lang="en-US">
                <a:solidFill>
                  <a:schemeClr val="tx2"/>
                </a:solidFill>
              </a:rPr>
              <a:t>Network Representation</a:t>
            </a:r>
          </a:p>
        </p:txBody>
      </p:sp>
      <p:sp>
        <p:nvSpPr>
          <p:cNvPr id="55300" name="Rectangle 4"/>
          <p:cNvSpPr>
            <a:spLocks noChangeArrowheads="1"/>
          </p:cNvSpPr>
          <p:nvPr/>
        </p:nvSpPr>
        <p:spPr bwMode="auto">
          <a:xfrm>
            <a:off x="1649413" y="2663825"/>
            <a:ext cx="846137" cy="28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6362" tIns="52388" rIns="106362" bIns="52388">
            <a:spAutoFit/>
          </a:bodyPr>
          <a:lstStyle>
            <a:lvl1pPr defTabSz="1208088">
              <a:defRPr sz="2400">
                <a:solidFill>
                  <a:schemeClr val="tx1"/>
                </a:solidFill>
                <a:latin typeface="Times New Roman" panose="02020603050405020304" pitchFamily="18" charset="0"/>
              </a:defRPr>
            </a:lvl1pPr>
            <a:lvl2pPr marL="525463" defTabSz="1208088">
              <a:defRPr sz="2400">
                <a:solidFill>
                  <a:schemeClr val="tx1"/>
                </a:solidFill>
                <a:latin typeface="Times New Roman" panose="02020603050405020304" pitchFamily="18" charset="0"/>
              </a:defRPr>
            </a:lvl2pPr>
            <a:lvl3pPr marL="1050925" defTabSz="1208088">
              <a:defRPr sz="2400">
                <a:solidFill>
                  <a:schemeClr val="tx1"/>
                </a:solidFill>
                <a:latin typeface="Times New Roman" panose="02020603050405020304" pitchFamily="18" charset="0"/>
              </a:defRPr>
            </a:lvl3pPr>
            <a:lvl4pPr marL="1577975" defTabSz="1208088">
              <a:defRPr sz="2400">
                <a:solidFill>
                  <a:schemeClr val="tx1"/>
                </a:solidFill>
                <a:latin typeface="Times New Roman" panose="02020603050405020304" pitchFamily="18" charset="0"/>
              </a:defRPr>
            </a:lvl4pPr>
            <a:lvl5pPr marL="2103438" defTabSz="1208088">
              <a:defRPr sz="2400">
                <a:solidFill>
                  <a:schemeClr val="tx1"/>
                </a:solidFill>
                <a:latin typeface="Times New Roman" panose="02020603050405020304" pitchFamily="18" charset="0"/>
              </a:defRPr>
            </a:lvl5pPr>
            <a:lvl6pPr marL="2560638" defTabSz="1208088" eaLnBrk="0" fontAlgn="base" hangingPunct="0">
              <a:spcBef>
                <a:spcPct val="0"/>
              </a:spcBef>
              <a:spcAft>
                <a:spcPct val="0"/>
              </a:spcAft>
              <a:defRPr sz="2400">
                <a:solidFill>
                  <a:schemeClr val="tx1"/>
                </a:solidFill>
                <a:latin typeface="Times New Roman" panose="02020603050405020304" pitchFamily="18" charset="0"/>
              </a:defRPr>
            </a:lvl6pPr>
            <a:lvl7pPr marL="3017838" defTabSz="1208088" eaLnBrk="0" fontAlgn="base" hangingPunct="0">
              <a:spcBef>
                <a:spcPct val="0"/>
              </a:spcBef>
              <a:spcAft>
                <a:spcPct val="0"/>
              </a:spcAft>
              <a:defRPr sz="2400">
                <a:solidFill>
                  <a:schemeClr val="tx1"/>
                </a:solidFill>
                <a:latin typeface="Times New Roman" panose="02020603050405020304" pitchFamily="18" charset="0"/>
              </a:defRPr>
            </a:lvl7pPr>
            <a:lvl8pPr marL="3475038" defTabSz="1208088" eaLnBrk="0" fontAlgn="base" hangingPunct="0">
              <a:spcBef>
                <a:spcPct val="0"/>
              </a:spcBef>
              <a:spcAft>
                <a:spcPct val="0"/>
              </a:spcAft>
              <a:defRPr sz="2400">
                <a:solidFill>
                  <a:schemeClr val="tx1"/>
                </a:solidFill>
                <a:latin typeface="Times New Roman" panose="02020603050405020304" pitchFamily="18" charset="0"/>
              </a:defRPr>
            </a:lvl8pPr>
            <a:lvl9pPr marL="3932238" defTabSz="12080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200" i="0">
                <a:solidFill>
                  <a:schemeClr val="bg2"/>
                </a:solidFill>
                <a:latin typeface="Arial" panose="020B0604020202020204" pitchFamily="34" charset="0"/>
              </a:rPr>
              <a:t>ARNOLD</a:t>
            </a:r>
          </a:p>
        </p:txBody>
      </p:sp>
      <p:sp>
        <p:nvSpPr>
          <p:cNvPr id="55301" name="Rectangle 5"/>
          <p:cNvSpPr>
            <a:spLocks noChangeArrowheads="1"/>
          </p:cNvSpPr>
          <p:nvPr/>
        </p:nvSpPr>
        <p:spPr bwMode="auto">
          <a:xfrm>
            <a:off x="4278313" y="4767263"/>
            <a:ext cx="669925"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6362" tIns="52388" rIns="106362" bIns="52388">
            <a:spAutoFit/>
          </a:bodyPr>
          <a:lstStyle>
            <a:lvl1pPr defTabSz="1208088">
              <a:defRPr sz="2400">
                <a:solidFill>
                  <a:schemeClr val="tx1"/>
                </a:solidFill>
                <a:latin typeface="Times New Roman" panose="02020603050405020304" pitchFamily="18" charset="0"/>
              </a:defRPr>
            </a:lvl1pPr>
            <a:lvl2pPr marL="525463" defTabSz="1208088">
              <a:defRPr sz="2400">
                <a:solidFill>
                  <a:schemeClr val="tx1"/>
                </a:solidFill>
                <a:latin typeface="Times New Roman" panose="02020603050405020304" pitchFamily="18" charset="0"/>
              </a:defRPr>
            </a:lvl2pPr>
            <a:lvl3pPr marL="1050925" defTabSz="1208088">
              <a:defRPr sz="2400">
                <a:solidFill>
                  <a:schemeClr val="tx1"/>
                </a:solidFill>
                <a:latin typeface="Times New Roman" panose="02020603050405020304" pitchFamily="18" charset="0"/>
              </a:defRPr>
            </a:lvl3pPr>
            <a:lvl4pPr marL="1577975" defTabSz="1208088">
              <a:defRPr sz="2400">
                <a:solidFill>
                  <a:schemeClr val="tx1"/>
                </a:solidFill>
                <a:latin typeface="Times New Roman" panose="02020603050405020304" pitchFamily="18" charset="0"/>
              </a:defRPr>
            </a:lvl4pPr>
            <a:lvl5pPr marL="2103438" defTabSz="1208088">
              <a:defRPr sz="2400">
                <a:solidFill>
                  <a:schemeClr val="tx1"/>
                </a:solidFill>
                <a:latin typeface="Times New Roman" panose="02020603050405020304" pitchFamily="18" charset="0"/>
              </a:defRPr>
            </a:lvl5pPr>
            <a:lvl6pPr marL="2560638" defTabSz="1208088" eaLnBrk="0" fontAlgn="base" hangingPunct="0">
              <a:spcBef>
                <a:spcPct val="0"/>
              </a:spcBef>
              <a:spcAft>
                <a:spcPct val="0"/>
              </a:spcAft>
              <a:defRPr sz="2400">
                <a:solidFill>
                  <a:schemeClr val="tx1"/>
                </a:solidFill>
                <a:latin typeface="Times New Roman" panose="02020603050405020304" pitchFamily="18" charset="0"/>
              </a:defRPr>
            </a:lvl6pPr>
            <a:lvl7pPr marL="3017838" defTabSz="1208088" eaLnBrk="0" fontAlgn="base" hangingPunct="0">
              <a:spcBef>
                <a:spcPct val="0"/>
              </a:spcBef>
              <a:spcAft>
                <a:spcPct val="0"/>
              </a:spcAft>
              <a:defRPr sz="2400">
                <a:solidFill>
                  <a:schemeClr val="tx1"/>
                </a:solidFill>
                <a:latin typeface="Times New Roman" panose="02020603050405020304" pitchFamily="18" charset="0"/>
              </a:defRPr>
            </a:lvl7pPr>
            <a:lvl8pPr marL="3475038" defTabSz="1208088" eaLnBrk="0" fontAlgn="base" hangingPunct="0">
              <a:spcBef>
                <a:spcPct val="0"/>
              </a:spcBef>
              <a:spcAft>
                <a:spcPct val="0"/>
              </a:spcAft>
              <a:defRPr sz="2400">
                <a:solidFill>
                  <a:schemeClr val="tx1"/>
                </a:solidFill>
                <a:latin typeface="Times New Roman" panose="02020603050405020304" pitchFamily="18" charset="0"/>
              </a:defRPr>
            </a:lvl8pPr>
            <a:lvl9pPr marL="3932238" defTabSz="12080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200" i="0">
                <a:solidFill>
                  <a:schemeClr val="bg2"/>
                </a:solidFill>
                <a:latin typeface="Arial" panose="020B0604020202020204" pitchFamily="34" charset="0"/>
              </a:rPr>
              <a:t>WASH</a:t>
            </a:r>
            <a:endParaRPr lang="en-US" sz="1200" i="0">
              <a:latin typeface="Arial" panose="020B0604020202020204" pitchFamily="34" charset="0"/>
            </a:endParaRPr>
          </a:p>
          <a:p>
            <a:r>
              <a:rPr lang="en-US" sz="1200" i="0">
                <a:solidFill>
                  <a:schemeClr val="bg2"/>
                </a:solidFill>
                <a:latin typeface="Arial" panose="020B0604020202020204" pitchFamily="34" charset="0"/>
              </a:rPr>
              <a:t>BURN</a:t>
            </a:r>
          </a:p>
        </p:txBody>
      </p:sp>
      <p:sp>
        <p:nvSpPr>
          <p:cNvPr id="55302" name="Rectangle 6"/>
          <p:cNvSpPr>
            <a:spLocks noChangeArrowheads="1"/>
          </p:cNvSpPr>
          <p:nvPr/>
        </p:nvSpPr>
        <p:spPr bwMode="auto">
          <a:xfrm>
            <a:off x="6907213" y="1612900"/>
            <a:ext cx="636587" cy="28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6362" tIns="52388" rIns="106362" bIns="52388">
            <a:spAutoFit/>
          </a:bodyPr>
          <a:lstStyle>
            <a:lvl1pPr defTabSz="1208088">
              <a:defRPr sz="2400">
                <a:solidFill>
                  <a:schemeClr val="tx1"/>
                </a:solidFill>
                <a:latin typeface="Times New Roman" panose="02020603050405020304" pitchFamily="18" charset="0"/>
              </a:defRPr>
            </a:lvl1pPr>
            <a:lvl2pPr marL="525463" defTabSz="1208088">
              <a:defRPr sz="2400">
                <a:solidFill>
                  <a:schemeClr val="tx1"/>
                </a:solidFill>
                <a:latin typeface="Times New Roman" panose="02020603050405020304" pitchFamily="18" charset="0"/>
              </a:defRPr>
            </a:lvl2pPr>
            <a:lvl3pPr marL="1050925" defTabSz="1208088">
              <a:defRPr sz="2400">
                <a:solidFill>
                  <a:schemeClr val="tx1"/>
                </a:solidFill>
                <a:latin typeface="Times New Roman" panose="02020603050405020304" pitchFamily="18" charset="0"/>
              </a:defRPr>
            </a:lvl3pPr>
            <a:lvl4pPr marL="1577975" defTabSz="1208088">
              <a:defRPr sz="2400">
                <a:solidFill>
                  <a:schemeClr val="tx1"/>
                </a:solidFill>
                <a:latin typeface="Times New Roman" panose="02020603050405020304" pitchFamily="18" charset="0"/>
              </a:defRPr>
            </a:lvl4pPr>
            <a:lvl5pPr marL="2103438" defTabSz="1208088">
              <a:defRPr sz="2400">
                <a:solidFill>
                  <a:schemeClr val="tx1"/>
                </a:solidFill>
                <a:latin typeface="Times New Roman" panose="02020603050405020304" pitchFamily="18" charset="0"/>
              </a:defRPr>
            </a:lvl5pPr>
            <a:lvl6pPr marL="2560638" defTabSz="1208088" eaLnBrk="0" fontAlgn="base" hangingPunct="0">
              <a:spcBef>
                <a:spcPct val="0"/>
              </a:spcBef>
              <a:spcAft>
                <a:spcPct val="0"/>
              </a:spcAft>
              <a:defRPr sz="2400">
                <a:solidFill>
                  <a:schemeClr val="tx1"/>
                </a:solidFill>
                <a:latin typeface="Times New Roman" panose="02020603050405020304" pitchFamily="18" charset="0"/>
              </a:defRPr>
            </a:lvl6pPr>
            <a:lvl7pPr marL="3017838" defTabSz="1208088" eaLnBrk="0" fontAlgn="base" hangingPunct="0">
              <a:spcBef>
                <a:spcPct val="0"/>
              </a:spcBef>
              <a:spcAft>
                <a:spcPct val="0"/>
              </a:spcAft>
              <a:defRPr sz="2400">
                <a:solidFill>
                  <a:schemeClr val="tx1"/>
                </a:solidFill>
                <a:latin typeface="Times New Roman" panose="02020603050405020304" pitchFamily="18" charset="0"/>
              </a:defRPr>
            </a:lvl7pPr>
            <a:lvl8pPr marL="3475038" defTabSz="1208088" eaLnBrk="0" fontAlgn="base" hangingPunct="0">
              <a:spcBef>
                <a:spcPct val="0"/>
              </a:spcBef>
              <a:spcAft>
                <a:spcPct val="0"/>
              </a:spcAft>
              <a:defRPr sz="2400">
                <a:solidFill>
                  <a:schemeClr val="tx1"/>
                </a:solidFill>
                <a:latin typeface="Times New Roman" panose="02020603050405020304" pitchFamily="18" charset="0"/>
              </a:defRPr>
            </a:lvl8pPr>
            <a:lvl9pPr marL="3932238" defTabSz="12080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200" i="0">
                <a:solidFill>
                  <a:schemeClr val="bg2"/>
                </a:solidFill>
                <a:latin typeface="Arial" panose="020B0604020202020204" pitchFamily="34" charset="0"/>
              </a:rPr>
              <a:t>ZROX</a:t>
            </a:r>
          </a:p>
        </p:txBody>
      </p:sp>
      <p:sp>
        <p:nvSpPr>
          <p:cNvPr id="55303" name="Rectangle 7"/>
          <p:cNvSpPr>
            <a:spLocks noChangeArrowheads="1"/>
          </p:cNvSpPr>
          <p:nvPr/>
        </p:nvSpPr>
        <p:spPr bwMode="auto">
          <a:xfrm>
            <a:off x="6819900" y="3714750"/>
            <a:ext cx="773113" cy="28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6362" tIns="52388" rIns="106362" bIns="52388">
            <a:spAutoFit/>
          </a:bodyPr>
          <a:lstStyle>
            <a:lvl1pPr defTabSz="1208088">
              <a:defRPr sz="2400">
                <a:solidFill>
                  <a:schemeClr val="tx1"/>
                </a:solidFill>
                <a:latin typeface="Times New Roman" panose="02020603050405020304" pitchFamily="18" charset="0"/>
              </a:defRPr>
            </a:lvl1pPr>
            <a:lvl2pPr marL="525463" defTabSz="1208088">
              <a:defRPr sz="2400">
                <a:solidFill>
                  <a:schemeClr val="tx1"/>
                </a:solidFill>
                <a:latin typeface="Times New Roman" panose="02020603050405020304" pitchFamily="18" charset="0"/>
              </a:defRPr>
            </a:lvl2pPr>
            <a:lvl3pPr marL="1050925" defTabSz="1208088">
              <a:defRPr sz="2400">
                <a:solidFill>
                  <a:schemeClr val="tx1"/>
                </a:solidFill>
                <a:latin typeface="Times New Roman" panose="02020603050405020304" pitchFamily="18" charset="0"/>
              </a:defRPr>
            </a:lvl3pPr>
            <a:lvl4pPr marL="1577975" defTabSz="1208088">
              <a:defRPr sz="2400">
                <a:solidFill>
                  <a:schemeClr val="tx1"/>
                </a:solidFill>
                <a:latin typeface="Times New Roman" panose="02020603050405020304" pitchFamily="18" charset="0"/>
              </a:defRPr>
            </a:lvl4pPr>
            <a:lvl5pPr marL="2103438" defTabSz="1208088">
              <a:defRPr sz="2400">
                <a:solidFill>
                  <a:schemeClr val="tx1"/>
                </a:solidFill>
                <a:latin typeface="Times New Roman" panose="02020603050405020304" pitchFamily="18" charset="0"/>
              </a:defRPr>
            </a:lvl5pPr>
            <a:lvl6pPr marL="2560638" defTabSz="1208088" eaLnBrk="0" fontAlgn="base" hangingPunct="0">
              <a:spcBef>
                <a:spcPct val="0"/>
              </a:spcBef>
              <a:spcAft>
                <a:spcPct val="0"/>
              </a:spcAft>
              <a:defRPr sz="2400">
                <a:solidFill>
                  <a:schemeClr val="tx1"/>
                </a:solidFill>
                <a:latin typeface="Times New Roman" panose="02020603050405020304" pitchFamily="18" charset="0"/>
              </a:defRPr>
            </a:lvl6pPr>
            <a:lvl7pPr marL="3017838" defTabSz="1208088" eaLnBrk="0" fontAlgn="base" hangingPunct="0">
              <a:spcBef>
                <a:spcPct val="0"/>
              </a:spcBef>
              <a:spcAft>
                <a:spcPct val="0"/>
              </a:spcAft>
              <a:defRPr sz="2400">
                <a:solidFill>
                  <a:schemeClr val="tx1"/>
                </a:solidFill>
                <a:latin typeface="Times New Roman" panose="02020603050405020304" pitchFamily="18" charset="0"/>
              </a:defRPr>
            </a:lvl7pPr>
            <a:lvl8pPr marL="3475038" defTabSz="1208088" eaLnBrk="0" fontAlgn="base" hangingPunct="0">
              <a:spcBef>
                <a:spcPct val="0"/>
              </a:spcBef>
              <a:spcAft>
                <a:spcPct val="0"/>
              </a:spcAft>
              <a:defRPr sz="2400">
                <a:solidFill>
                  <a:schemeClr val="tx1"/>
                </a:solidFill>
                <a:latin typeface="Times New Roman" panose="02020603050405020304" pitchFamily="18" charset="0"/>
              </a:defRPr>
            </a:lvl8pPr>
            <a:lvl9pPr marL="3932238" defTabSz="12080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200" i="0">
                <a:solidFill>
                  <a:schemeClr val="bg2"/>
                </a:solidFill>
                <a:latin typeface="Arial" panose="020B0604020202020204" pitchFamily="34" charset="0"/>
              </a:rPr>
              <a:t>HEWES</a:t>
            </a:r>
          </a:p>
        </p:txBody>
      </p:sp>
      <p:sp>
        <p:nvSpPr>
          <p:cNvPr id="55305" name="Line 9"/>
          <p:cNvSpPr>
            <a:spLocks noChangeShapeType="1"/>
          </p:cNvSpPr>
          <p:nvPr/>
        </p:nvSpPr>
        <p:spPr bwMode="auto">
          <a:xfrm flipV="1">
            <a:off x="2474913" y="2871788"/>
            <a:ext cx="1836737" cy="6350"/>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5306" name="Line 10"/>
          <p:cNvSpPr>
            <a:spLocks noChangeShapeType="1"/>
          </p:cNvSpPr>
          <p:nvPr/>
        </p:nvSpPr>
        <p:spPr bwMode="auto">
          <a:xfrm>
            <a:off x="2468563" y="4937125"/>
            <a:ext cx="1836737" cy="0"/>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5307" name="Line 11"/>
          <p:cNvSpPr>
            <a:spLocks noChangeShapeType="1"/>
          </p:cNvSpPr>
          <p:nvPr/>
        </p:nvSpPr>
        <p:spPr bwMode="auto">
          <a:xfrm>
            <a:off x="2468563" y="2884488"/>
            <a:ext cx="1836737" cy="2071687"/>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5308" name="Line 12"/>
          <p:cNvSpPr>
            <a:spLocks noChangeShapeType="1"/>
          </p:cNvSpPr>
          <p:nvPr/>
        </p:nvSpPr>
        <p:spPr bwMode="auto">
          <a:xfrm flipV="1">
            <a:off x="2481263" y="2884488"/>
            <a:ext cx="1817687" cy="2039937"/>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5309" name="Line 13"/>
          <p:cNvSpPr>
            <a:spLocks noChangeShapeType="1"/>
          </p:cNvSpPr>
          <p:nvPr/>
        </p:nvSpPr>
        <p:spPr bwMode="auto">
          <a:xfrm flipV="1">
            <a:off x="5054600" y="1970088"/>
            <a:ext cx="1865313" cy="895350"/>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5310" name="Line 14"/>
          <p:cNvSpPr>
            <a:spLocks noChangeShapeType="1"/>
          </p:cNvSpPr>
          <p:nvPr/>
        </p:nvSpPr>
        <p:spPr bwMode="auto">
          <a:xfrm>
            <a:off x="5060950" y="2865438"/>
            <a:ext cx="1835150" cy="963612"/>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5311" name="Line 15"/>
          <p:cNvSpPr>
            <a:spLocks noChangeShapeType="1"/>
          </p:cNvSpPr>
          <p:nvPr/>
        </p:nvSpPr>
        <p:spPr bwMode="auto">
          <a:xfrm>
            <a:off x="5067300" y="2871788"/>
            <a:ext cx="1827213" cy="2678112"/>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5312" name="Line 16"/>
          <p:cNvSpPr>
            <a:spLocks noChangeShapeType="1"/>
          </p:cNvSpPr>
          <p:nvPr/>
        </p:nvSpPr>
        <p:spPr bwMode="auto">
          <a:xfrm flipV="1">
            <a:off x="5060950" y="1989138"/>
            <a:ext cx="1846263" cy="2935287"/>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5313" name="Line 17"/>
          <p:cNvSpPr>
            <a:spLocks noChangeShapeType="1"/>
          </p:cNvSpPr>
          <p:nvPr/>
        </p:nvSpPr>
        <p:spPr bwMode="auto">
          <a:xfrm flipV="1">
            <a:off x="5067300" y="3816350"/>
            <a:ext cx="1828800" cy="1108075"/>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5314" name="Line 18"/>
          <p:cNvSpPr>
            <a:spLocks noChangeShapeType="1"/>
          </p:cNvSpPr>
          <p:nvPr/>
        </p:nvSpPr>
        <p:spPr bwMode="auto">
          <a:xfrm>
            <a:off x="5060950" y="4924425"/>
            <a:ext cx="1858963" cy="638175"/>
          </a:xfrm>
          <a:prstGeom prst="line">
            <a:avLst/>
          </a:prstGeom>
          <a:noFill/>
          <a:ln w="12700">
            <a:solidFill>
              <a:srgbClr val="FFFFFF"/>
            </a:solidFill>
            <a:round/>
            <a:headEnd/>
            <a:tailE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55315" name="Rectangle 19"/>
          <p:cNvSpPr>
            <a:spLocks noChangeArrowheads="1"/>
          </p:cNvSpPr>
          <p:nvPr/>
        </p:nvSpPr>
        <p:spPr bwMode="auto">
          <a:xfrm>
            <a:off x="1211263" y="2659063"/>
            <a:ext cx="495300"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6362" tIns="52388" rIns="106362" bIns="52388">
            <a:spAutoFit/>
          </a:bodyPr>
          <a:lstStyle>
            <a:lvl1pPr defTabSz="1208088">
              <a:defRPr sz="2400">
                <a:solidFill>
                  <a:schemeClr val="tx1"/>
                </a:solidFill>
                <a:latin typeface="Times New Roman" panose="02020603050405020304" pitchFamily="18" charset="0"/>
              </a:defRPr>
            </a:lvl1pPr>
            <a:lvl2pPr marL="525463" defTabSz="1208088">
              <a:defRPr sz="2400">
                <a:solidFill>
                  <a:schemeClr val="tx1"/>
                </a:solidFill>
                <a:latin typeface="Times New Roman" panose="02020603050405020304" pitchFamily="18" charset="0"/>
              </a:defRPr>
            </a:lvl2pPr>
            <a:lvl3pPr marL="1050925" defTabSz="1208088">
              <a:defRPr sz="2400">
                <a:solidFill>
                  <a:schemeClr val="tx1"/>
                </a:solidFill>
                <a:latin typeface="Times New Roman" panose="02020603050405020304" pitchFamily="18" charset="0"/>
              </a:defRPr>
            </a:lvl3pPr>
            <a:lvl4pPr marL="1577975" defTabSz="1208088">
              <a:defRPr sz="2400">
                <a:solidFill>
                  <a:schemeClr val="tx1"/>
                </a:solidFill>
                <a:latin typeface="Times New Roman" panose="02020603050405020304" pitchFamily="18" charset="0"/>
              </a:defRPr>
            </a:lvl4pPr>
            <a:lvl5pPr marL="2103438" defTabSz="1208088">
              <a:defRPr sz="2400">
                <a:solidFill>
                  <a:schemeClr val="tx1"/>
                </a:solidFill>
                <a:latin typeface="Times New Roman" panose="02020603050405020304" pitchFamily="18" charset="0"/>
              </a:defRPr>
            </a:lvl5pPr>
            <a:lvl6pPr marL="2560638" defTabSz="1208088" eaLnBrk="0" fontAlgn="base" hangingPunct="0">
              <a:spcBef>
                <a:spcPct val="0"/>
              </a:spcBef>
              <a:spcAft>
                <a:spcPct val="0"/>
              </a:spcAft>
              <a:defRPr sz="2400">
                <a:solidFill>
                  <a:schemeClr val="tx1"/>
                </a:solidFill>
                <a:latin typeface="Times New Roman" panose="02020603050405020304" pitchFamily="18" charset="0"/>
              </a:defRPr>
            </a:lvl6pPr>
            <a:lvl7pPr marL="3017838" defTabSz="1208088" eaLnBrk="0" fontAlgn="base" hangingPunct="0">
              <a:spcBef>
                <a:spcPct val="0"/>
              </a:spcBef>
              <a:spcAft>
                <a:spcPct val="0"/>
              </a:spcAft>
              <a:defRPr sz="2400">
                <a:solidFill>
                  <a:schemeClr val="tx1"/>
                </a:solidFill>
                <a:latin typeface="Times New Roman" panose="02020603050405020304" pitchFamily="18" charset="0"/>
              </a:defRPr>
            </a:lvl7pPr>
            <a:lvl8pPr marL="3475038" defTabSz="1208088" eaLnBrk="0" fontAlgn="base" hangingPunct="0">
              <a:spcBef>
                <a:spcPct val="0"/>
              </a:spcBef>
              <a:spcAft>
                <a:spcPct val="0"/>
              </a:spcAft>
              <a:defRPr sz="2400">
                <a:solidFill>
                  <a:schemeClr val="tx1"/>
                </a:solidFill>
                <a:latin typeface="Times New Roman" panose="02020603050405020304" pitchFamily="18" charset="0"/>
              </a:defRPr>
            </a:lvl8pPr>
            <a:lvl9pPr marL="3932238" defTabSz="12080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75</a:t>
            </a:r>
          </a:p>
        </p:txBody>
      </p:sp>
      <p:sp>
        <p:nvSpPr>
          <p:cNvPr id="55316" name="Rectangle 20"/>
          <p:cNvSpPr>
            <a:spLocks noChangeArrowheads="1"/>
          </p:cNvSpPr>
          <p:nvPr/>
        </p:nvSpPr>
        <p:spPr bwMode="auto">
          <a:xfrm>
            <a:off x="1211263" y="4762500"/>
            <a:ext cx="495300"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6362" tIns="52388" rIns="106362" bIns="52388">
            <a:spAutoFit/>
          </a:bodyPr>
          <a:lstStyle>
            <a:lvl1pPr defTabSz="1208088">
              <a:defRPr sz="2400">
                <a:solidFill>
                  <a:schemeClr val="tx1"/>
                </a:solidFill>
                <a:latin typeface="Times New Roman" panose="02020603050405020304" pitchFamily="18" charset="0"/>
              </a:defRPr>
            </a:lvl1pPr>
            <a:lvl2pPr marL="525463" defTabSz="1208088">
              <a:defRPr sz="2400">
                <a:solidFill>
                  <a:schemeClr val="tx1"/>
                </a:solidFill>
                <a:latin typeface="Times New Roman" panose="02020603050405020304" pitchFamily="18" charset="0"/>
              </a:defRPr>
            </a:lvl2pPr>
            <a:lvl3pPr marL="1050925" defTabSz="1208088">
              <a:defRPr sz="2400">
                <a:solidFill>
                  <a:schemeClr val="tx1"/>
                </a:solidFill>
                <a:latin typeface="Times New Roman" panose="02020603050405020304" pitchFamily="18" charset="0"/>
              </a:defRPr>
            </a:lvl3pPr>
            <a:lvl4pPr marL="1577975" defTabSz="1208088">
              <a:defRPr sz="2400">
                <a:solidFill>
                  <a:schemeClr val="tx1"/>
                </a:solidFill>
                <a:latin typeface="Times New Roman" panose="02020603050405020304" pitchFamily="18" charset="0"/>
              </a:defRPr>
            </a:lvl4pPr>
            <a:lvl5pPr marL="2103438" defTabSz="1208088">
              <a:defRPr sz="2400">
                <a:solidFill>
                  <a:schemeClr val="tx1"/>
                </a:solidFill>
                <a:latin typeface="Times New Roman" panose="02020603050405020304" pitchFamily="18" charset="0"/>
              </a:defRPr>
            </a:lvl5pPr>
            <a:lvl6pPr marL="2560638" defTabSz="1208088" eaLnBrk="0" fontAlgn="base" hangingPunct="0">
              <a:spcBef>
                <a:spcPct val="0"/>
              </a:spcBef>
              <a:spcAft>
                <a:spcPct val="0"/>
              </a:spcAft>
              <a:defRPr sz="2400">
                <a:solidFill>
                  <a:schemeClr val="tx1"/>
                </a:solidFill>
                <a:latin typeface="Times New Roman" panose="02020603050405020304" pitchFamily="18" charset="0"/>
              </a:defRPr>
            </a:lvl6pPr>
            <a:lvl7pPr marL="3017838" defTabSz="1208088" eaLnBrk="0" fontAlgn="base" hangingPunct="0">
              <a:spcBef>
                <a:spcPct val="0"/>
              </a:spcBef>
              <a:spcAft>
                <a:spcPct val="0"/>
              </a:spcAft>
              <a:defRPr sz="2400">
                <a:solidFill>
                  <a:schemeClr val="tx1"/>
                </a:solidFill>
                <a:latin typeface="Times New Roman" panose="02020603050405020304" pitchFamily="18" charset="0"/>
              </a:defRPr>
            </a:lvl7pPr>
            <a:lvl8pPr marL="3475038" defTabSz="1208088" eaLnBrk="0" fontAlgn="base" hangingPunct="0">
              <a:spcBef>
                <a:spcPct val="0"/>
              </a:spcBef>
              <a:spcAft>
                <a:spcPct val="0"/>
              </a:spcAft>
              <a:defRPr sz="2400">
                <a:solidFill>
                  <a:schemeClr val="tx1"/>
                </a:solidFill>
                <a:latin typeface="Times New Roman" panose="02020603050405020304" pitchFamily="18" charset="0"/>
              </a:defRPr>
            </a:lvl8pPr>
            <a:lvl9pPr marL="3932238" defTabSz="12080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75</a:t>
            </a:r>
          </a:p>
        </p:txBody>
      </p:sp>
      <p:sp>
        <p:nvSpPr>
          <p:cNvPr id="55317" name="Rectangle 21"/>
          <p:cNvSpPr>
            <a:spLocks noChangeArrowheads="1"/>
          </p:cNvSpPr>
          <p:nvPr/>
        </p:nvSpPr>
        <p:spPr bwMode="auto">
          <a:xfrm>
            <a:off x="7696200" y="1660525"/>
            <a:ext cx="495300"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6362" tIns="52388" rIns="106362" bIns="52388">
            <a:spAutoFit/>
          </a:bodyPr>
          <a:lstStyle>
            <a:lvl1pPr defTabSz="1208088">
              <a:defRPr sz="2400">
                <a:solidFill>
                  <a:schemeClr val="tx1"/>
                </a:solidFill>
                <a:latin typeface="Times New Roman" panose="02020603050405020304" pitchFamily="18" charset="0"/>
              </a:defRPr>
            </a:lvl1pPr>
            <a:lvl2pPr marL="525463" defTabSz="1208088">
              <a:defRPr sz="2400">
                <a:solidFill>
                  <a:schemeClr val="tx1"/>
                </a:solidFill>
                <a:latin typeface="Times New Roman" panose="02020603050405020304" pitchFamily="18" charset="0"/>
              </a:defRPr>
            </a:lvl2pPr>
            <a:lvl3pPr marL="1050925" defTabSz="1208088">
              <a:defRPr sz="2400">
                <a:solidFill>
                  <a:schemeClr val="tx1"/>
                </a:solidFill>
                <a:latin typeface="Times New Roman" panose="02020603050405020304" pitchFamily="18" charset="0"/>
              </a:defRPr>
            </a:lvl3pPr>
            <a:lvl4pPr marL="1577975" defTabSz="1208088">
              <a:defRPr sz="2400">
                <a:solidFill>
                  <a:schemeClr val="tx1"/>
                </a:solidFill>
                <a:latin typeface="Times New Roman" panose="02020603050405020304" pitchFamily="18" charset="0"/>
              </a:defRPr>
            </a:lvl4pPr>
            <a:lvl5pPr marL="2103438" defTabSz="1208088">
              <a:defRPr sz="2400">
                <a:solidFill>
                  <a:schemeClr val="tx1"/>
                </a:solidFill>
                <a:latin typeface="Times New Roman" panose="02020603050405020304" pitchFamily="18" charset="0"/>
              </a:defRPr>
            </a:lvl5pPr>
            <a:lvl6pPr marL="2560638" defTabSz="1208088" eaLnBrk="0" fontAlgn="base" hangingPunct="0">
              <a:spcBef>
                <a:spcPct val="0"/>
              </a:spcBef>
              <a:spcAft>
                <a:spcPct val="0"/>
              </a:spcAft>
              <a:defRPr sz="2400">
                <a:solidFill>
                  <a:schemeClr val="tx1"/>
                </a:solidFill>
                <a:latin typeface="Times New Roman" panose="02020603050405020304" pitchFamily="18" charset="0"/>
              </a:defRPr>
            </a:lvl6pPr>
            <a:lvl7pPr marL="3017838" defTabSz="1208088" eaLnBrk="0" fontAlgn="base" hangingPunct="0">
              <a:spcBef>
                <a:spcPct val="0"/>
              </a:spcBef>
              <a:spcAft>
                <a:spcPct val="0"/>
              </a:spcAft>
              <a:defRPr sz="2400">
                <a:solidFill>
                  <a:schemeClr val="tx1"/>
                </a:solidFill>
                <a:latin typeface="Times New Roman" panose="02020603050405020304" pitchFamily="18" charset="0"/>
              </a:defRPr>
            </a:lvl7pPr>
            <a:lvl8pPr marL="3475038" defTabSz="1208088" eaLnBrk="0" fontAlgn="base" hangingPunct="0">
              <a:spcBef>
                <a:spcPct val="0"/>
              </a:spcBef>
              <a:spcAft>
                <a:spcPct val="0"/>
              </a:spcAft>
              <a:defRPr sz="2400">
                <a:solidFill>
                  <a:schemeClr val="tx1"/>
                </a:solidFill>
                <a:latin typeface="Times New Roman" panose="02020603050405020304" pitchFamily="18" charset="0"/>
              </a:defRPr>
            </a:lvl8pPr>
            <a:lvl9pPr marL="3932238" defTabSz="12080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50</a:t>
            </a:r>
          </a:p>
        </p:txBody>
      </p:sp>
      <p:sp>
        <p:nvSpPr>
          <p:cNvPr id="55318" name="Rectangle 22"/>
          <p:cNvSpPr>
            <a:spLocks noChangeArrowheads="1"/>
          </p:cNvSpPr>
          <p:nvPr/>
        </p:nvSpPr>
        <p:spPr bwMode="auto">
          <a:xfrm>
            <a:off x="7696200" y="3622675"/>
            <a:ext cx="495300"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6362" tIns="52388" rIns="106362" bIns="52388">
            <a:spAutoFit/>
          </a:bodyPr>
          <a:lstStyle>
            <a:lvl1pPr defTabSz="1208088">
              <a:defRPr sz="2400">
                <a:solidFill>
                  <a:schemeClr val="tx1"/>
                </a:solidFill>
                <a:latin typeface="Times New Roman" panose="02020603050405020304" pitchFamily="18" charset="0"/>
              </a:defRPr>
            </a:lvl1pPr>
            <a:lvl2pPr marL="525463" defTabSz="1208088">
              <a:defRPr sz="2400">
                <a:solidFill>
                  <a:schemeClr val="tx1"/>
                </a:solidFill>
                <a:latin typeface="Times New Roman" panose="02020603050405020304" pitchFamily="18" charset="0"/>
              </a:defRPr>
            </a:lvl2pPr>
            <a:lvl3pPr marL="1050925" defTabSz="1208088">
              <a:defRPr sz="2400">
                <a:solidFill>
                  <a:schemeClr val="tx1"/>
                </a:solidFill>
                <a:latin typeface="Times New Roman" panose="02020603050405020304" pitchFamily="18" charset="0"/>
              </a:defRPr>
            </a:lvl3pPr>
            <a:lvl4pPr marL="1577975" defTabSz="1208088">
              <a:defRPr sz="2400">
                <a:solidFill>
                  <a:schemeClr val="tx1"/>
                </a:solidFill>
                <a:latin typeface="Times New Roman" panose="02020603050405020304" pitchFamily="18" charset="0"/>
              </a:defRPr>
            </a:lvl4pPr>
            <a:lvl5pPr marL="2103438" defTabSz="1208088">
              <a:defRPr sz="2400">
                <a:solidFill>
                  <a:schemeClr val="tx1"/>
                </a:solidFill>
                <a:latin typeface="Times New Roman" panose="02020603050405020304" pitchFamily="18" charset="0"/>
              </a:defRPr>
            </a:lvl5pPr>
            <a:lvl6pPr marL="2560638" defTabSz="1208088" eaLnBrk="0" fontAlgn="base" hangingPunct="0">
              <a:spcBef>
                <a:spcPct val="0"/>
              </a:spcBef>
              <a:spcAft>
                <a:spcPct val="0"/>
              </a:spcAft>
              <a:defRPr sz="2400">
                <a:solidFill>
                  <a:schemeClr val="tx1"/>
                </a:solidFill>
                <a:latin typeface="Times New Roman" panose="02020603050405020304" pitchFamily="18" charset="0"/>
              </a:defRPr>
            </a:lvl6pPr>
            <a:lvl7pPr marL="3017838" defTabSz="1208088" eaLnBrk="0" fontAlgn="base" hangingPunct="0">
              <a:spcBef>
                <a:spcPct val="0"/>
              </a:spcBef>
              <a:spcAft>
                <a:spcPct val="0"/>
              </a:spcAft>
              <a:defRPr sz="2400">
                <a:solidFill>
                  <a:schemeClr val="tx1"/>
                </a:solidFill>
                <a:latin typeface="Times New Roman" panose="02020603050405020304" pitchFamily="18" charset="0"/>
              </a:defRPr>
            </a:lvl7pPr>
            <a:lvl8pPr marL="3475038" defTabSz="1208088" eaLnBrk="0" fontAlgn="base" hangingPunct="0">
              <a:spcBef>
                <a:spcPct val="0"/>
              </a:spcBef>
              <a:spcAft>
                <a:spcPct val="0"/>
              </a:spcAft>
              <a:defRPr sz="2400">
                <a:solidFill>
                  <a:schemeClr val="tx1"/>
                </a:solidFill>
                <a:latin typeface="Times New Roman" panose="02020603050405020304" pitchFamily="18" charset="0"/>
              </a:defRPr>
            </a:lvl8pPr>
            <a:lvl9pPr marL="3932238" defTabSz="12080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60</a:t>
            </a:r>
          </a:p>
        </p:txBody>
      </p:sp>
      <p:sp>
        <p:nvSpPr>
          <p:cNvPr id="55319" name="Rectangle 23"/>
          <p:cNvSpPr>
            <a:spLocks noChangeArrowheads="1"/>
          </p:cNvSpPr>
          <p:nvPr/>
        </p:nvSpPr>
        <p:spPr bwMode="auto">
          <a:xfrm>
            <a:off x="7696200" y="5410200"/>
            <a:ext cx="495300"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6362" tIns="52388" rIns="106362" bIns="52388">
            <a:spAutoFit/>
          </a:bodyPr>
          <a:lstStyle>
            <a:lvl1pPr defTabSz="1208088">
              <a:defRPr sz="2400">
                <a:solidFill>
                  <a:schemeClr val="tx1"/>
                </a:solidFill>
                <a:latin typeface="Times New Roman" panose="02020603050405020304" pitchFamily="18" charset="0"/>
              </a:defRPr>
            </a:lvl1pPr>
            <a:lvl2pPr marL="525463" defTabSz="1208088">
              <a:defRPr sz="2400">
                <a:solidFill>
                  <a:schemeClr val="tx1"/>
                </a:solidFill>
                <a:latin typeface="Times New Roman" panose="02020603050405020304" pitchFamily="18" charset="0"/>
              </a:defRPr>
            </a:lvl2pPr>
            <a:lvl3pPr marL="1050925" defTabSz="1208088">
              <a:defRPr sz="2400">
                <a:solidFill>
                  <a:schemeClr val="tx1"/>
                </a:solidFill>
                <a:latin typeface="Times New Roman" panose="02020603050405020304" pitchFamily="18" charset="0"/>
              </a:defRPr>
            </a:lvl3pPr>
            <a:lvl4pPr marL="1577975" defTabSz="1208088">
              <a:defRPr sz="2400">
                <a:solidFill>
                  <a:schemeClr val="tx1"/>
                </a:solidFill>
                <a:latin typeface="Times New Roman" panose="02020603050405020304" pitchFamily="18" charset="0"/>
              </a:defRPr>
            </a:lvl4pPr>
            <a:lvl5pPr marL="2103438" defTabSz="1208088">
              <a:defRPr sz="2400">
                <a:solidFill>
                  <a:schemeClr val="tx1"/>
                </a:solidFill>
                <a:latin typeface="Times New Roman" panose="02020603050405020304" pitchFamily="18" charset="0"/>
              </a:defRPr>
            </a:lvl5pPr>
            <a:lvl6pPr marL="2560638" defTabSz="1208088" eaLnBrk="0" fontAlgn="base" hangingPunct="0">
              <a:spcBef>
                <a:spcPct val="0"/>
              </a:spcBef>
              <a:spcAft>
                <a:spcPct val="0"/>
              </a:spcAft>
              <a:defRPr sz="2400">
                <a:solidFill>
                  <a:schemeClr val="tx1"/>
                </a:solidFill>
                <a:latin typeface="Times New Roman" panose="02020603050405020304" pitchFamily="18" charset="0"/>
              </a:defRPr>
            </a:lvl6pPr>
            <a:lvl7pPr marL="3017838" defTabSz="1208088" eaLnBrk="0" fontAlgn="base" hangingPunct="0">
              <a:spcBef>
                <a:spcPct val="0"/>
              </a:spcBef>
              <a:spcAft>
                <a:spcPct val="0"/>
              </a:spcAft>
              <a:defRPr sz="2400">
                <a:solidFill>
                  <a:schemeClr val="tx1"/>
                </a:solidFill>
                <a:latin typeface="Times New Roman" panose="02020603050405020304" pitchFamily="18" charset="0"/>
              </a:defRPr>
            </a:lvl7pPr>
            <a:lvl8pPr marL="3475038" defTabSz="1208088" eaLnBrk="0" fontAlgn="base" hangingPunct="0">
              <a:spcBef>
                <a:spcPct val="0"/>
              </a:spcBef>
              <a:spcAft>
                <a:spcPct val="0"/>
              </a:spcAft>
              <a:defRPr sz="2400">
                <a:solidFill>
                  <a:schemeClr val="tx1"/>
                </a:solidFill>
                <a:latin typeface="Times New Roman" panose="02020603050405020304" pitchFamily="18" charset="0"/>
              </a:defRPr>
            </a:lvl8pPr>
            <a:lvl9pPr marL="3932238" defTabSz="12080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2000" i="0">
                <a:solidFill>
                  <a:srgbClr val="FFFFFF"/>
                </a:solidFill>
                <a:effectLst>
                  <a:outerShdw blurRad="38100" dist="38100" dir="2700000" algn="tl">
                    <a:srgbClr val="000000"/>
                  </a:outerShdw>
                </a:effectLst>
                <a:latin typeface="Arial" panose="020B0604020202020204" pitchFamily="34" charset="0"/>
              </a:rPr>
              <a:t>40</a:t>
            </a:r>
          </a:p>
        </p:txBody>
      </p:sp>
      <p:sp>
        <p:nvSpPr>
          <p:cNvPr id="55320" name="Rectangle 24"/>
          <p:cNvSpPr>
            <a:spLocks noChangeArrowheads="1"/>
          </p:cNvSpPr>
          <p:nvPr/>
        </p:nvSpPr>
        <p:spPr bwMode="auto">
          <a:xfrm>
            <a:off x="2525713" y="2506663"/>
            <a:ext cx="339725" cy="379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6362" tIns="52388" rIns="106362" bIns="52388">
            <a:spAutoFit/>
          </a:bodyPr>
          <a:lstStyle>
            <a:lvl1pPr defTabSz="1208088">
              <a:defRPr sz="2400">
                <a:solidFill>
                  <a:schemeClr val="tx1"/>
                </a:solidFill>
                <a:latin typeface="Times New Roman" panose="02020603050405020304" pitchFamily="18" charset="0"/>
              </a:defRPr>
            </a:lvl1pPr>
            <a:lvl2pPr marL="525463" defTabSz="1208088">
              <a:defRPr sz="2400">
                <a:solidFill>
                  <a:schemeClr val="tx1"/>
                </a:solidFill>
                <a:latin typeface="Times New Roman" panose="02020603050405020304" pitchFamily="18" charset="0"/>
              </a:defRPr>
            </a:lvl2pPr>
            <a:lvl3pPr marL="1050925" defTabSz="1208088">
              <a:defRPr sz="2400">
                <a:solidFill>
                  <a:schemeClr val="tx1"/>
                </a:solidFill>
                <a:latin typeface="Times New Roman" panose="02020603050405020304" pitchFamily="18" charset="0"/>
              </a:defRPr>
            </a:lvl3pPr>
            <a:lvl4pPr marL="1577975" defTabSz="1208088">
              <a:defRPr sz="2400">
                <a:solidFill>
                  <a:schemeClr val="tx1"/>
                </a:solidFill>
                <a:latin typeface="Times New Roman" panose="02020603050405020304" pitchFamily="18" charset="0"/>
              </a:defRPr>
            </a:lvl4pPr>
            <a:lvl5pPr marL="2103438" defTabSz="1208088">
              <a:defRPr sz="2400">
                <a:solidFill>
                  <a:schemeClr val="tx1"/>
                </a:solidFill>
                <a:latin typeface="Times New Roman" panose="02020603050405020304" pitchFamily="18" charset="0"/>
              </a:defRPr>
            </a:lvl5pPr>
            <a:lvl6pPr marL="2560638" defTabSz="1208088" eaLnBrk="0" fontAlgn="base" hangingPunct="0">
              <a:spcBef>
                <a:spcPct val="0"/>
              </a:spcBef>
              <a:spcAft>
                <a:spcPct val="0"/>
              </a:spcAft>
              <a:defRPr sz="2400">
                <a:solidFill>
                  <a:schemeClr val="tx1"/>
                </a:solidFill>
                <a:latin typeface="Times New Roman" panose="02020603050405020304" pitchFamily="18" charset="0"/>
              </a:defRPr>
            </a:lvl6pPr>
            <a:lvl7pPr marL="3017838" defTabSz="1208088" eaLnBrk="0" fontAlgn="base" hangingPunct="0">
              <a:spcBef>
                <a:spcPct val="0"/>
              </a:spcBef>
              <a:spcAft>
                <a:spcPct val="0"/>
              </a:spcAft>
              <a:defRPr sz="2400">
                <a:solidFill>
                  <a:schemeClr val="tx1"/>
                </a:solidFill>
                <a:latin typeface="Times New Roman" panose="02020603050405020304" pitchFamily="18" charset="0"/>
              </a:defRPr>
            </a:lvl7pPr>
            <a:lvl8pPr marL="3475038" defTabSz="1208088" eaLnBrk="0" fontAlgn="base" hangingPunct="0">
              <a:spcBef>
                <a:spcPct val="0"/>
              </a:spcBef>
              <a:spcAft>
                <a:spcPct val="0"/>
              </a:spcAft>
              <a:defRPr sz="2400">
                <a:solidFill>
                  <a:schemeClr val="tx1"/>
                </a:solidFill>
                <a:latin typeface="Times New Roman" panose="02020603050405020304" pitchFamily="18" charset="0"/>
              </a:defRPr>
            </a:lvl8pPr>
            <a:lvl9pPr marL="3932238" defTabSz="12080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800" i="0">
                <a:solidFill>
                  <a:srgbClr val="FFFFFF"/>
                </a:solidFill>
                <a:effectLst>
                  <a:outerShdw blurRad="38100" dist="38100" dir="2700000" algn="tl">
                    <a:srgbClr val="000000"/>
                  </a:outerShdw>
                </a:effectLst>
                <a:latin typeface="Arial" panose="020B0604020202020204" pitchFamily="34" charset="0"/>
              </a:rPr>
              <a:t>5</a:t>
            </a:r>
          </a:p>
        </p:txBody>
      </p:sp>
      <p:sp>
        <p:nvSpPr>
          <p:cNvPr id="55321" name="Rectangle 25"/>
          <p:cNvSpPr>
            <a:spLocks noChangeArrowheads="1"/>
          </p:cNvSpPr>
          <p:nvPr/>
        </p:nvSpPr>
        <p:spPr bwMode="auto">
          <a:xfrm>
            <a:off x="2514600" y="3179763"/>
            <a:ext cx="341313" cy="379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6362" tIns="52388" rIns="106362" bIns="52388">
            <a:spAutoFit/>
          </a:bodyPr>
          <a:lstStyle>
            <a:lvl1pPr defTabSz="1208088">
              <a:defRPr sz="2400">
                <a:solidFill>
                  <a:schemeClr val="tx1"/>
                </a:solidFill>
                <a:latin typeface="Times New Roman" panose="02020603050405020304" pitchFamily="18" charset="0"/>
              </a:defRPr>
            </a:lvl1pPr>
            <a:lvl2pPr marL="525463" defTabSz="1208088">
              <a:defRPr sz="2400">
                <a:solidFill>
                  <a:schemeClr val="tx1"/>
                </a:solidFill>
                <a:latin typeface="Times New Roman" panose="02020603050405020304" pitchFamily="18" charset="0"/>
              </a:defRPr>
            </a:lvl2pPr>
            <a:lvl3pPr marL="1050925" defTabSz="1208088">
              <a:defRPr sz="2400">
                <a:solidFill>
                  <a:schemeClr val="tx1"/>
                </a:solidFill>
                <a:latin typeface="Times New Roman" panose="02020603050405020304" pitchFamily="18" charset="0"/>
              </a:defRPr>
            </a:lvl3pPr>
            <a:lvl4pPr marL="1577975" defTabSz="1208088">
              <a:defRPr sz="2400">
                <a:solidFill>
                  <a:schemeClr val="tx1"/>
                </a:solidFill>
                <a:latin typeface="Times New Roman" panose="02020603050405020304" pitchFamily="18" charset="0"/>
              </a:defRPr>
            </a:lvl4pPr>
            <a:lvl5pPr marL="2103438" defTabSz="1208088">
              <a:defRPr sz="2400">
                <a:solidFill>
                  <a:schemeClr val="tx1"/>
                </a:solidFill>
                <a:latin typeface="Times New Roman" panose="02020603050405020304" pitchFamily="18" charset="0"/>
              </a:defRPr>
            </a:lvl5pPr>
            <a:lvl6pPr marL="2560638" defTabSz="1208088" eaLnBrk="0" fontAlgn="base" hangingPunct="0">
              <a:spcBef>
                <a:spcPct val="0"/>
              </a:spcBef>
              <a:spcAft>
                <a:spcPct val="0"/>
              </a:spcAft>
              <a:defRPr sz="2400">
                <a:solidFill>
                  <a:schemeClr val="tx1"/>
                </a:solidFill>
                <a:latin typeface="Times New Roman" panose="02020603050405020304" pitchFamily="18" charset="0"/>
              </a:defRPr>
            </a:lvl6pPr>
            <a:lvl7pPr marL="3017838" defTabSz="1208088" eaLnBrk="0" fontAlgn="base" hangingPunct="0">
              <a:spcBef>
                <a:spcPct val="0"/>
              </a:spcBef>
              <a:spcAft>
                <a:spcPct val="0"/>
              </a:spcAft>
              <a:defRPr sz="2400">
                <a:solidFill>
                  <a:schemeClr val="tx1"/>
                </a:solidFill>
                <a:latin typeface="Times New Roman" panose="02020603050405020304" pitchFamily="18" charset="0"/>
              </a:defRPr>
            </a:lvl7pPr>
            <a:lvl8pPr marL="3475038" defTabSz="1208088" eaLnBrk="0" fontAlgn="base" hangingPunct="0">
              <a:spcBef>
                <a:spcPct val="0"/>
              </a:spcBef>
              <a:spcAft>
                <a:spcPct val="0"/>
              </a:spcAft>
              <a:defRPr sz="2400">
                <a:solidFill>
                  <a:schemeClr val="tx1"/>
                </a:solidFill>
                <a:latin typeface="Times New Roman" panose="02020603050405020304" pitchFamily="18" charset="0"/>
              </a:defRPr>
            </a:lvl8pPr>
            <a:lvl9pPr marL="3932238" defTabSz="12080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800" i="0">
                <a:solidFill>
                  <a:srgbClr val="FFFFFF"/>
                </a:solidFill>
                <a:effectLst>
                  <a:outerShdw blurRad="38100" dist="38100" dir="2700000" algn="tl">
                    <a:srgbClr val="000000"/>
                  </a:outerShdw>
                </a:effectLst>
                <a:latin typeface="Arial" panose="020B0604020202020204" pitchFamily="34" charset="0"/>
              </a:rPr>
              <a:t>8</a:t>
            </a:r>
          </a:p>
        </p:txBody>
      </p:sp>
      <p:sp>
        <p:nvSpPr>
          <p:cNvPr id="55322" name="Rectangle 26"/>
          <p:cNvSpPr>
            <a:spLocks noChangeArrowheads="1"/>
          </p:cNvSpPr>
          <p:nvPr/>
        </p:nvSpPr>
        <p:spPr bwMode="auto">
          <a:xfrm>
            <a:off x="2514600" y="4300538"/>
            <a:ext cx="341313" cy="379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6362" tIns="52388" rIns="106362" bIns="52388">
            <a:spAutoFit/>
          </a:bodyPr>
          <a:lstStyle>
            <a:lvl1pPr defTabSz="1208088">
              <a:defRPr sz="2400">
                <a:solidFill>
                  <a:schemeClr val="tx1"/>
                </a:solidFill>
                <a:latin typeface="Times New Roman" panose="02020603050405020304" pitchFamily="18" charset="0"/>
              </a:defRPr>
            </a:lvl1pPr>
            <a:lvl2pPr marL="525463" defTabSz="1208088">
              <a:defRPr sz="2400">
                <a:solidFill>
                  <a:schemeClr val="tx1"/>
                </a:solidFill>
                <a:latin typeface="Times New Roman" panose="02020603050405020304" pitchFamily="18" charset="0"/>
              </a:defRPr>
            </a:lvl2pPr>
            <a:lvl3pPr marL="1050925" defTabSz="1208088">
              <a:defRPr sz="2400">
                <a:solidFill>
                  <a:schemeClr val="tx1"/>
                </a:solidFill>
                <a:latin typeface="Times New Roman" panose="02020603050405020304" pitchFamily="18" charset="0"/>
              </a:defRPr>
            </a:lvl3pPr>
            <a:lvl4pPr marL="1577975" defTabSz="1208088">
              <a:defRPr sz="2400">
                <a:solidFill>
                  <a:schemeClr val="tx1"/>
                </a:solidFill>
                <a:latin typeface="Times New Roman" panose="02020603050405020304" pitchFamily="18" charset="0"/>
              </a:defRPr>
            </a:lvl4pPr>
            <a:lvl5pPr marL="2103438" defTabSz="1208088">
              <a:defRPr sz="2400">
                <a:solidFill>
                  <a:schemeClr val="tx1"/>
                </a:solidFill>
                <a:latin typeface="Times New Roman" panose="02020603050405020304" pitchFamily="18" charset="0"/>
              </a:defRPr>
            </a:lvl5pPr>
            <a:lvl6pPr marL="2560638" defTabSz="1208088" eaLnBrk="0" fontAlgn="base" hangingPunct="0">
              <a:spcBef>
                <a:spcPct val="0"/>
              </a:spcBef>
              <a:spcAft>
                <a:spcPct val="0"/>
              </a:spcAft>
              <a:defRPr sz="2400">
                <a:solidFill>
                  <a:schemeClr val="tx1"/>
                </a:solidFill>
                <a:latin typeface="Times New Roman" panose="02020603050405020304" pitchFamily="18" charset="0"/>
              </a:defRPr>
            </a:lvl6pPr>
            <a:lvl7pPr marL="3017838" defTabSz="1208088" eaLnBrk="0" fontAlgn="base" hangingPunct="0">
              <a:spcBef>
                <a:spcPct val="0"/>
              </a:spcBef>
              <a:spcAft>
                <a:spcPct val="0"/>
              </a:spcAft>
              <a:defRPr sz="2400">
                <a:solidFill>
                  <a:schemeClr val="tx1"/>
                </a:solidFill>
                <a:latin typeface="Times New Roman" panose="02020603050405020304" pitchFamily="18" charset="0"/>
              </a:defRPr>
            </a:lvl7pPr>
            <a:lvl8pPr marL="3475038" defTabSz="1208088" eaLnBrk="0" fontAlgn="base" hangingPunct="0">
              <a:spcBef>
                <a:spcPct val="0"/>
              </a:spcBef>
              <a:spcAft>
                <a:spcPct val="0"/>
              </a:spcAft>
              <a:defRPr sz="2400">
                <a:solidFill>
                  <a:schemeClr val="tx1"/>
                </a:solidFill>
                <a:latin typeface="Times New Roman" panose="02020603050405020304" pitchFamily="18" charset="0"/>
              </a:defRPr>
            </a:lvl8pPr>
            <a:lvl9pPr marL="3932238" defTabSz="12080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800" i="0">
                <a:solidFill>
                  <a:srgbClr val="FFFFFF"/>
                </a:solidFill>
                <a:effectLst>
                  <a:outerShdw blurRad="38100" dist="38100" dir="2700000" algn="tl">
                    <a:srgbClr val="000000"/>
                  </a:outerShdw>
                </a:effectLst>
                <a:latin typeface="Arial" panose="020B0604020202020204" pitchFamily="34" charset="0"/>
              </a:rPr>
              <a:t>7</a:t>
            </a:r>
          </a:p>
        </p:txBody>
      </p:sp>
      <p:sp>
        <p:nvSpPr>
          <p:cNvPr id="55323" name="Rectangle 27"/>
          <p:cNvSpPr>
            <a:spLocks noChangeArrowheads="1"/>
          </p:cNvSpPr>
          <p:nvPr/>
        </p:nvSpPr>
        <p:spPr bwMode="auto">
          <a:xfrm>
            <a:off x="2513013" y="4960938"/>
            <a:ext cx="339725" cy="379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6362" tIns="52388" rIns="106362" bIns="52388">
            <a:spAutoFit/>
          </a:bodyPr>
          <a:lstStyle>
            <a:lvl1pPr defTabSz="1208088">
              <a:defRPr sz="2400">
                <a:solidFill>
                  <a:schemeClr val="tx1"/>
                </a:solidFill>
                <a:latin typeface="Times New Roman" panose="02020603050405020304" pitchFamily="18" charset="0"/>
              </a:defRPr>
            </a:lvl1pPr>
            <a:lvl2pPr marL="525463" defTabSz="1208088">
              <a:defRPr sz="2400">
                <a:solidFill>
                  <a:schemeClr val="tx1"/>
                </a:solidFill>
                <a:latin typeface="Times New Roman" panose="02020603050405020304" pitchFamily="18" charset="0"/>
              </a:defRPr>
            </a:lvl2pPr>
            <a:lvl3pPr marL="1050925" defTabSz="1208088">
              <a:defRPr sz="2400">
                <a:solidFill>
                  <a:schemeClr val="tx1"/>
                </a:solidFill>
                <a:latin typeface="Times New Roman" panose="02020603050405020304" pitchFamily="18" charset="0"/>
              </a:defRPr>
            </a:lvl3pPr>
            <a:lvl4pPr marL="1577975" defTabSz="1208088">
              <a:defRPr sz="2400">
                <a:solidFill>
                  <a:schemeClr val="tx1"/>
                </a:solidFill>
                <a:latin typeface="Times New Roman" panose="02020603050405020304" pitchFamily="18" charset="0"/>
              </a:defRPr>
            </a:lvl4pPr>
            <a:lvl5pPr marL="2103438" defTabSz="1208088">
              <a:defRPr sz="2400">
                <a:solidFill>
                  <a:schemeClr val="tx1"/>
                </a:solidFill>
                <a:latin typeface="Times New Roman" panose="02020603050405020304" pitchFamily="18" charset="0"/>
              </a:defRPr>
            </a:lvl5pPr>
            <a:lvl6pPr marL="2560638" defTabSz="1208088" eaLnBrk="0" fontAlgn="base" hangingPunct="0">
              <a:spcBef>
                <a:spcPct val="0"/>
              </a:spcBef>
              <a:spcAft>
                <a:spcPct val="0"/>
              </a:spcAft>
              <a:defRPr sz="2400">
                <a:solidFill>
                  <a:schemeClr val="tx1"/>
                </a:solidFill>
                <a:latin typeface="Times New Roman" panose="02020603050405020304" pitchFamily="18" charset="0"/>
              </a:defRPr>
            </a:lvl6pPr>
            <a:lvl7pPr marL="3017838" defTabSz="1208088" eaLnBrk="0" fontAlgn="base" hangingPunct="0">
              <a:spcBef>
                <a:spcPct val="0"/>
              </a:spcBef>
              <a:spcAft>
                <a:spcPct val="0"/>
              </a:spcAft>
              <a:defRPr sz="2400">
                <a:solidFill>
                  <a:schemeClr val="tx1"/>
                </a:solidFill>
                <a:latin typeface="Times New Roman" panose="02020603050405020304" pitchFamily="18" charset="0"/>
              </a:defRPr>
            </a:lvl7pPr>
            <a:lvl8pPr marL="3475038" defTabSz="1208088" eaLnBrk="0" fontAlgn="base" hangingPunct="0">
              <a:spcBef>
                <a:spcPct val="0"/>
              </a:spcBef>
              <a:spcAft>
                <a:spcPct val="0"/>
              </a:spcAft>
              <a:defRPr sz="2400">
                <a:solidFill>
                  <a:schemeClr val="tx1"/>
                </a:solidFill>
                <a:latin typeface="Times New Roman" panose="02020603050405020304" pitchFamily="18" charset="0"/>
              </a:defRPr>
            </a:lvl8pPr>
            <a:lvl9pPr marL="3932238" defTabSz="12080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800" i="0">
                <a:solidFill>
                  <a:srgbClr val="FFFFFF"/>
                </a:solidFill>
                <a:effectLst>
                  <a:outerShdw blurRad="38100" dist="38100" dir="2700000" algn="tl">
                    <a:srgbClr val="000000"/>
                  </a:outerShdw>
                </a:effectLst>
                <a:latin typeface="Arial" panose="020B0604020202020204" pitchFamily="34" charset="0"/>
              </a:rPr>
              <a:t>4</a:t>
            </a:r>
          </a:p>
        </p:txBody>
      </p:sp>
      <p:sp>
        <p:nvSpPr>
          <p:cNvPr id="55324" name="Rectangle 28"/>
          <p:cNvSpPr>
            <a:spLocks noChangeArrowheads="1"/>
          </p:cNvSpPr>
          <p:nvPr/>
        </p:nvSpPr>
        <p:spPr bwMode="auto">
          <a:xfrm>
            <a:off x="5067300" y="2393950"/>
            <a:ext cx="341313" cy="379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6362" tIns="52388" rIns="106362" bIns="52388">
            <a:spAutoFit/>
          </a:bodyPr>
          <a:lstStyle>
            <a:lvl1pPr defTabSz="1208088">
              <a:defRPr sz="2400">
                <a:solidFill>
                  <a:schemeClr val="tx1"/>
                </a:solidFill>
                <a:latin typeface="Times New Roman" panose="02020603050405020304" pitchFamily="18" charset="0"/>
              </a:defRPr>
            </a:lvl1pPr>
            <a:lvl2pPr marL="525463" defTabSz="1208088">
              <a:defRPr sz="2400">
                <a:solidFill>
                  <a:schemeClr val="tx1"/>
                </a:solidFill>
                <a:latin typeface="Times New Roman" panose="02020603050405020304" pitchFamily="18" charset="0"/>
              </a:defRPr>
            </a:lvl2pPr>
            <a:lvl3pPr marL="1050925" defTabSz="1208088">
              <a:defRPr sz="2400">
                <a:solidFill>
                  <a:schemeClr val="tx1"/>
                </a:solidFill>
                <a:latin typeface="Times New Roman" panose="02020603050405020304" pitchFamily="18" charset="0"/>
              </a:defRPr>
            </a:lvl3pPr>
            <a:lvl4pPr marL="1577975" defTabSz="1208088">
              <a:defRPr sz="2400">
                <a:solidFill>
                  <a:schemeClr val="tx1"/>
                </a:solidFill>
                <a:latin typeface="Times New Roman" panose="02020603050405020304" pitchFamily="18" charset="0"/>
              </a:defRPr>
            </a:lvl4pPr>
            <a:lvl5pPr marL="2103438" defTabSz="1208088">
              <a:defRPr sz="2400">
                <a:solidFill>
                  <a:schemeClr val="tx1"/>
                </a:solidFill>
                <a:latin typeface="Times New Roman" panose="02020603050405020304" pitchFamily="18" charset="0"/>
              </a:defRPr>
            </a:lvl5pPr>
            <a:lvl6pPr marL="2560638" defTabSz="1208088" eaLnBrk="0" fontAlgn="base" hangingPunct="0">
              <a:spcBef>
                <a:spcPct val="0"/>
              </a:spcBef>
              <a:spcAft>
                <a:spcPct val="0"/>
              </a:spcAft>
              <a:defRPr sz="2400">
                <a:solidFill>
                  <a:schemeClr val="tx1"/>
                </a:solidFill>
                <a:latin typeface="Times New Roman" panose="02020603050405020304" pitchFamily="18" charset="0"/>
              </a:defRPr>
            </a:lvl6pPr>
            <a:lvl7pPr marL="3017838" defTabSz="1208088" eaLnBrk="0" fontAlgn="base" hangingPunct="0">
              <a:spcBef>
                <a:spcPct val="0"/>
              </a:spcBef>
              <a:spcAft>
                <a:spcPct val="0"/>
              </a:spcAft>
              <a:defRPr sz="2400">
                <a:solidFill>
                  <a:schemeClr val="tx1"/>
                </a:solidFill>
                <a:latin typeface="Times New Roman" panose="02020603050405020304" pitchFamily="18" charset="0"/>
              </a:defRPr>
            </a:lvl7pPr>
            <a:lvl8pPr marL="3475038" defTabSz="1208088" eaLnBrk="0" fontAlgn="base" hangingPunct="0">
              <a:spcBef>
                <a:spcPct val="0"/>
              </a:spcBef>
              <a:spcAft>
                <a:spcPct val="0"/>
              </a:spcAft>
              <a:defRPr sz="2400">
                <a:solidFill>
                  <a:schemeClr val="tx1"/>
                </a:solidFill>
                <a:latin typeface="Times New Roman" panose="02020603050405020304" pitchFamily="18" charset="0"/>
              </a:defRPr>
            </a:lvl8pPr>
            <a:lvl9pPr marL="3932238" defTabSz="12080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800" i="0">
                <a:solidFill>
                  <a:srgbClr val="FFFFFF"/>
                </a:solidFill>
                <a:effectLst>
                  <a:outerShdw blurRad="38100" dist="38100" dir="2700000" algn="tl">
                    <a:srgbClr val="000000"/>
                  </a:outerShdw>
                </a:effectLst>
                <a:latin typeface="Arial" panose="020B0604020202020204" pitchFamily="34" charset="0"/>
              </a:rPr>
              <a:t>1</a:t>
            </a:r>
          </a:p>
        </p:txBody>
      </p:sp>
      <p:sp>
        <p:nvSpPr>
          <p:cNvPr id="55325" name="Rectangle 29"/>
          <p:cNvSpPr>
            <a:spLocks noChangeArrowheads="1"/>
          </p:cNvSpPr>
          <p:nvPr/>
        </p:nvSpPr>
        <p:spPr bwMode="auto">
          <a:xfrm>
            <a:off x="5329238" y="2681288"/>
            <a:ext cx="339725" cy="379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6362" tIns="52388" rIns="106362" bIns="52388">
            <a:spAutoFit/>
          </a:bodyPr>
          <a:lstStyle>
            <a:lvl1pPr defTabSz="1208088">
              <a:defRPr sz="2400">
                <a:solidFill>
                  <a:schemeClr val="tx1"/>
                </a:solidFill>
                <a:latin typeface="Times New Roman" panose="02020603050405020304" pitchFamily="18" charset="0"/>
              </a:defRPr>
            </a:lvl1pPr>
            <a:lvl2pPr marL="525463" defTabSz="1208088">
              <a:defRPr sz="2400">
                <a:solidFill>
                  <a:schemeClr val="tx1"/>
                </a:solidFill>
                <a:latin typeface="Times New Roman" panose="02020603050405020304" pitchFamily="18" charset="0"/>
              </a:defRPr>
            </a:lvl2pPr>
            <a:lvl3pPr marL="1050925" defTabSz="1208088">
              <a:defRPr sz="2400">
                <a:solidFill>
                  <a:schemeClr val="tx1"/>
                </a:solidFill>
                <a:latin typeface="Times New Roman" panose="02020603050405020304" pitchFamily="18" charset="0"/>
              </a:defRPr>
            </a:lvl3pPr>
            <a:lvl4pPr marL="1577975" defTabSz="1208088">
              <a:defRPr sz="2400">
                <a:solidFill>
                  <a:schemeClr val="tx1"/>
                </a:solidFill>
                <a:latin typeface="Times New Roman" panose="02020603050405020304" pitchFamily="18" charset="0"/>
              </a:defRPr>
            </a:lvl4pPr>
            <a:lvl5pPr marL="2103438" defTabSz="1208088">
              <a:defRPr sz="2400">
                <a:solidFill>
                  <a:schemeClr val="tx1"/>
                </a:solidFill>
                <a:latin typeface="Times New Roman" panose="02020603050405020304" pitchFamily="18" charset="0"/>
              </a:defRPr>
            </a:lvl5pPr>
            <a:lvl6pPr marL="2560638" defTabSz="1208088" eaLnBrk="0" fontAlgn="base" hangingPunct="0">
              <a:spcBef>
                <a:spcPct val="0"/>
              </a:spcBef>
              <a:spcAft>
                <a:spcPct val="0"/>
              </a:spcAft>
              <a:defRPr sz="2400">
                <a:solidFill>
                  <a:schemeClr val="tx1"/>
                </a:solidFill>
                <a:latin typeface="Times New Roman" panose="02020603050405020304" pitchFamily="18" charset="0"/>
              </a:defRPr>
            </a:lvl6pPr>
            <a:lvl7pPr marL="3017838" defTabSz="1208088" eaLnBrk="0" fontAlgn="base" hangingPunct="0">
              <a:spcBef>
                <a:spcPct val="0"/>
              </a:spcBef>
              <a:spcAft>
                <a:spcPct val="0"/>
              </a:spcAft>
              <a:defRPr sz="2400">
                <a:solidFill>
                  <a:schemeClr val="tx1"/>
                </a:solidFill>
                <a:latin typeface="Times New Roman" panose="02020603050405020304" pitchFamily="18" charset="0"/>
              </a:defRPr>
            </a:lvl7pPr>
            <a:lvl8pPr marL="3475038" defTabSz="1208088" eaLnBrk="0" fontAlgn="base" hangingPunct="0">
              <a:spcBef>
                <a:spcPct val="0"/>
              </a:spcBef>
              <a:spcAft>
                <a:spcPct val="0"/>
              </a:spcAft>
              <a:defRPr sz="2400">
                <a:solidFill>
                  <a:schemeClr val="tx1"/>
                </a:solidFill>
                <a:latin typeface="Times New Roman" panose="02020603050405020304" pitchFamily="18" charset="0"/>
              </a:defRPr>
            </a:lvl8pPr>
            <a:lvl9pPr marL="3932238" defTabSz="12080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800" i="0">
                <a:solidFill>
                  <a:srgbClr val="FFFFFF"/>
                </a:solidFill>
                <a:effectLst>
                  <a:outerShdw blurRad="38100" dist="38100" dir="2700000" algn="tl">
                    <a:srgbClr val="000000"/>
                  </a:outerShdw>
                </a:effectLst>
                <a:latin typeface="Arial" panose="020B0604020202020204" pitchFamily="34" charset="0"/>
              </a:rPr>
              <a:t>5</a:t>
            </a:r>
          </a:p>
        </p:txBody>
      </p:sp>
      <p:sp>
        <p:nvSpPr>
          <p:cNvPr id="55326" name="Rectangle 30"/>
          <p:cNvSpPr>
            <a:spLocks noChangeArrowheads="1"/>
          </p:cNvSpPr>
          <p:nvPr/>
        </p:nvSpPr>
        <p:spPr bwMode="auto">
          <a:xfrm>
            <a:off x="5056188" y="3171825"/>
            <a:ext cx="339725" cy="379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6362" tIns="52388" rIns="106362" bIns="52388">
            <a:spAutoFit/>
          </a:bodyPr>
          <a:lstStyle>
            <a:lvl1pPr defTabSz="1208088">
              <a:defRPr sz="2400">
                <a:solidFill>
                  <a:schemeClr val="tx1"/>
                </a:solidFill>
                <a:latin typeface="Times New Roman" panose="02020603050405020304" pitchFamily="18" charset="0"/>
              </a:defRPr>
            </a:lvl1pPr>
            <a:lvl2pPr marL="525463" defTabSz="1208088">
              <a:defRPr sz="2400">
                <a:solidFill>
                  <a:schemeClr val="tx1"/>
                </a:solidFill>
                <a:latin typeface="Times New Roman" panose="02020603050405020304" pitchFamily="18" charset="0"/>
              </a:defRPr>
            </a:lvl2pPr>
            <a:lvl3pPr marL="1050925" defTabSz="1208088">
              <a:defRPr sz="2400">
                <a:solidFill>
                  <a:schemeClr val="tx1"/>
                </a:solidFill>
                <a:latin typeface="Times New Roman" panose="02020603050405020304" pitchFamily="18" charset="0"/>
              </a:defRPr>
            </a:lvl3pPr>
            <a:lvl4pPr marL="1577975" defTabSz="1208088">
              <a:defRPr sz="2400">
                <a:solidFill>
                  <a:schemeClr val="tx1"/>
                </a:solidFill>
                <a:latin typeface="Times New Roman" panose="02020603050405020304" pitchFamily="18" charset="0"/>
              </a:defRPr>
            </a:lvl4pPr>
            <a:lvl5pPr marL="2103438" defTabSz="1208088">
              <a:defRPr sz="2400">
                <a:solidFill>
                  <a:schemeClr val="tx1"/>
                </a:solidFill>
                <a:latin typeface="Times New Roman" panose="02020603050405020304" pitchFamily="18" charset="0"/>
              </a:defRPr>
            </a:lvl5pPr>
            <a:lvl6pPr marL="2560638" defTabSz="1208088" eaLnBrk="0" fontAlgn="base" hangingPunct="0">
              <a:spcBef>
                <a:spcPct val="0"/>
              </a:spcBef>
              <a:spcAft>
                <a:spcPct val="0"/>
              </a:spcAft>
              <a:defRPr sz="2400">
                <a:solidFill>
                  <a:schemeClr val="tx1"/>
                </a:solidFill>
                <a:latin typeface="Times New Roman" panose="02020603050405020304" pitchFamily="18" charset="0"/>
              </a:defRPr>
            </a:lvl6pPr>
            <a:lvl7pPr marL="3017838" defTabSz="1208088" eaLnBrk="0" fontAlgn="base" hangingPunct="0">
              <a:spcBef>
                <a:spcPct val="0"/>
              </a:spcBef>
              <a:spcAft>
                <a:spcPct val="0"/>
              </a:spcAft>
              <a:defRPr sz="2400">
                <a:solidFill>
                  <a:schemeClr val="tx1"/>
                </a:solidFill>
                <a:latin typeface="Times New Roman" panose="02020603050405020304" pitchFamily="18" charset="0"/>
              </a:defRPr>
            </a:lvl7pPr>
            <a:lvl8pPr marL="3475038" defTabSz="1208088" eaLnBrk="0" fontAlgn="base" hangingPunct="0">
              <a:spcBef>
                <a:spcPct val="0"/>
              </a:spcBef>
              <a:spcAft>
                <a:spcPct val="0"/>
              </a:spcAft>
              <a:defRPr sz="2400">
                <a:solidFill>
                  <a:schemeClr val="tx1"/>
                </a:solidFill>
                <a:latin typeface="Times New Roman" panose="02020603050405020304" pitchFamily="18" charset="0"/>
              </a:defRPr>
            </a:lvl8pPr>
            <a:lvl9pPr marL="3932238" defTabSz="12080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800" i="0">
                <a:solidFill>
                  <a:srgbClr val="FFFFFF"/>
                </a:solidFill>
                <a:effectLst>
                  <a:outerShdw blurRad="38100" dist="38100" dir="2700000" algn="tl">
                    <a:srgbClr val="000000"/>
                  </a:outerShdw>
                </a:effectLst>
                <a:latin typeface="Arial" panose="020B0604020202020204" pitchFamily="34" charset="0"/>
              </a:rPr>
              <a:t>8</a:t>
            </a:r>
          </a:p>
        </p:txBody>
      </p:sp>
      <p:sp>
        <p:nvSpPr>
          <p:cNvPr id="55327" name="Rectangle 31"/>
          <p:cNvSpPr>
            <a:spLocks noChangeArrowheads="1"/>
          </p:cNvSpPr>
          <p:nvPr/>
        </p:nvSpPr>
        <p:spPr bwMode="auto">
          <a:xfrm>
            <a:off x="5056188" y="4175125"/>
            <a:ext cx="339725" cy="379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6362" tIns="52388" rIns="106362" bIns="52388">
            <a:spAutoFit/>
          </a:bodyPr>
          <a:lstStyle>
            <a:lvl1pPr defTabSz="1208088">
              <a:defRPr sz="2400">
                <a:solidFill>
                  <a:schemeClr val="tx1"/>
                </a:solidFill>
                <a:latin typeface="Times New Roman" panose="02020603050405020304" pitchFamily="18" charset="0"/>
              </a:defRPr>
            </a:lvl1pPr>
            <a:lvl2pPr marL="525463" defTabSz="1208088">
              <a:defRPr sz="2400">
                <a:solidFill>
                  <a:schemeClr val="tx1"/>
                </a:solidFill>
                <a:latin typeface="Times New Roman" panose="02020603050405020304" pitchFamily="18" charset="0"/>
              </a:defRPr>
            </a:lvl2pPr>
            <a:lvl3pPr marL="1050925" defTabSz="1208088">
              <a:defRPr sz="2400">
                <a:solidFill>
                  <a:schemeClr val="tx1"/>
                </a:solidFill>
                <a:latin typeface="Times New Roman" panose="02020603050405020304" pitchFamily="18" charset="0"/>
              </a:defRPr>
            </a:lvl3pPr>
            <a:lvl4pPr marL="1577975" defTabSz="1208088">
              <a:defRPr sz="2400">
                <a:solidFill>
                  <a:schemeClr val="tx1"/>
                </a:solidFill>
                <a:latin typeface="Times New Roman" panose="02020603050405020304" pitchFamily="18" charset="0"/>
              </a:defRPr>
            </a:lvl4pPr>
            <a:lvl5pPr marL="2103438" defTabSz="1208088">
              <a:defRPr sz="2400">
                <a:solidFill>
                  <a:schemeClr val="tx1"/>
                </a:solidFill>
                <a:latin typeface="Times New Roman" panose="02020603050405020304" pitchFamily="18" charset="0"/>
              </a:defRPr>
            </a:lvl5pPr>
            <a:lvl6pPr marL="2560638" defTabSz="1208088" eaLnBrk="0" fontAlgn="base" hangingPunct="0">
              <a:spcBef>
                <a:spcPct val="0"/>
              </a:spcBef>
              <a:spcAft>
                <a:spcPct val="0"/>
              </a:spcAft>
              <a:defRPr sz="2400">
                <a:solidFill>
                  <a:schemeClr val="tx1"/>
                </a:solidFill>
                <a:latin typeface="Times New Roman" panose="02020603050405020304" pitchFamily="18" charset="0"/>
              </a:defRPr>
            </a:lvl6pPr>
            <a:lvl7pPr marL="3017838" defTabSz="1208088" eaLnBrk="0" fontAlgn="base" hangingPunct="0">
              <a:spcBef>
                <a:spcPct val="0"/>
              </a:spcBef>
              <a:spcAft>
                <a:spcPct val="0"/>
              </a:spcAft>
              <a:defRPr sz="2400">
                <a:solidFill>
                  <a:schemeClr val="tx1"/>
                </a:solidFill>
                <a:latin typeface="Times New Roman" panose="02020603050405020304" pitchFamily="18" charset="0"/>
              </a:defRPr>
            </a:lvl7pPr>
            <a:lvl8pPr marL="3475038" defTabSz="1208088" eaLnBrk="0" fontAlgn="base" hangingPunct="0">
              <a:spcBef>
                <a:spcPct val="0"/>
              </a:spcBef>
              <a:spcAft>
                <a:spcPct val="0"/>
              </a:spcAft>
              <a:defRPr sz="2400">
                <a:solidFill>
                  <a:schemeClr val="tx1"/>
                </a:solidFill>
                <a:latin typeface="Times New Roman" panose="02020603050405020304" pitchFamily="18" charset="0"/>
              </a:defRPr>
            </a:lvl8pPr>
            <a:lvl9pPr marL="3932238" defTabSz="12080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800" i="0">
                <a:solidFill>
                  <a:srgbClr val="FFFFFF"/>
                </a:solidFill>
                <a:effectLst>
                  <a:outerShdw blurRad="38100" dist="38100" dir="2700000" algn="tl">
                    <a:srgbClr val="000000"/>
                  </a:outerShdw>
                </a:effectLst>
                <a:latin typeface="Arial" panose="020B0604020202020204" pitchFamily="34" charset="0"/>
              </a:rPr>
              <a:t>3</a:t>
            </a:r>
          </a:p>
        </p:txBody>
      </p:sp>
      <p:sp>
        <p:nvSpPr>
          <p:cNvPr id="55328" name="Rectangle 32"/>
          <p:cNvSpPr>
            <a:spLocks noChangeArrowheads="1"/>
          </p:cNvSpPr>
          <p:nvPr/>
        </p:nvSpPr>
        <p:spPr bwMode="auto">
          <a:xfrm>
            <a:off x="5405438" y="4232275"/>
            <a:ext cx="339725" cy="379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6362" tIns="52388" rIns="106362" bIns="52388">
            <a:spAutoFit/>
          </a:bodyPr>
          <a:lstStyle>
            <a:lvl1pPr defTabSz="1208088">
              <a:defRPr sz="2400">
                <a:solidFill>
                  <a:schemeClr val="tx1"/>
                </a:solidFill>
                <a:latin typeface="Times New Roman" panose="02020603050405020304" pitchFamily="18" charset="0"/>
              </a:defRPr>
            </a:lvl1pPr>
            <a:lvl2pPr marL="525463" defTabSz="1208088">
              <a:defRPr sz="2400">
                <a:solidFill>
                  <a:schemeClr val="tx1"/>
                </a:solidFill>
                <a:latin typeface="Times New Roman" panose="02020603050405020304" pitchFamily="18" charset="0"/>
              </a:defRPr>
            </a:lvl2pPr>
            <a:lvl3pPr marL="1050925" defTabSz="1208088">
              <a:defRPr sz="2400">
                <a:solidFill>
                  <a:schemeClr val="tx1"/>
                </a:solidFill>
                <a:latin typeface="Times New Roman" panose="02020603050405020304" pitchFamily="18" charset="0"/>
              </a:defRPr>
            </a:lvl3pPr>
            <a:lvl4pPr marL="1577975" defTabSz="1208088">
              <a:defRPr sz="2400">
                <a:solidFill>
                  <a:schemeClr val="tx1"/>
                </a:solidFill>
                <a:latin typeface="Times New Roman" panose="02020603050405020304" pitchFamily="18" charset="0"/>
              </a:defRPr>
            </a:lvl4pPr>
            <a:lvl5pPr marL="2103438" defTabSz="1208088">
              <a:defRPr sz="2400">
                <a:solidFill>
                  <a:schemeClr val="tx1"/>
                </a:solidFill>
                <a:latin typeface="Times New Roman" panose="02020603050405020304" pitchFamily="18" charset="0"/>
              </a:defRPr>
            </a:lvl5pPr>
            <a:lvl6pPr marL="2560638" defTabSz="1208088" eaLnBrk="0" fontAlgn="base" hangingPunct="0">
              <a:spcBef>
                <a:spcPct val="0"/>
              </a:spcBef>
              <a:spcAft>
                <a:spcPct val="0"/>
              </a:spcAft>
              <a:defRPr sz="2400">
                <a:solidFill>
                  <a:schemeClr val="tx1"/>
                </a:solidFill>
                <a:latin typeface="Times New Roman" panose="02020603050405020304" pitchFamily="18" charset="0"/>
              </a:defRPr>
            </a:lvl6pPr>
            <a:lvl7pPr marL="3017838" defTabSz="1208088" eaLnBrk="0" fontAlgn="base" hangingPunct="0">
              <a:spcBef>
                <a:spcPct val="0"/>
              </a:spcBef>
              <a:spcAft>
                <a:spcPct val="0"/>
              </a:spcAft>
              <a:defRPr sz="2400">
                <a:solidFill>
                  <a:schemeClr val="tx1"/>
                </a:solidFill>
                <a:latin typeface="Times New Roman" panose="02020603050405020304" pitchFamily="18" charset="0"/>
              </a:defRPr>
            </a:lvl7pPr>
            <a:lvl8pPr marL="3475038" defTabSz="1208088" eaLnBrk="0" fontAlgn="base" hangingPunct="0">
              <a:spcBef>
                <a:spcPct val="0"/>
              </a:spcBef>
              <a:spcAft>
                <a:spcPct val="0"/>
              </a:spcAft>
              <a:defRPr sz="2400">
                <a:solidFill>
                  <a:schemeClr val="tx1"/>
                </a:solidFill>
                <a:latin typeface="Times New Roman" panose="02020603050405020304" pitchFamily="18" charset="0"/>
              </a:defRPr>
            </a:lvl8pPr>
            <a:lvl9pPr marL="3932238" defTabSz="12080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800" i="0">
                <a:solidFill>
                  <a:srgbClr val="FFFFFF"/>
                </a:solidFill>
                <a:effectLst>
                  <a:outerShdw blurRad="38100" dist="38100" dir="2700000" algn="tl">
                    <a:srgbClr val="000000"/>
                  </a:outerShdw>
                </a:effectLst>
                <a:latin typeface="Arial" panose="020B0604020202020204" pitchFamily="34" charset="0"/>
              </a:rPr>
              <a:t>4</a:t>
            </a:r>
          </a:p>
        </p:txBody>
      </p:sp>
      <p:sp>
        <p:nvSpPr>
          <p:cNvPr id="55329" name="Rectangle 33"/>
          <p:cNvSpPr>
            <a:spLocks noChangeArrowheads="1"/>
          </p:cNvSpPr>
          <p:nvPr/>
        </p:nvSpPr>
        <p:spPr bwMode="auto">
          <a:xfrm>
            <a:off x="5067300" y="5005388"/>
            <a:ext cx="341313" cy="379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6362" tIns="52388" rIns="106362" bIns="52388">
            <a:spAutoFit/>
          </a:bodyPr>
          <a:lstStyle>
            <a:lvl1pPr defTabSz="1208088">
              <a:defRPr sz="2400">
                <a:solidFill>
                  <a:schemeClr val="tx1"/>
                </a:solidFill>
                <a:latin typeface="Times New Roman" panose="02020603050405020304" pitchFamily="18" charset="0"/>
              </a:defRPr>
            </a:lvl1pPr>
            <a:lvl2pPr marL="525463" defTabSz="1208088">
              <a:defRPr sz="2400">
                <a:solidFill>
                  <a:schemeClr val="tx1"/>
                </a:solidFill>
                <a:latin typeface="Times New Roman" panose="02020603050405020304" pitchFamily="18" charset="0"/>
              </a:defRPr>
            </a:lvl2pPr>
            <a:lvl3pPr marL="1050925" defTabSz="1208088">
              <a:defRPr sz="2400">
                <a:solidFill>
                  <a:schemeClr val="tx1"/>
                </a:solidFill>
                <a:latin typeface="Times New Roman" panose="02020603050405020304" pitchFamily="18" charset="0"/>
              </a:defRPr>
            </a:lvl3pPr>
            <a:lvl4pPr marL="1577975" defTabSz="1208088">
              <a:defRPr sz="2400">
                <a:solidFill>
                  <a:schemeClr val="tx1"/>
                </a:solidFill>
                <a:latin typeface="Times New Roman" panose="02020603050405020304" pitchFamily="18" charset="0"/>
              </a:defRPr>
            </a:lvl4pPr>
            <a:lvl5pPr marL="2103438" defTabSz="1208088">
              <a:defRPr sz="2400">
                <a:solidFill>
                  <a:schemeClr val="tx1"/>
                </a:solidFill>
                <a:latin typeface="Times New Roman" panose="02020603050405020304" pitchFamily="18" charset="0"/>
              </a:defRPr>
            </a:lvl5pPr>
            <a:lvl6pPr marL="2560638" defTabSz="1208088" eaLnBrk="0" fontAlgn="base" hangingPunct="0">
              <a:spcBef>
                <a:spcPct val="0"/>
              </a:spcBef>
              <a:spcAft>
                <a:spcPct val="0"/>
              </a:spcAft>
              <a:defRPr sz="2400">
                <a:solidFill>
                  <a:schemeClr val="tx1"/>
                </a:solidFill>
                <a:latin typeface="Times New Roman" panose="02020603050405020304" pitchFamily="18" charset="0"/>
              </a:defRPr>
            </a:lvl6pPr>
            <a:lvl7pPr marL="3017838" defTabSz="1208088" eaLnBrk="0" fontAlgn="base" hangingPunct="0">
              <a:spcBef>
                <a:spcPct val="0"/>
              </a:spcBef>
              <a:spcAft>
                <a:spcPct val="0"/>
              </a:spcAft>
              <a:defRPr sz="2400">
                <a:solidFill>
                  <a:schemeClr val="tx1"/>
                </a:solidFill>
                <a:latin typeface="Times New Roman" panose="02020603050405020304" pitchFamily="18" charset="0"/>
              </a:defRPr>
            </a:lvl7pPr>
            <a:lvl8pPr marL="3475038" defTabSz="1208088" eaLnBrk="0" fontAlgn="base" hangingPunct="0">
              <a:spcBef>
                <a:spcPct val="0"/>
              </a:spcBef>
              <a:spcAft>
                <a:spcPct val="0"/>
              </a:spcAft>
              <a:defRPr sz="2400">
                <a:solidFill>
                  <a:schemeClr val="tx1"/>
                </a:solidFill>
                <a:latin typeface="Times New Roman" panose="02020603050405020304" pitchFamily="18" charset="0"/>
              </a:defRPr>
            </a:lvl8pPr>
            <a:lvl9pPr marL="3932238" defTabSz="1208088" eaLnBrk="0" fontAlgn="base" hangingPunct="0">
              <a:spcBef>
                <a:spcPct val="0"/>
              </a:spcBef>
              <a:spcAft>
                <a:spcPct val="0"/>
              </a:spcAft>
              <a:defRPr sz="2400">
                <a:solidFill>
                  <a:schemeClr val="tx1"/>
                </a:solidFill>
                <a:latin typeface="Times New Roman" panose="02020603050405020304" pitchFamily="18" charset="0"/>
              </a:defRPr>
            </a:lvl9pPr>
          </a:lstStyle>
          <a:p>
            <a:r>
              <a:rPr lang="en-US" sz="1800" i="0">
                <a:solidFill>
                  <a:srgbClr val="FFFFFF"/>
                </a:solidFill>
                <a:effectLst>
                  <a:outerShdw blurRad="38100" dist="38100" dir="2700000" algn="tl">
                    <a:srgbClr val="000000"/>
                  </a:outerShdw>
                </a:effectLst>
                <a:latin typeface="Arial" panose="020B0604020202020204" pitchFamily="34" charset="0"/>
              </a:rPr>
              <a:t>4</a:t>
            </a:r>
          </a:p>
        </p:txBody>
      </p:sp>
      <p:sp>
        <p:nvSpPr>
          <p:cNvPr id="55330" name="Oval 34"/>
          <p:cNvSpPr>
            <a:spLocks noChangeArrowheads="1"/>
          </p:cNvSpPr>
          <p:nvPr/>
        </p:nvSpPr>
        <p:spPr bwMode="auto">
          <a:xfrm>
            <a:off x="1712913" y="2501900"/>
            <a:ext cx="765175" cy="768350"/>
          </a:xfrm>
          <a:prstGeom prst="ellipse">
            <a:avLst/>
          </a:prstGeom>
          <a:solidFill>
            <a:schemeClr val="bg1"/>
          </a:solidFill>
          <a:ln w="12700">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a:r>
              <a:rPr lang="en-US" sz="1800" i="0">
                <a:solidFill>
                  <a:srgbClr val="FFFFFF"/>
                </a:solidFill>
                <a:effectLst>
                  <a:outerShdw blurRad="38100" dist="38100" dir="2700000" algn="tl">
                    <a:srgbClr val="000000"/>
                  </a:outerShdw>
                </a:effectLst>
              </a:rPr>
              <a:t>Arnold</a:t>
            </a:r>
            <a:endParaRPr lang="en-US" sz="2000" i="0">
              <a:solidFill>
                <a:srgbClr val="FFFFFF"/>
              </a:solidFill>
              <a:effectLst>
                <a:outerShdw blurRad="38100" dist="38100" dir="2700000" algn="tl">
                  <a:srgbClr val="000000"/>
                </a:outerShdw>
              </a:effectLst>
            </a:endParaRPr>
          </a:p>
        </p:txBody>
      </p:sp>
      <p:sp>
        <p:nvSpPr>
          <p:cNvPr id="55331" name="Oval 35"/>
          <p:cNvSpPr>
            <a:spLocks noChangeArrowheads="1"/>
          </p:cNvSpPr>
          <p:nvPr/>
        </p:nvSpPr>
        <p:spPr bwMode="auto">
          <a:xfrm>
            <a:off x="1712913" y="4559300"/>
            <a:ext cx="765175" cy="768350"/>
          </a:xfrm>
          <a:prstGeom prst="ellipse">
            <a:avLst/>
          </a:prstGeom>
          <a:solidFill>
            <a:schemeClr val="bg1"/>
          </a:solidFill>
          <a:ln w="12700">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a:r>
              <a:rPr lang="en-US" sz="1800" i="0">
                <a:solidFill>
                  <a:srgbClr val="FFFFFF"/>
                </a:solidFill>
                <a:effectLst>
                  <a:outerShdw blurRad="38100" dist="38100" dir="2700000" algn="tl">
                    <a:srgbClr val="000000"/>
                  </a:outerShdw>
                </a:effectLst>
              </a:rPr>
              <a:t>Super</a:t>
            </a:r>
          </a:p>
          <a:p>
            <a:pPr algn="ctr"/>
            <a:r>
              <a:rPr lang="en-US" sz="1800" i="0">
                <a:solidFill>
                  <a:srgbClr val="FFFFFF"/>
                </a:solidFill>
                <a:effectLst>
                  <a:outerShdw blurRad="38100" dist="38100" dir="2700000" algn="tl">
                    <a:srgbClr val="000000"/>
                  </a:outerShdw>
                </a:effectLst>
              </a:rPr>
              <a:t>Shelf</a:t>
            </a:r>
            <a:endParaRPr lang="en-US" sz="2000" i="0">
              <a:solidFill>
                <a:srgbClr val="FFFFFF"/>
              </a:solidFill>
              <a:effectLst>
                <a:outerShdw blurRad="38100" dist="38100" dir="2700000" algn="tl">
                  <a:srgbClr val="000000"/>
                </a:outerShdw>
              </a:effectLst>
            </a:endParaRPr>
          </a:p>
        </p:txBody>
      </p:sp>
      <p:sp>
        <p:nvSpPr>
          <p:cNvPr id="55332" name="Oval 36"/>
          <p:cNvSpPr>
            <a:spLocks noChangeArrowheads="1"/>
          </p:cNvSpPr>
          <p:nvPr/>
        </p:nvSpPr>
        <p:spPr bwMode="auto">
          <a:xfrm>
            <a:off x="6894513" y="3416300"/>
            <a:ext cx="765175" cy="768350"/>
          </a:xfrm>
          <a:prstGeom prst="ellipse">
            <a:avLst/>
          </a:prstGeom>
          <a:solidFill>
            <a:schemeClr val="bg1"/>
          </a:solidFill>
          <a:ln w="12700">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a:r>
              <a:rPr lang="en-US" sz="1800" i="0">
                <a:solidFill>
                  <a:srgbClr val="FFFFFF"/>
                </a:solidFill>
                <a:effectLst>
                  <a:outerShdw blurRad="38100" dist="38100" dir="2700000" algn="tl">
                    <a:srgbClr val="000000"/>
                  </a:outerShdw>
                </a:effectLst>
              </a:rPr>
              <a:t>Hewes</a:t>
            </a:r>
            <a:endParaRPr lang="en-US" sz="2000" i="0">
              <a:solidFill>
                <a:srgbClr val="FFFFFF"/>
              </a:solidFill>
              <a:effectLst>
                <a:outerShdw blurRad="38100" dist="38100" dir="2700000" algn="tl">
                  <a:srgbClr val="000000"/>
                </a:outerShdw>
              </a:effectLst>
            </a:endParaRPr>
          </a:p>
        </p:txBody>
      </p:sp>
      <p:sp>
        <p:nvSpPr>
          <p:cNvPr id="55333" name="Oval 37"/>
          <p:cNvSpPr>
            <a:spLocks noChangeArrowheads="1"/>
          </p:cNvSpPr>
          <p:nvPr/>
        </p:nvSpPr>
        <p:spPr bwMode="auto">
          <a:xfrm>
            <a:off x="6894513" y="1511300"/>
            <a:ext cx="765175" cy="768350"/>
          </a:xfrm>
          <a:prstGeom prst="ellipse">
            <a:avLst/>
          </a:prstGeom>
          <a:solidFill>
            <a:schemeClr val="bg1"/>
          </a:solidFill>
          <a:ln w="12700">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a:r>
              <a:rPr lang="en-US" sz="1800" i="0">
                <a:solidFill>
                  <a:srgbClr val="FFFFFF"/>
                </a:solidFill>
                <a:effectLst>
                  <a:outerShdw blurRad="38100" dist="38100" dir="2700000" algn="tl">
                    <a:srgbClr val="000000"/>
                  </a:outerShdw>
                </a:effectLst>
              </a:rPr>
              <a:t>Zrox</a:t>
            </a:r>
            <a:endParaRPr lang="en-US" sz="2000" i="0">
              <a:solidFill>
                <a:srgbClr val="FFFFFF"/>
              </a:solidFill>
              <a:effectLst>
                <a:outerShdw blurRad="38100" dist="38100" dir="2700000" algn="tl">
                  <a:srgbClr val="000000"/>
                </a:outerShdw>
              </a:effectLst>
            </a:endParaRPr>
          </a:p>
        </p:txBody>
      </p:sp>
      <p:sp>
        <p:nvSpPr>
          <p:cNvPr id="55334" name="Oval 38"/>
          <p:cNvSpPr>
            <a:spLocks noChangeArrowheads="1"/>
          </p:cNvSpPr>
          <p:nvPr/>
        </p:nvSpPr>
        <p:spPr bwMode="auto">
          <a:xfrm>
            <a:off x="4303713" y="2495550"/>
            <a:ext cx="765175" cy="768350"/>
          </a:xfrm>
          <a:prstGeom prst="ellipse">
            <a:avLst/>
          </a:prstGeom>
          <a:solidFill>
            <a:schemeClr val="bg1"/>
          </a:solidFill>
          <a:ln w="12700">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a:r>
              <a:rPr lang="en-US" sz="1800" i="0">
                <a:solidFill>
                  <a:srgbClr val="FFFFFF"/>
                </a:solidFill>
                <a:effectLst>
                  <a:outerShdw blurRad="38100" dist="38100" dir="2700000" algn="tl">
                    <a:srgbClr val="000000"/>
                  </a:outerShdw>
                </a:effectLst>
              </a:rPr>
              <a:t>Thomas</a:t>
            </a:r>
            <a:endParaRPr lang="en-US" sz="2000" i="0">
              <a:solidFill>
                <a:srgbClr val="FFFFFF"/>
              </a:solidFill>
              <a:effectLst>
                <a:outerShdw blurRad="38100" dist="38100" dir="2700000" algn="tl">
                  <a:srgbClr val="000000"/>
                </a:outerShdw>
              </a:effectLst>
            </a:endParaRPr>
          </a:p>
        </p:txBody>
      </p:sp>
      <p:sp>
        <p:nvSpPr>
          <p:cNvPr id="55335" name="Oval 39"/>
          <p:cNvSpPr>
            <a:spLocks noChangeArrowheads="1"/>
          </p:cNvSpPr>
          <p:nvPr/>
        </p:nvSpPr>
        <p:spPr bwMode="auto">
          <a:xfrm>
            <a:off x="4303713" y="4559300"/>
            <a:ext cx="765175" cy="768350"/>
          </a:xfrm>
          <a:prstGeom prst="ellipse">
            <a:avLst/>
          </a:prstGeom>
          <a:solidFill>
            <a:schemeClr val="bg1"/>
          </a:solidFill>
          <a:ln w="12700">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a:r>
              <a:rPr lang="en-US" sz="1800" i="0">
                <a:solidFill>
                  <a:srgbClr val="FFFFFF"/>
                </a:solidFill>
                <a:effectLst>
                  <a:outerShdw blurRad="38100" dist="38100" dir="2700000" algn="tl">
                    <a:srgbClr val="000000"/>
                  </a:outerShdw>
                </a:effectLst>
              </a:rPr>
              <a:t>Wash-</a:t>
            </a:r>
          </a:p>
          <a:p>
            <a:pPr algn="ctr"/>
            <a:r>
              <a:rPr lang="en-US" sz="1800" i="0">
                <a:solidFill>
                  <a:srgbClr val="FFFFFF"/>
                </a:solidFill>
                <a:effectLst>
                  <a:outerShdw blurRad="38100" dist="38100" dir="2700000" algn="tl">
                    <a:srgbClr val="000000"/>
                  </a:outerShdw>
                </a:effectLst>
              </a:rPr>
              <a:t>Burn</a:t>
            </a:r>
            <a:endParaRPr lang="en-US" sz="2000" i="0">
              <a:solidFill>
                <a:srgbClr val="FFFFFF"/>
              </a:solidFill>
              <a:effectLst>
                <a:outerShdw blurRad="38100" dist="38100" dir="2700000" algn="tl">
                  <a:srgbClr val="000000"/>
                </a:outerShdw>
              </a:effectLst>
            </a:endParaRPr>
          </a:p>
        </p:txBody>
      </p:sp>
      <p:sp>
        <p:nvSpPr>
          <p:cNvPr id="55336" name="Oval 40"/>
          <p:cNvSpPr>
            <a:spLocks noChangeArrowheads="1"/>
          </p:cNvSpPr>
          <p:nvPr/>
        </p:nvSpPr>
        <p:spPr bwMode="auto">
          <a:xfrm>
            <a:off x="6894513" y="5168900"/>
            <a:ext cx="765175" cy="768350"/>
          </a:xfrm>
          <a:prstGeom prst="ellipse">
            <a:avLst/>
          </a:prstGeom>
          <a:solidFill>
            <a:schemeClr val="bg1"/>
          </a:solidFill>
          <a:ln w="12700">
            <a:solidFill>
              <a:srgbClr val="FFF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a:r>
              <a:rPr lang="en-US" sz="1800" i="0">
                <a:solidFill>
                  <a:srgbClr val="FFFFFF"/>
                </a:solidFill>
                <a:effectLst>
                  <a:outerShdw blurRad="38100" dist="38100" dir="2700000" algn="tl">
                    <a:srgbClr val="000000"/>
                  </a:outerShdw>
                </a:effectLst>
              </a:rPr>
              <a:t>Rock-</a:t>
            </a:r>
          </a:p>
          <a:p>
            <a:pPr algn="ctr"/>
            <a:r>
              <a:rPr lang="en-US" sz="1800" i="0">
                <a:solidFill>
                  <a:srgbClr val="FFFFFF"/>
                </a:solidFill>
                <a:effectLst>
                  <a:outerShdw blurRad="38100" dist="38100" dir="2700000" algn="tl">
                    <a:srgbClr val="000000"/>
                  </a:outerShdw>
                </a:effectLst>
              </a:rPr>
              <a:t>Wright</a:t>
            </a:r>
            <a:endParaRPr lang="en-US" sz="2000" i="0">
              <a:solidFill>
                <a:srgbClr val="FFFFFF"/>
              </a:solidFill>
              <a:effectLst>
                <a:outerShdw blurRad="38100" dist="38100" dir="2700000" algn="tl">
                  <a:srgbClr val="000000"/>
                </a:outerShdw>
              </a:effectLst>
            </a:endParaRPr>
          </a:p>
        </p:txBody>
      </p:sp>
    </p:spTree>
  </p:cSld>
  <p:clrMapOvr>
    <a:masterClrMapping/>
  </p:clrMapOvr>
  <p:transition>
    <p:zo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noFill/>
          <a:ln/>
        </p:spPr>
        <p:txBody>
          <a:bodyPr/>
          <a:lstStyle/>
          <a:p>
            <a:r>
              <a:rPr lang="en-US"/>
              <a:t>Example:  Transshipping</a:t>
            </a:r>
          </a:p>
        </p:txBody>
      </p:sp>
      <p:sp>
        <p:nvSpPr>
          <p:cNvPr id="56323" name="Rectangle 3"/>
          <p:cNvSpPr>
            <a:spLocks noGrp="1" noChangeArrowheads="1"/>
          </p:cNvSpPr>
          <p:nvPr>
            <p:ph type="body" idx="1"/>
          </p:nvPr>
        </p:nvSpPr>
        <p:spPr>
          <a:noFill/>
          <a:ln/>
        </p:spPr>
        <p:txBody>
          <a:bodyPr/>
          <a:lstStyle/>
          <a:p>
            <a:r>
              <a:rPr lang="en-US">
                <a:solidFill>
                  <a:schemeClr val="tx2"/>
                </a:solidFill>
              </a:rPr>
              <a:t>Linear Programming Formulation</a:t>
            </a:r>
          </a:p>
          <a:p>
            <a:pPr lvl="1"/>
            <a:r>
              <a:rPr lang="en-US">
                <a:solidFill>
                  <a:schemeClr val="tx2"/>
                </a:solidFill>
              </a:rPr>
              <a:t>Decision Variables Defined </a:t>
            </a:r>
          </a:p>
          <a:p>
            <a:pPr>
              <a:buFont typeface="Monotype Sorts" pitchFamily="2" charset="2"/>
              <a:buNone/>
            </a:pPr>
            <a:r>
              <a:rPr lang="en-US"/>
              <a:t>	</a:t>
            </a:r>
            <a:r>
              <a:rPr lang="en-US" i="1"/>
              <a:t>x</a:t>
            </a:r>
            <a:r>
              <a:rPr lang="en-US" i="1" baseline="-25000"/>
              <a:t>ij</a:t>
            </a:r>
            <a:r>
              <a:rPr lang="en-US"/>
              <a:t> = amount shipped from manufacturer </a:t>
            </a:r>
            <a:r>
              <a:rPr lang="en-US" i="1"/>
              <a:t>i</a:t>
            </a:r>
            <a:r>
              <a:rPr lang="en-US"/>
              <a:t> to supplier </a:t>
            </a:r>
            <a:r>
              <a:rPr lang="en-US" i="1"/>
              <a:t>j</a:t>
            </a:r>
            <a:endParaRPr lang="en-US"/>
          </a:p>
          <a:p>
            <a:pPr>
              <a:buFont typeface="Monotype Sorts" pitchFamily="2" charset="2"/>
              <a:buNone/>
            </a:pPr>
            <a:r>
              <a:rPr lang="en-US"/>
              <a:t>  	</a:t>
            </a:r>
            <a:r>
              <a:rPr lang="en-US" i="1"/>
              <a:t>x</a:t>
            </a:r>
            <a:r>
              <a:rPr lang="en-US" i="1" baseline="-25000"/>
              <a:t>jk</a:t>
            </a:r>
            <a:r>
              <a:rPr lang="en-US"/>
              <a:t> = amount shipped from supplier </a:t>
            </a:r>
            <a:r>
              <a:rPr lang="en-US" i="1"/>
              <a:t>j</a:t>
            </a:r>
            <a:r>
              <a:rPr lang="en-US"/>
              <a:t> to customer </a:t>
            </a:r>
            <a:r>
              <a:rPr lang="en-US" i="1"/>
              <a:t>k</a:t>
            </a:r>
            <a:endParaRPr lang="en-US"/>
          </a:p>
          <a:p>
            <a:pPr>
              <a:buFont typeface="Monotype Sorts" pitchFamily="2" charset="2"/>
              <a:buNone/>
            </a:pPr>
            <a:r>
              <a:rPr lang="en-US"/>
              <a:t>          	  where     </a:t>
            </a:r>
            <a:r>
              <a:rPr lang="en-US" i="1"/>
              <a:t>i</a:t>
            </a:r>
            <a:r>
              <a:rPr lang="en-US"/>
              <a:t> = 1 (Arnold), 2 (Supershelf)</a:t>
            </a:r>
          </a:p>
          <a:p>
            <a:pPr>
              <a:buFont typeface="Monotype Sorts" pitchFamily="2" charset="2"/>
              <a:buNone/>
            </a:pPr>
            <a:r>
              <a:rPr lang="en-US"/>
              <a:t>          		      </a:t>
            </a:r>
            <a:r>
              <a:rPr lang="en-US" i="1"/>
              <a:t>j</a:t>
            </a:r>
            <a:r>
              <a:rPr lang="en-US"/>
              <a:t> = 3 (Thomas), 4 (Washburn)</a:t>
            </a:r>
          </a:p>
          <a:p>
            <a:pPr>
              <a:buFont typeface="Monotype Sorts" pitchFamily="2" charset="2"/>
              <a:buNone/>
            </a:pPr>
            <a:r>
              <a:rPr lang="en-US"/>
              <a:t>          		     </a:t>
            </a:r>
            <a:r>
              <a:rPr lang="en-US" i="1"/>
              <a:t>k</a:t>
            </a:r>
            <a:r>
              <a:rPr lang="en-US"/>
              <a:t> = 5 (Zrox), 6 (Hewes), 7 (Rockwright)</a:t>
            </a:r>
          </a:p>
          <a:p>
            <a:pPr lvl="1"/>
            <a:r>
              <a:rPr lang="en-US">
                <a:solidFill>
                  <a:schemeClr val="tx2"/>
                </a:solidFill>
              </a:rPr>
              <a:t>Objective Function Defined</a:t>
            </a:r>
          </a:p>
          <a:p>
            <a:pPr>
              <a:buFont typeface="Monotype Sorts" pitchFamily="2" charset="2"/>
              <a:buNone/>
            </a:pPr>
            <a:r>
              <a:rPr lang="en-US"/>
              <a:t>		Minimize Overall Shipping Costs:  </a:t>
            </a:r>
          </a:p>
          <a:p>
            <a:pPr>
              <a:buFont typeface="Monotype Sorts" pitchFamily="2" charset="2"/>
              <a:buNone/>
            </a:pPr>
            <a:r>
              <a:rPr lang="en-US"/>
              <a:t>  		Min   5</a:t>
            </a:r>
            <a:r>
              <a:rPr lang="en-US" i="1"/>
              <a:t>x</a:t>
            </a:r>
            <a:r>
              <a:rPr lang="en-US" baseline="-25000"/>
              <a:t>13</a:t>
            </a:r>
            <a:r>
              <a:rPr lang="en-US"/>
              <a:t> + 8</a:t>
            </a:r>
            <a:r>
              <a:rPr lang="en-US" i="1"/>
              <a:t>x</a:t>
            </a:r>
            <a:r>
              <a:rPr lang="en-US" baseline="-25000"/>
              <a:t>14</a:t>
            </a:r>
            <a:r>
              <a:rPr lang="en-US"/>
              <a:t> + 7</a:t>
            </a:r>
            <a:r>
              <a:rPr lang="en-US" i="1"/>
              <a:t>x</a:t>
            </a:r>
            <a:r>
              <a:rPr lang="en-US" baseline="-25000"/>
              <a:t>23</a:t>
            </a:r>
            <a:r>
              <a:rPr lang="en-US"/>
              <a:t> + 4</a:t>
            </a:r>
            <a:r>
              <a:rPr lang="en-US" i="1"/>
              <a:t>x</a:t>
            </a:r>
            <a:r>
              <a:rPr lang="en-US" baseline="-25000"/>
              <a:t>24</a:t>
            </a:r>
            <a:r>
              <a:rPr lang="en-US"/>
              <a:t> + 1</a:t>
            </a:r>
            <a:r>
              <a:rPr lang="en-US" i="1"/>
              <a:t>x</a:t>
            </a:r>
            <a:r>
              <a:rPr lang="en-US" baseline="-25000"/>
              <a:t>35</a:t>
            </a:r>
            <a:r>
              <a:rPr lang="en-US"/>
              <a:t> + 5</a:t>
            </a:r>
            <a:r>
              <a:rPr lang="en-US" i="1"/>
              <a:t>x</a:t>
            </a:r>
            <a:r>
              <a:rPr lang="en-US" baseline="-25000"/>
              <a:t>36</a:t>
            </a:r>
            <a:r>
              <a:rPr lang="en-US"/>
              <a:t> + 8</a:t>
            </a:r>
            <a:r>
              <a:rPr lang="en-US" i="1"/>
              <a:t>x</a:t>
            </a:r>
            <a:r>
              <a:rPr lang="en-US" baseline="-25000"/>
              <a:t>37</a:t>
            </a:r>
            <a:r>
              <a:rPr lang="en-US"/>
              <a:t> </a:t>
            </a:r>
          </a:p>
          <a:p>
            <a:pPr>
              <a:buFont typeface="Monotype Sorts" pitchFamily="2" charset="2"/>
              <a:buNone/>
            </a:pPr>
            <a:r>
              <a:rPr lang="en-US"/>
              <a:t>		       + 3</a:t>
            </a:r>
            <a:r>
              <a:rPr lang="en-US" i="1"/>
              <a:t>x</a:t>
            </a:r>
            <a:r>
              <a:rPr lang="en-US" baseline="-25000"/>
              <a:t>45 </a:t>
            </a:r>
            <a:r>
              <a:rPr lang="en-US"/>
              <a:t>+ 4</a:t>
            </a:r>
            <a:r>
              <a:rPr lang="en-US" i="1"/>
              <a:t>x</a:t>
            </a:r>
            <a:r>
              <a:rPr lang="en-US" baseline="-25000"/>
              <a:t>46</a:t>
            </a:r>
            <a:r>
              <a:rPr lang="en-US"/>
              <a:t> + 4</a:t>
            </a:r>
            <a:r>
              <a:rPr lang="en-US" i="1"/>
              <a:t>x</a:t>
            </a:r>
            <a:r>
              <a:rPr lang="en-US" baseline="-25000"/>
              <a:t>47</a:t>
            </a: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6368040" y="2264400"/>
              <a:ext cx="360" cy="360"/>
            </p14:xfrm>
          </p:contentPart>
        </mc:Choice>
        <mc:Fallback xmlns="">
          <p:pic>
            <p:nvPicPr>
              <p:cNvPr id="2" name="Ink 1"/>
              <p:cNvPicPr/>
              <p:nvPr/>
            </p:nvPicPr>
            <p:blipFill>
              <a:blip r:embed="rId4"/>
              <a:stretch>
                <a:fillRect/>
              </a:stretch>
            </p:blipFill>
            <p:spPr>
              <a:xfrm>
                <a:off x="438120" y="2255040"/>
                <a:ext cx="8307720" cy="3805560"/>
              </a:xfrm>
              <a:prstGeom prst="rect">
                <a:avLst/>
              </a:prstGeom>
            </p:spPr>
          </p:pic>
        </mc:Fallback>
      </mc:AlternateContent>
    </p:spTree>
  </p:cSld>
  <p:clrMapOvr>
    <a:masterClrMapping/>
  </p:clrMapOvr>
  <p:transition>
    <p:zo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noFill/>
          <a:ln/>
        </p:spPr>
        <p:txBody>
          <a:bodyPr/>
          <a:lstStyle/>
          <a:p>
            <a:r>
              <a:rPr lang="en-US"/>
              <a:t>Example:  Transshipping</a:t>
            </a:r>
          </a:p>
        </p:txBody>
      </p:sp>
      <p:sp>
        <p:nvSpPr>
          <p:cNvPr id="57347" name="Rectangle 3"/>
          <p:cNvSpPr>
            <a:spLocks noGrp="1" noChangeArrowheads="1"/>
          </p:cNvSpPr>
          <p:nvPr>
            <p:ph type="body" idx="1"/>
          </p:nvPr>
        </p:nvSpPr>
        <p:spPr>
          <a:noFill/>
          <a:ln/>
        </p:spPr>
        <p:txBody>
          <a:bodyPr/>
          <a:lstStyle/>
          <a:p>
            <a:r>
              <a:rPr lang="en-US">
                <a:solidFill>
                  <a:schemeClr val="tx2"/>
                </a:solidFill>
              </a:rPr>
              <a:t>Constraints Defined</a:t>
            </a:r>
          </a:p>
          <a:p>
            <a:pPr>
              <a:buFont typeface="Monotype Sorts" pitchFamily="2" charset="2"/>
              <a:buNone/>
            </a:pPr>
            <a:r>
              <a:rPr lang="en-US"/>
              <a:t>Amount Out of Arnold:            </a:t>
            </a:r>
            <a:r>
              <a:rPr lang="en-US" i="1"/>
              <a:t>x</a:t>
            </a:r>
            <a:r>
              <a:rPr lang="en-US" baseline="-25000"/>
              <a:t>13</a:t>
            </a:r>
            <a:r>
              <a:rPr lang="en-US"/>
              <a:t> + </a:t>
            </a:r>
            <a:r>
              <a:rPr lang="en-US" i="1"/>
              <a:t>x</a:t>
            </a:r>
            <a:r>
              <a:rPr lang="en-US" baseline="-25000"/>
              <a:t>14</a:t>
            </a:r>
            <a:r>
              <a:rPr lang="en-US"/>
              <a:t>  </a:t>
            </a:r>
            <a:r>
              <a:rPr lang="en-US" u="sng"/>
              <a:t>&lt;</a:t>
            </a:r>
            <a:r>
              <a:rPr lang="en-US"/>
              <a:t>  75</a:t>
            </a:r>
          </a:p>
          <a:p>
            <a:pPr>
              <a:buFont typeface="Monotype Sorts" pitchFamily="2" charset="2"/>
              <a:buNone/>
            </a:pPr>
            <a:r>
              <a:rPr lang="en-US"/>
              <a:t>Amount Out of Supershelf:      </a:t>
            </a:r>
            <a:r>
              <a:rPr lang="en-US" i="1"/>
              <a:t>x</a:t>
            </a:r>
            <a:r>
              <a:rPr lang="en-US" baseline="-25000"/>
              <a:t>23</a:t>
            </a:r>
            <a:r>
              <a:rPr lang="en-US"/>
              <a:t> + </a:t>
            </a:r>
            <a:r>
              <a:rPr lang="en-US" i="1"/>
              <a:t>x</a:t>
            </a:r>
            <a:r>
              <a:rPr lang="en-US" baseline="-25000"/>
              <a:t>24</a:t>
            </a:r>
            <a:r>
              <a:rPr lang="en-US"/>
              <a:t>  </a:t>
            </a:r>
            <a:r>
              <a:rPr lang="en-US" u="sng"/>
              <a:t>&lt;</a:t>
            </a:r>
            <a:r>
              <a:rPr lang="en-US"/>
              <a:t>  75</a:t>
            </a:r>
          </a:p>
          <a:p>
            <a:pPr>
              <a:buFont typeface="Monotype Sorts" pitchFamily="2" charset="2"/>
              <a:buNone/>
            </a:pPr>
            <a:r>
              <a:rPr lang="en-US"/>
              <a:t>Amount Through Thomas:	      </a:t>
            </a:r>
            <a:r>
              <a:rPr lang="en-US" i="1"/>
              <a:t>x</a:t>
            </a:r>
            <a:r>
              <a:rPr lang="en-US" baseline="-25000"/>
              <a:t>13</a:t>
            </a:r>
            <a:r>
              <a:rPr lang="en-US"/>
              <a:t> + </a:t>
            </a:r>
            <a:r>
              <a:rPr lang="en-US" i="1"/>
              <a:t>x</a:t>
            </a:r>
            <a:r>
              <a:rPr lang="en-US" baseline="-25000"/>
              <a:t>23</a:t>
            </a:r>
            <a:r>
              <a:rPr lang="en-US"/>
              <a:t> - </a:t>
            </a:r>
            <a:r>
              <a:rPr lang="en-US" i="1"/>
              <a:t>x</a:t>
            </a:r>
            <a:r>
              <a:rPr lang="en-US" baseline="-25000"/>
              <a:t>35</a:t>
            </a:r>
            <a:r>
              <a:rPr lang="en-US"/>
              <a:t> - </a:t>
            </a:r>
            <a:r>
              <a:rPr lang="en-US" i="1"/>
              <a:t>x</a:t>
            </a:r>
            <a:r>
              <a:rPr lang="en-US" baseline="-25000"/>
              <a:t>36</a:t>
            </a:r>
            <a:r>
              <a:rPr lang="en-US"/>
              <a:t> - </a:t>
            </a:r>
            <a:r>
              <a:rPr lang="en-US" i="1"/>
              <a:t>x</a:t>
            </a:r>
            <a:r>
              <a:rPr lang="en-US" baseline="-25000"/>
              <a:t>37</a:t>
            </a:r>
            <a:r>
              <a:rPr lang="en-US"/>
              <a:t>  =  0</a:t>
            </a:r>
          </a:p>
          <a:p>
            <a:pPr>
              <a:buFont typeface="Monotype Sorts" pitchFamily="2" charset="2"/>
              <a:buNone/>
            </a:pPr>
            <a:r>
              <a:rPr lang="en-US"/>
              <a:t>Amount Through Washburn:  </a:t>
            </a:r>
            <a:r>
              <a:rPr lang="en-US" i="1"/>
              <a:t>x</a:t>
            </a:r>
            <a:r>
              <a:rPr lang="en-US" baseline="-25000"/>
              <a:t>14</a:t>
            </a:r>
            <a:r>
              <a:rPr lang="en-US"/>
              <a:t> + </a:t>
            </a:r>
            <a:r>
              <a:rPr lang="en-US" i="1"/>
              <a:t>x</a:t>
            </a:r>
            <a:r>
              <a:rPr lang="en-US" baseline="-25000"/>
              <a:t>24</a:t>
            </a:r>
            <a:r>
              <a:rPr lang="en-US"/>
              <a:t> - </a:t>
            </a:r>
            <a:r>
              <a:rPr lang="en-US" i="1"/>
              <a:t>x</a:t>
            </a:r>
            <a:r>
              <a:rPr lang="en-US" baseline="-25000"/>
              <a:t>45</a:t>
            </a:r>
            <a:r>
              <a:rPr lang="en-US"/>
              <a:t> - </a:t>
            </a:r>
            <a:r>
              <a:rPr lang="en-US" i="1"/>
              <a:t>x</a:t>
            </a:r>
            <a:r>
              <a:rPr lang="en-US" baseline="-25000"/>
              <a:t>46</a:t>
            </a:r>
            <a:r>
              <a:rPr lang="en-US"/>
              <a:t> - </a:t>
            </a:r>
            <a:r>
              <a:rPr lang="en-US" i="1"/>
              <a:t>x</a:t>
            </a:r>
            <a:r>
              <a:rPr lang="en-US" baseline="-25000"/>
              <a:t>47</a:t>
            </a:r>
            <a:r>
              <a:rPr lang="en-US"/>
              <a:t>  =  0</a:t>
            </a:r>
          </a:p>
          <a:p>
            <a:pPr>
              <a:buFont typeface="Monotype Sorts" pitchFamily="2" charset="2"/>
              <a:buNone/>
            </a:pPr>
            <a:r>
              <a:rPr lang="en-US"/>
              <a:t>Amount Into Zrox:           	      </a:t>
            </a:r>
            <a:r>
              <a:rPr lang="en-US" i="1"/>
              <a:t>x</a:t>
            </a:r>
            <a:r>
              <a:rPr lang="en-US" baseline="-25000"/>
              <a:t>35</a:t>
            </a:r>
            <a:r>
              <a:rPr lang="en-US"/>
              <a:t> + </a:t>
            </a:r>
            <a:r>
              <a:rPr lang="en-US" i="1"/>
              <a:t>x</a:t>
            </a:r>
            <a:r>
              <a:rPr lang="en-US" baseline="-25000"/>
              <a:t>45</a:t>
            </a:r>
            <a:r>
              <a:rPr lang="en-US"/>
              <a:t>  =  50</a:t>
            </a:r>
          </a:p>
          <a:p>
            <a:pPr>
              <a:buFont typeface="Monotype Sorts" pitchFamily="2" charset="2"/>
              <a:buNone/>
            </a:pPr>
            <a:r>
              <a:rPr lang="en-US"/>
              <a:t>Amount Into Hewes:         	      </a:t>
            </a:r>
            <a:r>
              <a:rPr lang="en-US" i="1"/>
              <a:t>x</a:t>
            </a:r>
            <a:r>
              <a:rPr lang="en-US" baseline="-25000"/>
              <a:t>36</a:t>
            </a:r>
            <a:r>
              <a:rPr lang="en-US"/>
              <a:t> + </a:t>
            </a:r>
            <a:r>
              <a:rPr lang="en-US" i="1"/>
              <a:t>x</a:t>
            </a:r>
            <a:r>
              <a:rPr lang="en-US" baseline="-25000"/>
              <a:t>46</a:t>
            </a:r>
            <a:r>
              <a:rPr lang="en-US"/>
              <a:t>  =  60</a:t>
            </a:r>
          </a:p>
          <a:p>
            <a:pPr>
              <a:buFont typeface="Monotype Sorts" pitchFamily="2" charset="2"/>
              <a:buNone/>
            </a:pPr>
            <a:r>
              <a:rPr lang="en-US"/>
              <a:t>Amount Into Rockwright: 	      </a:t>
            </a:r>
            <a:r>
              <a:rPr lang="en-US" i="1"/>
              <a:t>x</a:t>
            </a:r>
            <a:r>
              <a:rPr lang="en-US" baseline="-25000"/>
              <a:t>37</a:t>
            </a:r>
            <a:r>
              <a:rPr lang="en-US"/>
              <a:t> + </a:t>
            </a:r>
            <a:r>
              <a:rPr lang="en-US" i="1"/>
              <a:t>x</a:t>
            </a:r>
            <a:r>
              <a:rPr lang="en-US" baseline="-25000"/>
              <a:t>47</a:t>
            </a:r>
            <a:r>
              <a:rPr lang="en-US"/>
              <a:t>  =  40</a:t>
            </a:r>
          </a:p>
          <a:p>
            <a:pPr>
              <a:buFont typeface="Monotype Sorts" pitchFamily="2" charset="2"/>
              <a:buNone/>
            </a:pPr>
            <a:endParaRPr lang="en-US" sz="1000"/>
          </a:p>
          <a:p>
            <a:pPr>
              <a:buFont typeface="Monotype Sorts" pitchFamily="2" charset="2"/>
              <a:buNone/>
            </a:pPr>
            <a:r>
              <a:rPr lang="en-US"/>
              <a:t>Non-negativity of Variables:   </a:t>
            </a:r>
            <a:r>
              <a:rPr lang="en-US" i="1"/>
              <a:t>x</a:t>
            </a:r>
            <a:r>
              <a:rPr lang="en-US" i="1" baseline="-25000"/>
              <a:t>ij</a:t>
            </a:r>
            <a:r>
              <a:rPr lang="en-US"/>
              <a:t> </a:t>
            </a:r>
            <a:r>
              <a:rPr lang="en-US" u="sng"/>
              <a:t>&gt;</a:t>
            </a:r>
            <a:r>
              <a:rPr lang="en-US"/>
              <a:t>  0, for all </a:t>
            </a:r>
            <a:r>
              <a:rPr lang="en-US" i="1"/>
              <a:t>i</a:t>
            </a:r>
            <a:r>
              <a:rPr lang="en-US"/>
              <a:t> and </a:t>
            </a:r>
            <a:r>
              <a:rPr lang="en-US" i="1"/>
              <a:t>j</a:t>
            </a:r>
            <a:r>
              <a:rPr lang="en-US"/>
              <a:t>.</a:t>
            </a:r>
          </a:p>
        </p:txBody>
      </p:sp>
    </p:spTree>
  </p:cSld>
  <p:clrMapOvr>
    <a:masterClrMapping/>
  </p:clrMapOvr>
  <p:transition>
    <p:zo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lstStyle/>
          <a:p>
            <a:r>
              <a:rPr lang="en-US" sz="2400"/>
              <a:t>Solving the transshipment problem using transportation algorithm</a:t>
            </a:r>
          </a:p>
        </p:txBody>
      </p:sp>
      <p:sp>
        <p:nvSpPr>
          <p:cNvPr id="149507" name="Rectangle 3"/>
          <p:cNvSpPr>
            <a:spLocks noGrp="1" noChangeArrowheads="1"/>
          </p:cNvSpPr>
          <p:nvPr>
            <p:ph type="body" idx="1"/>
          </p:nvPr>
        </p:nvSpPr>
        <p:spPr/>
        <p:txBody>
          <a:bodyPr/>
          <a:lstStyle/>
          <a:p>
            <a:r>
              <a:rPr lang="en-US" sz="3200">
                <a:solidFill>
                  <a:srgbClr val="FF9900"/>
                </a:solidFill>
              </a:rPr>
              <a:t>Supply point</a:t>
            </a:r>
            <a:r>
              <a:rPr lang="en-US" sz="3200"/>
              <a:t>: is a point that can send goods to another point but can not receive goods from any other point</a:t>
            </a:r>
          </a:p>
          <a:p>
            <a:r>
              <a:rPr lang="en-US" sz="3200">
                <a:solidFill>
                  <a:srgbClr val="FF9900"/>
                </a:solidFill>
              </a:rPr>
              <a:t>Demand point</a:t>
            </a:r>
            <a:r>
              <a:rPr lang="en-US" sz="3200"/>
              <a:t>: is a point that can receive goods form other points but cannot send goods to any other point.</a:t>
            </a:r>
          </a:p>
          <a:p>
            <a:r>
              <a:rPr lang="en-US" sz="3200">
                <a:solidFill>
                  <a:srgbClr val="FF9900"/>
                </a:solidFill>
              </a:rPr>
              <a:t>Transshipment point</a:t>
            </a:r>
            <a:r>
              <a:rPr lang="en-US" sz="3200"/>
              <a:t>: is a point that can both receive goods from other points and send goods to other points </a:t>
            </a:r>
          </a:p>
        </p:txBody>
      </p:sp>
    </p:spTree>
  </p:cSld>
  <p:clrMapOvr>
    <a:masterClrMapping/>
  </p:clrMapOvr>
  <p:transition>
    <p:zo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a:lstStyle/>
          <a:p>
            <a:r>
              <a:rPr lang="en-US" sz="2400"/>
              <a:t>Solving the transshipment problem using transportation algorithm</a:t>
            </a:r>
          </a:p>
        </p:txBody>
      </p:sp>
      <p:sp>
        <p:nvSpPr>
          <p:cNvPr id="150531" name="Rectangle 3"/>
          <p:cNvSpPr>
            <a:spLocks noGrp="1" noChangeArrowheads="1"/>
          </p:cNvSpPr>
          <p:nvPr>
            <p:ph type="body" idx="1"/>
          </p:nvPr>
        </p:nvSpPr>
        <p:spPr>
          <a:xfrm>
            <a:off x="520700" y="1065213"/>
            <a:ext cx="8101013" cy="5588000"/>
          </a:xfrm>
        </p:spPr>
        <p:txBody>
          <a:bodyPr/>
          <a:lstStyle/>
          <a:p>
            <a:pPr>
              <a:lnSpc>
                <a:spcPct val="90000"/>
              </a:lnSpc>
            </a:pPr>
            <a:r>
              <a:rPr lang="en-US" sz="2000" dirty="0"/>
              <a:t>a transshipment problem can be transformed to a balanced transportation problem by using the following procedure:</a:t>
            </a:r>
          </a:p>
          <a:p>
            <a:pPr lvl="1">
              <a:lnSpc>
                <a:spcPct val="90000"/>
              </a:lnSpc>
            </a:pPr>
            <a:r>
              <a:rPr lang="en-US" sz="2000" dirty="0"/>
              <a:t>Step 1: if necessary, add a dummy demand point  or a dummy supply point as needed</a:t>
            </a:r>
          </a:p>
          <a:p>
            <a:pPr lvl="1">
              <a:lnSpc>
                <a:spcPct val="90000"/>
              </a:lnSpc>
            </a:pPr>
            <a:r>
              <a:rPr lang="en-US" sz="2000" dirty="0"/>
              <a:t>Step 2: construct a transportation tableau as follows:</a:t>
            </a:r>
          </a:p>
          <a:p>
            <a:pPr lvl="2">
              <a:lnSpc>
                <a:spcPct val="90000"/>
              </a:lnSpc>
            </a:pPr>
            <a:r>
              <a:rPr lang="en-US" sz="2000" dirty="0"/>
              <a:t>A row in the tableau will be needed for each supply point and transshipment point.</a:t>
            </a:r>
          </a:p>
          <a:p>
            <a:pPr lvl="2">
              <a:lnSpc>
                <a:spcPct val="90000"/>
              </a:lnSpc>
            </a:pPr>
            <a:r>
              <a:rPr lang="en-US" sz="2000" dirty="0"/>
              <a:t>A column will be needed for each demand point and transshipment point</a:t>
            </a:r>
          </a:p>
          <a:p>
            <a:pPr lvl="2">
              <a:lnSpc>
                <a:spcPct val="90000"/>
              </a:lnSpc>
            </a:pPr>
            <a:r>
              <a:rPr lang="en-US" sz="2000" dirty="0"/>
              <a:t>Each supply point will have a supply equal to its original supply,  and each demand point will have a demand equals to its original demand.</a:t>
            </a:r>
          </a:p>
          <a:p>
            <a:pPr lvl="2">
              <a:lnSpc>
                <a:spcPct val="90000"/>
              </a:lnSpc>
            </a:pPr>
            <a:r>
              <a:rPr lang="en-US" sz="2000" dirty="0"/>
              <a:t>each transshipment point  will have </a:t>
            </a:r>
          </a:p>
          <a:p>
            <a:pPr lvl="2">
              <a:lnSpc>
                <a:spcPct val="90000"/>
              </a:lnSpc>
              <a:buFont typeface="Wingdings" panose="05000000000000000000" pitchFamily="2" charset="2"/>
              <a:buNone/>
            </a:pPr>
            <a:r>
              <a:rPr lang="en-US" sz="2000" dirty="0"/>
              <a:t>      </a:t>
            </a:r>
            <a:r>
              <a:rPr lang="en-US" sz="2000" dirty="0">
                <a:solidFill>
                  <a:schemeClr val="tx2">
                    <a:lumMod val="60000"/>
                    <a:lumOff val="40000"/>
                  </a:schemeClr>
                </a:solidFill>
              </a:rPr>
              <a:t>supply = its original supply + total available supply, and</a:t>
            </a:r>
          </a:p>
          <a:p>
            <a:pPr lvl="2">
              <a:lnSpc>
                <a:spcPct val="90000"/>
              </a:lnSpc>
              <a:buFont typeface="Wingdings" panose="05000000000000000000" pitchFamily="2" charset="2"/>
              <a:buNone/>
            </a:pPr>
            <a:r>
              <a:rPr lang="en-US" sz="2000" dirty="0">
                <a:solidFill>
                  <a:schemeClr val="tx2">
                    <a:lumMod val="60000"/>
                    <a:lumOff val="40000"/>
                  </a:schemeClr>
                </a:solidFill>
              </a:rPr>
              <a:t>      demand = its original demand + total available supply</a:t>
            </a:r>
          </a:p>
          <a:p>
            <a:pPr>
              <a:lnSpc>
                <a:spcPct val="90000"/>
              </a:lnSpc>
            </a:pPr>
            <a:r>
              <a:rPr lang="en-US" sz="2000" dirty="0"/>
              <a:t>Then the problem can be solved as a transportation problem				  </a:t>
            </a:r>
          </a:p>
        </p:txBody>
      </p:sp>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7963200" y="1873080"/>
              <a:ext cx="730440" cy="178200"/>
            </p14:xfrm>
          </p:contentPart>
        </mc:Choice>
        <mc:Fallback xmlns="">
          <p:pic>
            <p:nvPicPr>
              <p:cNvPr id="3" name="Ink 2"/>
              <p:cNvPicPr/>
              <p:nvPr/>
            </p:nvPicPr>
            <p:blipFill>
              <a:blip r:embed="rId5"/>
              <a:stretch>
                <a:fillRect/>
              </a:stretch>
            </p:blipFill>
            <p:spPr>
              <a:xfrm>
                <a:off x="1698840" y="1863720"/>
                <a:ext cx="7404120" cy="2044800"/>
              </a:xfrm>
              <a:prstGeom prst="rect">
                <a:avLst/>
              </a:prstGeom>
            </p:spPr>
          </p:pic>
        </mc:Fallback>
      </mc:AlternateContent>
    </p:spTree>
  </p:cSld>
  <p:clrMapOvr>
    <a:masterClrMapping/>
  </p:clrMapOvr>
  <p:transition>
    <p:zo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p:txBody>
          <a:bodyPr/>
          <a:lstStyle/>
          <a:p>
            <a:r>
              <a:rPr lang="en-US" dirty="0"/>
              <a:t>Example: transshipping</a:t>
            </a:r>
          </a:p>
        </p:txBody>
      </p:sp>
      <p:sp>
        <p:nvSpPr>
          <p:cNvPr id="151555" name="Rectangle 3"/>
          <p:cNvSpPr>
            <a:spLocks noGrp="1" noChangeArrowheads="1"/>
          </p:cNvSpPr>
          <p:nvPr>
            <p:ph type="body" sz="half" idx="1"/>
          </p:nvPr>
        </p:nvSpPr>
        <p:spPr>
          <a:xfrm>
            <a:off x="520700" y="684213"/>
            <a:ext cx="8623300" cy="671512"/>
          </a:xfrm>
        </p:spPr>
        <p:txBody>
          <a:bodyPr/>
          <a:lstStyle/>
          <a:p>
            <a:pPr>
              <a:lnSpc>
                <a:spcPct val="90000"/>
              </a:lnSpc>
            </a:pPr>
            <a:r>
              <a:rPr lang="en-US" sz="2000"/>
              <a:t>The balanced transportation tableau for the transshipment problem will be as follows:</a:t>
            </a:r>
          </a:p>
          <a:p>
            <a:pPr>
              <a:lnSpc>
                <a:spcPct val="90000"/>
              </a:lnSpc>
              <a:buFont typeface="Monotype Sorts" pitchFamily="2" charset="2"/>
              <a:buNone/>
            </a:pPr>
            <a:endParaRPr lang="en-US" sz="2000"/>
          </a:p>
        </p:txBody>
      </p:sp>
      <p:graphicFrame>
        <p:nvGraphicFramePr>
          <p:cNvPr id="151627" name="Group 75"/>
          <p:cNvGraphicFramePr>
            <a:graphicFrameLocks noGrp="1"/>
          </p:cNvGraphicFramePr>
          <p:nvPr>
            <p:ph sz="half" idx="2"/>
          </p:nvPr>
        </p:nvGraphicFramePr>
        <p:xfrm>
          <a:off x="287338" y="1481138"/>
          <a:ext cx="8642350" cy="3310256"/>
        </p:xfrm>
        <a:graphic>
          <a:graphicData uri="http://schemas.openxmlformats.org/drawingml/2006/table">
            <a:tbl>
              <a:tblPr/>
              <a:tblGrid>
                <a:gridCol w="1398587">
                  <a:extLst>
                    <a:ext uri="{9D8B030D-6E8A-4147-A177-3AD203B41FA5}">
                      <a16:colId xmlns:a16="http://schemas.microsoft.com/office/drawing/2014/main" val="20000"/>
                    </a:ext>
                  </a:extLst>
                </a:gridCol>
                <a:gridCol w="1069975">
                  <a:extLst>
                    <a:ext uri="{9D8B030D-6E8A-4147-A177-3AD203B41FA5}">
                      <a16:colId xmlns:a16="http://schemas.microsoft.com/office/drawing/2014/main" val="20001"/>
                    </a:ext>
                  </a:extLst>
                </a:gridCol>
                <a:gridCol w="1079500">
                  <a:extLst>
                    <a:ext uri="{9D8B030D-6E8A-4147-A177-3AD203B41FA5}">
                      <a16:colId xmlns:a16="http://schemas.microsoft.com/office/drawing/2014/main" val="20002"/>
                    </a:ext>
                  </a:extLst>
                </a:gridCol>
                <a:gridCol w="1497013">
                  <a:extLst>
                    <a:ext uri="{9D8B030D-6E8A-4147-A177-3AD203B41FA5}">
                      <a16:colId xmlns:a16="http://schemas.microsoft.com/office/drawing/2014/main" val="20003"/>
                    </a:ext>
                  </a:extLst>
                </a:gridCol>
                <a:gridCol w="1128712">
                  <a:extLst>
                    <a:ext uri="{9D8B030D-6E8A-4147-A177-3AD203B41FA5}">
                      <a16:colId xmlns:a16="http://schemas.microsoft.com/office/drawing/2014/main" val="20004"/>
                    </a:ext>
                  </a:extLst>
                </a:gridCol>
                <a:gridCol w="1233488">
                  <a:extLst>
                    <a:ext uri="{9D8B030D-6E8A-4147-A177-3AD203B41FA5}">
                      <a16:colId xmlns:a16="http://schemas.microsoft.com/office/drawing/2014/main" val="20005"/>
                    </a:ext>
                  </a:extLst>
                </a:gridCol>
                <a:gridCol w="1235075">
                  <a:extLst>
                    <a:ext uri="{9D8B030D-6E8A-4147-A177-3AD203B41FA5}">
                      <a16:colId xmlns:a16="http://schemas.microsoft.com/office/drawing/2014/main" val="20006"/>
                    </a:ext>
                  </a:extLst>
                </a:gridCol>
              </a:tblGrid>
              <a:tr h="477838">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endParaRPr kumimoji="0" lang="en-US" sz="1800" b="0" i="0" u="none" strike="noStrike" cap="none" normalizeH="0" baseline="0" dirty="0">
                        <a:ln>
                          <a:noFill/>
                        </a:ln>
                        <a:solidFill>
                          <a:srgbClr val="FFFFFF"/>
                        </a:solidFill>
                        <a:effectLst>
                          <a:outerShdw blurRad="38100" dist="38100" dir="2700000" algn="tl">
                            <a:srgbClr val="000000"/>
                          </a:outerShdw>
                        </a:effectLst>
                        <a:latin typeface="Book Antiqua" panose="0204060205030503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Zrox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Hewes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Rockwright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dirty="0">
                          <a:ln>
                            <a:noFill/>
                          </a:ln>
                          <a:solidFill>
                            <a:srgbClr val="FF9900"/>
                          </a:solidFill>
                          <a:effectLst>
                            <a:outerShdw blurRad="38100" dist="38100" dir="2700000" algn="tl">
                              <a:srgbClr val="000000"/>
                            </a:outerShdw>
                          </a:effectLst>
                          <a:latin typeface="Book Antiqua" panose="02040602050305030304" pitchFamily="18" charset="0"/>
                        </a:rPr>
                        <a:t>Thomas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a:ln>
                            <a:noFill/>
                          </a:ln>
                          <a:solidFill>
                            <a:srgbClr val="FF9900"/>
                          </a:solidFill>
                          <a:effectLst>
                            <a:outerShdw blurRad="38100" dist="38100" dir="2700000" algn="tl">
                              <a:srgbClr val="000000"/>
                            </a:outerShdw>
                          </a:effectLst>
                          <a:latin typeface="Book Antiqua" panose="02040602050305030304" pitchFamily="18" charset="0"/>
                        </a:rPr>
                        <a:t>washburn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2400" b="1" i="0" u="none" strike="noStrike" cap="none" normalizeH="0" baseline="0">
                          <a:ln>
                            <a:noFill/>
                          </a:ln>
                          <a:solidFill>
                            <a:schemeClr val="tx2"/>
                          </a:solidFill>
                          <a:effectLst>
                            <a:outerShdw blurRad="38100" dist="38100" dir="2700000" algn="tl">
                              <a:srgbClr val="000000"/>
                            </a:outerShdw>
                          </a:effectLst>
                          <a:latin typeface="Book Antiqua" panose="02040602050305030304" pitchFamily="18" charset="0"/>
                        </a:rPr>
                        <a:t>Supply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2288">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Arnold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dirty="0">
                          <a:ln>
                            <a:noFill/>
                          </a:ln>
                          <a:solidFill>
                            <a:srgbClr val="FFFFFF"/>
                          </a:solidFill>
                          <a:effectLst>
                            <a:outerShdw blurRad="38100" dist="38100" dir="2700000" algn="tl">
                              <a:srgbClr val="000000"/>
                            </a:outerShdw>
                          </a:effectLst>
                          <a:latin typeface="Book Antiqua" panose="02040602050305030304" pitchFamily="18"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1" i="0" u="none" strike="noStrike" cap="none" normalizeH="0" baseline="0">
                          <a:ln>
                            <a:noFill/>
                          </a:ln>
                          <a:solidFill>
                            <a:schemeClr val="tx2"/>
                          </a:solidFill>
                          <a:effectLst>
                            <a:outerShdw blurRad="38100" dist="38100" dir="2700000" algn="tl">
                              <a:srgbClr val="000000"/>
                            </a:outerShdw>
                          </a:effectLst>
                          <a:latin typeface="Book Antiqua" panose="02040602050305030304" pitchFamily="18" charset="0"/>
                        </a:rPr>
                        <a:t>75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7538">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Supper shell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dirty="0">
                          <a:ln>
                            <a:noFill/>
                          </a:ln>
                          <a:solidFill>
                            <a:srgbClr val="FFFFFF"/>
                          </a:solidFill>
                          <a:effectLst>
                            <a:outerShdw blurRad="38100" dist="38100" dir="2700000" algn="tl">
                              <a:srgbClr val="000000"/>
                            </a:outerShdw>
                          </a:effectLst>
                          <a:latin typeface="Book Antiqua" panose="02040602050305030304" pitchFamily="18"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1" i="0" u="none" strike="noStrike" cap="none" normalizeH="0" baseline="0">
                          <a:ln>
                            <a:noFill/>
                          </a:ln>
                          <a:solidFill>
                            <a:schemeClr val="tx2"/>
                          </a:solidFill>
                          <a:effectLst>
                            <a:outerShdw blurRad="38100" dist="38100" dir="2700000" algn="tl">
                              <a:srgbClr val="000000"/>
                            </a:outerShdw>
                          </a:effectLst>
                          <a:latin typeface="Book Antiqua" panose="02040602050305030304" pitchFamily="18" charset="0"/>
                        </a:rPr>
                        <a:t>75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0225">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a:ln>
                            <a:noFill/>
                          </a:ln>
                          <a:solidFill>
                            <a:srgbClr val="FF9900"/>
                          </a:solidFill>
                          <a:effectLst>
                            <a:outerShdw blurRad="38100" dist="38100" dir="2700000" algn="tl">
                              <a:srgbClr val="000000"/>
                            </a:outerShdw>
                          </a:effectLst>
                          <a:latin typeface="Book Antiqua" panose="02040602050305030304" pitchFamily="18" charset="0"/>
                        </a:rPr>
                        <a:t>Thomas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dirty="0">
                          <a:ln>
                            <a:noFill/>
                          </a:ln>
                          <a:solidFill>
                            <a:srgbClr val="FFFFFF"/>
                          </a:solidFill>
                          <a:effectLst>
                            <a:outerShdw blurRad="38100" dist="38100" dir="2700000" algn="tl">
                              <a:srgbClr val="000000"/>
                            </a:outerShdw>
                          </a:effectLst>
                          <a:latin typeface="Book Antiqua" panose="02040602050305030304" pitchFamily="18"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1" i="0" u="none" strike="noStrike" cap="none" normalizeH="0" baseline="0">
                          <a:ln>
                            <a:noFill/>
                          </a:ln>
                          <a:solidFill>
                            <a:schemeClr val="tx2"/>
                          </a:solidFill>
                          <a:effectLst>
                            <a:outerShdw blurRad="38100" dist="38100" dir="2700000" algn="tl">
                              <a:srgbClr val="000000"/>
                            </a:outerShdw>
                          </a:effectLst>
                          <a:latin typeface="Book Antiqua" panose="02040602050305030304" pitchFamily="18" charset="0"/>
                        </a:rPr>
                        <a:t>150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98475">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a:ln>
                            <a:noFill/>
                          </a:ln>
                          <a:solidFill>
                            <a:srgbClr val="FF9900"/>
                          </a:solidFill>
                          <a:effectLst>
                            <a:outerShdw blurRad="38100" dist="38100" dir="2700000" algn="tl">
                              <a:srgbClr val="000000"/>
                            </a:outerShdw>
                          </a:effectLst>
                          <a:latin typeface="Book Antiqua" panose="02040602050305030304" pitchFamily="18" charset="0"/>
                        </a:rPr>
                        <a:t>Washburn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dirty="0">
                          <a:ln>
                            <a:noFill/>
                          </a:ln>
                          <a:solidFill>
                            <a:srgbClr val="FFFFFF"/>
                          </a:solidFill>
                          <a:effectLst>
                            <a:outerShdw blurRad="38100" dist="38100" dir="2700000" algn="tl">
                              <a:srgbClr val="000000"/>
                            </a:outerShdw>
                          </a:effectLst>
                          <a:latin typeface="Book Antiqua" panose="02040602050305030304"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0" i="0" u="none" strike="noStrike" cap="none" normalizeH="0" baseline="0">
                          <a:ln>
                            <a:noFill/>
                          </a:ln>
                          <a:solidFill>
                            <a:srgbClr val="FFFFFF"/>
                          </a:solidFill>
                          <a:effectLst>
                            <a:outerShdw blurRad="38100" dist="38100" dir="2700000" algn="tl">
                              <a:srgbClr val="000000"/>
                            </a:outerShdw>
                          </a:effectLst>
                          <a:latin typeface="Book Antiqua" panose="02040602050305030304"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1" i="0" u="none" strike="noStrike" cap="none" normalizeH="0" baseline="0">
                          <a:ln>
                            <a:noFill/>
                          </a:ln>
                          <a:solidFill>
                            <a:schemeClr val="tx2"/>
                          </a:solidFill>
                          <a:effectLst>
                            <a:outerShdw blurRad="38100" dist="38100" dir="2700000" algn="tl">
                              <a:srgbClr val="000000"/>
                            </a:outerShdw>
                          </a:effectLst>
                          <a:latin typeface="Book Antiqua" panose="02040602050305030304" pitchFamily="18" charset="0"/>
                        </a:rPr>
                        <a:t>150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41350">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2400" b="1" i="0" u="none" strike="noStrike" cap="none" normalizeH="0" baseline="0">
                          <a:ln>
                            <a:noFill/>
                          </a:ln>
                          <a:solidFill>
                            <a:schemeClr val="tx2"/>
                          </a:solidFill>
                          <a:effectLst>
                            <a:outerShdw blurRad="38100" dist="38100" dir="2700000" algn="tl">
                              <a:srgbClr val="000000"/>
                            </a:outerShdw>
                          </a:effectLst>
                          <a:latin typeface="Book Antiqua" panose="02040602050305030304" pitchFamily="18" charset="0"/>
                        </a:rPr>
                        <a:t>Demand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1" i="0" u="none" strike="noStrike" cap="none" normalizeH="0" baseline="0">
                          <a:ln>
                            <a:noFill/>
                          </a:ln>
                          <a:solidFill>
                            <a:schemeClr val="tx2"/>
                          </a:solidFill>
                          <a:effectLst>
                            <a:outerShdw blurRad="38100" dist="38100" dir="2700000" algn="tl">
                              <a:srgbClr val="000000"/>
                            </a:outerShdw>
                          </a:effectLst>
                          <a:latin typeface="Book Antiqua" panose="02040602050305030304" pitchFamily="18" charset="0"/>
                        </a:rPr>
                        <a:t>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1" i="0" u="none" strike="noStrike" cap="none" normalizeH="0" baseline="0">
                          <a:ln>
                            <a:noFill/>
                          </a:ln>
                          <a:solidFill>
                            <a:schemeClr val="tx2"/>
                          </a:solidFill>
                          <a:effectLst>
                            <a:outerShdw blurRad="38100" dist="38100" dir="2700000" algn="tl">
                              <a:srgbClr val="000000"/>
                            </a:outerShdw>
                          </a:effectLst>
                          <a:latin typeface="Book Antiqua" panose="02040602050305030304" pitchFamily="18" charset="0"/>
                        </a:rPr>
                        <a:t>60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1" i="0" u="none" strike="noStrike" cap="none" normalizeH="0" baseline="0" dirty="0">
                          <a:ln>
                            <a:noFill/>
                          </a:ln>
                          <a:solidFill>
                            <a:schemeClr val="tx2"/>
                          </a:solidFill>
                          <a:effectLst>
                            <a:outerShdw blurRad="38100" dist="38100" dir="2700000" algn="tl">
                              <a:srgbClr val="000000"/>
                            </a:outerShdw>
                          </a:effectLst>
                          <a:latin typeface="Book Antiqua" panose="02040602050305030304" pitchFamily="18" charset="0"/>
                        </a:rPr>
                        <a:t>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1" i="0" u="none" strike="noStrike" cap="none" normalizeH="0" baseline="0">
                          <a:ln>
                            <a:noFill/>
                          </a:ln>
                          <a:solidFill>
                            <a:schemeClr val="tx2"/>
                          </a:solidFill>
                          <a:effectLst>
                            <a:outerShdw blurRad="38100" dist="38100" dir="2700000" algn="tl">
                              <a:srgbClr val="000000"/>
                            </a:outerShdw>
                          </a:effectLst>
                          <a:latin typeface="Book Antiqua" panose="02040602050305030304" pitchFamily="18" charset="0"/>
                        </a:rPr>
                        <a:t>150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800" b="1" i="0" u="none" strike="noStrike" cap="none" normalizeH="0" baseline="0">
                          <a:ln>
                            <a:noFill/>
                          </a:ln>
                          <a:solidFill>
                            <a:schemeClr val="tx2"/>
                          </a:solidFill>
                          <a:effectLst>
                            <a:outerShdw blurRad="38100" dist="38100" dir="2700000" algn="tl">
                              <a:srgbClr val="000000"/>
                            </a:outerShdw>
                          </a:effectLst>
                          <a:latin typeface="Book Antiqua" panose="02040602050305030304" pitchFamily="18" charset="0"/>
                        </a:rPr>
                        <a:t>150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FFFF00"/>
                        </a:buClr>
                        <a:buSzPct val="75000"/>
                        <a:buFont typeface="Monotype Sorts" pitchFamily="2" charset="2"/>
                        <a:defRPr sz="2000">
                          <a:solidFill>
                            <a:srgbClr val="FFFFFF"/>
                          </a:solidFill>
                          <a:effectLst>
                            <a:outerShdw blurRad="38100" dist="38100" dir="2700000" algn="tl">
                              <a:srgbClr val="000000"/>
                            </a:outerShdw>
                          </a:effectLst>
                          <a:latin typeface="Book Antiqua" panose="02040602050305030304" pitchFamily="18" charset="0"/>
                        </a:defRPr>
                      </a:lvl1pPr>
                      <a:lvl2pPr>
                        <a:spcBef>
                          <a:spcPct val="20000"/>
                        </a:spcBef>
                        <a:buClr>
                          <a:srgbClr val="FFFF00"/>
                        </a:buClr>
                        <a:buSzPct val="100000"/>
                        <a:defRPr sz="2000">
                          <a:solidFill>
                            <a:srgbClr val="FFFFFF"/>
                          </a:solidFill>
                          <a:effectLst>
                            <a:outerShdw blurRad="38100" dist="38100" dir="2700000" algn="tl">
                              <a:srgbClr val="000000"/>
                            </a:outerShdw>
                          </a:effectLst>
                          <a:latin typeface="Book Antiqua" panose="02040602050305030304" pitchFamily="18" charset="0"/>
                        </a:defRPr>
                      </a:lvl2pPr>
                      <a:lvl3pPr>
                        <a:spcBef>
                          <a:spcPct val="20000"/>
                        </a:spcBef>
                        <a:buClr>
                          <a:srgbClr val="FFFF66"/>
                        </a:buClr>
                        <a:buSzPct val="40000"/>
                        <a:buFont typeface="Wingdings" panose="05000000000000000000" pitchFamily="2" charset="2"/>
                        <a:defRPr sz="2000">
                          <a:solidFill>
                            <a:srgbClr val="FFFFFF"/>
                          </a:solidFill>
                          <a:effectLst>
                            <a:outerShdw blurRad="38100" dist="38100" dir="2700000" algn="tl">
                              <a:srgbClr val="000000"/>
                            </a:outerShdw>
                          </a:effectLst>
                          <a:latin typeface="Book Antiqua" panose="0204060205030503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eaLnBrk="0" fontAlgn="base" hangingPunct="0">
                        <a:spcBef>
                          <a:spcPct val="20000"/>
                        </a:spcBef>
                        <a:spcAft>
                          <a:spcPct val="0"/>
                        </a:spcAft>
                        <a:defRPr>
                          <a:solidFill>
                            <a:schemeClr val="tx1"/>
                          </a:solidFill>
                          <a:latin typeface="Times New Roman" panose="02020603050405020304" pitchFamily="18" charset="0"/>
                        </a:defRPr>
                      </a:lvl6pPr>
                      <a:lvl7pPr eaLnBrk="0" fontAlgn="base" hangingPunct="0">
                        <a:spcBef>
                          <a:spcPct val="20000"/>
                        </a:spcBef>
                        <a:spcAft>
                          <a:spcPct val="0"/>
                        </a:spcAft>
                        <a:defRPr>
                          <a:solidFill>
                            <a:schemeClr val="tx1"/>
                          </a:solidFill>
                          <a:latin typeface="Times New Roman" panose="02020603050405020304" pitchFamily="18" charset="0"/>
                        </a:defRPr>
                      </a:lvl7pPr>
                      <a:lvl8pPr eaLnBrk="0" fontAlgn="base" hangingPunct="0">
                        <a:spcBef>
                          <a:spcPct val="20000"/>
                        </a:spcBef>
                        <a:spcAft>
                          <a:spcPct val="0"/>
                        </a:spcAft>
                        <a:defRPr>
                          <a:solidFill>
                            <a:schemeClr val="tx1"/>
                          </a:solidFill>
                          <a:latin typeface="Times New Roman" panose="02020603050405020304" pitchFamily="18" charset="0"/>
                        </a:defRPr>
                      </a:lvl8pPr>
                      <a:lvl9pPr eaLnBrk="0" fontAlgn="base" hangingPunct="0">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FFFF00"/>
                        </a:buClr>
                        <a:buSzPct val="75000"/>
                        <a:buFont typeface="Monotype Sorts" pitchFamily="2" charset="2"/>
                        <a:buNone/>
                        <a:tabLst/>
                      </a:pPr>
                      <a:r>
                        <a:rPr kumimoji="0" lang="en-US" sz="1600" b="1" i="0" u="none" strike="noStrike" cap="none" normalizeH="0" baseline="0" dirty="0">
                          <a:ln>
                            <a:noFill/>
                          </a:ln>
                          <a:solidFill>
                            <a:schemeClr val="tx2"/>
                          </a:solidFill>
                          <a:effectLst>
                            <a:outerShdw blurRad="38100" dist="38100" dir="2700000" algn="tl">
                              <a:srgbClr val="000000"/>
                            </a:outerShdw>
                          </a:effectLst>
                          <a:latin typeface="Book Antiqua" panose="02040602050305030304" pitchFamily="18" charset="0"/>
                        </a:rPr>
                        <a:t>Total = 450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51624" name="Text Box 72"/>
          <p:cNvSpPr txBox="1">
            <a:spLocks noChangeArrowheads="1"/>
          </p:cNvSpPr>
          <p:nvPr/>
        </p:nvSpPr>
        <p:spPr bwMode="auto">
          <a:xfrm>
            <a:off x="307975" y="5092700"/>
            <a:ext cx="8836025" cy="1433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sz="2200" b="1">
                <a:solidFill>
                  <a:schemeClr val="accent2"/>
                </a:solidFill>
              </a:rPr>
              <a:t> Where M is a very large number and used when the route is not valid</a:t>
            </a:r>
          </a:p>
          <a:p>
            <a:pPr>
              <a:spcBef>
                <a:spcPct val="50000"/>
              </a:spcBef>
              <a:buFontTx/>
              <a:buChar char="•"/>
            </a:pPr>
            <a:r>
              <a:rPr lang="en-US" sz="2200" b="1">
                <a:solidFill>
                  <a:schemeClr val="accent2"/>
                </a:solidFill>
              </a:rPr>
              <a:t> Zero cost is used from a destination to itself.</a:t>
            </a:r>
          </a:p>
          <a:p>
            <a:pPr>
              <a:spcBef>
                <a:spcPct val="50000"/>
              </a:spcBef>
              <a:buFontTx/>
              <a:buChar char="•"/>
            </a:pPr>
            <a:r>
              <a:rPr lang="en-US" sz="2200" b="1">
                <a:solidFill>
                  <a:schemeClr val="accent2"/>
                </a:solidFill>
              </a:rPr>
              <a:t>There is no need for dummy row or column, since the problem is balanced</a:t>
            </a:r>
          </a:p>
        </p:txBody>
      </p:sp>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1860840" y="2394000"/>
              <a:ext cx="285840" cy="2718000"/>
            </p14:xfrm>
          </p:contentPart>
        </mc:Choice>
        <mc:Fallback xmlns="">
          <p:pic>
            <p:nvPicPr>
              <p:cNvPr id="3" name="Ink 2"/>
              <p:cNvPicPr/>
              <p:nvPr/>
            </p:nvPicPr>
            <p:blipFill>
              <a:blip r:embed="rId5"/>
              <a:stretch>
                <a:fillRect/>
              </a:stretch>
            </p:blipFill>
            <p:spPr>
              <a:xfrm>
                <a:off x="28800" y="1305000"/>
                <a:ext cx="8172720" cy="4896000"/>
              </a:xfrm>
              <a:prstGeom prst="rect">
                <a:avLst/>
              </a:prstGeom>
            </p:spPr>
          </p:pic>
        </mc:Fallback>
      </mc:AlternateContent>
    </p:spTree>
  </p:cSld>
  <p:clrMapOvr>
    <a:masterClrMapping/>
  </p:clrMapOvr>
  <p:transition>
    <p:zoom/>
  </p:transition>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noFill/>
          <a:ln/>
        </p:spPr>
        <p:txBody>
          <a:bodyPr/>
          <a:lstStyle/>
          <a:p>
            <a:r>
              <a:rPr lang="en-US" dirty="0"/>
              <a:t>The End of Chapter 3</a:t>
            </a:r>
          </a:p>
        </p:txBody>
      </p:sp>
      <p:sp>
        <p:nvSpPr>
          <p:cNvPr id="58371" name="AutoShape 3"/>
          <p:cNvSpPr>
            <a:spLocks noChangeArrowheads="1"/>
          </p:cNvSpPr>
          <p:nvPr/>
        </p:nvSpPr>
        <p:spPr bwMode="auto">
          <a:xfrm>
            <a:off x="3665538" y="3238500"/>
            <a:ext cx="1558925" cy="1611313"/>
          </a:xfrm>
          <a:prstGeom prst="roundRect">
            <a:avLst>
              <a:gd name="adj" fmla="val 12065"/>
            </a:avLst>
          </a:prstGeom>
          <a:noFill/>
          <a:ln w="50800">
            <a:solidFill>
              <a:srgbClr val="FAFD00"/>
            </a:solidFill>
            <a:round/>
            <a:headEnd/>
            <a:tailEnd/>
          </a:ln>
          <a:effectLst>
            <a:outerShdw dist="35921"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en-US"/>
          </a:p>
        </p:txBody>
      </p:sp>
      <p:sp>
        <p:nvSpPr>
          <p:cNvPr id="58372" name="Freeform 4"/>
          <p:cNvSpPr>
            <a:spLocks/>
          </p:cNvSpPr>
          <p:nvPr/>
        </p:nvSpPr>
        <p:spPr bwMode="auto">
          <a:xfrm>
            <a:off x="3810000" y="2324100"/>
            <a:ext cx="1681163" cy="2670175"/>
          </a:xfrm>
          <a:custGeom>
            <a:avLst/>
            <a:gdLst>
              <a:gd name="T0" fmla="*/ 119 w 1059"/>
              <a:gd name="T1" fmla="*/ 784 h 1682"/>
              <a:gd name="T2" fmla="*/ 0 w 1059"/>
              <a:gd name="T3" fmla="*/ 1239 h 1682"/>
              <a:gd name="T4" fmla="*/ 409 w 1059"/>
              <a:gd name="T5" fmla="*/ 1681 h 1682"/>
              <a:gd name="T6" fmla="*/ 1058 w 1059"/>
              <a:gd name="T7" fmla="*/ 196 h 1682"/>
              <a:gd name="T8" fmla="*/ 1058 w 1059"/>
              <a:gd name="T9" fmla="*/ 0 h 1682"/>
              <a:gd name="T10" fmla="*/ 334 w 1059"/>
              <a:gd name="T11" fmla="*/ 1252 h 1682"/>
              <a:gd name="T12" fmla="*/ 119 w 1059"/>
              <a:gd name="T13" fmla="*/ 784 h 1682"/>
            </a:gdLst>
            <a:ahLst/>
            <a:cxnLst>
              <a:cxn ang="0">
                <a:pos x="T0" y="T1"/>
              </a:cxn>
              <a:cxn ang="0">
                <a:pos x="T2" y="T3"/>
              </a:cxn>
              <a:cxn ang="0">
                <a:pos x="T4" y="T5"/>
              </a:cxn>
              <a:cxn ang="0">
                <a:pos x="T6" y="T7"/>
              </a:cxn>
              <a:cxn ang="0">
                <a:pos x="T8" y="T9"/>
              </a:cxn>
              <a:cxn ang="0">
                <a:pos x="T10" y="T11"/>
              </a:cxn>
              <a:cxn ang="0">
                <a:pos x="T12" y="T13"/>
              </a:cxn>
            </a:cxnLst>
            <a:rect l="0" t="0" r="r" b="b"/>
            <a:pathLst>
              <a:path w="1059" h="1682">
                <a:moveTo>
                  <a:pt x="119" y="784"/>
                </a:moveTo>
                <a:lnTo>
                  <a:pt x="0" y="1239"/>
                </a:lnTo>
                <a:lnTo>
                  <a:pt x="409" y="1681"/>
                </a:lnTo>
                <a:lnTo>
                  <a:pt x="1058" y="196"/>
                </a:lnTo>
                <a:lnTo>
                  <a:pt x="1058" y="0"/>
                </a:lnTo>
                <a:lnTo>
                  <a:pt x="334" y="1252"/>
                </a:lnTo>
                <a:lnTo>
                  <a:pt x="119" y="784"/>
                </a:lnTo>
              </a:path>
            </a:pathLst>
          </a:custGeom>
          <a:solidFill>
            <a:schemeClr val="accent2"/>
          </a:solidFill>
          <a:ln>
            <a:noFill/>
          </a:ln>
          <a:effectLst>
            <a:outerShdw dist="35921" dir="2700000" algn="ctr" rotWithShape="0">
              <a:srgbClr val="000000"/>
            </a:outerShdw>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Lst>
        </p:spPr>
        <p:txBody>
          <a:bodyPr/>
          <a:lstStyle/>
          <a:p>
            <a:endParaRPr lang="en-US"/>
          </a:p>
        </p:txBody>
      </p:sp>
    </p:spTree>
  </p:cSld>
  <p:clrMapOvr>
    <a:masterClrMapping/>
  </p:clrMapOvr>
  <p:transition>
    <p:zoom/>
  </p:transition>
</p:sld>
</file>

<file path=ppt/theme/theme1.xml><?xml version="1.0" encoding="utf-8"?>
<a:theme xmlns:a="http://schemas.openxmlformats.org/drawingml/2006/main" name="Ms9ch15">
  <a:themeElements>
    <a:clrScheme name="">
      <a:dk1>
        <a:srgbClr val="000000"/>
      </a:dk1>
      <a:lt1>
        <a:srgbClr val="FCFEB9"/>
      </a:lt1>
      <a:dk2>
        <a:srgbClr val="A00050"/>
      </a:dk2>
      <a:lt2>
        <a:srgbClr val="FAFD00"/>
      </a:lt2>
      <a:accent1>
        <a:srgbClr val="618FFD"/>
      </a:accent1>
      <a:accent2>
        <a:srgbClr val="B760F9"/>
      </a:accent2>
      <a:accent3>
        <a:srgbClr val="CDAAB3"/>
      </a:accent3>
      <a:accent4>
        <a:srgbClr val="D7D99E"/>
      </a:accent4>
      <a:accent5>
        <a:srgbClr val="B7C6FE"/>
      </a:accent5>
      <a:accent6>
        <a:srgbClr val="A656E2"/>
      </a:accent6>
      <a:hlink>
        <a:srgbClr val="919191"/>
      </a:hlink>
      <a:folHlink>
        <a:srgbClr val="B50069"/>
      </a:folHlink>
    </a:clrScheme>
    <a:fontScheme name="Ms9ch15">
      <a:majorFont>
        <a:latin typeface="Book Antiqua"/>
        <a:ea typeface=""/>
        <a:cs typeface=""/>
      </a:majorFont>
      <a:minorFont>
        <a:latin typeface="Book Antiqu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1" u="none" strike="noStrike" cap="none" normalizeH="0" baseline="0" smtClean="0">
            <a:ln>
              <a:noFill/>
            </a:ln>
            <a:solidFill>
              <a:schemeClr val="tx1"/>
            </a:solidFill>
            <a:effectLst/>
            <a:latin typeface="Arial Narrow" panose="020B060602020203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1" u="none" strike="noStrike" cap="none" normalizeH="0" baseline="0" smtClean="0">
            <a:ln>
              <a:noFill/>
            </a:ln>
            <a:solidFill>
              <a:schemeClr val="tx1"/>
            </a:solidFill>
            <a:effectLst/>
            <a:latin typeface="Arial Narrow" panose="020B0606020202030204" pitchFamily="34" charset="0"/>
          </a:defRPr>
        </a:defPPr>
      </a:lstStyle>
    </a:lnDef>
  </a:objectDefaults>
  <a:extraClrSchemeLst>
    <a:extraClrScheme>
      <a:clrScheme name="Ms9ch15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Ms9ch15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Ms9ch15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Ms9ch15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s9ch15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Ms9ch15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Ms9ch15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D:\MS9ppt\Ms9ch15.ppt</Template>
  <TotalTime>5376</TotalTime>
  <Pages>54</Pages>
  <Words>5592</Words>
  <Application>Microsoft Office PowerPoint</Application>
  <PresentationFormat>On-screen Show (4:3)</PresentationFormat>
  <Paragraphs>888</Paragraphs>
  <Slides>68</Slides>
  <Notes>59</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68</vt:i4>
      </vt:variant>
    </vt:vector>
  </HeadingPairs>
  <TitlesOfParts>
    <vt:vector size="76" baseType="lpstr">
      <vt:lpstr>Arial</vt:lpstr>
      <vt:lpstr>Arial Narrow</vt:lpstr>
      <vt:lpstr>Book Antiqua</vt:lpstr>
      <vt:lpstr>Monotype Sorts</vt:lpstr>
      <vt:lpstr>Symbol</vt:lpstr>
      <vt:lpstr>Times New Roman</vt:lpstr>
      <vt:lpstr>Wingdings</vt:lpstr>
      <vt:lpstr>Ms9ch15</vt:lpstr>
      <vt:lpstr>PowerPoint Presentation</vt:lpstr>
      <vt:lpstr>Transportation, Assignment, and Transshipment Problems</vt:lpstr>
      <vt:lpstr>Transportation, Assignment, and Transshipment Problems</vt:lpstr>
      <vt:lpstr>Transportation Problem</vt:lpstr>
      <vt:lpstr>Transportation Problem</vt:lpstr>
      <vt:lpstr>Transportation Problem</vt:lpstr>
      <vt:lpstr>Transportation Problem</vt:lpstr>
      <vt:lpstr>Transportation Problem</vt:lpstr>
      <vt:lpstr>Problem formulation </vt:lpstr>
      <vt:lpstr>Transportation Problem</vt:lpstr>
      <vt:lpstr>Initial Tableau</vt:lpstr>
      <vt:lpstr>Northwest corner</vt:lpstr>
      <vt:lpstr>Transportation Algorithm</vt:lpstr>
      <vt:lpstr>Transportation Algorithm</vt:lpstr>
      <vt:lpstr>Transportation Algorithm</vt:lpstr>
      <vt:lpstr>Transportation Algorithm</vt:lpstr>
      <vt:lpstr>Example: BBC</vt:lpstr>
      <vt:lpstr>Example: BBC</vt:lpstr>
      <vt:lpstr>Example: BBC</vt:lpstr>
      <vt:lpstr>Example: BBC</vt:lpstr>
      <vt:lpstr>Example: BBC</vt:lpstr>
      <vt:lpstr>Example: BBC</vt:lpstr>
      <vt:lpstr>Example: BBC</vt:lpstr>
      <vt:lpstr>Example:  BBC</vt:lpstr>
      <vt:lpstr>Example: BBC</vt:lpstr>
      <vt:lpstr>Example:  BBC</vt:lpstr>
      <vt:lpstr>Example:  BBC</vt:lpstr>
      <vt:lpstr>Example:  BBC</vt:lpstr>
      <vt:lpstr>Example:  BBC</vt:lpstr>
      <vt:lpstr>Example:  BBC</vt:lpstr>
      <vt:lpstr>Example:  BBC</vt:lpstr>
      <vt:lpstr>Example:  BBC</vt:lpstr>
      <vt:lpstr>Example:  BBC</vt:lpstr>
      <vt:lpstr>Example:  BBC</vt:lpstr>
      <vt:lpstr>Assignment Problem</vt:lpstr>
      <vt:lpstr>Assignment Problem</vt:lpstr>
      <vt:lpstr>Assignment Problem</vt:lpstr>
      <vt:lpstr>Example:  Hungry Owner</vt:lpstr>
      <vt:lpstr>Example:  Hungry Owner</vt:lpstr>
      <vt:lpstr>Example:  Hungry Owner</vt:lpstr>
      <vt:lpstr>Example:  Hungry Owner</vt:lpstr>
      <vt:lpstr>Example:  Hungry Owner</vt:lpstr>
      <vt:lpstr>Example:  Hungry Owner</vt:lpstr>
      <vt:lpstr>Variations of Assignment Problem</vt:lpstr>
      <vt:lpstr>Hungarian Method</vt:lpstr>
      <vt:lpstr>Hungarian Method</vt:lpstr>
      <vt:lpstr>Hungarian Method</vt:lpstr>
      <vt:lpstr>Example:  Hungry Owner</vt:lpstr>
      <vt:lpstr>Example:  Hungry Owner</vt:lpstr>
      <vt:lpstr>Example:  Hungry Owner</vt:lpstr>
      <vt:lpstr>Example:  Hungry Owner</vt:lpstr>
      <vt:lpstr>Example:  Hungry Owner</vt:lpstr>
      <vt:lpstr>Example:  Hungry Owner</vt:lpstr>
      <vt:lpstr>Example:  Hungry Owner</vt:lpstr>
      <vt:lpstr>Example:  Hungry Owner</vt:lpstr>
      <vt:lpstr>Example:  Hungry Owner</vt:lpstr>
      <vt:lpstr>Transshipment Problem</vt:lpstr>
      <vt:lpstr>Transshipment Problem</vt:lpstr>
      <vt:lpstr>Transshipment Problem</vt:lpstr>
      <vt:lpstr>Example:  Transshipping</vt:lpstr>
      <vt:lpstr>Example:  Transshipping</vt:lpstr>
      <vt:lpstr>Example:  Transshipping</vt:lpstr>
      <vt:lpstr>Example:  Transshipping</vt:lpstr>
      <vt:lpstr>Example:  Transshipping</vt:lpstr>
      <vt:lpstr>Solving the transshipment problem using transportation algorithm</vt:lpstr>
      <vt:lpstr>Solving the transshipment problem using transportation algorithm</vt:lpstr>
      <vt:lpstr>Example: transshipping</vt:lpstr>
      <vt:lpstr>The End of Chapter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 analysis</dc:title>
  <dc:subject/>
  <dc:creator>John S. Loucks IV</dc:creator>
  <cp:keywords/>
  <dc:description/>
  <cp:lastModifiedBy>Sevak Kumar</cp:lastModifiedBy>
  <cp:revision>73</cp:revision>
  <cp:lastPrinted>1601-01-01T00:00:00Z</cp:lastPrinted>
  <dcterms:created xsi:type="dcterms:W3CDTF">1996-04-17T17:07:08Z</dcterms:created>
  <dcterms:modified xsi:type="dcterms:W3CDTF">2025-09-14T14:47:06Z</dcterms:modified>
</cp:coreProperties>
</file>