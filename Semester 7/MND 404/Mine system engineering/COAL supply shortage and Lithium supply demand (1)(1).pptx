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62" r:id="rId4"/>
    <p:sldId id="258" r:id="rId5"/>
    <p:sldId id="261" r:id="rId6"/>
    <p:sldId id="259" r:id="rId7"/>
    <p:sldId id="260" r:id="rId8"/>
    <p:sldId id="263" r:id="rId9"/>
    <p:sldId id="271" r:id="rId10"/>
    <p:sldId id="264" r:id="rId11"/>
    <p:sldId id="266" r:id="rId12"/>
    <p:sldId id="269" r:id="rId13"/>
    <p:sldId id="270" r:id="rId14"/>
    <p:sldId id="267" r:id="rId15"/>
    <p:sldId id="268"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70" d="100"/>
          <a:sy n="70" d="100"/>
        </p:scale>
        <p:origin x="4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8A9E2-9363-47DB-BAC7-CF9B9D1F93B5}" type="datetimeFigureOut">
              <a:rPr lang="en-US" smtClean="0"/>
              <a:t>9/13/2022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0EC72-689A-4901-9E83-8BD9AFCC9C9B}" type="slidenum">
              <a:rPr lang="en-US" smtClean="0"/>
              <a:t>‹#›</a:t>
            </a:fld>
            <a:endParaRPr lang="en-US"/>
          </a:p>
        </p:txBody>
      </p:sp>
    </p:spTree>
    <p:extLst>
      <p:ext uri="{BB962C8B-B14F-4D97-AF65-F5344CB8AC3E}">
        <p14:creationId xmlns:p14="http://schemas.microsoft.com/office/powerpoint/2010/main" val="3758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feb3e38c6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feb3e38c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6655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eb3e38c69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eb3e38c6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540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feb3e38c6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feb3e38c6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0545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feb3e38c6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feb3e38c6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4143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74797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9/12/2022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 id="2147483665" r:id="rId17"/>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hyperlink" Target="https://www.linkedin.com/company/benchmark-mineral-intelligence/" TargetMode="External"/><Relationship Id="rId7" Type="http://schemas.openxmlformats.org/officeDocument/2006/relationships/hyperlink" Target="https://www.linkedin.com/feed/hashtag/?keywords=ev&amp;highlightedUpdateUrns=urn:li:activity:6973316245752283136" TargetMode="External"/><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hyperlink" Target="https://www.linkedin.com/feed/hashtag/?keywords=anode&amp;highlightedUpdateUrns=urn:li:activity:6973316245752283136" TargetMode="External"/><Relationship Id="rId5" Type="http://schemas.openxmlformats.org/officeDocument/2006/relationships/hyperlink" Target="https://www.linkedin.com/feed/hashtag/?keywords=graphite&amp;highlightedUpdateUrns=urn:li:activity:6973316245752283136" TargetMode="External"/><Relationship Id="rId4" Type="http://schemas.openxmlformats.org/officeDocument/2006/relationships/hyperlink" Target="https://www.linkedin.com/feed/hashtag/?keywords=lithium&amp;highlightedUpdateUrns=urn:li:activity:6973316245752283136"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96069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Question 5. (20 points) OPTIMAL PRODUCT MIX AND WHAT-IF QUESTIONS&#10;Consider the problem in Question 4: The AU Mines Company o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6947" y="624110"/>
            <a:ext cx="7518400" cy="6079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138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Reliance New Energy Limited acquires assets of </a:t>
            </a:r>
            <a:r>
              <a:rPr lang="en-US" b="1" dirty="0"/>
              <a:t>Lithium </a:t>
            </a:r>
            <a:r>
              <a:rPr lang="en-US" b="1" dirty="0" err="1"/>
              <a:t>Werks</a:t>
            </a:r>
            <a:r>
              <a:rPr lang="en-US" b="1" dirty="0"/>
              <a:t> c</a:t>
            </a:r>
            <a:r>
              <a:rPr lang="en-US" dirty="0"/>
              <a:t>obalt-free lithium battery technology company </a:t>
            </a:r>
            <a:r>
              <a:rPr lang="en-US" dirty="0"/>
              <a:t/>
            </a:r>
            <a:br>
              <a:rPr lang="en-US" dirty="0"/>
            </a:br>
            <a:r>
              <a:rPr lang="en-US" dirty="0"/>
              <a:t/>
            </a:r>
            <a:br>
              <a:rPr lang="en-US" dirty="0"/>
            </a:br>
            <a:r>
              <a:rPr lang="en-US" dirty="0"/>
              <a:t/>
            </a:r>
            <a:br>
              <a:rPr lang="en-US" dirty="0"/>
            </a:br>
            <a:r>
              <a:rPr lang="en-US" dirty="0"/>
              <a:t>And</a:t>
            </a:r>
            <a:r>
              <a:rPr lang="en-US" dirty="0"/>
              <a:t/>
            </a:r>
            <a:br>
              <a:rPr lang="en-US" dirty="0"/>
            </a:br>
            <a:r>
              <a:rPr lang="en-US" b="1" dirty="0"/>
              <a:t>FARADION </a:t>
            </a:r>
            <a:r>
              <a:rPr lang="en-US" dirty="0"/>
              <a:t>The British sodium-ion battery technology company </a:t>
            </a:r>
            <a:r>
              <a:rPr lang="en-US" dirty="0" err="1"/>
              <a:t>Faradion</a:t>
            </a:r>
            <a:r>
              <a:rPr lang="en-US" dirty="0"/>
              <a:t> has been bought up by </a:t>
            </a:r>
            <a:r>
              <a:rPr lang="en-US" b="1" dirty="0"/>
              <a:t>Reliance New Energy Solar (RNES)</a:t>
            </a:r>
            <a:r>
              <a:rPr lang="en-US" dirty="0"/>
              <a:t>, a wholly-owned subsidiary of Reliance Industries.</a:t>
            </a:r>
            <a:endParaRPr lang="en-US" dirty="0"/>
          </a:p>
        </p:txBody>
      </p:sp>
    </p:spTree>
    <p:extLst>
      <p:ext uri="{BB962C8B-B14F-4D97-AF65-F5344CB8AC3E}">
        <p14:creationId xmlns:p14="http://schemas.microsoft.com/office/powerpoint/2010/main" val="340088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61" name="Google Shape;61;p14"/>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spcAft>
                <a:spcPts val="1600"/>
              </a:spcAft>
              <a:buNone/>
            </a:pPr>
            <a:endParaRPr/>
          </a:p>
        </p:txBody>
      </p:sp>
      <p:pic>
        <p:nvPicPr>
          <p:cNvPr id="2050" name="Picture 2" descr="https://i2.wp.com/www.benchmarkminerals.com/wp-content/uploads/Infographic-Mine-requirements-V4-scaled.jpg?resize=604%2C963&amp;ss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675" y="72428"/>
            <a:ext cx="6238662" cy="7574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147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nSpc>
                <a:spcPct val="130000"/>
              </a:lnSpc>
              <a:spcBef>
                <a:spcPts val="2533"/>
              </a:spcBef>
              <a:buClr>
                <a:schemeClr val="dk1"/>
              </a:buClr>
              <a:buSzPct val="73333"/>
            </a:pPr>
            <a:r>
              <a:rPr lang="en" sz="2000" b="1">
                <a:solidFill>
                  <a:srgbClr val="3A3533"/>
                </a:solidFill>
                <a:latin typeface="Montserrat"/>
                <a:ea typeface="Montserrat"/>
                <a:cs typeface="Montserrat"/>
                <a:sym typeface="Montserrat"/>
              </a:rPr>
              <a:t>LITHIUM RUSH</a:t>
            </a:r>
            <a:endParaRPr sz="2000" b="1">
              <a:solidFill>
                <a:srgbClr val="3A3533"/>
              </a:solidFill>
              <a:latin typeface="Montserrat"/>
              <a:ea typeface="Montserrat"/>
              <a:cs typeface="Montserrat"/>
              <a:sym typeface="Montserrat"/>
            </a:endParaRPr>
          </a:p>
          <a:p>
            <a:pPr>
              <a:lnSpc>
                <a:spcPct val="115000"/>
              </a:lnSpc>
              <a:spcBef>
                <a:spcPts val="2533"/>
              </a:spcBef>
              <a:buClr>
                <a:schemeClr val="dk1"/>
              </a:buClr>
              <a:buSzPct val="100000"/>
            </a:pPr>
            <a:endParaRPr sz="1467" b="1"/>
          </a:p>
          <a:p>
            <a:endParaRPr/>
          </a:p>
        </p:txBody>
      </p:sp>
      <p:sp>
        <p:nvSpPr>
          <p:cNvPr id="80" name="Google Shape;80;p17"/>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 sz="1400">
                <a:solidFill>
                  <a:srgbClr val="141412"/>
                </a:solidFill>
                <a:latin typeface="Montserrat"/>
                <a:ea typeface="Montserrat"/>
                <a:cs typeface="Montserrat"/>
                <a:sym typeface="Montserrat"/>
              </a:rPr>
              <a:t>To meet the world’s lithium requirements would require 74 new lithium mines with an average size of 45,000 tonnes by 2035, according to Benchmark. Including forecast volumes from recycled lithium, however, it’s around 59 mines.</a:t>
            </a:r>
            <a:endParaRPr sz="1400">
              <a:solidFill>
                <a:srgbClr val="141412"/>
              </a:solidFill>
              <a:latin typeface="Montserrat"/>
              <a:ea typeface="Montserrat"/>
              <a:cs typeface="Montserrat"/>
              <a:sym typeface="Montserrat"/>
            </a:endParaRPr>
          </a:p>
          <a:p>
            <a:pPr marL="0" indent="0">
              <a:spcBef>
                <a:spcPts val="2400"/>
              </a:spcBef>
              <a:buClr>
                <a:schemeClr val="dk1"/>
              </a:buClr>
              <a:buSzPts val="1100"/>
              <a:buNone/>
            </a:pPr>
            <a:r>
              <a:rPr lang="en" sz="1400">
                <a:solidFill>
                  <a:srgbClr val="141412"/>
                </a:solidFill>
                <a:latin typeface="Montserrat"/>
                <a:ea typeface="Montserrat"/>
                <a:cs typeface="Montserrat"/>
                <a:sym typeface="Montserrat"/>
              </a:rPr>
              <a:t>Since mines take at least five years to build these mines will need to be in operation by 2033, according to Cameron Perks, an analyst at Benchmark.</a:t>
            </a:r>
            <a:endParaRPr sz="1400">
              <a:solidFill>
                <a:srgbClr val="141412"/>
              </a:solidFill>
              <a:latin typeface="Montserrat"/>
              <a:ea typeface="Montserrat"/>
              <a:cs typeface="Montserrat"/>
              <a:sym typeface="Montserrat"/>
            </a:endParaRPr>
          </a:p>
          <a:p>
            <a:pPr marL="0" indent="0">
              <a:spcBef>
                <a:spcPts val="2400"/>
              </a:spcBef>
              <a:buClr>
                <a:schemeClr val="dk1"/>
              </a:buClr>
              <a:buSzPts val="1100"/>
              <a:buNone/>
            </a:pPr>
            <a:r>
              <a:rPr lang="en" sz="1400">
                <a:solidFill>
                  <a:srgbClr val="141412"/>
                </a:solidFill>
                <a:latin typeface="Montserrat"/>
                <a:ea typeface="Montserrat"/>
                <a:cs typeface="Montserrat"/>
                <a:sym typeface="Montserrat"/>
              </a:rPr>
              <a:t>“That’s around 59 lithium mines up and running in just over 10 years,” he said.</a:t>
            </a:r>
            <a:endParaRPr sz="1400">
              <a:solidFill>
                <a:srgbClr val="141412"/>
              </a:solidFill>
              <a:latin typeface="Montserrat"/>
              <a:ea typeface="Montserrat"/>
              <a:cs typeface="Montserrat"/>
              <a:sym typeface="Montserrat"/>
            </a:endParaRPr>
          </a:p>
          <a:p>
            <a:pPr marL="0" indent="0">
              <a:spcBef>
                <a:spcPts val="2400"/>
              </a:spcBef>
              <a:buClr>
                <a:schemeClr val="dk1"/>
              </a:buClr>
              <a:buSzPts val="1100"/>
              <a:buNone/>
            </a:pPr>
            <a:r>
              <a:rPr lang="en" sz="1400">
                <a:solidFill>
                  <a:srgbClr val="141412"/>
                </a:solidFill>
                <a:latin typeface="Montserrat"/>
                <a:ea typeface="Montserrat"/>
                <a:cs typeface="Montserrat"/>
                <a:sym typeface="Montserrat"/>
              </a:rPr>
              <a:t>Australia is set to remain the dominant producer of lithium this decade, according to Benchmark. There are currently over 13 lithium mines producing lithium-containing spodumene rock, over 75% of which is refined in China.</a:t>
            </a:r>
            <a:endParaRPr sz="1400">
              <a:solidFill>
                <a:srgbClr val="141412"/>
              </a:solidFill>
              <a:latin typeface="Montserrat"/>
              <a:ea typeface="Montserrat"/>
              <a:cs typeface="Montserrat"/>
              <a:sym typeface="Montserrat"/>
            </a:endParaRPr>
          </a:p>
          <a:p>
            <a:pPr marL="0" indent="0">
              <a:spcBef>
                <a:spcPts val="2400"/>
              </a:spcBef>
              <a:spcAft>
                <a:spcPts val="1600"/>
              </a:spcAft>
              <a:buNone/>
            </a:pPr>
            <a:endParaRPr/>
          </a:p>
        </p:txBody>
      </p:sp>
    </p:spTree>
    <p:extLst>
      <p:ext uri="{BB962C8B-B14F-4D97-AF65-F5344CB8AC3E}">
        <p14:creationId xmlns:p14="http://schemas.microsoft.com/office/powerpoint/2010/main" val="315427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endParaRPr/>
          </a:p>
        </p:txBody>
      </p:sp>
      <p:sp>
        <p:nvSpPr>
          <p:cNvPr id="68" name="Google Shape;68;p15"/>
          <p:cNvSpPr txBox="1">
            <a:spLocks noGrp="1"/>
          </p:cNvSpPr>
          <p:nvPr>
            <p:ph type="body" idx="1"/>
          </p:nvPr>
        </p:nvSpPr>
        <p:spPr>
          <a:xfrm>
            <a:off x="415600" y="1536633"/>
            <a:ext cx="11360800" cy="4555200"/>
          </a:xfrm>
          <a:prstGeom prst="rect">
            <a:avLst/>
          </a:prstGeom>
        </p:spPr>
        <p:style>
          <a:lnRef idx="2">
            <a:schemeClr val="accent1"/>
          </a:lnRef>
          <a:fillRef idx="1">
            <a:schemeClr val="lt1"/>
          </a:fillRef>
          <a:effectRef idx="0">
            <a:schemeClr val="accent1"/>
          </a:effectRef>
          <a:fontRef idx="minor">
            <a:schemeClr val="dk1"/>
          </a:fontRef>
        </p:style>
        <p:txBody>
          <a:bodyPr spcFirstLastPara="1" vert="horz" wrap="square" lIns="121900" tIns="121900" rIns="121900" bIns="121900" rtlCol="0" anchor="t" anchorCtr="0">
            <a:normAutofit/>
          </a:bodyPr>
          <a:lstStyle/>
          <a:p>
            <a:pPr marL="0" indent="0">
              <a:buClr>
                <a:schemeClr val="dk1"/>
              </a:buClr>
              <a:buSzPct val="104761"/>
              <a:buNone/>
            </a:pPr>
            <a:r>
              <a:rPr lang="en" sz="1400" dirty="0">
                <a:solidFill>
                  <a:schemeClr val="dk1"/>
                </a:solidFill>
                <a:highlight>
                  <a:srgbClr val="FFFFFF"/>
                </a:highlight>
                <a:latin typeface="Roboto"/>
                <a:ea typeface="Roboto"/>
                <a:cs typeface="Roboto"/>
                <a:sym typeface="Roboto"/>
              </a:rPr>
              <a:t>Analysis from </a:t>
            </a:r>
            <a:r>
              <a:rPr lang="en" sz="1400" u="sng" dirty="0">
                <a:solidFill>
                  <a:schemeClr val="hlink"/>
                </a:solidFill>
                <a:highlight>
                  <a:srgbClr val="FFFFFF"/>
                </a:highlight>
                <a:latin typeface="Roboto"/>
                <a:ea typeface="Roboto"/>
                <a:cs typeface="Roboto"/>
                <a:sym typeface="Roboto"/>
                <a:hlinkClick r:id="rId3"/>
              </a:rPr>
              <a:t>Benchmark Mineral Intelligence</a:t>
            </a:r>
            <a:r>
              <a:rPr lang="en" sz="1400" dirty="0">
                <a:solidFill>
                  <a:schemeClr val="dk1"/>
                </a:solidFill>
                <a:highlight>
                  <a:srgbClr val="FFFFFF"/>
                </a:highlight>
                <a:latin typeface="Roboto"/>
                <a:ea typeface="Roboto"/>
                <a:cs typeface="Roboto"/>
                <a:sym typeface="Roboto"/>
              </a:rPr>
              <a:t>'s raw material forecasts shows at least 384 new mines for graphite, lithium, nickel and cobalt are required to meet demand by 2035, based on average mine sizes in each </a:t>
            </a:r>
            <a:r>
              <a:rPr lang="en" sz="1400" dirty="0" smtClean="0">
                <a:solidFill>
                  <a:schemeClr val="dk1"/>
                </a:solidFill>
                <a:highlight>
                  <a:srgbClr val="FFFFFF"/>
                </a:highlight>
                <a:latin typeface="Roboto"/>
                <a:ea typeface="Roboto"/>
                <a:cs typeface="Roboto"/>
                <a:sym typeface="Roboto"/>
              </a:rPr>
              <a:t>industry</a:t>
            </a:r>
            <a:r>
              <a:rPr lang="en" sz="1400" dirty="0" smtClean="0">
                <a:highlight>
                  <a:srgbClr val="FFFFFF"/>
                </a:highlight>
                <a:latin typeface="Roboto"/>
                <a:ea typeface="Roboto"/>
                <a:cs typeface="Roboto"/>
                <a:sym typeface="Roboto"/>
              </a:rPr>
              <a:t>. </a:t>
            </a:r>
            <a:r>
              <a:rPr lang="en" sz="1400" dirty="0" smtClean="0">
                <a:solidFill>
                  <a:schemeClr val="dk1"/>
                </a:solidFill>
                <a:highlight>
                  <a:srgbClr val="FFFFFF"/>
                </a:highlight>
                <a:latin typeface="Roboto"/>
                <a:ea typeface="Roboto"/>
                <a:cs typeface="Roboto"/>
                <a:sym typeface="Roboto"/>
              </a:rPr>
              <a:t>Taking </a:t>
            </a:r>
            <a:r>
              <a:rPr lang="en" sz="1400" dirty="0">
                <a:solidFill>
                  <a:schemeClr val="dk1"/>
                </a:solidFill>
                <a:highlight>
                  <a:srgbClr val="FFFFFF"/>
                </a:highlight>
                <a:latin typeface="Roboto"/>
                <a:ea typeface="Roboto"/>
                <a:cs typeface="Roboto"/>
                <a:sym typeface="Roboto"/>
              </a:rPr>
              <a:t>into account recycling of raw materials, the number is around 336 mines</a:t>
            </a:r>
            <a:endParaRPr sz="1400" dirty="0">
              <a:solidFill>
                <a:schemeClr val="dk1"/>
              </a:solidFill>
              <a:highlight>
                <a:srgbClr val="FFFFFF"/>
              </a:highlight>
              <a:latin typeface="Roboto"/>
              <a:ea typeface="Roboto"/>
              <a:cs typeface="Roboto"/>
              <a:sym typeface="Roboto"/>
            </a:endParaRPr>
          </a:p>
          <a:p>
            <a:pPr marL="0" indent="0">
              <a:spcBef>
                <a:spcPts val="1600"/>
              </a:spcBef>
              <a:buClr>
                <a:schemeClr val="dk1"/>
              </a:buClr>
              <a:buSzPct val="104761"/>
              <a:buNone/>
            </a:pPr>
            <a:r>
              <a:rPr lang="en" sz="1400" dirty="0" smtClean="0">
                <a:solidFill>
                  <a:schemeClr val="dk1"/>
                </a:solidFill>
                <a:highlight>
                  <a:srgbClr val="FFFFFF"/>
                </a:highlight>
                <a:latin typeface="Roboto"/>
                <a:ea typeface="Roboto"/>
                <a:cs typeface="Roboto"/>
                <a:sym typeface="Roboto"/>
              </a:rPr>
              <a:t>For </a:t>
            </a:r>
            <a:r>
              <a:rPr lang="en" sz="1400" u="sng" dirty="0">
                <a:solidFill>
                  <a:schemeClr val="hlink"/>
                </a:solidFill>
                <a:highlight>
                  <a:srgbClr val="FFFFFF"/>
                </a:highlight>
                <a:latin typeface="Roboto"/>
                <a:ea typeface="Roboto"/>
                <a:cs typeface="Roboto"/>
                <a:sym typeface="Roboto"/>
                <a:hlinkClick r:id="rId4"/>
              </a:rPr>
              <a:t>#lithium</a:t>
            </a:r>
            <a:r>
              <a:rPr lang="en" sz="1400" dirty="0">
                <a:solidFill>
                  <a:schemeClr val="dk1"/>
                </a:solidFill>
                <a:highlight>
                  <a:srgbClr val="FFFFFF"/>
                </a:highlight>
                <a:latin typeface="Roboto"/>
                <a:ea typeface="Roboto"/>
                <a:cs typeface="Roboto"/>
                <a:sym typeface="Roboto"/>
              </a:rPr>
              <a:t>, the world will require 74 new lithium mines with an average size of 45,000 tonnes by 2035, or 59 if recycling rates ramp up as expected</a:t>
            </a:r>
            <a:endParaRPr sz="1400" dirty="0">
              <a:solidFill>
                <a:schemeClr val="dk1"/>
              </a:solidFill>
              <a:highlight>
                <a:srgbClr val="FFFFFF"/>
              </a:highlight>
              <a:latin typeface="Roboto"/>
              <a:ea typeface="Roboto"/>
              <a:cs typeface="Roboto"/>
              <a:sym typeface="Roboto"/>
            </a:endParaRPr>
          </a:p>
          <a:p>
            <a:pPr marL="0" indent="0">
              <a:spcBef>
                <a:spcPts val="1600"/>
              </a:spcBef>
              <a:buClr>
                <a:schemeClr val="dk1"/>
              </a:buClr>
              <a:buSzPct val="104761"/>
              <a:buNone/>
            </a:pPr>
            <a:r>
              <a:rPr lang="en" sz="1400" dirty="0" smtClean="0">
                <a:solidFill>
                  <a:schemeClr val="dk1"/>
                </a:solidFill>
                <a:highlight>
                  <a:srgbClr val="FFFFFF"/>
                </a:highlight>
                <a:latin typeface="Roboto"/>
                <a:ea typeface="Roboto"/>
                <a:cs typeface="Roboto"/>
                <a:sym typeface="Roboto"/>
              </a:rPr>
              <a:t>Issues </a:t>
            </a:r>
            <a:r>
              <a:rPr lang="en" sz="1400" dirty="0">
                <a:solidFill>
                  <a:schemeClr val="dk1"/>
                </a:solidFill>
                <a:highlight>
                  <a:srgbClr val="FFFFFF"/>
                </a:highlight>
                <a:latin typeface="Roboto"/>
                <a:ea typeface="Roboto"/>
                <a:cs typeface="Roboto"/>
                <a:sym typeface="Roboto"/>
              </a:rPr>
              <a:t>will also be faced in the midstream, with the need for aggressive expansion of lithium refinery facilities able to produce consistent, battery grade, qualified lithium chemicals being another significant hurdle</a:t>
            </a:r>
            <a:endParaRPr sz="1400" dirty="0">
              <a:solidFill>
                <a:schemeClr val="dk1"/>
              </a:solidFill>
              <a:highlight>
                <a:srgbClr val="FFFFFF"/>
              </a:highlight>
              <a:latin typeface="Roboto"/>
              <a:ea typeface="Roboto"/>
              <a:cs typeface="Roboto"/>
              <a:sym typeface="Roboto"/>
            </a:endParaRPr>
          </a:p>
          <a:p>
            <a:pPr marL="0" indent="0">
              <a:spcBef>
                <a:spcPts val="1600"/>
              </a:spcBef>
              <a:buClr>
                <a:schemeClr val="dk1"/>
              </a:buClr>
              <a:buSzPct val="104761"/>
              <a:buNone/>
            </a:pPr>
            <a:r>
              <a:rPr lang="en" sz="1400" dirty="0" smtClean="0">
                <a:solidFill>
                  <a:schemeClr val="dk1"/>
                </a:solidFill>
                <a:highlight>
                  <a:srgbClr val="FFFFFF"/>
                </a:highlight>
                <a:latin typeface="Roboto"/>
                <a:ea typeface="Roboto"/>
                <a:cs typeface="Roboto"/>
                <a:sym typeface="Roboto"/>
              </a:rPr>
              <a:t>Looking </a:t>
            </a:r>
            <a:r>
              <a:rPr lang="en" sz="1400" dirty="0">
                <a:solidFill>
                  <a:schemeClr val="dk1"/>
                </a:solidFill>
                <a:highlight>
                  <a:srgbClr val="FFFFFF"/>
                </a:highlight>
                <a:latin typeface="Roboto"/>
                <a:ea typeface="Roboto"/>
                <a:cs typeface="Roboto"/>
                <a:sym typeface="Roboto"/>
              </a:rPr>
              <a:t>to </a:t>
            </a:r>
            <a:r>
              <a:rPr lang="en" sz="1400" u="sng" dirty="0">
                <a:solidFill>
                  <a:schemeClr val="hlink"/>
                </a:solidFill>
                <a:highlight>
                  <a:srgbClr val="FFFFFF"/>
                </a:highlight>
                <a:latin typeface="Roboto"/>
                <a:ea typeface="Roboto"/>
                <a:cs typeface="Roboto"/>
                <a:sym typeface="Roboto"/>
                <a:hlinkClick r:id="rId5"/>
              </a:rPr>
              <a:t>#graphite</a:t>
            </a:r>
            <a:r>
              <a:rPr lang="en" sz="1400" dirty="0">
                <a:solidFill>
                  <a:schemeClr val="dk1"/>
                </a:solidFill>
                <a:highlight>
                  <a:srgbClr val="FFFFFF"/>
                </a:highlight>
                <a:latin typeface="Roboto"/>
                <a:ea typeface="Roboto"/>
                <a:cs typeface="Roboto"/>
                <a:sym typeface="Roboto"/>
              </a:rPr>
              <a:t>, a total of an estimated 97 natural flake graphite mines will need to be built, assuming an average size of 56,000 tonnes a year, whilst a further 54 synthetic graphite plants with an average size of 57,000 tonnes will also be required</a:t>
            </a:r>
            <a:endParaRPr sz="1400" dirty="0">
              <a:solidFill>
                <a:schemeClr val="dk1"/>
              </a:solidFill>
              <a:highlight>
                <a:srgbClr val="FFFFFF"/>
              </a:highlight>
              <a:latin typeface="Roboto"/>
              <a:ea typeface="Roboto"/>
              <a:cs typeface="Roboto"/>
              <a:sym typeface="Roboto"/>
            </a:endParaRPr>
          </a:p>
          <a:p>
            <a:pPr marL="0" indent="0">
              <a:spcBef>
                <a:spcPts val="1600"/>
              </a:spcBef>
              <a:spcAft>
                <a:spcPts val="1600"/>
              </a:spcAft>
              <a:buNone/>
            </a:pPr>
            <a:r>
              <a:rPr lang="en" sz="1400" dirty="0" smtClean="0">
                <a:solidFill>
                  <a:schemeClr val="dk1"/>
                </a:solidFill>
                <a:highlight>
                  <a:srgbClr val="FFFFFF"/>
                </a:highlight>
                <a:latin typeface="Roboto"/>
                <a:ea typeface="Roboto"/>
                <a:cs typeface="Roboto"/>
                <a:sym typeface="Roboto"/>
              </a:rPr>
              <a:t>How </a:t>
            </a:r>
            <a:r>
              <a:rPr lang="en" sz="1400" dirty="0">
                <a:solidFill>
                  <a:schemeClr val="dk1"/>
                </a:solidFill>
                <a:highlight>
                  <a:srgbClr val="FFFFFF"/>
                </a:highlight>
                <a:latin typeface="Roboto"/>
                <a:ea typeface="Roboto"/>
                <a:cs typeface="Roboto"/>
                <a:sym typeface="Roboto"/>
              </a:rPr>
              <a:t>the balance of synthetic vs natural graphite plays out in China compared to the rest of the world will also play a role, but either way a significant volume of raw materials will be required to meet </a:t>
            </a:r>
            <a:r>
              <a:rPr lang="en" sz="1400" u="sng" dirty="0">
                <a:solidFill>
                  <a:schemeClr val="hlink"/>
                </a:solidFill>
                <a:highlight>
                  <a:srgbClr val="FFFFFF"/>
                </a:highlight>
                <a:latin typeface="Roboto"/>
                <a:ea typeface="Roboto"/>
                <a:cs typeface="Roboto"/>
                <a:sym typeface="Roboto"/>
                <a:hlinkClick r:id="rId6"/>
              </a:rPr>
              <a:t>#anode</a:t>
            </a:r>
            <a:r>
              <a:rPr lang="en" sz="1400" dirty="0">
                <a:solidFill>
                  <a:schemeClr val="dk1"/>
                </a:solidFill>
                <a:highlight>
                  <a:srgbClr val="FFFFFF"/>
                </a:highlight>
                <a:latin typeface="Roboto"/>
                <a:ea typeface="Roboto"/>
                <a:cs typeface="Roboto"/>
                <a:sym typeface="Roboto"/>
              </a:rPr>
              <a:t> demand from the </a:t>
            </a:r>
            <a:r>
              <a:rPr lang="en" sz="1400" u="sng" dirty="0">
                <a:solidFill>
                  <a:schemeClr val="hlink"/>
                </a:solidFill>
                <a:highlight>
                  <a:srgbClr val="FFFFFF"/>
                </a:highlight>
                <a:latin typeface="Roboto"/>
                <a:ea typeface="Roboto"/>
                <a:cs typeface="Roboto"/>
                <a:sym typeface="Roboto"/>
                <a:hlinkClick r:id="rId7"/>
              </a:rPr>
              <a:t>#EV</a:t>
            </a:r>
            <a:r>
              <a:rPr lang="en" sz="1400" dirty="0">
                <a:solidFill>
                  <a:schemeClr val="dk1"/>
                </a:solidFill>
                <a:highlight>
                  <a:srgbClr val="FFFFFF"/>
                </a:highlight>
                <a:latin typeface="Roboto"/>
                <a:ea typeface="Roboto"/>
                <a:cs typeface="Roboto"/>
                <a:sym typeface="Roboto"/>
              </a:rPr>
              <a:t> industry</a:t>
            </a:r>
            <a:endParaRPr dirty="0"/>
          </a:p>
        </p:txBody>
      </p:sp>
    </p:spTree>
    <p:extLst>
      <p:ext uri="{BB962C8B-B14F-4D97-AF65-F5344CB8AC3E}">
        <p14:creationId xmlns:p14="http://schemas.microsoft.com/office/powerpoint/2010/main" val="3480911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pPr>
              <a:lnSpc>
                <a:spcPct val="130000"/>
              </a:lnSpc>
              <a:spcBef>
                <a:spcPts val="2533"/>
              </a:spcBef>
              <a:spcAft>
                <a:spcPts val="2533"/>
              </a:spcAft>
            </a:pPr>
            <a:r>
              <a:rPr lang="en" sz="2000" b="1" dirty="0">
                <a:solidFill>
                  <a:srgbClr val="3A3533"/>
                </a:solidFill>
                <a:latin typeface="Montserrat"/>
                <a:ea typeface="Montserrat"/>
                <a:cs typeface="Montserrat"/>
                <a:sym typeface="Montserrat"/>
              </a:rPr>
              <a:t>NICKEL AND COBALT</a:t>
            </a:r>
            <a:endParaRPr dirty="0"/>
          </a:p>
        </p:txBody>
      </p:sp>
      <p:sp>
        <p:nvSpPr>
          <p:cNvPr id="74" name="Google Shape;74;p1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0" indent="0">
              <a:buClr>
                <a:schemeClr val="dk1"/>
              </a:buClr>
              <a:buSzPts val="1100"/>
              <a:buNone/>
            </a:pPr>
            <a:r>
              <a:rPr lang="en" sz="1400">
                <a:solidFill>
                  <a:srgbClr val="141412"/>
                </a:solidFill>
                <a:latin typeface="Montserrat"/>
                <a:ea typeface="Montserrat"/>
                <a:cs typeface="Montserrat"/>
                <a:sym typeface="Montserrat"/>
              </a:rPr>
              <a:t>Yet another 72 mining projects with an average size of 42,500 tonnes will be required to meet battery demand for refined nickel, according to Benchmark.</a:t>
            </a:r>
            <a:endParaRPr sz="1400">
              <a:solidFill>
                <a:srgbClr val="141412"/>
              </a:solidFill>
              <a:latin typeface="Montserrat"/>
              <a:ea typeface="Montserrat"/>
              <a:cs typeface="Montserrat"/>
              <a:sym typeface="Montserrat"/>
            </a:endParaRPr>
          </a:p>
          <a:p>
            <a:pPr marL="0" indent="0">
              <a:spcBef>
                <a:spcPts val="2400"/>
              </a:spcBef>
              <a:buClr>
                <a:schemeClr val="dk1"/>
              </a:buClr>
              <a:buSzPts val="1100"/>
              <a:buNone/>
            </a:pPr>
            <a:r>
              <a:rPr lang="en" sz="1400">
                <a:solidFill>
                  <a:srgbClr val="141412"/>
                </a:solidFill>
                <a:latin typeface="Montserrat"/>
                <a:ea typeface="Montserrat"/>
                <a:cs typeface="Montserrat"/>
                <a:sym typeface="Montserrat"/>
              </a:rPr>
              <a:t>Recycling, however, is set to have the biggest impact on cobalt mining. Without recycling, the world would need to build 62 new cobalt mining projects of 5,000 tonnes each by the end of 2035.</a:t>
            </a:r>
            <a:endParaRPr sz="1400">
              <a:solidFill>
                <a:srgbClr val="141412"/>
              </a:solidFill>
              <a:latin typeface="Montserrat"/>
              <a:ea typeface="Montserrat"/>
              <a:cs typeface="Montserrat"/>
              <a:sym typeface="Montserrat"/>
            </a:endParaRPr>
          </a:p>
          <a:p>
            <a:pPr marL="0" indent="0">
              <a:spcBef>
                <a:spcPts val="2400"/>
              </a:spcBef>
              <a:buClr>
                <a:schemeClr val="dk1"/>
              </a:buClr>
              <a:buSzPts val="1100"/>
              <a:buNone/>
            </a:pPr>
            <a:r>
              <a:rPr lang="en" sz="1400">
                <a:solidFill>
                  <a:srgbClr val="141412"/>
                </a:solidFill>
                <a:latin typeface="Montserrat"/>
                <a:ea typeface="Montserrat"/>
                <a:cs typeface="Montserrat"/>
                <a:sym typeface="Montserrat"/>
              </a:rPr>
              <a:t>With forecast recycled volumes, however, that number falls by almost half to 38.</a:t>
            </a:r>
            <a:endParaRPr sz="1400">
              <a:solidFill>
                <a:srgbClr val="141412"/>
              </a:solidFill>
              <a:latin typeface="Montserrat"/>
              <a:ea typeface="Montserrat"/>
              <a:cs typeface="Montserrat"/>
              <a:sym typeface="Montserrat"/>
            </a:endParaRPr>
          </a:p>
          <a:p>
            <a:pPr marL="0" indent="0">
              <a:spcBef>
                <a:spcPts val="2400"/>
              </a:spcBef>
              <a:spcAft>
                <a:spcPts val="1600"/>
              </a:spcAft>
              <a:buNone/>
            </a:pPr>
            <a:endParaRPr/>
          </a:p>
        </p:txBody>
      </p:sp>
    </p:spTree>
    <p:extLst>
      <p:ext uri="{BB962C8B-B14F-4D97-AF65-F5344CB8AC3E}">
        <p14:creationId xmlns:p14="http://schemas.microsoft.com/office/powerpoint/2010/main" val="340968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3074" name="Picture 2" descr="Infographics: COAL CRISIS HITS POWER PLANTS #Gallery - Social News XY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717" y="470782"/>
            <a:ext cx="6485226" cy="9185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474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10242" name="Picture 2" descr="Quixplained: Why is there a coal crisis in India, and what impact will it  have? | Explained News,The Indian Exp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723" y="593367"/>
            <a:ext cx="4875804" cy="60963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Quixplained: Why is there a coal crisis in India, and what impact will it  have? | Explained News,The Indian Expr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9738" y="502833"/>
            <a:ext cx="5669326" cy="6024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741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4313833" y="4973092"/>
            <a:ext cx="5516072" cy="2657830"/>
          </a:xfrm>
        </p:spPr>
        <p:txBody>
          <a:bodyPr/>
          <a:lstStyle/>
          <a:p>
            <a:endParaRPr lang="en-US" dirty="0"/>
          </a:p>
        </p:txBody>
      </p:sp>
      <p:pic>
        <p:nvPicPr>
          <p:cNvPr id="4098" name="Picture 2" descr="Quixplained: Why is there a coal crisis in India, and what impact will it  have? | Explained News,The Indian Exp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71" y="952087"/>
            <a:ext cx="5669326" cy="60244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Quixplained: Coal shortage and India's looming power crisis | Explained  News,The Indian Expr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3267" y="1203585"/>
            <a:ext cx="4416009" cy="5521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952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Coal shortage hurting non-power sectors still year after supply shift |  Business Standard Ne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756" y="268994"/>
            <a:ext cx="11353411" cy="6159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852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descr="NTPC plans to ramp up coal supply as shortage hits thermal units | Business  Standard Ne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135" y="111305"/>
            <a:ext cx="10893102" cy="6746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328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Non-pithead </a:t>
            </a:r>
            <a:r>
              <a:rPr lang="en-US" dirty="0" smtClean="0"/>
              <a:t>plants &amp; pithead </a:t>
            </a:r>
            <a:r>
              <a:rPr lang="en-US" dirty="0"/>
              <a:t>plants</a:t>
            </a:r>
            <a:endParaRPr lang="en-US" dirty="0"/>
          </a:p>
        </p:txBody>
      </p:sp>
      <p:sp>
        <p:nvSpPr>
          <p:cNvPr id="3" name="Text Placeholder 2"/>
          <p:cNvSpPr>
            <a:spLocks noGrp="1"/>
          </p:cNvSpPr>
          <p:nvPr>
            <p:ph type="body" idx="1"/>
          </p:nvPr>
        </p:nvSpPr>
        <p:spPr/>
        <p:txBody>
          <a:bodyPr/>
          <a:lstStyle/>
          <a:p>
            <a:r>
              <a:rPr lang="en-US" b="1" dirty="0"/>
              <a:t>pit-head power plant </a:t>
            </a:r>
            <a:r>
              <a:rPr lang="en-US" dirty="0"/>
              <a:t>means any captive or stand-alone power station having captive transportation system for its exclusive use for transportation of coal from the loading point at the mining end, up to the uploading point at the power station without using the normal public transportation system; </a:t>
            </a:r>
            <a:endParaRPr lang="en-US" dirty="0"/>
          </a:p>
          <a:p>
            <a:r>
              <a:rPr lang="en-US" b="1" dirty="0" smtClean="0"/>
              <a:t>Non pit-head </a:t>
            </a:r>
            <a:r>
              <a:rPr lang="en-US" b="1" dirty="0"/>
              <a:t>power plant </a:t>
            </a:r>
            <a:r>
              <a:rPr lang="en-US" dirty="0" smtClean="0"/>
              <a:t>Thermal </a:t>
            </a:r>
            <a:r>
              <a:rPr lang="en-US" dirty="0"/>
              <a:t>power plants located away from mines</a:t>
            </a: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3849886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2125110" y="5556763"/>
            <a:ext cx="8405013" cy="2189041"/>
          </a:xfrm>
        </p:spPr>
        <p:txBody>
          <a:bodyPr/>
          <a:lstStyle/>
          <a:p>
            <a:endParaRPr lang="en-US" dirty="0"/>
          </a:p>
        </p:txBody>
      </p:sp>
      <p:pic>
        <p:nvPicPr>
          <p:cNvPr id="7170" name="Picture 2" descr="India's sudden coal shortage 2021 | PT's IAS Academ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122" y="751499"/>
            <a:ext cx="8406881" cy="6025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26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descr="Coal Shortage in India | Current Affai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853" y="904426"/>
            <a:ext cx="9436294" cy="5953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563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1456749" y="4931683"/>
            <a:ext cx="11360800" cy="4555200"/>
          </a:xfrm>
        </p:spPr>
        <p:txBody>
          <a:bodyPr/>
          <a:lstStyle/>
          <a:p>
            <a:endParaRPr lang="en-US" dirty="0"/>
          </a:p>
        </p:txBody>
      </p:sp>
      <p:pic>
        <p:nvPicPr>
          <p:cNvPr id="5122" name="Picture 2" descr="Chart: New Coal Power Projects Are Declining Globally | Statis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724" y="270850"/>
            <a:ext cx="9144000" cy="651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58164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1350</TotalTime>
  <Words>499</Words>
  <Application>Microsoft Office PowerPoint</Application>
  <PresentationFormat>Widescreen</PresentationFormat>
  <Paragraphs>18</Paragraphs>
  <Slides>16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Century Gothic</vt:lpstr>
      <vt:lpstr>Montserrat</vt:lpstr>
      <vt:lpstr>Roboto</vt:lpstr>
      <vt:lpstr>Wingdings 3</vt:lpstr>
      <vt:lpstr>Wisp</vt:lpstr>
      <vt:lpstr>PowerPoint Presentation</vt:lpstr>
      <vt:lpstr>PowerPoint Presentation</vt:lpstr>
      <vt:lpstr>PowerPoint Presentation</vt:lpstr>
      <vt:lpstr>PowerPoint Presentation</vt:lpstr>
      <vt:lpstr>LITHIUM RUSH  </vt:lpstr>
      <vt:lpstr>PowerPoint Presentation</vt:lpstr>
      <vt:lpstr>NICKEL AND COBALT</vt:lpstr>
      <vt:lpstr>PowerPoint Presentation</vt:lpstr>
      <vt:lpstr>PowerPoint Presentation</vt:lpstr>
      <vt:lpstr>PowerPoint Presentation</vt:lpstr>
      <vt:lpstr>PowerPoint Presentation</vt:lpstr>
      <vt:lpstr>PowerPoint Presentation</vt:lpstr>
      <vt:lpstr>Non-pithead plants &amp; pithead plants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c:creator>
  <cp:lastModifiedBy>Sid</cp:lastModifiedBy>
  <cp:revision>5</cp:revision>
  <dcterms:created xsi:type="dcterms:W3CDTF">2022-09-12T05:01:50Z</dcterms:created>
  <dcterms:modified xsi:type="dcterms:W3CDTF">2022-09-13T03:32:23Z</dcterms:modified>
</cp:coreProperties>
</file>