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0" autoAdjust="0"/>
    <p:restoredTop sz="94660"/>
  </p:normalViewPr>
  <p:slideViewPr>
    <p:cSldViewPr snapToGrid="0">
      <p:cViewPr varScale="1">
        <p:scale>
          <a:sx n="70" d="100"/>
          <a:sy n="70" d="100"/>
        </p:scale>
        <p:origin x="3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38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3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8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9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6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4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77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44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2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4352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12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8106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02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44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0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B126C-6AC6-40E6-BCE8-B82AE6C115B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2DF8AAD-949C-4FC7-BE27-0E9BA58F4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5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ishtiias.com/to-the-points/paper3/industrial-corridors-2" TargetMode="External"/><Relationship Id="rId2" Type="http://schemas.openxmlformats.org/officeDocument/2006/relationships/hyperlink" Target="https://www.drishtiias.com/loksabha-rajyasabha-discussions/the-big-picture-national-infrastructure-pipeline-nip-dashboar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rishtiias.com/daily-updates/daily-news-analysis/restoration-of-4g-internet-in-j-k" TargetMode="External"/><Relationship Id="rId4" Type="http://schemas.openxmlformats.org/officeDocument/2006/relationships/hyperlink" Target="https://www.drishtiias.com/daily-updates/daily-news-analysis/defence-industrial-corridor-1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rishtiias.com/daily-updates/daily-news-editorials/assessment-of-make-in-indi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rishtiias.com/daily-updates/daily-news-analysis/national-monetisation-pipelin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ishtiias.com/daily-updates/daily-news-analysis/new-approach-for-post-covid-education" TargetMode="External"/><Relationship Id="rId2" Type="http://schemas.openxmlformats.org/officeDocument/2006/relationships/hyperlink" Target="https://www.drishtiias.com/to-the-points/paper3/insolvency-and-bankruptcy-code-3#:~:text=Insolvency%20and%20Bankruptcy%20Code%2C%202016%20provides%20a%20time%2Dbound%20process,to%20repay%20their%20outstanding%20debt.&amp;text=It%20is%20a%20legal%20declaration%20of%20one%27s%20inability%20to%20pay%20off%20debts.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GATI SHAKTI MASTER PLAN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2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First Gati Shakti Cargo Termina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270" y="838005"/>
            <a:ext cx="8769365" cy="529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152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Budget 2022 : Pillar 1 - PM Gati Shakti - UPSC GS3 - IAS4Sur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085" y="91187"/>
            <a:ext cx="6288821" cy="663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002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PM </a:t>
            </a:r>
            <a:r>
              <a:rPr lang="en-US" dirty="0" err="1"/>
              <a:t>Gati</a:t>
            </a:r>
            <a:r>
              <a:rPr lang="en-US" dirty="0"/>
              <a:t> Shakti Scheme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07949" y="1454483"/>
            <a:ext cx="9228472" cy="4951664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1600" dirty="0"/>
              <a:t>In 2021 the government launched the ambitious </a:t>
            </a:r>
            <a:r>
              <a:rPr lang="en-US" sz="1600" b="1" dirty="0" err="1"/>
              <a:t>Gati</a:t>
            </a:r>
            <a:r>
              <a:rPr lang="en-US" sz="1600" b="1" dirty="0"/>
              <a:t> Shakti scheme or National Master Plan for multi-modal connectivity plan</a:t>
            </a:r>
            <a:r>
              <a:rPr lang="en-US" sz="1600" dirty="0"/>
              <a:t>, with the aim of coordinated planning and execution of infrastructure projects to bring down logistics costs.</a:t>
            </a:r>
          </a:p>
          <a:p>
            <a:r>
              <a:rPr lang="en-US" sz="1600" b="1" dirty="0"/>
              <a:t>Aim</a:t>
            </a:r>
            <a:r>
              <a:rPr lang="en-US" sz="1600" b="1" dirty="0" smtClean="0"/>
              <a:t>:</a:t>
            </a:r>
          </a:p>
          <a:p>
            <a:pPr lvl="1"/>
            <a:r>
              <a:rPr lang="en-US" sz="1400" dirty="0"/>
              <a:t>To ensure</a:t>
            </a:r>
            <a:r>
              <a:rPr lang="en-US" sz="1400" b="1" dirty="0"/>
              <a:t> integrated planning and implementation of infrastructure projects in the next four years</a:t>
            </a:r>
            <a:r>
              <a:rPr lang="en-US" sz="1400" dirty="0"/>
              <a:t>, with focus on expediting works on the ground, saving costs and creating jobs.</a:t>
            </a:r>
          </a:p>
          <a:p>
            <a:pPr lvl="1"/>
            <a:r>
              <a:rPr lang="en-US" sz="1400" dirty="0"/>
              <a:t>The </a:t>
            </a:r>
            <a:r>
              <a:rPr lang="en-US" sz="1400" dirty="0" err="1"/>
              <a:t>Gati</a:t>
            </a:r>
            <a:r>
              <a:rPr lang="en-US" sz="1400" dirty="0"/>
              <a:t> Shakti scheme will subsume the </a:t>
            </a:r>
            <a:r>
              <a:rPr lang="en-US" sz="1400" dirty="0" err="1"/>
              <a:t>Rs</a:t>
            </a:r>
            <a:r>
              <a:rPr lang="en-US" sz="1400" dirty="0"/>
              <a:t> 110 lakh </a:t>
            </a:r>
            <a:r>
              <a:rPr lang="en-US" sz="1400" dirty="0" err="1"/>
              <a:t>crore</a:t>
            </a:r>
            <a:r>
              <a:rPr lang="en-US" sz="1400" dirty="0"/>
              <a:t> </a:t>
            </a:r>
            <a:r>
              <a:rPr lang="en-US" sz="1400" b="1" dirty="0">
                <a:hlinkClick r:id="rId2"/>
              </a:rPr>
              <a:t>National Infrastructure Pipeline</a:t>
            </a:r>
            <a:r>
              <a:rPr lang="en-US" sz="1400" dirty="0"/>
              <a:t> that was launched in 2019.</a:t>
            </a:r>
          </a:p>
          <a:p>
            <a:pPr lvl="1"/>
            <a:r>
              <a:rPr lang="en-US" sz="1400" dirty="0"/>
              <a:t>Besides cutting logistics costs, the scheme is also aimed at increasing cargo handling capacity and reducing the turnaround time at ports to boost trade.</a:t>
            </a:r>
          </a:p>
          <a:p>
            <a:pPr lvl="1"/>
            <a:r>
              <a:rPr lang="en-US" sz="1400" dirty="0"/>
              <a:t>It also aims to have </a:t>
            </a:r>
            <a:r>
              <a:rPr lang="en-US" sz="1400" b="1" dirty="0"/>
              <a:t>11 </a:t>
            </a:r>
            <a:r>
              <a:rPr lang="en-US" sz="1400" b="1" dirty="0">
                <a:hlinkClick r:id="rId3"/>
              </a:rPr>
              <a:t>industrial corridors</a:t>
            </a:r>
            <a:r>
              <a:rPr lang="en-US" sz="1400" dirty="0"/>
              <a:t> and two new </a:t>
            </a:r>
            <a:r>
              <a:rPr lang="en-US" sz="1400" b="1" dirty="0" err="1">
                <a:hlinkClick r:id="rId4"/>
              </a:rPr>
              <a:t>defence</a:t>
            </a:r>
            <a:r>
              <a:rPr lang="en-US" sz="1400" b="1" dirty="0">
                <a:hlinkClick r:id="rId4"/>
              </a:rPr>
              <a:t> corridors</a:t>
            </a:r>
            <a:r>
              <a:rPr lang="en-US" sz="1400" dirty="0"/>
              <a:t> - one in </a:t>
            </a:r>
            <a:r>
              <a:rPr lang="en-US" sz="1400" b="1" dirty="0"/>
              <a:t>Tamil Nadu and other in Uttar Pradesh.</a:t>
            </a:r>
            <a:endParaRPr lang="en-US" sz="1400" dirty="0"/>
          </a:p>
          <a:p>
            <a:pPr lvl="1"/>
            <a:r>
              <a:rPr lang="en-US" sz="1400" dirty="0"/>
              <a:t>Extending</a:t>
            </a:r>
            <a:r>
              <a:rPr lang="en-US" sz="1400" b="1" dirty="0">
                <a:hlinkClick r:id="rId5"/>
              </a:rPr>
              <a:t> 4G connectivity</a:t>
            </a:r>
            <a:r>
              <a:rPr lang="en-US" sz="1400" dirty="0">
                <a:hlinkClick r:id="rId5"/>
              </a:rPr>
              <a:t> </a:t>
            </a:r>
            <a:r>
              <a:rPr lang="en-US" sz="1400" dirty="0"/>
              <a:t>to all villages is another aim. Adding 17,000 </a:t>
            </a:r>
            <a:r>
              <a:rPr lang="en-US" sz="1400" dirty="0" err="1"/>
              <a:t>kms</a:t>
            </a:r>
            <a:r>
              <a:rPr lang="en-US" sz="1400" dirty="0"/>
              <a:t> to the gas pipeline network is being planned.</a:t>
            </a:r>
          </a:p>
          <a:p>
            <a:pPr lvl="1"/>
            <a:r>
              <a:rPr lang="en-US" sz="1400" dirty="0"/>
              <a:t>It will help in fulfilling the ambitious targets set by the government for 2024-25, including </a:t>
            </a:r>
            <a:r>
              <a:rPr lang="en-US" sz="1400" b="1" dirty="0"/>
              <a:t>expanding the length of the national highway network to 2 lakh </a:t>
            </a:r>
            <a:r>
              <a:rPr lang="en-US" sz="1400" b="1" dirty="0" err="1"/>
              <a:t>kms</a:t>
            </a:r>
            <a:r>
              <a:rPr lang="en-US" sz="1400" b="1" dirty="0"/>
              <a:t>,</a:t>
            </a:r>
            <a:r>
              <a:rPr lang="en-US" sz="1400" dirty="0"/>
              <a:t> creation of more than 200 new airports, heliports and water aerodromes.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29825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359" y="1828800"/>
            <a:ext cx="8915400" cy="377762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The scheme will h</a:t>
            </a:r>
            <a:r>
              <a:rPr lang="en-US" b="1" dirty="0"/>
              <a:t>elp mapping the existing and proposed connectivity</a:t>
            </a:r>
            <a:r>
              <a:rPr lang="en-US" dirty="0"/>
              <a:t> projects.</a:t>
            </a:r>
          </a:p>
          <a:p>
            <a:r>
              <a:rPr lang="en-US" dirty="0"/>
              <a:t>Also, there will be immense clarity on how different regions and industrial hubs in the country are linked, particularly for last mile connectivity.</a:t>
            </a:r>
          </a:p>
          <a:p>
            <a:r>
              <a:rPr lang="en-US" dirty="0"/>
              <a:t>A holistic and integrated transport connectivity strategy will greatly support </a:t>
            </a:r>
            <a:r>
              <a:rPr lang="en-US" b="1" dirty="0">
                <a:hlinkClick r:id="rId2"/>
              </a:rPr>
              <a:t>Make in India</a:t>
            </a:r>
            <a:r>
              <a:rPr lang="en-US" dirty="0">
                <a:hlinkClick r:id="rId2"/>
              </a:rPr>
              <a:t> </a:t>
            </a:r>
            <a:r>
              <a:rPr lang="en-US" dirty="0"/>
              <a:t>and integrate different modes of transport.</a:t>
            </a:r>
          </a:p>
          <a:p>
            <a:r>
              <a:rPr lang="en-US" dirty="0"/>
              <a:t>It will </a:t>
            </a:r>
            <a:r>
              <a:rPr lang="en-US" b="1" dirty="0"/>
              <a:t>help India become the business capital of the world.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278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Need for Integrated Infrastructure Development</a:t>
            </a:r>
            <a:r>
              <a:rPr lang="en-US" b="1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There exists a </a:t>
            </a:r>
            <a:r>
              <a:rPr lang="en-US" b="1" dirty="0"/>
              <a:t>wide gap between macro planning and micro implementation due to the lack of coordination</a:t>
            </a:r>
            <a:r>
              <a:rPr lang="en-US" dirty="0"/>
              <a:t> and advanced information sharing as departments think and work in silos.</a:t>
            </a:r>
          </a:p>
          <a:p>
            <a:r>
              <a:rPr lang="en-US" dirty="0"/>
              <a:t>According to a study, the logistical cost in India is about 13% of GDP, which is higher than developed countries.</a:t>
            </a:r>
          </a:p>
          <a:p>
            <a:pPr lvl="1"/>
            <a:r>
              <a:rPr lang="en-US" dirty="0"/>
              <a:t>Due to this high logistical cost, the competitiveness of India’s exports is greatly reduced.</a:t>
            </a:r>
          </a:p>
          <a:p>
            <a:r>
              <a:rPr lang="en-US" dirty="0"/>
              <a:t>It is</a:t>
            </a:r>
            <a:r>
              <a:rPr lang="en-US" b="1" dirty="0"/>
              <a:t> globally accepted that the creation of quality infrastructure for Sustainable Development is a proven way,</a:t>
            </a:r>
            <a:r>
              <a:rPr lang="en-US" dirty="0"/>
              <a:t> which gives rise to many economic activities and creates employment on a large scale.</a:t>
            </a:r>
          </a:p>
          <a:p>
            <a:r>
              <a:rPr lang="en-US" dirty="0"/>
              <a:t>The scheme is in synergy with the </a:t>
            </a:r>
            <a:r>
              <a:rPr lang="en-US" b="1" dirty="0">
                <a:hlinkClick r:id="rId2"/>
              </a:rPr>
              <a:t>National </a:t>
            </a:r>
            <a:r>
              <a:rPr lang="en-US" b="1" dirty="0" err="1">
                <a:hlinkClick r:id="rId2"/>
              </a:rPr>
              <a:t>Monetisation</a:t>
            </a:r>
            <a:r>
              <a:rPr lang="en-US" b="1" dirty="0">
                <a:hlinkClick r:id="rId2"/>
              </a:rPr>
              <a:t> Pipeline (NMP).</a:t>
            </a:r>
            <a:endParaRPr lang="en-US" dirty="0"/>
          </a:p>
          <a:p>
            <a:pPr lvl="1"/>
            <a:r>
              <a:rPr lang="en-US" dirty="0"/>
              <a:t>The NMP has been announced to provide a clear framework for </a:t>
            </a:r>
            <a:r>
              <a:rPr lang="en-US" dirty="0" err="1"/>
              <a:t>monetisation</a:t>
            </a:r>
            <a:r>
              <a:rPr lang="en-US" dirty="0"/>
              <a:t> and give potential investors a ready list of assets to generate investment interest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1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Challenges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6980" y="1454484"/>
            <a:ext cx="8961103" cy="4507832"/>
          </a:xfrm>
        </p:spPr>
        <p:txBody>
          <a:bodyPr/>
          <a:lstStyle/>
          <a:p>
            <a:r>
              <a:rPr lang="en-US" b="1" dirty="0"/>
              <a:t>Low Credit Off-take:</a:t>
            </a:r>
            <a:r>
              <a:rPr lang="en-US" dirty="0"/>
              <a:t> Although the government had taken up ‘strong’ banking sector reforms and the </a:t>
            </a:r>
            <a:r>
              <a:rPr lang="en-US" b="1" dirty="0">
                <a:hlinkClick r:id="rId2"/>
              </a:rPr>
              <a:t>Insolvency and Bankruptcy Code</a:t>
            </a:r>
            <a:r>
              <a:rPr lang="en-US" dirty="0"/>
              <a:t> had yielded about </a:t>
            </a:r>
            <a:r>
              <a:rPr lang="en-US" dirty="0" err="1"/>
              <a:t>Rs</a:t>
            </a:r>
            <a:r>
              <a:rPr lang="en-US" dirty="0"/>
              <a:t>. 2.4 lakh </a:t>
            </a:r>
            <a:r>
              <a:rPr lang="en-US" dirty="0" err="1"/>
              <a:t>crore</a:t>
            </a:r>
            <a:r>
              <a:rPr lang="en-US" dirty="0"/>
              <a:t> of recoveries on bad loans, there are concerns about declining credit </a:t>
            </a:r>
            <a:r>
              <a:rPr lang="en-US" dirty="0" err="1"/>
              <a:t>offtake</a:t>
            </a:r>
            <a:r>
              <a:rPr lang="en-US" dirty="0"/>
              <a:t> trends.</a:t>
            </a:r>
          </a:p>
          <a:p>
            <a:pPr lvl="1"/>
            <a:r>
              <a:rPr lang="en-US" dirty="0"/>
              <a:t>Banks give credit off-takes to help businesses acquire financing for future projects through the promise of future income and proof of an existing market.</a:t>
            </a:r>
          </a:p>
          <a:p>
            <a:r>
              <a:rPr lang="en-US" b="1" dirty="0"/>
              <a:t>Lack of Demand:</a:t>
            </a:r>
            <a:r>
              <a:rPr lang="en-US" dirty="0"/>
              <a:t> In the </a:t>
            </a:r>
            <a:r>
              <a:rPr lang="en-US" b="1" dirty="0">
                <a:hlinkClick r:id="rId3"/>
              </a:rPr>
              <a:t>post-Covid-19 scenario, </a:t>
            </a:r>
            <a:r>
              <a:rPr lang="en-US" dirty="0"/>
              <a:t>there is a lack of private demand and investment demand.</a:t>
            </a:r>
          </a:p>
          <a:p>
            <a:r>
              <a:rPr lang="en-US" b="1" dirty="0"/>
              <a:t>Structural Problems:</a:t>
            </a:r>
            <a:r>
              <a:rPr lang="en-US" dirty="0"/>
              <a:t> Due to land acquisition delays and litigation issues, the rate of implementation of projects is very slow on global standards.</a:t>
            </a:r>
          </a:p>
          <a:p>
            <a:pPr lvl="1"/>
            <a:r>
              <a:rPr lang="en-US" dirty="0"/>
              <a:t>Getting approvals is very difficult in terms of land access, environmental clearances; also impending litigation in court delays the infrastructure projects.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33829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1761</TotalTime>
  <Words>49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GATI SHAKTI MASTER PLAN</vt:lpstr>
      <vt:lpstr>PowerPoint Presentation</vt:lpstr>
      <vt:lpstr>PowerPoint Presentation</vt:lpstr>
      <vt:lpstr>What is the PM Gati Shakti Scheme?</vt:lpstr>
      <vt:lpstr>Expected Outcomes</vt:lpstr>
      <vt:lpstr>Need for Integrated Infrastructure Development:</vt:lpstr>
      <vt:lpstr>What are the Challenges?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Sid</dc:creator>
  <cp:lastModifiedBy>Sid</cp:lastModifiedBy>
  <cp:revision>4</cp:revision>
  <dcterms:created xsi:type="dcterms:W3CDTF">2022-09-19T04:31:03Z</dcterms:created>
  <dcterms:modified xsi:type="dcterms:W3CDTF">2022-09-21T04:56:59Z</dcterms:modified>
</cp:coreProperties>
</file>