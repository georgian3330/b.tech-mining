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57" r:id="rId6"/>
    <p:sldId id="260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7907C-EC70-691D-E7D4-65DB286D7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499F7-987B-B9E2-671A-EA96A73DE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16B35-99FA-560F-6C47-7B30552A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48E3-E763-4543-94A5-40F54B0EE68B}" type="datetimeFigureOut">
              <a:rPr lang="en-GB" smtClean="0"/>
              <a:t>06/02/2025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8255A-02F9-7FAE-CA05-4427CBAFC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E8A49-3AE2-3159-030E-912B3E9CE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A169-7B08-470C-AF0C-EC026D197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6740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3DB8D-218A-14D5-78D5-55EE73C77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C1AB2-3358-9B02-9D29-1D173963A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F4B7E-FE99-947A-F69C-560A3E089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48E3-E763-4543-94A5-40F54B0EE68B}" type="datetimeFigureOut">
              <a:rPr lang="en-GB" smtClean="0"/>
              <a:t>06/02/2025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81678-C194-6A98-A398-A79390A8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6AE7-3F3B-A942-50EB-401028552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A169-7B08-470C-AF0C-EC026D197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513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10F59-2B49-24F8-83B1-C497AD694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337F6-B769-109D-DEE0-13B066031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9522F-D44D-3795-262C-6D4F106FB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48E3-E763-4543-94A5-40F54B0EE68B}" type="datetimeFigureOut">
              <a:rPr lang="en-GB" smtClean="0"/>
              <a:t>06/02/2025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0ACBF-EC27-D165-C44E-EF8B463D8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2D199-A692-4C6D-ED95-C1965908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A169-7B08-470C-AF0C-EC026D197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35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CE9CE-396B-CC2A-3D62-284174E10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F3372-290A-58B1-CD81-D93C3C859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79CD30-665B-C132-6156-CDA2DD850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A1BFE-E611-0374-3EB4-93C0C1DF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48E3-E763-4543-94A5-40F54B0EE68B}" type="datetimeFigureOut">
              <a:rPr lang="en-GB" smtClean="0"/>
              <a:t>06/02/2025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A2A3E-4D80-A4B2-F25A-0E3760BE8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DB430-9FF7-F4E0-71AD-D487CE597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A169-7B08-470C-AF0C-EC026D197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619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EB1A-29A4-DED5-C137-51855E59D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90D51-2103-4791-633B-04F94D06D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784AB-3232-CAC0-E98A-492BA7873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0576F4-9627-E46C-7DBD-DABC1C65D0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3827C-53D7-1817-8972-4B86B764C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94FE2C-0137-D657-FD4F-E7FA7941A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48E3-E763-4543-94A5-40F54B0EE68B}" type="datetimeFigureOut">
              <a:rPr lang="en-GB" smtClean="0"/>
              <a:t>06/02/2025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7E500C-DF5F-2632-0141-2B5B9B2EF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9EDC0C-0C23-5D4F-A774-9EEFE30C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A169-7B08-470C-AF0C-EC026D197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308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E53EF-7CE1-4021-8350-066E1F77F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2F76A9-0DE7-6297-868F-581A78A90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48E3-E763-4543-94A5-40F54B0EE68B}" type="datetimeFigureOut">
              <a:rPr lang="en-GB" smtClean="0"/>
              <a:t>06/02/2025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C8C51-FC7F-0CBB-7B0A-2DA8758A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2CFA3-1624-3D07-11DC-8AE85635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A169-7B08-470C-AF0C-EC026D197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12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52C2C0-1AA9-6024-EB23-CFFDCD54A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48E3-E763-4543-94A5-40F54B0EE68B}" type="datetimeFigureOut">
              <a:rPr lang="en-GB" smtClean="0"/>
              <a:t>06/02/2025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F9D428-040F-F3B9-4812-BDCAFF912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F1E21-E09F-676D-0724-C907A108C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A169-7B08-470C-AF0C-EC026D197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451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344C-6432-C885-0266-4BC88DEAD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BD188-3083-25BE-2817-BEF38831F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8187E-5A16-55BB-513E-928AE673D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31D52-4115-3EED-1D1E-7E8511D82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48E3-E763-4543-94A5-40F54B0EE68B}" type="datetimeFigureOut">
              <a:rPr lang="en-GB" smtClean="0"/>
              <a:t>06/02/2025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71FD3-D510-0FC3-DEC8-38DB5BD0F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83865-BC22-965F-9A01-0802E1DB8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A169-7B08-470C-AF0C-EC026D197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10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9C0E3-4968-CA09-07CF-FD7E0341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893581-BA15-1F28-5C44-422EC260C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7DFC9-C2A0-A8E4-8BA5-EB615C96D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9E623-2DD8-9124-FDC6-9149DBF85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48E3-E763-4543-94A5-40F54B0EE68B}" type="datetimeFigureOut">
              <a:rPr lang="en-GB" smtClean="0"/>
              <a:t>06/02/2025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16223-8B51-FB99-FFE7-694D86F69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9D6E2-219E-C5E5-48C6-E25CF876D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A169-7B08-470C-AF0C-EC026D197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9956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89816-29D3-A32D-281B-52C68973E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0F94A-2AD3-A132-FDDF-EFB1A7A0B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23041-D48F-D098-A1BF-9DC148BD1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48E3-E763-4543-94A5-40F54B0EE68B}" type="datetimeFigureOut">
              <a:rPr lang="en-GB" smtClean="0"/>
              <a:t>06/02/2025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A2D6F-13AB-AF9A-1817-40F78A059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F21C1-3926-142A-841D-508109952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A169-7B08-470C-AF0C-EC026D197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952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6DBC87-F270-E6E2-E97B-3772517CE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AAE08-6510-84A1-A74A-F354BDC4A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3FC9C-DBB5-6DD8-0BB4-4FE3CAC1A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48E3-E763-4543-94A5-40F54B0EE68B}" type="datetimeFigureOut">
              <a:rPr lang="en-GB" smtClean="0"/>
              <a:t>06/02/2025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BBFB6-0418-2B8F-3E05-E1683E34D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A54C5-5BA1-A409-7915-112434CD5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1A169-7B08-470C-AF0C-EC026D197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578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302E6D-CB7A-B291-D6F4-865A7A2DA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654A9-E5AB-2DAA-FB48-0B3CBC45A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1FDD6-0DA8-A15B-7A59-7F1A96C00B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948E3-E763-4543-94A5-40F54B0EE68B}" type="datetimeFigureOut">
              <a:rPr lang="en-GB" smtClean="0"/>
              <a:t>06/02/2025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E2CBF-347B-51A1-543C-71EB4232B9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AD8C3-2279-D4D6-77F2-D53DC4095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1A169-7B08-470C-AF0C-EC026D197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824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D2D3E-1737-117F-5228-86F919A66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23127"/>
            <a:ext cx="9144000" cy="886836"/>
          </a:xfrm>
        </p:spPr>
        <p:txBody>
          <a:bodyPr>
            <a:normAutofit fontScale="90000"/>
          </a:bodyPr>
          <a:lstStyle/>
          <a:p>
            <a:r>
              <a:rPr lang="en-GB" dirty="0"/>
              <a:t>DIGITIZATION</a:t>
            </a:r>
          </a:p>
        </p:txBody>
      </p:sp>
    </p:spTree>
    <p:extLst>
      <p:ext uri="{BB962C8B-B14F-4D97-AF65-F5344CB8AC3E}">
        <p14:creationId xmlns:p14="http://schemas.microsoft.com/office/powerpoint/2010/main" val="2288203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2DDB15-41E2-E6BB-6092-A569C4C65BE2}"/>
              </a:ext>
            </a:extLst>
          </p:cNvPr>
          <p:cNvSpPr txBox="1"/>
          <p:nvPr/>
        </p:nvSpPr>
        <p:spPr>
          <a:xfrm>
            <a:off x="4059382" y="729673"/>
            <a:ext cx="407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B5ED93-CE86-299F-0BED-A2B3551B973A}"/>
              </a:ext>
            </a:extLst>
          </p:cNvPr>
          <p:cNvSpPr txBox="1"/>
          <p:nvPr/>
        </p:nvSpPr>
        <p:spPr>
          <a:xfrm>
            <a:off x="932873" y="1279390"/>
            <a:ext cx="990138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Digitization</a:t>
            </a:r>
            <a:r>
              <a:rPr lang="en-GB" dirty="0"/>
              <a:t>: The process of converting geographic features on a raster image into vector data (points, lines, or polygons) for use in GIS. </a:t>
            </a:r>
          </a:p>
          <a:p>
            <a:pPr algn="l"/>
            <a:r>
              <a:rPr lang="en-GB" b="1" i="0" dirty="0">
                <a:solidFill>
                  <a:srgbClr val="001D35"/>
                </a:solidFill>
                <a:effectLst/>
                <a:latin typeface="Google Sans"/>
              </a:rPr>
              <a:t>Converting paper maps to digital format:</a:t>
            </a:r>
            <a:endParaRPr lang="en-GB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/>
            <a:r>
              <a:rPr lang="en-GB" b="0" i="0" dirty="0">
                <a:effectLst/>
                <a:latin typeface="Google Sans"/>
              </a:rPr>
              <a:t>By tracing features like roads, boundaries, and land use from paper maps onto a computer screen, creating vector data that can be easily </a:t>
            </a:r>
            <a:r>
              <a:rPr lang="en-GB" b="0" i="0" dirty="0" err="1">
                <a:effectLst/>
                <a:latin typeface="Google Sans"/>
              </a:rPr>
              <a:t>analyzed</a:t>
            </a:r>
            <a:r>
              <a:rPr lang="en-GB" b="0" i="0" dirty="0">
                <a:effectLst/>
                <a:latin typeface="Google Sans"/>
              </a:rPr>
              <a:t> and updated in a GIS</a:t>
            </a:r>
          </a:p>
          <a:p>
            <a:r>
              <a:rPr lang="en-GB" b="1" dirty="0"/>
              <a:t>Component</a:t>
            </a:r>
          </a:p>
          <a:p>
            <a:r>
              <a:rPr lang="en-GB" dirty="0"/>
              <a:t>Polygon</a:t>
            </a:r>
          </a:p>
          <a:p>
            <a:r>
              <a:rPr lang="en-GB" dirty="0"/>
              <a:t>Polyline</a:t>
            </a:r>
          </a:p>
          <a:p>
            <a:r>
              <a:rPr lang="en-GB" dirty="0"/>
              <a:t>Point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758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0528BC-F757-B70D-1290-C84CA7201C93}"/>
              </a:ext>
            </a:extLst>
          </p:cNvPr>
          <p:cNvSpPr txBox="1"/>
          <p:nvPr/>
        </p:nvSpPr>
        <p:spPr>
          <a:xfrm>
            <a:off x="858981" y="934472"/>
            <a:ext cx="9568873" cy="4439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750"/>
              </a:spcAft>
            </a:pPr>
            <a:r>
              <a:rPr lang="en-GB" b="1" i="0" dirty="0">
                <a:solidFill>
                  <a:srgbClr val="001D35"/>
                </a:solidFill>
                <a:effectLst/>
                <a:latin typeface="Google Sans"/>
              </a:rPr>
              <a:t>Key aspects of digitization in geomatics: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1D35"/>
                </a:solidFill>
                <a:effectLst/>
                <a:latin typeface="Google Sans"/>
              </a:rPr>
              <a:t>Scanning:</a:t>
            </a:r>
            <a:endParaRPr lang="en-GB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 fontAlgn="ctr">
              <a:spcBef>
                <a:spcPts val="750"/>
              </a:spcBef>
              <a:spcAft>
                <a:spcPts val="600"/>
              </a:spcAft>
            </a:pP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Converting paper maps into digital images using a scanner. 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1D35"/>
                </a:solidFill>
                <a:effectLst/>
                <a:latin typeface="Google Sans"/>
              </a:rPr>
              <a:t>Georeferencing:</a:t>
            </a:r>
            <a:endParaRPr lang="en-GB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 fontAlgn="ctr">
              <a:spcBef>
                <a:spcPts val="750"/>
              </a:spcBef>
              <a:spcAft>
                <a:spcPts val="600"/>
              </a:spcAft>
            </a:pP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Assigning real-world coordinates to the digitized features on a scanned image. 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1D35"/>
                </a:solidFill>
                <a:effectLst/>
                <a:latin typeface="Google Sans"/>
              </a:rPr>
              <a:t>Vectorization:</a:t>
            </a:r>
            <a:endParaRPr lang="en-GB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 fontAlgn="ctr">
              <a:spcBef>
                <a:spcPts val="750"/>
              </a:spcBef>
              <a:spcAft>
                <a:spcPts val="600"/>
              </a:spcAft>
            </a:pP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Tracing features on a scanned image to create points, lines, and polygons representing geographic elements. </a:t>
            </a:r>
          </a:p>
          <a:p>
            <a:pPr algn="l"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1D35"/>
                </a:solidFill>
                <a:effectLst/>
                <a:latin typeface="Google Sans"/>
              </a:rPr>
              <a:t>Attribute data entry:</a:t>
            </a:r>
            <a:endParaRPr lang="en-GB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>
              <a:spcBef>
                <a:spcPts val="750"/>
              </a:spcBef>
              <a:spcAft>
                <a:spcPts val="1500"/>
              </a:spcAft>
            </a:pP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Adding descriptive information (like names, types, or classifications) to each digitized feature. </a:t>
            </a:r>
          </a:p>
        </p:txBody>
      </p:sp>
    </p:spTree>
    <p:extLst>
      <p:ext uri="{BB962C8B-B14F-4D97-AF65-F5344CB8AC3E}">
        <p14:creationId xmlns:p14="http://schemas.microsoft.com/office/powerpoint/2010/main" val="2010171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620492-1BD3-6FCE-0BD2-45CDF2461839}"/>
              </a:ext>
            </a:extLst>
          </p:cNvPr>
          <p:cNvSpPr txBox="1"/>
          <p:nvPr/>
        </p:nvSpPr>
        <p:spPr>
          <a:xfrm>
            <a:off x="794327" y="517237"/>
            <a:ext cx="418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2C64A5-75F9-F346-242F-96A786102847}"/>
              </a:ext>
            </a:extLst>
          </p:cNvPr>
          <p:cNvSpPr txBox="1"/>
          <p:nvPr/>
        </p:nvSpPr>
        <p:spPr>
          <a:xfrm>
            <a:off x="979055" y="1355100"/>
            <a:ext cx="8164945" cy="4532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1D35"/>
                </a:solidFill>
                <a:effectLst/>
                <a:latin typeface="Google Sans"/>
              </a:rPr>
              <a:t>Urban planning and development:</a:t>
            </a:r>
            <a:endParaRPr lang="en-GB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/>
            <a:r>
              <a:rPr lang="en-GB" b="0" i="0" dirty="0">
                <a:effectLst/>
                <a:latin typeface="Google Sans"/>
              </a:rPr>
              <a:t>Digitized data is crucial for planning infrastructure projects, </a:t>
            </a:r>
            <a:r>
              <a:rPr lang="en-GB" b="0" i="0" dirty="0" err="1">
                <a:effectLst/>
                <a:latin typeface="Google Sans"/>
              </a:rPr>
              <a:t>analyzing</a:t>
            </a:r>
            <a:r>
              <a:rPr lang="en-GB" b="0" i="0" dirty="0">
                <a:effectLst/>
                <a:latin typeface="Google Sans"/>
              </a:rPr>
              <a:t> land use patterns, and assessing potential impacts on the </a:t>
            </a:r>
            <a:r>
              <a:rPr lang="en-GB" b="0" i="0" dirty="0" err="1">
                <a:effectLst/>
                <a:latin typeface="Google Sans"/>
              </a:rPr>
              <a:t>environmen</a:t>
            </a:r>
            <a:endParaRPr lang="en-GB" b="0" i="0" dirty="0">
              <a:effectLst/>
              <a:latin typeface="Google Sans"/>
            </a:endParaRP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1D35"/>
                </a:solidFill>
                <a:effectLst/>
                <a:latin typeface="Google Sans"/>
              </a:rPr>
              <a:t>Environmental monitoring and analysis:</a:t>
            </a:r>
            <a:endParaRPr lang="en-GB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 fontAlgn="ctr">
              <a:spcBef>
                <a:spcPts val="750"/>
              </a:spcBef>
              <a:spcAft>
                <a:spcPts val="600"/>
              </a:spcAft>
            </a:pP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Tracking changes in land cover, vegetation, and environmental parameters using digitized data from satellite imagery or aerial surveys. 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1D35"/>
                </a:solidFill>
                <a:effectLst/>
                <a:latin typeface="Google Sans"/>
              </a:rPr>
              <a:t>Emergency response and disaster management:</a:t>
            </a:r>
            <a:endParaRPr lang="en-GB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 fontAlgn="ctr">
              <a:spcBef>
                <a:spcPts val="750"/>
              </a:spcBef>
              <a:spcAft>
                <a:spcPts val="600"/>
              </a:spcAft>
            </a:pP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Rapidly accessing and </a:t>
            </a:r>
            <a:r>
              <a:rPr lang="en-GB" b="0" i="0" dirty="0" err="1">
                <a:solidFill>
                  <a:srgbClr val="001D35"/>
                </a:solidFill>
                <a:effectLst/>
                <a:latin typeface="Google Sans"/>
              </a:rPr>
              <a:t>analyzing</a:t>
            </a: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 spatial data to identify critical areas during natural disasters and plan effective response strategies. </a:t>
            </a:r>
          </a:p>
          <a:p>
            <a:pPr algn="l"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1D35"/>
                </a:solidFill>
                <a:effectLst/>
                <a:latin typeface="Google Sans"/>
              </a:rPr>
              <a:t>Cultural heritage preservation:</a:t>
            </a:r>
            <a:endParaRPr lang="en-GB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>
              <a:spcBef>
                <a:spcPts val="750"/>
              </a:spcBef>
              <a:spcAft>
                <a:spcPts val="1500"/>
              </a:spcAft>
            </a:pP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Digitizing historical maps and documents to preserve cultural information and analyze changes over time. </a:t>
            </a:r>
          </a:p>
        </p:txBody>
      </p:sp>
    </p:spTree>
    <p:extLst>
      <p:ext uri="{BB962C8B-B14F-4D97-AF65-F5344CB8AC3E}">
        <p14:creationId xmlns:p14="http://schemas.microsoft.com/office/powerpoint/2010/main" val="3138592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7CEAED-5598-BB13-04F3-7942860324BF}"/>
              </a:ext>
            </a:extLst>
          </p:cNvPr>
          <p:cNvSpPr txBox="1"/>
          <p:nvPr/>
        </p:nvSpPr>
        <p:spPr>
          <a:xfrm>
            <a:off x="942975" y="471488"/>
            <a:ext cx="4786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C7131-C780-E693-CE09-159F135CB1BC}"/>
              </a:ext>
            </a:extLst>
          </p:cNvPr>
          <p:cNvSpPr txBox="1"/>
          <p:nvPr/>
        </p:nvSpPr>
        <p:spPr>
          <a:xfrm>
            <a:off x="942975" y="753653"/>
            <a:ext cx="1007600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/>
              <a:t>Create a New Shapefile: </a:t>
            </a:r>
          </a:p>
          <a:p>
            <a:pPr algn="just"/>
            <a:r>
              <a:rPr lang="en-GB" dirty="0"/>
              <a:t>Go to </a:t>
            </a:r>
            <a:r>
              <a:rPr lang="en-GB" dirty="0" err="1"/>
              <a:t>Catalog</a:t>
            </a:r>
            <a:r>
              <a:rPr lang="en-GB" dirty="0"/>
              <a:t> in ArcMap, right-click on the desired folder, and select New &gt; Shapefile. o Choose Polygon as the feature type and assign the appropriate coordinate system.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2. Start Digitizing: o Add the new shapefile to the map. </a:t>
            </a:r>
          </a:p>
          <a:p>
            <a:pPr algn="just"/>
            <a:r>
              <a:rPr lang="en-GB" dirty="0"/>
              <a:t>Open the Editor toolbar and start editing the shapefile. </a:t>
            </a:r>
          </a:p>
          <a:p>
            <a:pPr algn="just"/>
            <a:r>
              <a:rPr lang="en-GB" dirty="0"/>
              <a:t>Use the Create Features tool to trace the mine lease boundaries on the georeferenced satellite image.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3. Refine the Boundaries: </a:t>
            </a:r>
          </a:p>
          <a:p>
            <a:pPr algn="just"/>
            <a:r>
              <a:rPr lang="en-GB" dirty="0"/>
              <a:t>Use the Snapping tool to ensure precise digitization. </a:t>
            </a:r>
          </a:p>
          <a:p>
            <a:pPr algn="just"/>
            <a:r>
              <a:rPr lang="en-GB" dirty="0"/>
              <a:t>Add vertices at key points to accurately represent the boundaries.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4. Save and Stop Editing: </a:t>
            </a:r>
          </a:p>
          <a:p>
            <a:pPr algn="just"/>
            <a:r>
              <a:rPr lang="en-GB" dirty="0"/>
              <a:t>Save the edits and stop editing once the boundaries are digitized. </a:t>
            </a:r>
          </a:p>
        </p:txBody>
      </p:sp>
    </p:spTree>
    <p:extLst>
      <p:ext uri="{BB962C8B-B14F-4D97-AF65-F5344CB8AC3E}">
        <p14:creationId xmlns:p14="http://schemas.microsoft.com/office/powerpoint/2010/main" val="97924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477D31-8C34-1A6B-20B5-CDCDED3CAE83}"/>
              </a:ext>
            </a:extLst>
          </p:cNvPr>
          <p:cNvSpPr txBox="1"/>
          <p:nvPr/>
        </p:nvSpPr>
        <p:spPr>
          <a:xfrm>
            <a:off x="1099127" y="1011764"/>
            <a:ext cx="747221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/>
              <a:t>Documentation and Analysis </a:t>
            </a:r>
          </a:p>
          <a:p>
            <a:pPr marL="342900" indent="-342900" algn="just">
              <a:buAutoNum type="arabicPeriod"/>
            </a:pPr>
            <a:r>
              <a:rPr lang="en-GB" dirty="0"/>
              <a:t>Add Attribute Data: </a:t>
            </a:r>
          </a:p>
          <a:p>
            <a:pPr lvl="1" algn="just"/>
            <a:r>
              <a:rPr lang="en-GB" dirty="0"/>
              <a:t>Open the attribute table of the digitized polygon and add relevant information (e.g., lease ID, area, owner, and date of documentation). </a:t>
            </a:r>
          </a:p>
          <a:p>
            <a:pPr marL="342900" indent="-342900" algn="just">
              <a:buAutoNum type="arabicPeriod"/>
            </a:pPr>
            <a:r>
              <a:rPr lang="en-GB" dirty="0"/>
              <a:t>Calculate Area: </a:t>
            </a:r>
          </a:p>
          <a:p>
            <a:pPr lvl="1" algn="just"/>
            <a:r>
              <a:rPr lang="en-GB" dirty="0"/>
              <a:t>Use the Calculate Geometry tool to compute the area of the mine lease polygon. </a:t>
            </a:r>
          </a:p>
          <a:p>
            <a:pPr marL="342900" indent="-342900" algn="just">
              <a:buAutoNum type="arabicPeriod"/>
            </a:pPr>
            <a:r>
              <a:rPr lang="en-GB" dirty="0"/>
              <a:t>Export the Data: </a:t>
            </a:r>
          </a:p>
          <a:p>
            <a:pPr lvl="1" algn="just"/>
            <a:r>
              <a:rPr lang="en-GB" dirty="0"/>
              <a:t>Export the digitized boundaries as a shapefile or feature class for further use. Suggested Figures and Tables:</a:t>
            </a:r>
          </a:p>
        </p:txBody>
      </p:sp>
    </p:spTree>
    <p:extLst>
      <p:ext uri="{BB962C8B-B14F-4D97-AF65-F5344CB8AC3E}">
        <p14:creationId xmlns:p14="http://schemas.microsoft.com/office/powerpoint/2010/main" val="2700939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4EC3B9-55EC-B757-CF2C-1E942E297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469" y="297699"/>
            <a:ext cx="4459256" cy="61942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EF26F1-B47E-E797-81A4-5D9146390DFA}"/>
              </a:ext>
            </a:extLst>
          </p:cNvPr>
          <p:cNvSpPr txBox="1"/>
          <p:nvPr/>
        </p:nvSpPr>
        <p:spPr>
          <a:xfrm>
            <a:off x="461818" y="297699"/>
            <a:ext cx="2382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Map generate</a:t>
            </a:r>
          </a:p>
        </p:txBody>
      </p:sp>
    </p:spTree>
    <p:extLst>
      <p:ext uri="{BB962C8B-B14F-4D97-AF65-F5344CB8AC3E}">
        <p14:creationId xmlns:p14="http://schemas.microsoft.com/office/powerpoint/2010/main" val="2835526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447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Google Sans</vt:lpstr>
      <vt:lpstr>Office Theme</vt:lpstr>
      <vt:lpstr>DIGITIZATION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nitish kumar</dc:creator>
  <cp:lastModifiedBy>nitish kumar</cp:lastModifiedBy>
  <cp:revision>2</cp:revision>
  <dcterms:created xsi:type="dcterms:W3CDTF">2025-02-06T02:46:44Z</dcterms:created>
  <dcterms:modified xsi:type="dcterms:W3CDTF">2025-02-06T02:57:23Z</dcterms:modified>
</cp:coreProperties>
</file>